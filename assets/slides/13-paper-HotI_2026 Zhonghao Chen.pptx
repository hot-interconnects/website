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Lst>
  <p:notesMasterIdLst>
    <p:notesMasterId r:id="rId31"/>
  </p:notesMasterIdLst>
  <p:handoutMasterIdLst>
    <p:handoutMasterId r:id="rId32"/>
  </p:handoutMasterIdLst>
  <p:sldIdLst>
    <p:sldId id="382" r:id="rId2"/>
    <p:sldId id="4309" r:id="rId3"/>
    <p:sldId id="4314" r:id="rId4"/>
    <p:sldId id="4316" r:id="rId5"/>
    <p:sldId id="4301" r:id="rId6"/>
    <p:sldId id="257" r:id="rId7"/>
    <p:sldId id="258" r:id="rId8"/>
    <p:sldId id="4315" r:id="rId9"/>
    <p:sldId id="4311" r:id="rId10"/>
    <p:sldId id="4317" r:id="rId11"/>
    <p:sldId id="4320" r:id="rId12"/>
    <p:sldId id="4331" r:id="rId13"/>
    <p:sldId id="4330" r:id="rId14"/>
    <p:sldId id="4312" r:id="rId15"/>
    <p:sldId id="4318" r:id="rId16"/>
    <p:sldId id="4322" r:id="rId17"/>
    <p:sldId id="4323" r:id="rId18"/>
    <p:sldId id="4324" r:id="rId19"/>
    <p:sldId id="4313" r:id="rId20"/>
    <p:sldId id="4319" r:id="rId21"/>
    <p:sldId id="4325" r:id="rId22"/>
    <p:sldId id="4327" r:id="rId23"/>
    <p:sldId id="4326" r:id="rId24"/>
    <p:sldId id="4328" r:id="rId25"/>
    <p:sldId id="4329" r:id="rId26"/>
    <p:sldId id="4310" r:id="rId27"/>
    <p:sldId id="526" r:id="rId28"/>
    <p:sldId id="4031" r:id="rId29"/>
    <p:sldId id="4307"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DEF828E-0D0B-DC4F-A14B-C31281F70F2B}">
          <p14:sldIdLst>
            <p14:sldId id="382"/>
          </p14:sldIdLst>
        </p14:section>
        <p14:section name="Intro" id="{EEB6FCC8-1F34-DC48-87FC-E2123F2852E3}">
          <p14:sldIdLst>
            <p14:sldId id="4309"/>
            <p14:sldId id="4314"/>
            <p14:sldId id="4316"/>
            <p14:sldId id="4301"/>
            <p14:sldId id="257"/>
            <p14:sldId id="258"/>
            <p14:sldId id="4315"/>
          </p14:sldIdLst>
        </p14:section>
        <p14:section name="Challenges" id="{A037D9BB-967A-BB41-8DA3-26F3714E4AF9}">
          <p14:sldIdLst>
            <p14:sldId id="4311"/>
            <p14:sldId id="4317"/>
            <p14:sldId id="4320"/>
            <p14:sldId id="4331"/>
            <p14:sldId id="4330"/>
          </p14:sldIdLst>
        </p14:section>
        <p14:section name="Co-Design" id="{6D6BCB54-3F9A-DD45-8A6F-70B5BC86B651}">
          <p14:sldIdLst>
            <p14:sldId id="4312"/>
            <p14:sldId id="4318"/>
            <p14:sldId id="4322"/>
            <p14:sldId id="4323"/>
            <p14:sldId id="4324"/>
          </p14:sldIdLst>
        </p14:section>
        <p14:section name="Evaluation" id="{1DB2E6AB-EE60-7246-B6AC-CEB73D4C950A}">
          <p14:sldIdLst>
            <p14:sldId id="4313"/>
            <p14:sldId id="4319"/>
            <p14:sldId id="4325"/>
            <p14:sldId id="4327"/>
            <p14:sldId id="4326"/>
            <p14:sldId id="4328"/>
            <p14:sldId id="4329"/>
          </p14:sldIdLst>
        </p14:section>
        <p14:section name="Conclusion" id="{6ACC56E2-26EF-7945-9114-B4671DFC0C42}">
          <p14:sldIdLst>
            <p14:sldId id="4310"/>
            <p14:sldId id="526"/>
            <p14:sldId id="4031"/>
            <p14:sldId id="430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604F0DB-0603-36A9-8FC8-0DEA20A10451}" name="Adam Weingram" initials="AW" userId="S::aweingram@ucmerced.edu::11b9c55c-e503-41db-85ae-f770777bdebd"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98B159"/>
    <a:srgbClr val="0020A5"/>
    <a:srgbClr val="DBE4F4"/>
    <a:srgbClr val="001E5D"/>
    <a:srgbClr val="FFC000"/>
    <a:srgbClr val="0B2B50"/>
    <a:srgbClr val="001F60"/>
    <a:srgbClr val="71AD47"/>
    <a:srgbClr val="4472C4"/>
    <a:srgbClr val="EE59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29" autoAdjust="0"/>
    <p:restoredTop sz="59148" autoAdjust="0"/>
  </p:normalViewPr>
  <p:slideViewPr>
    <p:cSldViewPr snapToGrid="0">
      <p:cViewPr>
        <p:scale>
          <a:sx n="95" d="100"/>
          <a:sy n="95" d="100"/>
        </p:scale>
        <p:origin x="3088" y="-64"/>
      </p:cViewPr>
      <p:guideLst/>
    </p:cSldViewPr>
  </p:slideViewPr>
  <p:outlineViewPr>
    <p:cViewPr>
      <p:scale>
        <a:sx n="33" d="100"/>
        <a:sy n="33" d="100"/>
      </p:scale>
      <p:origin x="0" y="0"/>
    </p:cViewPr>
  </p:outlineViewPr>
  <p:notesTextViewPr>
    <p:cViewPr>
      <p:scale>
        <a:sx n="170" d="100"/>
        <a:sy n="170" d="100"/>
      </p:scale>
      <p:origin x="0" y="0"/>
    </p:cViewPr>
  </p:notesTextViewPr>
  <p:sorterViewPr>
    <p:cViewPr>
      <p:scale>
        <a:sx n="80" d="100"/>
        <a:sy n="80" d="100"/>
      </p:scale>
      <p:origin x="0" y="0"/>
    </p:cViewPr>
  </p:sorterViewPr>
  <p:notesViewPr>
    <p:cSldViewPr snapToGrid="0">
      <p:cViewPr varScale="1">
        <p:scale>
          <a:sx n="92" d="100"/>
          <a:sy n="92" d="100"/>
        </p:scale>
        <p:origin x="3904" y="17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1A9324-28DF-DBFB-257B-63C0036772F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0633DF0-241E-7B6B-B8DD-77FE038D9A8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1BC5E83-A3ED-474B-A05B-7ABB580F7108}" type="datetimeFigureOut">
              <a:rPr lang="en-US" smtClean="0"/>
              <a:t>8/12/26</a:t>
            </a:fld>
            <a:endParaRPr lang="en-US"/>
          </a:p>
        </p:txBody>
      </p:sp>
      <p:sp>
        <p:nvSpPr>
          <p:cNvPr id="4" name="Footer Placeholder 3">
            <a:extLst>
              <a:ext uri="{FF2B5EF4-FFF2-40B4-BE49-F238E27FC236}">
                <a16:creationId xmlns:a16="http://schemas.microsoft.com/office/drawing/2014/main" id="{FEC97FE7-6C1F-E4F1-BAF6-09232FA95B2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AA80C68-C905-677D-0436-B4F800840BA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2B50413-353B-734C-AC96-D23989FF8CE0}" type="slidenum">
              <a:rPr lang="en-US" smtClean="0"/>
              <a:t>‹#›</a:t>
            </a:fld>
            <a:endParaRPr lang="en-US"/>
          </a:p>
        </p:txBody>
      </p:sp>
    </p:spTree>
    <p:extLst>
      <p:ext uri="{BB962C8B-B14F-4D97-AF65-F5344CB8AC3E}">
        <p14:creationId xmlns:p14="http://schemas.microsoft.com/office/powerpoint/2010/main" val="26800683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43A447-6CF1-4847-9E76-7FD888EF3F12}" type="datetimeFigureOut">
              <a:rPr lang="en-US" smtClean="0"/>
              <a:t>8/12/26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FD8534-A0DF-45C6-AC20-02B120C63C50}" type="slidenum">
              <a:rPr lang="en-US" smtClean="0"/>
              <a:t>‹#›</a:t>
            </a:fld>
            <a:endParaRPr lang="en-US"/>
          </a:p>
        </p:txBody>
      </p:sp>
    </p:spTree>
    <p:extLst>
      <p:ext uri="{BB962C8B-B14F-4D97-AF65-F5344CB8AC3E}">
        <p14:creationId xmlns:p14="http://schemas.microsoft.com/office/powerpoint/2010/main" val="888149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Good afternoon, everyone. Today I’m honoured to present our work </a:t>
            </a:r>
            <a:br>
              <a:rPr lang="en-GB" dirty="0"/>
            </a:br>
            <a:br>
              <a:rPr lang="en-GB" dirty="0"/>
            </a:br>
            <a:r>
              <a:rPr lang="en-US" sz="1200" dirty="0"/>
              <a:t>From Datacenter to Wide Area: Scale-Across Federated Learning on Real Long-Haul RDMA</a:t>
            </a:r>
            <a:br>
              <a:rPr lang="en-US" sz="1200" b="1" dirty="0">
                <a:latin typeface="Linux Biolinum" panose="02000503000000000000" pitchFamily="2" charset="0"/>
                <a:ea typeface="Linux Biolinum" panose="02000503000000000000" pitchFamily="2" charset="0"/>
                <a:cs typeface="Linux Biolinum" panose="02000503000000000000" pitchFamily="2" charset="0"/>
              </a:rPr>
            </a:br>
            <a:br>
              <a:rPr lang="en-US" sz="1200" b="1" dirty="0">
                <a:latin typeface="Linux Biolinum" panose="02000503000000000000" pitchFamily="2" charset="0"/>
                <a:ea typeface="Linux Biolinum" panose="02000503000000000000" pitchFamily="2" charset="0"/>
                <a:cs typeface="Linux Biolinum" panose="02000503000000000000" pitchFamily="2" charset="0"/>
              </a:rPr>
            </a:br>
            <a:r>
              <a:rPr lang="en-US" sz="1200" b="0" dirty="0">
                <a:latin typeface="Linux Biolinum" panose="02000503000000000000" pitchFamily="2" charset="0"/>
                <a:ea typeface="Linux Biolinum" panose="02000503000000000000" pitchFamily="2" charset="0"/>
                <a:cs typeface="Linux Biolinum" panose="02000503000000000000" pitchFamily="2" charset="0"/>
              </a:rPr>
              <a:t>I’m Zhonghao Chen, a second-year PhD student advised by Dr. Xiaoyi Lu. </a:t>
            </a:r>
          </a:p>
          <a:p>
            <a:endParaRPr lang="en-US" sz="1200" b="0" dirty="0">
              <a:latin typeface="Linux Biolinum" panose="02000503000000000000" pitchFamily="2" charset="0"/>
              <a:ea typeface="Linux Biolinum" panose="02000503000000000000" pitchFamily="2" charset="0"/>
              <a:cs typeface="Linux Biolinum" panose="02000503000000000000" pitchFamily="2" charset="0"/>
            </a:endParaRPr>
          </a:p>
          <a:p>
            <a:r>
              <a:rPr lang="en-US" dirty="0"/>
              <a:t>&lt;HOTI presentation&gt;</a:t>
            </a:r>
          </a:p>
        </p:txBody>
      </p:sp>
      <p:sp>
        <p:nvSpPr>
          <p:cNvPr id="4" name="Slide Number Placeholder 3"/>
          <p:cNvSpPr>
            <a:spLocks noGrp="1"/>
          </p:cNvSpPr>
          <p:nvPr>
            <p:ph type="sldNum" sz="quarter" idx="5"/>
          </p:nvPr>
        </p:nvSpPr>
        <p:spPr/>
        <p:txBody>
          <a:bodyPr/>
          <a:lstStyle/>
          <a:p>
            <a:fld id="{51FD8534-A0DF-45C6-AC20-02B120C63C50}" type="slidenum">
              <a:rPr lang="en-US" smtClean="0"/>
              <a:t>1</a:t>
            </a:fld>
            <a:endParaRPr lang="en-US"/>
          </a:p>
        </p:txBody>
      </p:sp>
    </p:spTree>
    <p:extLst>
      <p:ext uri="{BB962C8B-B14F-4D97-AF65-F5344CB8AC3E}">
        <p14:creationId xmlns:p14="http://schemas.microsoft.com/office/powerpoint/2010/main" val="3691494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overview of my talk:</a:t>
            </a:r>
          </a:p>
          <a:p>
            <a:endParaRPr lang="en-US" dirty="0"/>
          </a:p>
          <a:p>
            <a:r>
              <a:rPr lang="en-US" dirty="0"/>
              <a:t>I’ll start with some </a:t>
            </a:r>
            <a:r>
              <a:rPr lang="en-GB" dirty="0"/>
              <a:t>background and motivation. Then the analysis of the bottleneck in using long-haul RDMA in the federated learning setting. Then our design of LHR, a long-haul-friendly transport, the evaluation on real </a:t>
            </a:r>
            <a:r>
              <a:rPr lang="en-GB" dirty="0" err="1"/>
              <a:t>ESnet</a:t>
            </a:r>
            <a:r>
              <a:rPr lang="en-GB" dirty="0"/>
              <a:t> testbed, and the conclusion.</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One sentence to hold onto for the whole talk: long-haul RDMA can accelerate federated learning, but it is not plug-and-play. The transport has to be co-designed with FL algorithms.</a:t>
            </a:r>
            <a:br>
              <a:rPr lang="en-GB" dirty="0"/>
            </a:br>
            <a:br>
              <a:rPr lang="en-GB" dirty="0"/>
            </a:br>
            <a:r>
              <a:rPr lang="en-US" dirty="0"/>
              <a:t>&lt;Problem statement instead of why not RC in UCX: 1. how to fix 2. how to adapt RDMA to FL&gt;</a:t>
            </a:r>
          </a:p>
          <a:p>
            <a:endParaRPr lang="en-GB" dirty="0"/>
          </a:p>
        </p:txBody>
      </p:sp>
      <p:sp>
        <p:nvSpPr>
          <p:cNvPr id="4" name="Slide Number Placeholder 3"/>
          <p:cNvSpPr>
            <a:spLocks noGrp="1"/>
          </p:cNvSpPr>
          <p:nvPr>
            <p:ph type="sldNum" sz="quarter" idx="5"/>
          </p:nvPr>
        </p:nvSpPr>
        <p:spPr/>
        <p:txBody>
          <a:bodyPr/>
          <a:lstStyle/>
          <a:p>
            <a:fld id="{51FD8534-A0DF-45C6-AC20-02B120C63C50}" type="slidenum">
              <a:rPr lang="en-US" smtClean="0"/>
              <a:t>2</a:t>
            </a:fld>
            <a:endParaRPr lang="en-US"/>
          </a:p>
        </p:txBody>
      </p:sp>
    </p:spTree>
    <p:extLst>
      <p:ext uri="{BB962C8B-B14F-4D97-AF65-F5344CB8AC3E}">
        <p14:creationId xmlns:p14="http://schemas.microsoft.com/office/powerpoint/2010/main" val="21400506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Federated learning, or FL, enables multiple clients to collaboratively train a model without sharing any private data, and it has been widely adopted for sensitive AI applications. </a:t>
            </a:r>
            <a:r>
              <a:rPr lang="en-GB" b="1" dirty="0"/>
              <a:t>(</a:t>
            </a:r>
            <a:r>
              <a:rPr lang="en-GB" b="1" u="sng" dirty="0"/>
              <a:t>transition</a:t>
            </a:r>
            <a:r>
              <a:rPr lang="en-GB" b="1" dirty="0"/>
              <a:t>) </a:t>
            </a:r>
            <a:r>
              <a:rPr lang="en-GB" dirty="0"/>
              <a:t>Typically, we have a central server that is responsible for model distribution, collection, and aggregation, where clients, from smartphones to HPC clusters, conduct training locally using local data. By the scaling law, the larger the FL scale is, the better the model performance we will have. This includes the number of participating clients and the size of the model they train.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a:t>
            </a:r>
            <a:r>
              <a:rPr lang="en-GB" b="1" u="sng" dirty="0"/>
              <a:t>transition</a:t>
            </a:r>
            <a:r>
              <a:rPr lang="en-GB" b="1" dirty="0"/>
              <a:t>) </a:t>
            </a:r>
            <a:r>
              <a:rPr lang="en-US" sz="1200" b="0" i="0" kern="1200" dirty="0">
                <a:solidFill>
                  <a:schemeClr val="tx1"/>
                </a:solidFill>
                <a:effectLst/>
                <a:latin typeface="+mn-lt"/>
                <a:ea typeface="+mn-ea"/>
                <a:cs typeface="+mn-cs"/>
              </a:rPr>
              <a:t>As federated learning has scaled up, the participants have spread out. Cross-silo deployments run between institutions and sites thousands of kilometers apart. That brings elevated latency, variable bandwidth, and stragglers driven by the network rather than by the computing hardware. And the consequence is the model must moves every round for every client in both directions crossing a continent, making FL a wide-area communication problem.</a:t>
            </a:r>
            <a:br>
              <a:rPr lang="en-US" sz="1200" b="0" i="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51FD8534-A0DF-45C6-AC20-02B120C63C50}" type="slidenum">
              <a:rPr lang="en-US" smtClean="0"/>
              <a:t>3</a:t>
            </a:fld>
            <a:endParaRPr lang="en-US"/>
          </a:p>
        </p:txBody>
      </p:sp>
    </p:spTree>
    <p:extLst>
      <p:ext uri="{BB962C8B-B14F-4D97-AF65-F5344CB8AC3E}">
        <p14:creationId xmlns:p14="http://schemas.microsoft.com/office/powerpoint/2010/main" val="8869288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general, FL can be categorized by the aggregation synchrony into three sets of algorithms. These algorithms differ mainly in </a:t>
            </a:r>
            <a:r>
              <a:rPr lang="en-US" i="1" dirty="0"/>
              <a:t>when</a:t>
            </a:r>
            <a:r>
              <a:rPr lang="en-US" dirty="0"/>
              <a:t> the server aggregates updates and </a:t>
            </a:r>
            <a:r>
              <a:rPr lang="en-US" i="1" dirty="0"/>
              <a:t>how</a:t>
            </a:r>
            <a:r>
              <a:rPr lang="en-US" dirty="0"/>
              <a:t> it handles slow or unreliable clients. </a:t>
            </a:r>
            <a:r>
              <a:rPr lang="en-US" b="1" dirty="0"/>
              <a:t>Synchronous FL</a:t>
            </a:r>
            <a:r>
              <a:rPr lang="en-US" dirty="0"/>
              <a:t> requires all selected clients to finish training before aggregation. This ensures consistency but suffers significantly from stragglers and unstable networks. </a:t>
            </a:r>
            <a:br>
              <a:rPr lang="en-US" dirty="0"/>
            </a:b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Asynchronous FL</a:t>
            </a:r>
            <a:r>
              <a:rPr lang="en-US" dirty="0"/>
              <a:t>, on the other hand, allows the server to update the global model whenever a client returns its result, which greatly alleviate straggler effect but may introduce stale updates and hurt convergence.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Sitting in between, </a:t>
            </a:r>
            <a:r>
              <a:rPr lang="en-US" b="1" dirty="0"/>
              <a:t>semi-asynchronous FL</a:t>
            </a:r>
            <a:r>
              <a:rPr lang="en-US" dirty="0"/>
              <a:t> enforces partial synchronization, only waiting for a subset of clients or operating within a bounded delay. For example, </a:t>
            </a:r>
            <a:r>
              <a:rPr lang="en-US" dirty="0" err="1"/>
              <a:t>FedBuff</a:t>
            </a:r>
            <a:r>
              <a:rPr lang="en-US" dirty="0"/>
              <a:t> algorithm groups client updates by their relative computing speed and does separate aggregation. These three classes reveal that different FL systems may favor different synchrony designs.</a:t>
            </a:r>
          </a:p>
        </p:txBody>
      </p:sp>
      <p:sp>
        <p:nvSpPr>
          <p:cNvPr id="4" name="Slide Number Placeholder 3"/>
          <p:cNvSpPr>
            <a:spLocks noGrp="1"/>
          </p:cNvSpPr>
          <p:nvPr>
            <p:ph type="sldNum" sz="quarter" idx="5"/>
          </p:nvPr>
        </p:nvSpPr>
        <p:spPr/>
        <p:txBody>
          <a:bodyPr/>
          <a:lstStyle/>
          <a:p>
            <a:fld id="{51FD8534-A0DF-45C6-AC20-02B120C63C50}" type="slidenum">
              <a:rPr lang="en-US" smtClean="0"/>
              <a:t>4</a:t>
            </a:fld>
            <a:endParaRPr lang="en-US"/>
          </a:p>
        </p:txBody>
      </p:sp>
    </p:spTree>
    <p:extLst>
      <p:ext uri="{BB962C8B-B14F-4D97-AF65-F5344CB8AC3E}">
        <p14:creationId xmlns:p14="http://schemas.microsoft.com/office/powerpoint/2010/main" val="30836613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Our work is motivated by the massive communication cost of federated learning in wide-area networks. </a:t>
            </a:r>
            <a:r>
              <a:rPr lang="en-US" sz="1200" b="1" i="0" u="sng" kern="1200" dirty="0">
                <a:solidFill>
                  <a:schemeClr val="tx1"/>
                </a:solidFill>
                <a:effectLst/>
                <a:latin typeface="+mn-lt"/>
                <a:ea typeface="+mn-ea"/>
                <a:cs typeface="+mn-cs"/>
              </a:rPr>
              <a:t>(transition)</a:t>
            </a:r>
            <a:r>
              <a:rPr lang="en-US" sz="1200" b="0" i="0" kern="1200" dirty="0">
                <a:solidFill>
                  <a:schemeClr val="tx1"/>
                </a:solidFill>
                <a:effectLst/>
                <a:latin typeface="+mn-lt"/>
                <a:ea typeface="+mn-ea"/>
                <a:cs typeface="+mn-cs"/>
              </a:rPr>
              <a:t> The cost of that movement is shown here. These proportions are drawn from traces of a production federated learning deployment on A100 clusters with TCP/IP as network path, and the blue band is communication. On the server the share lies between 93 and 97 percent; the server performs almost no computation and is essentially a data mover. On the client, where genuine GPU training takes place, communication still accounts for 75 to 90 percent of wall time. Yet conventional established communication-efficient techniques like compression, </a:t>
            </a:r>
            <a:r>
              <a:rPr lang="en-US" sz="1200" b="0" i="0" kern="1200" dirty="0" err="1">
                <a:solidFill>
                  <a:schemeClr val="tx1"/>
                </a:solidFill>
                <a:effectLst/>
                <a:latin typeface="+mn-lt"/>
                <a:ea typeface="+mn-ea"/>
                <a:cs typeface="+mn-cs"/>
              </a:rPr>
              <a:t>sparsification</a:t>
            </a:r>
            <a:r>
              <a:rPr lang="en-US" sz="1200" b="0" i="0" kern="1200" dirty="0">
                <a:solidFill>
                  <a:schemeClr val="tx1"/>
                </a:solidFill>
                <a:effectLst/>
                <a:latin typeface="+mn-lt"/>
                <a:ea typeface="+mn-ea"/>
                <a:cs typeface="+mn-cs"/>
              </a:rPr>
              <a:t>, or pruning all operate on reducing or rescheduling the payload. None of them alters the transport beneath.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sng" kern="1200" dirty="0">
                <a:solidFill>
                  <a:schemeClr val="tx1"/>
                </a:solidFill>
                <a:effectLst/>
                <a:latin typeface="+mn-lt"/>
                <a:ea typeface="+mn-ea"/>
                <a:cs typeface="+mn-cs"/>
              </a:rPr>
              <a:t>(transition)</a:t>
            </a:r>
            <a:r>
              <a:rPr lang="en-US" sz="1200" b="0" i="0" kern="1200" dirty="0">
                <a:solidFill>
                  <a:schemeClr val="tx1"/>
                </a:solidFill>
                <a:effectLst/>
                <a:latin typeface="+mn-lt"/>
                <a:ea typeface="+mn-ea"/>
                <a:cs typeface="+mn-cs"/>
              </a:rPr>
              <a:t> </a:t>
            </a:r>
            <a:r>
              <a:rPr lang="en-GB" dirty="0"/>
              <a:t>Therefore, if communication dominates, RDMA with zero-copy transfers, kernel bypass, no per-packet CPU involvement is the natural substrate to consider. This leads us to explore RDMA in a long-haul setting.</a:t>
            </a:r>
            <a:endParaRPr lang="en-US" dirty="0"/>
          </a:p>
        </p:txBody>
      </p:sp>
      <p:sp>
        <p:nvSpPr>
          <p:cNvPr id="4" name="Slide Number Placeholder 3"/>
          <p:cNvSpPr>
            <a:spLocks noGrp="1"/>
          </p:cNvSpPr>
          <p:nvPr>
            <p:ph type="sldNum" sz="quarter" idx="5"/>
          </p:nvPr>
        </p:nvSpPr>
        <p:spPr/>
        <p:txBody>
          <a:bodyPr/>
          <a:lstStyle/>
          <a:p>
            <a:fld id="{51FD8534-A0DF-45C6-AC20-02B120C63C50}" type="slidenum">
              <a:rPr lang="en-US" smtClean="0"/>
              <a:t>5</a:t>
            </a:fld>
            <a:endParaRPr lang="en-US"/>
          </a:p>
        </p:txBody>
      </p:sp>
    </p:spTree>
    <p:extLst>
      <p:ext uri="{BB962C8B-B14F-4D97-AF65-F5344CB8AC3E}">
        <p14:creationId xmlns:p14="http://schemas.microsoft.com/office/powerpoint/2010/main" val="36357797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premise of altering the transport here is not speculative. Large-scale training has already outgrown a single datacenter, and the evidence arrives from different independent directions, including the Gemini team combining </a:t>
            </a:r>
            <a:r>
              <a:rPr lang="en-US" dirty="0" err="1"/>
              <a:t>SuperPods</a:t>
            </a:r>
            <a:r>
              <a:rPr lang="en-US" dirty="0"/>
              <a:t> across multiple datacenters, NCCL now </a:t>
            </a:r>
            <a:r>
              <a:rPr lang="en-US" dirty="0" err="1"/>
              <a:t>carring</a:t>
            </a:r>
            <a:r>
              <a:rPr lang="en-US" dirty="0"/>
              <a:t> open pull requests adding cross-datacenter communication and network topology awareness, and cross-facility federated learning being already running across national HPC </a:t>
            </a:r>
            <a:r>
              <a:rPr lang="en-US" dirty="0" err="1"/>
              <a:t>centres</a:t>
            </a:r>
            <a:r>
              <a:rPr lang="en-US" dirty="0"/>
              <a:t>. Federated learning is therefore not an exotic case for long-haul interconnects. It is the case that arrives first, because its participants are administratively separate by construction.</a:t>
            </a:r>
          </a:p>
        </p:txBody>
      </p:sp>
      <p:sp>
        <p:nvSpPr>
          <p:cNvPr id="4" name="Slide Number Placeholder 3"/>
          <p:cNvSpPr>
            <a:spLocks noGrp="1"/>
          </p:cNvSpPr>
          <p:nvPr>
            <p:ph type="sldNum" sz="quarter" idx="5"/>
          </p:nvPr>
        </p:nvSpPr>
        <p:spPr/>
        <p:txBody>
          <a:bodyPr/>
          <a:lstStyle/>
          <a:p>
            <a:fld id="{7594CBFC-699E-2A4C-945A-E864B504531D}" type="slidenum">
              <a:rPr lang="en-US"/>
              <a:t>6</a:t>
            </a:fld>
            <a:endParaRPr lang="en-US"/>
          </a:p>
        </p:txBody>
      </p:sp>
    </p:spTree>
    <p:extLst>
      <p:ext uri="{BB962C8B-B14F-4D97-AF65-F5344CB8AC3E}">
        <p14:creationId xmlns:p14="http://schemas.microsoft.com/office/powerpoint/2010/main" val="34443122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Structurally, RDMA verbs or hardware remain the same for both. Only one parameter </a:t>
            </a:r>
            <a:r>
              <a:rPr lang="en-US" dirty="0" err="1"/>
              <a:t>sigmofies</a:t>
            </a:r>
            <a:r>
              <a:rPr lang="en-US" dirty="0"/>
              <a:t> the difference: round-trip time, or RTT. Inside a datacenter it is on the order of two microseconds. Across our </a:t>
            </a:r>
            <a:r>
              <a:rPr lang="en-US" dirty="0" err="1"/>
              <a:t>ESnet</a:t>
            </a:r>
            <a:r>
              <a:rPr lang="en-US" dirty="0"/>
              <a:t> seven thousand </a:t>
            </a:r>
            <a:r>
              <a:rPr lang="en-US" dirty="0" err="1"/>
              <a:t>kilometres</a:t>
            </a:r>
            <a:r>
              <a:rPr lang="en-US" dirty="0"/>
              <a:t> path, it is eighty-eight milliseconds. </a:t>
            </a:r>
          </a:p>
          <a:p>
            <a:endParaRPr lang="en-US" dirty="0"/>
          </a:p>
          <a:p>
            <a:r>
              <a:rPr lang="en-US" dirty="0"/>
              <a:t>But that single parameter changes the regime, not merely the magnitude. At two microseconds the sender operates open-loop: it keeps the pipe full, and feedback returns long before it can constrain throughput. At eighty-eight milliseconds the same system becomes closed-loop. The sender waits forty-four thousand times longer for identical feedback, and that wait now sits on the critical path. This matters because our models and our intuition for RDMA were developed entirely within the open-loop regime. Long-haul invalidates them.</a:t>
            </a:r>
          </a:p>
        </p:txBody>
      </p:sp>
      <p:sp>
        <p:nvSpPr>
          <p:cNvPr id="4" name="Slide Number Placeholder 3"/>
          <p:cNvSpPr>
            <a:spLocks noGrp="1"/>
          </p:cNvSpPr>
          <p:nvPr>
            <p:ph type="sldNum" sz="quarter" idx="5"/>
          </p:nvPr>
        </p:nvSpPr>
        <p:spPr/>
        <p:txBody>
          <a:bodyPr/>
          <a:lstStyle/>
          <a:p>
            <a:fld id="{7594CBFC-699E-2A4C-945A-E864B504531D}" type="slidenum">
              <a:t>7</a:t>
            </a:fld>
            <a:endParaRPr lang="en-US"/>
          </a:p>
        </p:txBody>
      </p:sp>
    </p:spTree>
    <p:extLst>
      <p:ext uri="{BB962C8B-B14F-4D97-AF65-F5344CB8AC3E}">
        <p14:creationId xmlns:p14="http://schemas.microsoft.com/office/powerpoint/2010/main" val="41235145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That brings us to the gap this work addresses. Every property RDMA relies on was specified for a machine room: microsecond round-trip times, a lossless fabric, and reliability managed in hardware. None of those assumptions survives a wide-area path, and their combined behaviour under a real workload had not been measured.</a:t>
            </a:r>
            <a:br>
              <a:rPr lang="en-GB" dirty="0"/>
            </a:br>
            <a:br>
              <a:rPr lang="en-GB" dirty="0"/>
            </a:br>
            <a:r>
              <a:rPr lang="en-GB" dirty="0"/>
              <a:t>The question we ask, therefore, is whether long-haul RDMA can enhance the efficiency of federated learning in a wide-area network. We decompose it into three questions. Does RDMA outperform TCP at all, and if yes, under which conditions? Which federated learning algorithm or set of configurations amplifies the difference? And further, does it require co-design? That is, whether obtaining the benefit demands changes to the communication and system-level components, or whether the transport can simply be replaced. </a:t>
            </a:r>
            <a:endParaRPr lang="en-US" dirty="0"/>
          </a:p>
        </p:txBody>
      </p:sp>
      <p:sp>
        <p:nvSpPr>
          <p:cNvPr id="4" name="Slide Number Placeholder 3"/>
          <p:cNvSpPr>
            <a:spLocks noGrp="1"/>
          </p:cNvSpPr>
          <p:nvPr>
            <p:ph type="sldNum" sz="quarter" idx="5"/>
          </p:nvPr>
        </p:nvSpPr>
        <p:spPr/>
        <p:txBody>
          <a:bodyPr/>
          <a:lstStyle/>
          <a:p>
            <a:fld id="{51FD8534-A0DF-45C6-AC20-02B120C63C50}" type="slidenum">
              <a:rPr lang="en-US" smtClean="0"/>
              <a:t>8</a:t>
            </a:fld>
            <a:endParaRPr lang="en-US"/>
          </a:p>
        </p:txBody>
      </p:sp>
    </p:spTree>
    <p:extLst>
      <p:ext uri="{BB962C8B-B14F-4D97-AF65-F5344CB8AC3E}">
        <p14:creationId xmlns:p14="http://schemas.microsoft.com/office/powerpoint/2010/main" val="32858846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now explore the bottleneck when we adopt long-haul RDMA for federated learning.</a:t>
            </a:r>
          </a:p>
        </p:txBody>
      </p:sp>
      <p:sp>
        <p:nvSpPr>
          <p:cNvPr id="4" name="Slide Number Placeholder 3"/>
          <p:cNvSpPr>
            <a:spLocks noGrp="1"/>
          </p:cNvSpPr>
          <p:nvPr>
            <p:ph type="sldNum" sz="quarter" idx="5"/>
          </p:nvPr>
        </p:nvSpPr>
        <p:spPr/>
        <p:txBody>
          <a:bodyPr/>
          <a:lstStyle/>
          <a:p>
            <a:fld id="{51FD8534-A0DF-45C6-AC20-02B120C63C50}" type="slidenum">
              <a:rPr lang="en-US" smtClean="0"/>
              <a:t>9</a:t>
            </a:fld>
            <a:endParaRPr lang="en-US"/>
          </a:p>
        </p:txBody>
      </p:sp>
    </p:spTree>
    <p:extLst>
      <p:ext uri="{BB962C8B-B14F-4D97-AF65-F5344CB8AC3E}">
        <p14:creationId xmlns:p14="http://schemas.microsoft.com/office/powerpoint/2010/main" val="30181375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obvious first experiment is to place TCP and default RDMA side by side at the same layer, on the same NIC, and compare them directly.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result is not what we anticipated. UCX-level TCP scales with message size in the ordinary way, reaching approximately 1.5 GB/s at 64 MB. Default reliable connection, over the identical link, plateaus at roughly 23 MB/s. It reaches that plateau already at 1 MB and does not improve at all through 64. At the largest message size, the RDMA path is 66 times slower than kernel TCP. The flatness is the diagnostic. A bandwidth limitation scales with message size, because larger messages amortize fixed per-message costs. A curve that does not respond to message size indicates something quite different: the transport is emitting a fixed number of messages per round trip, irrespective of what the application requested. End to end, this translates into federated learning runs that are up to19.5 times slower than TCP. Yet this is not a link problem, as indicated by a verbs-level measurement of 10 GB/s write bandwidth shown in the evaluations. </a:t>
            </a:r>
          </a:p>
        </p:txBody>
      </p:sp>
      <p:sp>
        <p:nvSpPr>
          <p:cNvPr id="4" name="Slide Number Placeholder 3"/>
          <p:cNvSpPr>
            <a:spLocks noGrp="1"/>
          </p:cNvSpPr>
          <p:nvPr>
            <p:ph type="sldNum" sz="quarter" idx="5"/>
          </p:nvPr>
        </p:nvSpPr>
        <p:spPr/>
        <p:txBody>
          <a:bodyPr/>
          <a:lstStyle/>
          <a:p>
            <a:fld id="{51FD8534-A0DF-45C6-AC20-02B120C63C50}" type="slidenum">
              <a:rPr lang="en-US" smtClean="0"/>
              <a:t>10</a:t>
            </a:fld>
            <a:endParaRPr lang="en-US"/>
          </a:p>
        </p:txBody>
      </p:sp>
    </p:spTree>
    <p:extLst>
      <p:ext uri="{BB962C8B-B14F-4D97-AF65-F5344CB8AC3E}">
        <p14:creationId xmlns:p14="http://schemas.microsoft.com/office/powerpoint/2010/main" val="26155564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therefore examined the NIC hardware counters. The application submits a 64 megabyte message to UCP, and UCP posts it as a single work request. The counters, however, record that same transfer arriving on the wire as 64 separate 1 MB requests, paced at two per round trip, accompanied by approximately 200 firmware retransmission events per 64 MB message. 2 MB every 88 </a:t>
            </a:r>
            <a:r>
              <a:rPr lang="en-US" sz="1200" b="0" i="0" kern="1200" dirty="0" err="1">
                <a:solidFill>
                  <a:schemeClr val="tx1"/>
                </a:solidFill>
                <a:effectLst/>
                <a:latin typeface="+mn-lt"/>
                <a:ea typeface="+mn-ea"/>
                <a:cs typeface="+mn-cs"/>
              </a:rPr>
              <a:t>ms</a:t>
            </a:r>
            <a:r>
              <a:rPr lang="en-US" sz="1200" b="0" i="0" kern="1200" dirty="0">
                <a:solidFill>
                  <a:schemeClr val="tx1"/>
                </a:solidFill>
                <a:effectLst/>
                <a:latin typeface="+mn-lt"/>
                <a:ea typeface="+mn-ea"/>
                <a:cs typeface="+mn-cs"/>
              </a:rPr>
              <a:t> is approximately 23 MB/s, which reproduces the observed plateau exactly. The flat curve was never a bandwidth limit; it was a retransmission timer. </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firmware's adaptive retransmission logic is provisioned for datacenter round-trip times. At 88 </a:t>
            </a:r>
            <a:r>
              <a:rPr lang="en-US" sz="1200" b="0" i="0" kern="1200" dirty="0" err="1">
                <a:solidFill>
                  <a:schemeClr val="tx1"/>
                </a:solidFill>
                <a:effectLst/>
                <a:latin typeface="+mn-lt"/>
                <a:ea typeface="+mn-ea"/>
                <a:cs typeface="+mn-cs"/>
              </a:rPr>
              <a:t>ms</a:t>
            </a:r>
            <a:r>
              <a:rPr lang="en-US" sz="1200" b="0" i="0" kern="1200" dirty="0">
                <a:solidFill>
                  <a:schemeClr val="tx1"/>
                </a:solidFill>
                <a:effectLst/>
                <a:latin typeface="+mn-lt"/>
                <a:ea typeface="+mn-ea"/>
                <a:cs typeface="+mn-cs"/>
              </a:rPr>
              <a:t> the acknowledgment is still in flight, yet the firmware classifies it as loss, and the transfer enters a slow restart. The </a:t>
            </a:r>
            <a:r>
              <a:rPr lang="en-US" sz="1200" b="0" i="0" kern="1200" dirty="0" err="1">
                <a:solidFill>
                  <a:schemeClr val="tx1"/>
                </a:solidFill>
                <a:effectLst/>
                <a:latin typeface="+mn-lt"/>
                <a:ea typeface="+mn-ea"/>
                <a:cs typeface="+mn-cs"/>
              </a:rPr>
              <a:t>behaviour</a:t>
            </a:r>
            <a:r>
              <a:rPr lang="en-US" sz="1200" b="0" i="0" kern="1200" dirty="0">
                <a:solidFill>
                  <a:schemeClr val="tx1"/>
                </a:solidFill>
                <a:effectLst/>
                <a:latin typeface="+mn-lt"/>
                <a:ea typeface="+mn-ea"/>
                <a:cs typeface="+mn-cs"/>
              </a:rPr>
              <a:t> is confined to queue pairs created through DEVX, which is UCX's default path. Queue pairs created through the legacy verbs interface do not exhibit it, which accounts for </a:t>
            </a:r>
            <a:r>
              <a:rPr lang="en-US" sz="1200" b="0" i="0" kern="1200" dirty="0" err="1">
                <a:solidFill>
                  <a:schemeClr val="tx1"/>
                </a:solidFill>
                <a:effectLst/>
                <a:latin typeface="+mn-lt"/>
                <a:ea typeface="+mn-ea"/>
                <a:cs typeface="+mn-cs"/>
              </a:rPr>
              <a:t>ib_write_bw</a:t>
            </a:r>
            <a:r>
              <a:rPr lang="en-US" sz="1200" b="0" i="0" kern="1200" dirty="0">
                <a:solidFill>
                  <a:schemeClr val="tx1"/>
                </a:solidFill>
                <a:effectLst/>
                <a:latin typeface="+mn-lt"/>
                <a:ea typeface="+mn-ea"/>
                <a:cs typeface="+mn-cs"/>
              </a:rPr>
              <a:t> performing correctly on the identical link.</a:t>
            </a:r>
            <a:endParaRPr lang="en-GB" dirty="0"/>
          </a:p>
        </p:txBody>
      </p:sp>
      <p:sp>
        <p:nvSpPr>
          <p:cNvPr id="4" name="Slide Number Placeholder 3"/>
          <p:cNvSpPr>
            <a:spLocks noGrp="1"/>
          </p:cNvSpPr>
          <p:nvPr>
            <p:ph type="sldNum" sz="quarter" idx="5"/>
          </p:nvPr>
        </p:nvSpPr>
        <p:spPr/>
        <p:txBody>
          <a:bodyPr/>
          <a:lstStyle/>
          <a:p>
            <a:fld id="{51FD8534-A0DF-45C6-AC20-02B120C63C50}" type="slidenum">
              <a:rPr lang="en-US" smtClean="0"/>
              <a:t>11</a:t>
            </a:fld>
            <a:endParaRPr lang="en-US"/>
          </a:p>
        </p:txBody>
      </p:sp>
    </p:spTree>
    <p:extLst>
      <p:ext uri="{BB962C8B-B14F-4D97-AF65-F5344CB8AC3E}">
        <p14:creationId xmlns:p14="http://schemas.microsoft.com/office/powerpoint/2010/main" val="11476961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Because the trigger is the queue-pair creation path, the correction is a single environment variable. Setting UCX_IB_MLX5_DEVX to n causes UCX to create its queue pairs through the standard verbs interface rather than through DEVX. No application code changes, and nothing else in the configuration changes. The retransmission storm disappears. At the UCX layer, 23 MB/s becomes 4.3 GB/s; at the MPI layer, 2.5 GB/s. That is two orders of magnitude recovered by one setting, and it is encouraged for anyone running RDMA over a wide-area link to verify this. This establishes that the catastrophic degradation is configuration-specific, intrinsic neither to reliable connection nor to long-haul RDMA. But observe the residue: even corrected, reliable connection reaches 4.3 GB/s against a wire capable of 10.3, which is less than half the fabric. That gap requires us to design the transport more efficiently, ideally with workload awareness.</a:t>
            </a:r>
          </a:p>
        </p:txBody>
      </p:sp>
      <p:sp>
        <p:nvSpPr>
          <p:cNvPr id="4" name="Slide Number Placeholder 3"/>
          <p:cNvSpPr>
            <a:spLocks noGrp="1"/>
          </p:cNvSpPr>
          <p:nvPr>
            <p:ph type="sldNum" sz="quarter" idx="5"/>
          </p:nvPr>
        </p:nvSpPr>
        <p:spPr/>
        <p:txBody>
          <a:bodyPr/>
          <a:lstStyle/>
          <a:p>
            <a:fld id="{51FD8534-A0DF-45C6-AC20-02B120C63C50}" type="slidenum">
              <a:rPr lang="en-US" smtClean="0"/>
              <a:t>12</a:t>
            </a:fld>
            <a:endParaRPr lang="en-US"/>
          </a:p>
        </p:txBody>
      </p:sp>
    </p:spTree>
    <p:extLst>
      <p:ext uri="{BB962C8B-B14F-4D97-AF65-F5344CB8AC3E}">
        <p14:creationId xmlns:p14="http://schemas.microsoft.com/office/powerpoint/2010/main" val="6306812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Under RC, a large transfer does not begin with data. It begins with a rendezvous handshake: the sender issues a request, the receiver returns an acknowledgment, and only then does the payload stream. The opening exchange is a complete 88ms round trip during which the link carries nothing at all. Federated learning does precisely the opposite: </a:t>
            </a:r>
            <a:r>
              <a:rPr lang="en-US" sz="1200" b="0" i="0" kern="1200" dirty="0" err="1">
                <a:solidFill>
                  <a:schemeClr val="tx1"/>
                </a:solidFill>
                <a:effectLst/>
                <a:latin typeface="+mn-lt"/>
                <a:ea typeface="+mn-ea"/>
                <a:cs typeface="+mn-cs"/>
              </a:rPr>
              <a:t>FedAsync</a:t>
            </a:r>
            <a:r>
              <a:rPr lang="en-US" sz="1200" b="0" i="0" kern="1200" dirty="0">
                <a:solidFill>
                  <a:schemeClr val="tx1"/>
                </a:solidFill>
                <a:effectLst/>
                <a:latin typeface="+mn-lt"/>
                <a:ea typeface="+mn-ea"/>
                <a:cs typeface="+mn-cs"/>
              </a:rPr>
              <a:t> performs a down-and-up exchange on every client update, so that same fixed round trip is paid over and over. Two further costs follow. Send completion remains tied to a wire-level acknowledgment, so buffers are not released until a round trip after the data has gone. And recovery is go-back-N, which rolls back an entire window on a single loss, where the window spans 88 </a:t>
            </a:r>
            <a:r>
              <a:rPr lang="en-US" sz="1200" b="0" i="0" kern="1200" dirty="0" err="1">
                <a:solidFill>
                  <a:schemeClr val="tx1"/>
                </a:solidFill>
                <a:effectLst/>
                <a:latin typeface="+mn-lt"/>
                <a:ea typeface="+mn-ea"/>
                <a:cs typeface="+mn-cs"/>
              </a:rPr>
              <a:t>ms.</a:t>
            </a:r>
            <a:r>
              <a:rPr lang="en-US" sz="1200" b="0" i="0" kern="1200" dirty="0">
                <a:solidFill>
                  <a:schemeClr val="tx1"/>
                </a:solidFill>
                <a:effectLst/>
                <a:latin typeface="+mn-lt"/>
                <a:ea typeface="+mn-ea"/>
                <a:cs typeface="+mn-cs"/>
              </a:rPr>
              <a:t> None of this is configurable. This is a property of the transport, and removing it means designing a different one, with ACK off the critical path and with FL awareness. </a:t>
            </a:r>
            <a:endParaRPr lang="en-GB" dirty="0"/>
          </a:p>
        </p:txBody>
      </p:sp>
      <p:sp>
        <p:nvSpPr>
          <p:cNvPr id="4" name="Slide Number Placeholder 3"/>
          <p:cNvSpPr>
            <a:spLocks noGrp="1"/>
          </p:cNvSpPr>
          <p:nvPr>
            <p:ph type="sldNum" sz="quarter" idx="5"/>
          </p:nvPr>
        </p:nvSpPr>
        <p:spPr/>
        <p:txBody>
          <a:bodyPr/>
          <a:lstStyle/>
          <a:p>
            <a:fld id="{51FD8534-A0DF-45C6-AC20-02B120C63C50}" type="slidenum">
              <a:rPr lang="en-US" smtClean="0"/>
              <a:t>13</a:t>
            </a:fld>
            <a:endParaRPr lang="en-US"/>
          </a:p>
        </p:txBody>
      </p:sp>
    </p:spTree>
    <p:extLst>
      <p:ext uri="{BB962C8B-B14F-4D97-AF65-F5344CB8AC3E}">
        <p14:creationId xmlns:p14="http://schemas.microsoft.com/office/powerpoint/2010/main" val="16500341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brings us to the design.</a:t>
            </a:r>
            <a:endParaRPr lang="en-GB" dirty="0"/>
          </a:p>
        </p:txBody>
      </p:sp>
      <p:sp>
        <p:nvSpPr>
          <p:cNvPr id="4" name="Slide Number Placeholder 3"/>
          <p:cNvSpPr>
            <a:spLocks noGrp="1"/>
          </p:cNvSpPr>
          <p:nvPr>
            <p:ph type="sldNum" sz="quarter" idx="5"/>
          </p:nvPr>
        </p:nvSpPr>
        <p:spPr/>
        <p:txBody>
          <a:bodyPr/>
          <a:lstStyle/>
          <a:p>
            <a:fld id="{51FD8534-A0DF-45C6-AC20-02B120C63C50}" type="slidenum">
              <a:rPr lang="en-US" smtClean="0"/>
              <a:t>14</a:t>
            </a:fld>
            <a:endParaRPr lang="en-US"/>
          </a:p>
        </p:txBody>
      </p:sp>
    </p:spTree>
    <p:extLst>
      <p:ext uri="{BB962C8B-B14F-4D97-AF65-F5344CB8AC3E}">
        <p14:creationId xmlns:p14="http://schemas.microsoft.com/office/powerpoint/2010/main" val="15049572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As we discussed, the RC-fixed still presents bottleneck inherent to RC. We therefore presents our long-haul-friendly RDMA, or LHR, as shown in this diagram, with the complete stack of the federated learning aggregator, the MPI runtime, the UCX transport, and RDMA verbs. The principle we applied is that each adaptation is driven by a constraint the adjacent layer cannot absorb. These design mainly concentrate on the FL application layer and the UCX transport layer. At the FL layer we adopt chunking for model weights; at the MPI layer we use the stock MPICH runtime; at the UCX layer we present our LHR transport; at the RDMA verbs layer we choose UC +UD/DC for primitives.</a:t>
            </a:r>
            <a:endParaRPr lang="en-GB" dirty="0"/>
          </a:p>
        </p:txBody>
      </p:sp>
      <p:sp>
        <p:nvSpPr>
          <p:cNvPr id="4" name="Slide Number Placeholder 3"/>
          <p:cNvSpPr>
            <a:spLocks noGrp="1"/>
          </p:cNvSpPr>
          <p:nvPr>
            <p:ph type="sldNum" sz="quarter" idx="5"/>
          </p:nvPr>
        </p:nvSpPr>
        <p:spPr/>
        <p:txBody>
          <a:bodyPr/>
          <a:lstStyle/>
          <a:p>
            <a:fld id="{51FD8534-A0DF-45C6-AC20-02B120C63C50}" type="slidenum">
              <a:rPr lang="en-US" smtClean="0"/>
              <a:t>15</a:t>
            </a:fld>
            <a:endParaRPr lang="en-US"/>
          </a:p>
        </p:txBody>
      </p:sp>
    </p:spTree>
    <p:extLst>
      <p:ext uri="{BB962C8B-B14F-4D97-AF65-F5344CB8AC3E}">
        <p14:creationId xmlns:p14="http://schemas.microsoft.com/office/powerpoint/2010/main" val="38510960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foundation model parameters nowadays reach the GB or TB level, yet a single MPI call is limited to roughly 2 GB. The design decision is where the chunking happens and what value is chosen. We chunk at the federated learning layer, because the aggregator is the only layer that knows both the tensor structure and the aggregation policy. And the value of 32 MB chunk is not selected in isolation. It is selected jointly with the transport's replay window. Had the aggregator handed MPI a single send even under the 2 GB limit, the transport would have to size its replay buffer for an entire model. Chunking 32 MB is precisely what permits a bounded ring buffer underneath.</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second decision is a deliberate non-change. We keep the MPI runtime stock. That is a constraint we imposed on ourselves so the result remains deployable, and the chunk size is what </a:t>
            </a:r>
            <a:r>
              <a:rPr lang="en-US" sz="1200" b="0" i="0" kern="1200" dirty="0" err="1">
                <a:solidFill>
                  <a:schemeClr val="tx1"/>
                </a:solidFill>
                <a:effectLst/>
                <a:latin typeface="+mn-lt"/>
                <a:ea typeface="+mn-ea"/>
                <a:cs typeface="+mn-cs"/>
              </a:rPr>
              <a:t>honours</a:t>
            </a:r>
            <a:r>
              <a:rPr lang="en-US" sz="1200" b="0" i="0" kern="1200" dirty="0">
                <a:solidFill>
                  <a:schemeClr val="tx1"/>
                </a:solidFill>
                <a:effectLst/>
                <a:latin typeface="+mn-lt"/>
                <a:ea typeface="+mn-ea"/>
                <a:cs typeface="+mn-cs"/>
              </a:rPr>
              <a:t> it: every call stays below the cap, so MPI never needs to learn that the path is long.</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payoff is that a single chunked stream serves all three policies. The policy alters only how often that stream is emitted, and that frequency is exactly the parameter the ring buffer beneath is tuned on.</a:t>
            </a:r>
            <a:endParaRPr lang="en-GB" dirty="0"/>
          </a:p>
        </p:txBody>
      </p:sp>
      <p:sp>
        <p:nvSpPr>
          <p:cNvPr id="4" name="Slide Number Placeholder 3"/>
          <p:cNvSpPr>
            <a:spLocks noGrp="1"/>
          </p:cNvSpPr>
          <p:nvPr>
            <p:ph type="sldNum" sz="quarter" idx="5"/>
          </p:nvPr>
        </p:nvSpPr>
        <p:spPr/>
        <p:txBody>
          <a:bodyPr/>
          <a:lstStyle/>
          <a:p>
            <a:fld id="{51FD8534-A0DF-45C6-AC20-02B120C63C50}" type="slidenum">
              <a:rPr lang="en-US" smtClean="0"/>
              <a:t>16</a:t>
            </a:fld>
            <a:endParaRPr lang="en-US"/>
          </a:p>
        </p:txBody>
      </p:sp>
    </p:spTree>
    <p:extLst>
      <p:ext uri="{BB962C8B-B14F-4D97-AF65-F5344CB8AC3E}">
        <p14:creationId xmlns:p14="http://schemas.microsoft.com/office/powerpoint/2010/main" val="10772882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At UCX transport layer, we present the LHR design. The key idea here is to take reliability control off the critical path. On the top is the reliable connection. Each send completion is chained to an acknowledgment returning across 88 milliseconds. A packet departs, and the sender then waits, blocked for a full round trip before the next completion can occur. Accumulated across messages, the link remains largely idle. On the bottom is LHR. The sender copies a fragment into a transport-owned replay buffer, posts it as a UC RDMA write-with-immediate, and obtains local completion immediately. It does not wait on the receiver and therefore continues to transmit; bytes remain in flight continuously. However unreliable connection provides no delivery guarantee, and MPI requires one. LHR therefore reconstructs reliability in software, but conducts all acknowledgment and retransmission traffic on a separate UD or DC queue pair. The acknowledgment path simply no longer occupies the critical path. </a:t>
            </a:r>
            <a:endParaRPr lang="en-GB" dirty="0"/>
          </a:p>
        </p:txBody>
      </p:sp>
      <p:sp>
        <p:nvSpPr>
          <p:cNvPr id="4" name="Slide Number Placeholder 3"/>
          <p:cNvSpPr>
            <a:spLocks noGrp="1"/>
          </p:cNvSpPr>
          <p:nvPr>
            <p:ph type="sldNum" sz="quarter" idx="5"/>
          </p:nvPr>
        </p:nvSpPr>
        <p:spPr/>
        <p:txBody>
          <a:bodyPr/>
          <a:lstStyle/>
          <a:p>
            <a:fld id="{51FD8534-A0DF-45C6-AC20-02B120C63C50}" type="slidenum">
              <a:rPr lang="en-US" smtClean="0"/>
              <a:t>17</a:t>
            </a:fld>
            <a:endParaRPr lang="en-US"/>
          </a:p>
        </p:txBody>
      </p:sp>
    </p:spTree>
    <p:extLst>
      <p:ext uri="{BB962C8B-B14F-4D97-AF65-F5344CB8AC3E}">
        <p14:creationId xmlns:p14="http://schemas.microsoft.com/office/powerpoint/2010/main" val="5104467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One further element is FL awareness. LHR bounds replay and staging with a finite ring-buffer window. The question is how large that window should be and how it should be partitioned. Our observation is that the aggregation policy, not the model, determines the answer. </a:t>
            </a:r>
            <a:r>
              <a:rPr lang="en-US" sz="1200" b="0" i="0" kern="1200" dirty="0" err="1">
                <a:solidFill>
                  <a:schemeClr val="tx1"/>
                </a:solidFill>
                <a:effectLst/>
                <a:latin typeface="+mn-lt"/>
                <a:ea typeface="+mn-ea"/>
                <a:cs typeface="+mn-cs"/>
              </a:rPr>
              <a:t>FedAvg</a:t>
            </a:r>
            <a:r>
              <a:rPr lang="en-US" sz="1200" b="0" i="0" kern="1200" dirty="0">
                <a:solidFill>
                  <a:schemeClr val="tx1"/>
                </a:solidFill>
                <a:effectLst/>
                <a:latin typeface="+mn-lt"/>
                <a:ea typeface="+mn-ea"/>
                <a:cs typeface="+mn-cs"/>
              </a:rPr>
              <a:t> produces a synchronized burst, with many uplinks arriving concurrently, so the ring is partitioned conservatively across clients to prevent any single stream from monopolizing it. </a:t>
            </a:r>
            <a:r>
              <a:rPr lang="en-US" sz="1200" b="0" i="0" kern="1200" dirty="0" err="1">
                <a:solidFill>
                  <a:schemeClr val="tx1"/>
                </a:solidFill>
                <a:effectLst/>
                <a:latin typeface="+mn-lt"/>
                <a:ea typeface="+mn-ea"/>
                <a:cs typeface="+mn-cs"/>
              </a:rPr>
              <a:t>FedBuff</a:t>
            </a:r>
            <a:r>
              <a:rPr lang="en-US" sz="1200" b="0" i="0" kern="1200" dirty="0">
                <a:solidFill>
                  <a:schemeClr val="tx1"/>
                </a:solidFill>
                <a:effectLst/>
                <a:latin typeface="+mn-lt"/>
                <a:ea typeface="+mn-ea"/>
                <a:cs typeface="+mn-cs"/>
              </a:rPr>
              <a:t> is treated similarly, sized from its buffer depth. </a:t>
            </a:r>
            <a:r>
              <a:rPr lang="en-US" sz="1200" b="0" i="0" kern="1200" dirty="0" err="1">
                <a:solidFill>
                  <a:schemeClr val="tx1"/>
                </a:solidFill>
                <a:effectLst/>
                <a:latin typeface="+mn-lt"/>
                <a:ea typeface="+mn-ea"/>
                <a:cs typeface="+mn-cs"/>
              </a:rPr>
              <a:t>FedAsync</a:t>
            </a:r>
            <a:r>
              <a:rPr lang="en-US" sz="1200" b="0" i="0" kern="1200" dirty="0">
                <a:solidFill>
                  <a:schemeClr val="tx1"/>
                </a:solidFill>
                <a:effectLst/>
                <a:latin typeface="+mn-lt"/>
                <a:ea typeface="+mn-ea"/>
                <a:cs typeface="+mn-cs"/>
              </a:rPr>
              <a:t> has the opposite character, where its transfers are arrival-driven, and each exchange lies directly on that client's critical path. There we </a:t>
            </a:r>
            <a:r>
              <a:rPr lang="en-US" sz="1200" b="0" i="0" kern="1200" dirty="0" err="1">
                <a:solidFill>
                  <a:schemeClr val="tx1"/>
                </a:solidFill>
                <a:effectLst/>
                <a:latin typeface="+mn-lt"/>
                <a:ea typeface="+mn-ea"/>
                <a:cs typeface="+mn-cs"/>
              </a:rPr>
              <a:t>favour</a:t>
            </a:r>
            <a:r>
              <a:rPr lang="en-US" sz="1200" b="0" i="0" kern="1200" dirty="0">
                <a:solidFill>
                  <a:schemeClr val="tx1"/>
                </a:solidFill>
                <a:effectLst/>
                <a:latin typeface="+mn-lt"/>
                <a:ea typeface="+mn-ea"/>
                <a:cs typeface="+mn-cs"/>
              </a:rPr>
              <a:t> a larger per-stream allocation and acknowledge more frequently, since prompt release of replay slots is what reduces turnaround time. Finally, LHR registers as a standard UCT transport, selected through a UCX environment variable. Nothing above UCX is recompiled.</a:t>
            </a:r>
            <a:endParaRPr lang="en-GB" dirty="0"/>
          </a:p>
        </p:txBody>
      </p:sp>
      <p:sp>
        <p:nvSpPr>
          <p:cNvPr id="4" name="Slide Number Placeholder 3"/>
          <p:cNvSpPr>
            <a:spLocks noGrp="1"/>
          </p:cNvSpPr>
          <p:nvPr>
            <p:ph type="sldNum" sz="quarter" idx="5"/>
          </p:nvPr>
        </p:nvSpPr>
        <p:spPr/>
        <p:txBody>
          <a:bodyPr/>
          <a:lstStyle/>
          <a:p>
            <a:fld id="{51FD8534-A0DF-45C6-AC20-02B120C63C50}" type="slidenum">
              <a:rPr lang="en-US" smtClean="0"/>
              <a:t>18</a:t>
            </a:fld>
            <a:endParaRPr lang="en-US"/>
          </a:p>
        </p:txBody>
      </p:sp>
    </p:spTree>
    <p:extLst>
      <p:ext uri="{BB962C8B-B14F-4D97-AF65-F5344CB8AC3E}">
        <p14:creationId xmlns:p14="http://schemas.microsoft.com/office/powerpoint/2010/main" val="13288610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 will now present the evaluation.</a:t>
            </a:r>
            <a:endParaRPr lang="en-GB" dirty="0"/>
          </a:p>
        </p:txBody>
      </p:sp>
      <p:sp>
        <p:nvSpPr>
          <p:cNvPr id="4" name="Slide Number Placeholder 3"/>
          <p:cNvSpPr>
            <a:spLocks noGrp="1"/>
          </p:cNvSpPr>
          <p:nvPr>
            <p:ph type="sldNum" sz="quarter" idx="5"/>
          </p:nvPr>
        </p:nvSpPr>
        <p:spPr/>
        <p:txBody>
          <a:bodyPr/>
          <a:lstStyle/>
          <a:p>
            <a:fld id="{51FD8534-A0DF-45C6-AC20-02B120C63C50}" type="slidenum">
              <a:rPr lang="en-US" smtClean="0"/>
              <a:t>19</a:t>
            </a:fld>
            <a:endParaRPr lang="en-US"/>
          </a:p>
        </p:txBody>
      </p:sp>
    </p:spTree>
    <p:extLst>
      <p:ext uri="{BB962C8B-B14F-4D97-AF65-F5344CB8AC3E}">
        <p14:creationId xmlns:p14="http://schemas.microsoft.com/office/powerpoint/2010/main" val="12761125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To evaluate LHR, we conduct our evaluations upon the Energy Sciences Network, or </a:t>
            </a:r>
            <a:r>
              <a:rPr lang="en-US" b="0" dirty="0" err="1"/>
              <a:t>ESnet</a:t>
            </a:r>
            <a:r>
              <a:rPr lang="en-US" b="0" dirty="0"/>
              <a:t>, long-haul RDMA </a:t>
            </a:r>
            <a:r>
              <a:rPr lang="en-US" b="0" dirty="0" err="1"/>
              <a:t>nework</a:t>
            </a:r>
            <a:r>
              <a:rPr lang="en-US" b="0" dirty="0"/>
              <a:t>. </a:t>
            </a:r>
            <a:r>
              <a:rPr lang="en-GB" dirty="0"/>
              <a:t>We use four </a:t>
            </a:r>
            <a:r>
              <a:rPr lang="en-GB" dirty="0" err="1"/>
              <a:t>ESnet</a:t>
            </a:r>
            <a:r>
              <a:rPr lang="en-GB" dirty="0"/>
              <a:t> data transfer nodes</a:t>
            </a:r>
            <a:r>
              <a:rPr lang="en-US" altLang="zh-CN" dirty="0"/>
              <a:t>,</a:t>
            </a:r>
            <a:r>
              <a:rPr lang="zh-CN" altLang="en-US" dirty="0"/>
              <a:t> </a:t>
            </a:r>
            <a:r>
              <a:rPr lang="en-GB" dirty="0"/>
              <a:t>connected in a full mesh over its optical backbone, with a measured </a:t>
            </a:r>
            <a:r>
              <a:rPr lang="en-US" altLang="zh-CN" dirty="0"/>
              <a:t>88</a:t>
            </a:r>
            <a:r>
              <a:rPr lang="en-GB" dirty="0"/>
              <a:t> </a:t>
            </a:r>
            <a:r>
              <a:rPr lang="en-GB" dirty="0" err="1"/>
              <a:t>ms</a:t>
            </a:r>
            <a:r>
              <a:rPr lang="en-GB" dirty="0"/>
              <a:t> round trip between any two. The network comparison is between RoCEv2 and kernel TCP share the same NIC on the same VLAN. </a:t>
            </a:r>
          </a:p>
          <a:p>
            <a:endParaRPr lang="en-GB" dirty="0"/>
          </a:p>
          <a:p>
            <a:r>
              <a:rPr lang="en-GB" dirty="0"/>
              <a:t>Four transports of LHR, RC default, RC fixed as we discussed, and TCP are compared. </a:t>
            </a:r>
            <a:r>
              <a:rPr lang="en-US" b="0" dirty="0"/>
              <a:t>We use APPFL framework deployment as the real FL deployment traces and build a FL proxy. Vision transformer and VGG-16 are used as the target model for training, for three types of algorithms: </a:t>
            </a:r>
            <a:r>
              <a:rPr lang="en-US" b="0" dirty="0" err="1"/>
              <a:t>FedAvg</a:t>
            </a:r>
            <a:r>
              <a:rPr lang="en-US" b="0" dirty="0"/>
              <a:t> for synchronous, </a:t>
            </a:r>
            <a:r>
              <a:rPr lang="en-US" b="0" dirty="0" err="1"/>
              <a:t>FedAsync</a:t>
            </a:r>
            <a:r>
              <a:rPr lang="en-US" b="0" dirty="0"/>
              <a:t> for asynchronous, and </a:t>
            </a:r>
            <a:r>
              <a:rPr lang="en-US" b="0" dirty="0" err="1"/>
              <a:t>FedBuff</a:t>
            </a:r>
            <a:r>
              <a:rPr lang="en-US" b="0" dirty="0"/>
              <a:t> for semi-asynchronous.</a:t>
            </a:r>
            <a:endParaRPr lang="en-GB" dirty="0"/>
          </a:p>
          <a:p>
            <a:endParaRPr lang="en-GB" dirty="0"/>
          </a:p>
        </p:txBody>
      </p:sp>
      <p:sp>
        <p:nvSpPr>
          <p:cNvPr id="4" name="Slide Number Placeholder 3"/>
          <p:cNvSpPr>
            <a:spLocks noGrp="1"/>
          </p:cNvSpPr>
          <p:nvPr>
            <p:ph type="sldNum" sz="quarter" idx="5"/>
          </p:nvPr>
        </p:nvSpPr>
        <p:spPr/>
        <p:txBody>
          <a:bodyPr/>
          <a:lstStyle/>
          <a:p>
            <a:fld id="{51FD8534-A0DF-45C6-AC20-02B120C63C50}" type="slidenum">
              <a:rPr lang="en-US" smtClean="0"/>
              <a:t>20</a:t>
            </a:fld>
            <a:endParaRPr lang="en-US"/>
          </a:p>
        </p:txBody>
      </p:sp>
    </p:spTree>
    <p:extLst>
      <p:ext uri="{BB962C8B-B14F-4D97-AF65-F5344CB8AC3E}">
        <p14:creationId xmlns:p14="http://schemas.microsoft.com/office/powerpoint/2010/main" val="11661900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localize the penalty we measured point-to-point bandwidth at three levels of abstraction on the same link. Both plots use a logarithmic scale.</a:t>
            </a:r>
          </a:p>
          <a:p>
            <a:endParaRPr lang="en-GB" dirty="0"/>
          </a:p>
          <a:p>
            <a:r>
              <a:rPr lang="en-GB" dirty="0"/>
              <a:t>Panel (a) is the control. Raw RDMA WRITE, with no middleware, rises from </a:t>
            </a:r>
            <a:r>
              <a:rPr lang="en-US" altLang="zh-CN" dirty="0"/>
              <a:t>527</a:t>
            </a:r>
            <a:r>
              <a:rPr lang="zh-CN" altLang="en-US" dirty="0"/>
              <a:t> </a:t>
            </a:r>
            <a:r>
              <a:rPr lang="en-US" altLang="zh-CN" dirty="0"/>
              <a:t>MB/s</a:t>
            </a:r>
            <a:r>
              <a:rPr lang="en-GB" dirty="0"/>
              <a:t> to 10.3 GB/s. That curve is the bandwidth-delay product of an 88ms link. Kernel TCP holds between 1.3 and 2 gigabytes once its buffers saturate.</a:t>
            </a:r>
            <a:r>
              <a:rPr lang="zh-CN" altLang="en-US" dirty="0"/>
              <a:t> </a:t>
            </a:r>
            <a:r>
              <a:rPr lang="en-GB" dirty="0"/>
              <a:t>After panel (a), the network can no longer be held responsible. Any degradation beyond this point originates in software.</a:t>
            </a:r>
          </a:p>
          <a:p>
            <a:endParaRPr lang="en-GB" dirty="0"/>
          </a:p>
          <a:p>
            <a:r>
              <a:rPr lang="en-GB" dirty="0"/>
              <a:t>Panel (b) is where the behaviour breaks. Default reliable connection plateaus at </a:t>
            </a:r>
            <a:r>
              <a:rPr lang="en-US" altLang="zh-CN" dirty="0"/>
              <a:t>19</a:t>
            </a:r>
            <a:r>
              <a:rPr lang="zh-CN" altLang="en-US" dirty="0"/>
              <a:t> </a:t>
            </a:r>
            <a:r>
              <a:rPr lang="en-US" altLang="zh-CN" dirty="0"/>
              <a:t>MB/s</a:t>
            </a:r>
            <a:r>
              <a:rPr lang="en-GB" dirty="0"/>
              <a:t> and does not scale 64 MB. UCX-level TCP, on the same NIC, scales to approximately 1.5 GB/s. With our fixed DEVX, RC restores scalability and achieves 4.3 GB/s of bandwidth. With further ack decoupling, our LHR further achieves 6.0 GB/s.</a:t>
            </a:r>
          </a:p>
        </p:txBody>
      </p:sp>
      <p:sp>
        <p:nvSpPr>
          <p:cNvPr id="4" name="Slide Number Placeholder 3"/>
          <p:cNvSpPr>
            <a:spLocks noGrp="1"/>
          </p:cNvSpPr>
          <p:nvPr>
            <p:ph type="sldNum" sz="quarter" idx="5"/>
          </p:nvPr>
        </p:nvSpPr>
        <p:spPr/>
        <p:txBody>
          <a:bodyPr/>
          <a:lstStyle/>
          <a:p>
            <a:fld id="{51FD8534-A0DF-45C6-AC20-02B120C63C50}" type="slidenum">
              <a:rPr lang="en-US" smtClean="0"/>
              <a:t>21</a:t>
            </a:fld>
            <a:endParaRPr lang="en-US"/>
          </a:p>
        </p:txBody>
      </p:sp>
    </p:spTree>
    <p:extLst>
      <p:ext uri="{BB962C8B-B14F-4D97-AF65-F5344CB8AC3E}">
        <p14:creationId xmlns:p14="http://schemas.microsoft.com/office/powerpoint/2010/main" val="41002994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Introducing MPI does not alter the reliable-connection result: the plateau persists unchanged at 23.8 MB/s, as the pathology originate from the UCX transport level. In comparison, LHR recovers two orders of magnitude relative to default reliable connection, a factor of 160 times at 64 MB, at a bandwidth of 3.8 GB/s. The majority of this factor is attributable to the configuration correction rather than to our transport. The comparison of RC-fixed and LHR isolates LHR's own contribution, and that factor lies between 1.56 and 1.98.</a:t>
            </a:r>
          </a:p>
        </p:txBody>
      </p:sp>
      <p:sp>
        <p:nvSpPr>
          <p:cNvPr id="4" name="Slide Number Placeholder 3"/>
          <p:cNvSpPr>
            <a:spLocks noGrp="1"/>
          </p:cNvSpPr>
          <p:nvPr>
            <p:ph type="sldNum" sz="quarter" idx="5"/>
          </p:nvPr>
        </p:nvSpPr>
        <p:spPr/>
        <p:txBody>
          <a:bodyPr/>
          <a:lstStyle/>
          <a:p>
            <a:fld id="{51FD8534-A0DF-45C6-AC20-02B120C63C50}" type="slidenum">
              <a:rPr lang="en-US" smtClean="0"/>
              <a:t>22</a:t>
            </a:fld>
            <a:endParaRPr lang="en-US"/>
          </a:p>
        </p:txBody>
      </p:sp>
    </p:spTree>
    <p:extLst>
      <p:ext uri="{BB962C8B-B14F-4D97-AF65-F5344CB8AC3E}">
        <p14:creationId xmlns:p14="http://schemas.microsoft.com/office/powerpoint/2010/main" val="7103320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then move on to the end-to-end FL runtime. Across three policies and four bars each, LHR in blue achieves the lowest in all three.</a:t>
            </a:r>
          </a:p>
          <a:p>
            <a:endParaRPr lang="en-GB" dirty="0"/>
          </a:p>
          <a:p>
            <a:r>
              <a:rPr lang="en-GB" dirty="0"/>
              <a:t>The notable column is the default RC. Under </a:t>
            </a:r>
            <a:r>
              <a:rPr lang="en-GB" dirty="0" err="1"/>
              <a:t>FedAvg</a:t>
            </a:r>
            <a:r>
              <a:rPr lang="en-GB" dirty="0"/>
              <a:t>, default reliable connection requires 452 seconds against TCP’s 17</a:t>
            </a:r>
            <a:r>
              <a:rPr lang="en-US" altLang="zh-CN" dirty="0"/>
              <a:t>2</a:t>
            </a:r>
            <a:r>
              <a:rPr lang="en-GB" dirty="0"/>
              <a:t>. Under </a:t>
            </a:r>
            <a:r>
              <a:rPr lang="en-GB" dirty="0" err="1"/>
              <a:t>FedBuff</a:t>
            </a:r>
            <a:r>
              <a:rPr lang="en-GB" dirty="0"/>
              <a:t> and </a:t>
            </a:r>
            <a:r>
              <a:rPr lang="en-GB" dirty="0" err="1"/>
              <a:t>FedAsync</a:t>
            </a:r>
            <a:r>
              <a:rPr lang="en-GB" dirty="0"/>
              <a:t> the runs did not complete within a 30 min budget. To anchor the scale: LHR completes </a:t>
            </a:r>
            <a:r>
              <a:rPr lang="en-GB" dirty="0" err="1"/>
              <a:t>FedAsync</a:t>
            </a:r>
            <a:r>
              <a:rPr lang="en-GB" dirty="0"/>
              <a:t> in 112 seconds. Default reliable connection, on identical hardware, is projected at 2790 seconds. Therefore the first observation is that LHR is the most efficient transport in this setting, bringing all three workloads substantially closer to the compute floor, while the default RC massively increase the FL runtime, making it unsuitable even compared to TCP.</a:t>
            </a:r>
          </a:p>
          <a:p>
            <a:endParaRPr lang="en-GB" dirty="0"/>
          </a:p>
          <a:p>
            <a:r>
              <a:rPr lang="en-GB" dirty="0" err="1"/>
              <a:t>ViT</a:t>
            </a:r>
            <a:r>
              <a:rPr lang="en-GB" dirty="0"/>
              <a:t> reproduces the same structure at reduced magnitude.</a:t>
            </a:r>
            <a:r>
              <a:rPr lang="zh-CN" altLang="en-US" dirty="0"/>
              <a:t> </a:t>
            </a:r>
            <a:r>
              <a:rPr lang="en-US" altLang="zh-CN" dirty="0"/>
              <a:t>With a smaller model, </a:t>
            </a:r>
            <a:r>
              <a:rPr lang="en-US" altLang="zh-CN" dirty="0" err="1"/>
              <a:t>ViT</a:t>
            </a:r>
            <a:r>
              <a:rPr lang="en-US" altLang="zh-CN" dirty="0"/>
              <a:t> incurs a smaller absolute penalty, </a:t>
            </a:r>
            <a:r>
              <a:rPr lang="en-GB" altLang="zh-CN" dirty="0"/>
              <a:t>t</a:t>
            </a:r>
            <a:r>
              <a:rPr lang="en-GB" dirty="0"/>
              <a:t>he per-message penalty is therefore essentially constant. What varies is the number of times it is incurred.</a:t>
            </a:r>
            <a:r>
              <a:rPr lang="zh-CN" altLang="en-US" dirty="0"/>
              <a:t> </a:t>
            </a:r>
            <a:r>
              <a:rPr lang="en-GB" dirty="0"/>
              <a:t>The FL algorithms that suffer most are precisely asynchronous algorithms, due to high frequency of communication invocation. Yet asynchrony is the standard response to stragglers and high latency especially at wide-area heterogenous computing settings. The default RC stack therefore penalizes exactly the correct design decision, while LHR presents the largest gain.</a:t>
            </a:r>
          </a:p>
        </p:txBody>
      </p:sp>
      <p:sp>
        <p:nvSpPr>
          <p:cNvPr id="4" name="Slide Number Placeholder 3"/>
          <p:cNvSpPr>
            <a:spLocks noGrp="1"/>
          </p:cNvSpPr>
          <p:nvPr>
            <p:ph type="sldNum" sz="quarter" idx="5"/>
          </p:nvPr>
        </p:nvSpPr>
        <p:spPr/>
        <p:txBody>
          <a:bodyPr/>
          <a:lstStyle/>
          <a:p>
            <a:fld id="{51FD8534-A0DF-45C6-AC20-02B120C63C50}" type="slidenum">
              <a:rPr lang="en-US" smtClean="0"/>
              <a:t>23</a:t>
            </a:fld>
            <a:endParaRPr lang="en-US"/>
          </a:p>
        </p:txBody>
      </p:sp>
    </p:spTree>
    <p:extLst>
      <p:ext uri="{BB962C8B-B14F-4D97-AF65-F5344CB8AC3E}">
        <p14:creationId xmlns:p14="http://schemas.microsoft.com/office/powerpoint/2010/main" val="14194240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localize where the wall time is spent, the proxy emits per-phase traces. The left panel is the server, the right is the fifteen-client average. Green denotes compute, violet the downlink from server to client, orange the uplink from client to server.</a:t>
            </a:r>
          </a:p>
          <a:p>
            <a:endParaRPr lang="en-GB" dirty="0"/>
          </a:p>
          <a:p>
            <a:r>
              <a:rPr lang="en-GB" dirty="0"/>
              <a:t>The compute time does not vary. It is essentially identical across all twenty-four cells. That is our control. The workload is genuinely constant, so every difference observed is attributable to the network. The band is also small, with computation accounting for under 11.5% of runtime.</a:t>
            </a:r>
          </a:p>
          <a:p>
            <a:endParaRPr lang="en-GB" dirty="0"/>
          </a:p>
          <a:p>
            <a:r>
              <a:rPr lang="en-GB" dirty="0"/>
              <a:t>Second, the reliable-connection penalty is symmetric. The server's downlink band under RC is 8.4 times the TCP value, and the client view reflects this from the receiving side: clients wait 249 seconds for a model that LHR delivers in 32. Symmetry of this kind is what a hardware pacing limit would produce, since such a limit has no directional preference.</a:t>
            </a:r>
          </a:p>
          <a:p>
            <a:endParaRPr lang="en-GB" dirty="0"/>
          </a:p>
          <a:p>
            <a:r>
              <a:rPr lang="en-GB" dirty="0"/>
              <a:t>Third, consider the orange band on the client panel for the </a:t>
            </a:r>
            <a:r>
              <a:rPr lang="en-GB" dirty="0" err="1"/>
              <a:t>FedBuff</a:t>
            </a:r>
            <a:r>
              <a:rPr lang="en-GB" dirty="0"/>
              <a:t> and </a:t>
            </a:r>
            <a:r>
              <a:rPr lang="en-GB" dirty="0" err="1"/>
              <a:t>FedAsync</a:t>
            </a:r>
            <a:r>
              <a:rPr lang="en-GB" dirty="0"/>
              <a:t> reliable-connection cases. That is where the order of magnitude resides: a </a:t>
            </a:r>
            <a:r>
              <a:rPr lang="en-GB" dirty="0" err="1"/>
              <a:t>FedAvg</a:t>
            </a:r>
            <a:r>
              <a:rPr lang="en-GB" dirty="0"/>
              <a:t> client transmits once per round, whereas a </a:t>
            </a:r>
            <a:r>
              <a:rPr lang="en-GB" dirty="0" err="1"/>
              <a:t>FedAsync</a:t>
            </a:r>
            <a:r>
              <a:rPr lang="en-GB" dirty="0"/>
              <a:t> client transmits on every arrival.</a:t>
            </a:r>
          </a:p>
        </p:txBody>
      </p:sp>
      <p:sp>
        <p:nvSpPr>
          <p:cNvPr id="4" name="Slide Number Placeholder 3"/>
          <p:cNvSpPr>
            <a:spLocks noGrp="1"/>
          </p:cNvSpPr>
          <p:nvPr>
            <p:ph type="sldNum" sz="quarter" idx="5"/>
          </p:nvPr>
        </p:nvSpPr>
        <p:spPr/>
        <p:txBody>
          <a:bodyPr/>
          <a:lstStyle/>
          <a:p>
            <a:fld id="{51FD8534-A0DF-45C6-AC20-02B120C63C50}" type="slidenum">
              <a:rPr lang="en-US" smtClean="0"/>
              <a:t>24</a:t>
            </a:fld>
            <a:endParaRPr lang="en-US"/>
          </a:p>
        </p:txBody>
      </p:sp>
    </p:spTree>
    <p:extLst>
      <p:ext uri="{BB962C8B-B14F-4D97-AF65-F5344CB8AC3E}">
        <p14:creationId xmlns:p14="http://schemas.microsoft.com/office/powerpoint/2010/main" val="16786492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then investigate the sensitivity of the LHR to FL chunking and client scale.</a:t>
            </a:r>
          </a:p>
          <a:p>
            <a:endParaRPr lang="en-GB" dirty="0"/>
          </a:p>
          <a:p>
            <a:r>
              <a:rPr lang="en-GB" dirty="0"/>
              <a:t>On the left is chunk size. If the long-haul penalty is driven by per-message size, smaller chunks would reduce wall time. Yet both curves are flat, and more importantly the separation between LHR and TCP is constant at every granularity. Application-level chunking and transport efficiency therefore address genuinely distinct bottlenecks. Since we observe gains from a 32 MB chunk, we adopt the configuration for our main evaluations.</a:t>
            </a:r>
          </a:p>
          <a:p>
            <a:endParaRPr lang="en-GB" dirty="0"/>
          </a:p>
          <a:p>
            <a:r>
              <a:rPr lang="en-GB" dirty="0"/>
              <a:t>On the right, client scale. Scaling from 4 to 16 ranks is sublinear for both transports, because communication overlaps client execution. </a:t>
            </a:r>
            <a:r>
              <a:rPr lang="en-GB" dirty="0" err="1"/>
              <a:t>FedAsync</a:t>
            </a:r>
            <a:r>
              <a:rPr lang="en-GB" dirty="0"/>
              <a:t> is the most favourable case, and the advantage of LHR over TCP is preserved at every scale measured, between 1.1 and 1.37 times, and the advantage dilates as the scale increases.</a:t>
            </a:r>
          </a:p>
        </p:txBody>
      </p:sp>
      <p:sp>
        <p:nvSpPr>
          <p:cNvPr id="4" name="Slide Number Placeholder 3"/>
          <p:cNvSpPr>
            <a:spLocks noGrp="1"/>
          </p:cNvSpPr>
          <p:nvPr>
            <p:ph type="sldNum" sz="quarter" idx="5"/>
          </p:nvPr>
        </p:nvSpPr>
        <p:spPr/>
        <p:txBody>
          <a:bodyPr/>
          <a:lstStyle/>
          <a:p>
            <a:fld id="{51FD8534-A0DF-45C6-AC20-02B120C63C50}" type="slidenum">
              <a:rPr lang="en-US" smtClean="0"/>
              <a:t>25</a:t>
            </a:fld>
            <a:endParaRPr lang="en-US"/>
          </a:p>
        </p:txBody>
      </p:sp>
    </p:spTree>
    <p:extLst>
      <p:ext uri="{BB962C8B-B14F-4D97-AF65-F5344CB8AC3E}">
        <p14:creationId xmlns:p14="http://schemas.microsoft.com/office/powerpoint/2010/main" val="23020480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wrap up, let me briefly revisit the core message of this work. </a:t>
            </a:r>
            <a:br>
              <a:rPr lang="en-US" dirty="0"/>
            </a:br>
            <a:br>
              <a:rPr lang="en-US" dirty="0"/>
            </a:br>
            <a:r>
              <a:rPr lang="en-US" dirty="0"/>
              <a:t>The problem we set out to address is the lack of measurement for RDMA as a substrate for wide-area federated learning deployments. Our objective, therefore, was to </a:t>
            </a:r>
            <a:r>
              <a:rPr lang="en-US" dirty="0">
                <a:solidFill>
                  <a:schemeClr val="accent1">
                    <a:lumMod val="50000"/>
                  </a:schemeClr>
                </a:solidFill>
              </a:rPr>
              <a:t>determine whether RDMA outperforms TCP for FL in the wide area, and under which conditions the advantage is most </a:t>
            </a:r>
            <a:r>
              <a:rPr lang="en-US" dirty="0" err="1">
                <a:solidFill>
                  <a:schemeClr val="accent1">
                    <a:lumMod val="50000"/>
                  </a:schemeClr>
                </a:solidFill>
              </a:rPr>
              <a:t>significant.</a:t>
            </a:r>
            <a:r>
              <a:rPr lang="en-US" dirty="0" err="1"/>
              <a:t>The</a:t>
            </a:r>
            <a:r>
              <a:rPr lang="en-US" dirty="0"/>
              <a:t> key idea behind is to </a:t>
            </a:r>
            <a:r>
              <a:rPr lang="en-US" dirty="0">
                <a:solidFill>
                  <a:schemeClr val="accent6">
                    <a:lumMod val="50000"/>
                  </a:schemeClr>
                </a:solidFill>
              </a:rPr>
              <a:t>co-design the transport layer with FL awareness and take ACK off the critical path. </a:t>
            </a:r>
            <a:r>
              <a:rPr lang="en-US" dirty="0"/>
              <a:t>. </a:t>
            </a:r>
            <a:br>
              <a:rPr lang="en-US" dirty="0"/>
            </a:br>
            <a:br>
              <a:rPr lang="en-US" dirty="0"/>
            </a:br>
            <a:r>
              <a:rPr lang="en-US" dirty="0"/>
              <a:t>Based on this idea, our key contributions are threefold. First, we propose LHR, a </a:t>
            </a:r>
            <a:r>
              <a:rPr lang="en-US" dirty="0">
                <a:solidFill>
                  <a:schemeClr val="accent2">
                    <a:lumMod val="50000"/>
                  </a:schemeClr>
                </a:solidFill>
              </a:rPr>
              <a:t>long-haul-friendly transport that outperforms TCP and default UCX RC by up to 24×. </a:t>
            </a:r>
            <a:r>
              <a:rPr lang="en-US" dirty="0"/>
              <a:t>Second, we conduct </a:t>
            </a:r>
            <a:r>
              <a:rPr lang="en-US" dirty="0">
                <a:solidFill>
                  <a:schemeClr val="accent2">
                    <a:lumMod val="50000"/>
                  </a:schemeClr>
                </a:solidFill>
              </a:rPr>
              <a:t>characterization of default UCX RC’s failure of DEVX-triggered firmware retransmission at long RTT</a:t>
            </a:r>
            <a:r>
              <a:rPr lang="en-US" dirty="0"/>
              <a:t>. Third, we evaluate different transports</a:t>
            </a:r>
            <a:r>
              <a:rPr lang="en-US" dirty="0">
                <a:solidFill>
                  <a:schemeClr val="accent2">
                    <a:lumMod val="50000"/>
                  </a:schemeClr>
                </a:solidFill>
              </a:rPr>
              <a:t> on long-haul RDMA for FL on a real 88 </a:t>
            </a:r>
            <a:r>
              <a:rPr lang="en-US" dirty="0" err="1">
                <a:solidFill>
                  <a:schemeClr val="accent2">
                    <a:lumMod val="50000"/>
                  </a:schemeClr>
                </a:solidFill>
              </a:rPr>
              <a:t>ms</a:t>
            </a:r>
            <a:r>
              <a:rPr lang="en-US" dirty="0">
                <a:solidFill>
                  <a:schemeClr val="accent2">
                    <a:lumMod val="50000"/>
                  </a:schemeClr>
                </a:solidFill>
              </a:rPr>
              <a:t> </a:t>
            </a:r>
            <a:r>
              <a:rPr lang="en-US" dirty="0" err="1">
                <a:solidFill>
                  <a:schemeClr val="accent2">
                    <a:lumMod val="50000"/>
                  </a:schemeClr>
                </a:solidFill>
              </a:rPr>
              <a:t>ESnet</a:t>
            </a:r>
            <a:r>
              <a:rPr lang="en-US" dirty="0">
                <a:solidFill>
                  <a:schemeClr val="accent2">
                    <a:lumMod val="50000"/>
                  </a:schemeClr>
                </a:solidFill>
              </a:rPr>
              <a:t> testbed, across three algorithms</a:t>
            </a:r>
            <a:r>
              <a:rPr lang="en-US" dirty="0"/>
              <a:t>.</a:t>
            </a:r>
            <a:br>
              <a:rPr lang="en-US" dirty="0"/>
            </a:br>
            <a:br>
              <a:rPr lang="en-US" dirty="0"/>
            </a:br>
            <a:r>
              <a:rPr lang="en-US" dirty="0"/>
              <a:t>In the future, we plan to enhance LHR</a:t>
            </a:r>
            <a:r>
              <a:rPr lang="en-US" dirty="0">
                <a:solidFill>
                  <a:schemeClr val="accent6">
                    <a:lumMod val="50000"/>
                  </a:schemeClr>
                </a:solidFill>
              </a:rPr>
              <a:t> design for better performance and scalability</a:t>
            </a:r>
            <a:r>
              <a:rPr lang="en-US" sz="1200" kern="1200" dirty="0">
                <a:solidFill>
                  <a:schemeClr val="tx1"/>
                </a:solidFill>
                <a:effectLst/>
                <a:latin typeface="+mn-lt"/>
                <a:ea typeface="+mn-ea"/>
                <a:cs typeface="+mn-cs"/>
              </a:rPr>
              <a:t>, and investigate the difference between verbs level bandwidth and the UCX level.</a:t>
            </a:r>
          </a:p>
        </p:txBody>
      </p:sp>
      <p:sp>
        <p:nvSpPr>
          <p:cNvPr id="4" name="Slide Number Placeholder 3"/>
          <p:cNvSpPr>
            <a:spLocks noGrp="1"/>
          </p:cNvSpPr>
          <p:nvPr>
            <p:ph type="sldNum" sz="quarter" idx="5"/>
          </p:nvPr>
        </p:nvSpPr>
        <p:spPr/>
        <p:txBody>
          <a:bodyPr/>
          <a:lstStyle/>
          <a:p>
            <a:fld id="{51FD8534-A0DF-45C6-AC20-02B120C63C50}" type="slidenum">
              <a:rPr lang="en-US" smtClean="0"/>
              <a:t>27</a:t>
            </a:fld>
            <a:endParaRPr lang="en-US"/>
          </a:p>
        </p:txBody>
      </p:sp>
    </p:spTree>
    <p:extLst>
      <p:ext uri="{BB962C8B-B14F-4D97-AF65-F5344CB8AC3E}">
        <p14:creationId xmlns:p14="http://schemas.microsoft.com/office/powerpoint/2010/main" val="41178726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That’s all I have for today. We thank all the reviewers and our colleagues for their feedbacks. We also thank </a:t>
            </a:r>
            <a:r>
              <a:rPr lang="en-US" dirty="0" err="1"/>
              <a:t>ESNet</a:t>
            </a:r>
            <a:r>
              <a:rPr lang="en-US" dirty="0"/>
              <a:t> for providing the hardware and accompanying support for us to conduct this research. This work is under the SR-APPFL project, where we aim to build scalable and resilient advanced privacy-preserving federated learning systems and infrastructures. Please visit our website for more details. Thank you.</a:t>
            </a:r>
          </a:p>
        </p:txBody>
      </p:sp>
      <p:sp>
        <p:nvSpPr>
          <p:cNvPr id="4" name="Slide Number Placeholder 3"/>
          <p:cNvSpPr>
            <a:spLocks noGrp="1"/>
          </p:cNvSpPr>
          <p:nvPr>
            <p:ph type="sldNum" sz="quarter" idx="5"/>
          </p:nvPr>
        </p:nvSpPr>
        <p:spPr/>
        <p:txBody>
          <a:bodyPr/>
          <a:lstStyle/>
          <a:p>
            <a:fld id="{51FD8534-A0DF-45C6-AC20-02B120C63C50}" type="slidenum">
              <a:rPr lang="en-US" smtClean="0"/>
              <a:t>28</a:t>
            </a:fld>
            <a:endParaRPr lang="en-US"/>
          </a:p>
        </p:txBody>
      </p:sp>
    </p:spTree>
    <p:extLst>
      <p:ext uri="{BB962C8B-B14F-4D97-AF65-F5344CB8AC3E}">
        <p14:creationId xmlns:p14="http://schemas.microsoft.com/office/powerpoint/2010/main" val="39788376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1FD8534-A0DF-45C6-AC20-02B120C63C50}" type="slidenum">
              <a:rPr lang="en-US" smtClean="0"/>
              <a:t>29</a:t>
            </a:fld>
            <a:endParaRPr lang="en-US"/>
          </a:p>
        </p:txBody>
      </p:sp>
    </p:spTree>
    <p:extLst>
      <p:ext uri="{BB962C8B-B14F-4D97-AF65-F5344CB8AC3E}">
        <p14:creationId xmlns:p14="http://schemas.microsoft.com/office/powerpoint/2010/main" val="319539320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reserve="1">
  <p:cSld name="1_Title Slide">
    <p:spTree>
      <p:nvGrpSpPr>
        <p:cNvPr id="1" name="Shape 16"/>
        <p:cNvGrpSpPr/>
        <p:nvPr/>
      </p:nvGrpSpPr>
      <p:grpSpPr>
        <a:xfrm>
          <a:off x="0" y="0"/>
          <a:ext cx="0" cy="0"/>
          <a:chOff x="0" y="0"/>
          <a:chExt cx="0" cy="0"/>
        </a:xfrm>
      </p:grpSpPr>
      <p:sp>
        <p:nvSpPr>
          <p:cNvPr id="17" name="Google Shape;17;p4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C00000"/>
              </a:buClr>
              <a:buSzPts val="6000"/>
              <a:buFont typeface="Calibri"/>
              <a:buNone/>
              <a:defRPr sz="6000">
                <a:solidFill>
                  <a:srgbClr val="0020A5"/>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8" name="Google Shape;18;p4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solidFill>
                  <a:srgbClr val="0020A5"/>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dirty="0"/>
          </a:p>
        </p:txBody>
      </p:sp>
      <p:pic>
        <p:nvPicPr>
          <p:cNvPr id="3" name="Picture 2" descr="Icon&#10;&#10;Description automatically generated">
            <a:extLst>
              <a:ext uri="{FF2B5EF4-FFF2-40B4-BE49-F238E27FC236}">
                <a16:creationId xmlns:a16="http://schemas.microsoft.com/office/drawing/2014/main" id="{86B18C67-F7FD-DC48-AC61-F1750018342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62" y="93139"/>
            <a:ext cx="1023581" cy="1023581"/>
          </a:xfrm>
          <a:prstGeom prst="rect">
            <a:avLst/>
          </a:prstGeom>
        </p:spPr>
      </p:pic>
      <p:pic>
        <p:nvPicPr>
          <p:cNvPr id="7" name="Picture 6" descr="A black sign with blue text&#10;&#10;AI-generated content may be incorrect.">
            <a:extLst>
              <a:ext uri="{FF2B5EF4-FFF2-40B4-BE49-F238E27FC236}">
                <a16:creationId xmlns:a16="http://schemas.microsoft.com/office/drawing/2014/main" id="{E0A119CD-9BCD-0F79-BFDC-B4A69256169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733942" y="114159"/>
            <a:ext cx="2438400" cy="939800"/>
          </a:xfrm>
          <a:prstGeom prst="rect">
            <a:avLst/>
          </a:prstGeom>
        </p:spPr>
      </p:pic>
      <p:sp>
        <p:nvSpPr>
          <p:cNvPr id="8" name="Google Shape;160;p27">
            <a:extLst>
              <a:ext uri="{FF2B5EF4-FFF2-40B4-BE49-F238E27FC236}">
                <a16:creationId xmlns:a16="http://schemas.microsoft.com/office/drawing/2014/main" id="{7AFED73E-C45C-8FBD-89E5-61FB968DBE7F}"/>
              </a:ext>
            </a:extLst>
          </p:cNvPr>
          <p:cNvSpPr txBox="1">
            <a:spLocks noGrp="1"/>
          </p:cNvSpPr>
          <p:nvPr>
            <p:ph type="sldNum" idx="4"/>
          </p:nvPr>
        </p:nvSpPr>
        <p:spPr>
          <a:xfrm>
            <a:off x="9409045" y="6559725"/>
            <a:ext cx="2782956" cy="301759"/>
          </a:xfrm>
          <a:prstGeom prst="rect">
            <a:avLst/>
          </a:prstGeom>
          <a:noFill/>
          <a:ln>
            <a:noFill/>
          </a:ln>
        </p:spPr>
        <p:txBody>
          <a:bodyPr spcFirstLastPara="1" wrap="square" lIns="68575" tIns="34275" rIns="68575" bIns="34275" anchor="ctr" anchorCtr="0">
            <a:noAutofit/>
          </a:bodyPr>
          <a:lstStyle>
            <a:lvl1pPr marL="0" marR="0" lvl="0"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1pPr>
            <a:lvl2pPr marL="0" marR="0" lvl="1"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2pPr>
            <a:lvl3pPr marL="0" marR="0" lvl="2"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3pPr>
            <a:lvl4pPr marL="0" marR="0" lvl="3"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4pPr>
            <a:lvl5pPr marL="0" marR="0" lvl="4"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5pPr>
            <a:lvl6pPr marL="0" marR="0" lvl="5"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6pPr>
            <a:lvl7pPr marL="0" marR="0" lvl="6"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7pPr>
            <a:lvl8pPr marL="0" marR="0" lvl="7"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8pPr>
            <a:lvl9pPr marL="0" marR="0" lvl="8"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9pPr>
          </a:lstStyle>
          <a:p>
            <a:fld id="{00000000-1234-1234-1234-123412341234}" type="slidenum">
              <a:rPr lang="en" smtClean="0"/>
              <a:pPr/>
              <a:t>‹#›</a:t>
            </a:fld>
            <a:endParaRPr lang="en"/>
          </a:p>
        </p:txBody>
      </p:sp>
      <p:sp>
        <p:nvSpPr>
          <p:cNvPr id="9" name="Google Shape;159;p27">
            <a:extLst>
              <a:ext uri="{FF2B5EF4-FFF2-40B4-BE49-F238E27FC236}">
                <a16:creationId xmlns:a16="http://schemas.microsoft.com/office/drawing/2014/main" id="{969FCA59-24CC-6A6B-1FF4-E446500603E4}"/>
              </a:ext>
            </a:extLst>
          </p:cNvPr>
          <p:cNvSpPr txBox="1">
            <a:spLocks noGrp="1"/>
          </p:cNvSpPr>
          <p:nvPr>
            <p:ph type="ftr" idx="11"/>
          </p:nvPr>
        </p:nvSpPr>
        <p:spPr>
          <a:xfrm>
            <a:off x="4657345" y="6542142"/>
            <a:ext cx="4049335" cy="301758"/>
          </a:xfrm>
          <a:prstGeom prst="rect">
            <a:avLst/>
          </a:prstGeom>
          <a:noFill/>
          <a:ln>
            <a:noFill/>
          </a:ln>
        </p:spPr>
        <p:txBody>
          <a:bodyPr spcFirstLastPara="1" wrap="square" lIns="68575" tIns="34275" rIns="68575" bIns="34275" anchor="ctr" anchorCtr="0">
            <a:noAutofit/>
          </a:bodyPr>
          <a:lstStyle>
            <a:lvl1pPr marR="0" lvl="0" algn="ctr">
              <a:spcBef>
                <a:spcPts val="0"/>
              </a:spcBef>
              <a:spcAft>
                <a:spcPts val="0"/>
              </a:spcAft>
              <a:buClr>
                <a:schemeClr val="lt1"/>
              </a:buClr>
              <a:buSzPts val="1100"/>
              <a:buFont typeface="Roboto"/>
              <a:buNone/>
              <a:defRPr sz="1200" b="1" i="0" u="none" strike="noStrike" cap="none">
                <a:solidFill>
                  <a:schemeClr val="lt1"/>
                </a:solidFill>
                <a:latin typeface="Palatino" pitchFamily="2" charset="77"/>
                <a:ea typeface="Palatino" pitchFamily="2" charset="77"/>
                <a:cs typeface="Roboto"/>
                <a:sym typeface="Roboto"/>
              </a:defRPr>
            </a:lvl1pPr>
            <a:lvl2pPr marR="0" lvl="1" algn="l">
              <a:spcBef>
                <a:spcPts val="0"/>
              </a:spcBef>
              <a:spcAft>
                <a:spcPts val="0"/>
              </a:spcAft>
              <a:buClr>
                <a:schemeClr val="dk1"/>
              </a:buClr>
              <a:buSzPts val="1100"/>
              <a:buFont typeface="Calibri"/>
              <a:buNone/>
              <a:defRPr sz="1867" b="0" i="0" u="none" strike="noStrike" cap="none">
                <a:solidFill>
                  <a:schemeClr val="dk1"/>
                </a:solidFill>
                <a:latin typeface="Calibri"/>
                <a:ea typeface="Calibri"/>
                <a:cs typeface="Calibri"/>
                <a:sym typeface="Calibri"/>
              </a:defRPr>
            </a:lvl2pPr>
            <a:lvl3pPr marR="0" lvl="2" algn="l">
              <a:spcBef>
                <a:spcPts val="0"/>
              </a:spcBef>
              <a:spcAft>
                <a:spcPts val="0"/>
              </a:spcAft>
              <a:buClr>
                <a:schemeClr val="dk1"/>
              </a:buClr>
              <a:buSzPts val="1100"/>
              <a:buFont typeface="Calibri"/>
              <a:buNone/>
              <a:defRPr sz="1867" b="0" i="0" u="none" strike="noStrike" cap="none">
                <a:solidFill>
                  <a:schemeClr val="dk1"/>
                </a:solidFill>
                <a:latin typeface="Calibri"/>
                <a:ea typeface="Calibri"/>
                <a:cs typeface="Calibri"/>
                <a:sym typeface="Calibri"/>
              </a:defRPr>
            </a:lvl3pPr>
            <a:lvl4pPr marR="0" lvl="3" algn="l">
              <a:spcBef>
                <a:spcPts val="0"/>
              </a:spcBef>
              <a:spcAft>
                <a:spcPts val="0"/>
              </a:spcAft>
              <a:buClr>
                <a:schemeClr val="dk1"/>
              </a:buClr>
              <a:buSzPts val="1100"/>
              <a:buFont typeface="Calibri"/>
              <a:buNone/>
              <a:defRPr sz="1867" b="0" i="0" u="none" strike="noStrike" cap="none">
                <a:solidFill>
                  <a:schemeClr val="dk1"/>
                </a:solidFill>
                <a:latin typeface="Calibri"/>
                <a:ea typeface="Calibri"/>
                <a:cs typeface="Calibri"/>
                <a:sym typeface="Calibri"/>
              </a:defRPr>
            </a:lvl4pPr>
            <a:lvl5pPr marR="0" lvl="4" algn="l">
              <a:spcBef>
                <a:spcPts val="0"/>
              </a:spcBef>
              <a:spcAft>
                <a:spcPts val="0"/>
              </a:spcAft>
              <a:buClr>
                <a:schemeClr val="dk1"/>
              </a:buClr>
              <a:buSzPts val="1100"/>
              <a:buFont typeface="Calibri"/>
              <a:buNone/>
              <a:defRPr sz="1867" b="0" i="0" u="none" strike="noStrike" cap="none">
                <a:solidFill>
                  <a:schemeClr val="dk1"/>
                </a:solidFill>
                <a:latin typeface="Calibri"/>
                <a:ea typeface="Calibri"/>
                <a:cs typeface="Calibri"/>
                <a:sym typeface="Calibri"/>
              </a:defRPr>
            </a:lvl5pPr>
            <a:lvl6pPr marR="0" lvl="5" algn="l">
              <a:spcBef>
                <a:spcPts val="0"/>
              </a:spcBef>
              <a:spcAft>
                <a:spcPts val="0"/>
              </a:spcAft>
              <a:buClr>
                <a:schemeClr val="dk1"/>
              </a:buClr>
              <a:buSzPts val="1100"/>
              <a:buFont typeface="Calibri"/>
              <a:buNone/>
              <a:defRPr sz="1867" b="0" i="0" u="none" strike="noStrike" cap="none">
                <a:solidFill>
                  <a:schemeClr val="dk1"/>
                </a:solidFill>
                <a:latin typeface="Calibri"/>
                <a:ea typeface="Calibri"/>
                <a:cs typeface="Calibri"/>
                <a:sym typeface="Calibri"/>
              </a:defRPr>
            </a:lvl6pPr>
            <a:lvl7pPr marR="0" lvl="6" algn="l">
              <a:spcBef>
                <a:spcPts val="0"/>
              </a:spcBef>
              <a:spcAft>
                <a:spcPts val="0"/>
              </a:spcAft>
              <a:buClr>
                <a:schemeClr val="dk1"/>
              </a:buClr>
              <a:buSzPts val="1100"/>
              <a:buFont typeface="Calibri"/>
              <a:buNone/>
              <a:defRPr sz="1867" b="0" i="0" u="none" strike="noStrike" cap="none">
                <a:solidFill>
                  <a:schemeClr val="dk1"/>
                </a:solidFill>
                <a:latin typeface="Calibri"/>
                <a:ea typeface="Calibri"/>
                <a:cs typeface="Calibri"/>
                <a:sym typeface="Calibri"/>
              </a:defRPr>
            </a:lvl7pPr>
            <a:lvl8pPr marR="0" lvl="7" algn="l">
              <a:spcBef>
                <a:spcPts val="0"/>
              </a:spcBef>
              <a:spcAft>
                <a:spcPts val="0"/>
              </a:spcAft>
              <a:buClr>
                <a:schemeClr val="dk1"/>
              </a:buClr>
              <a:buSzPts val="1100"/>
              <a:buFont typeface="Calibri"/>
              <a:buNone/>
              <a:defRPr sz="1867" b="0" i="0" u="none" strike="noStrike" cap="none">
                <a:solidFill>
                  <a:schemeClr val="dk1"/>
                </a:solidFill>
                <a:latin typeface="Calibri"/>
                <a:ea typeface="Calibri"/>
                <a:cs typeface="Calibri"/>
                <a:sym typeface="Calibri"/>
              </a:defRPr>
            </a:lvl8pPr>
            <a:lvl9pPr marR="0" lvl="8" algn="l">
              <a:spcBef>
                <a:spcPts val="0"/>
              </a:spcBef>
              <a:spcAft>
                <a:spcPts val="0"/>
              </a:spcAft>
              <a:buClr>
                <a:schemeClr val="dk1"/>
              </a:buClr>
              <a:buSzPts val="1100"/>
              <a:buFont typeface="Calibri"/>
              <a:buNone/>
              <a:defRPr sz="1867" b="0" i="0" u="none" strike="noStrike" cap="none">
                <a:solidFill>
                  <a:schemeClr val="dk1"/>
                </a:solidFill>
                <a:latin typeface="Calibri"/>
                <a:ea typeface="Calibri"/>
                <a:cs typeface="Calibri"/>
                <a:sym typeface="Calibri"/>
              </a:defRPr>
            </a:lvl9pPr>
          </a:lstStyle>
          <a:p>
            <a:r>
              <a:rPr lang="en-US" dirty="0"/>
              <a:t>University of Florida</a:t>
            </a:r>
            <a:endParaRPr lang="en-US" dirty="0">
              <a:latin typeface="Palatino" pitchFamily="2" charset="77"/>
              <a:ea typeface="Palatino" pitchFamily="2" charset="77"/>
            </a:endParaRPr>
          </a:p>
        </p:txBody>
      </p:sp>
    </p:spTree>
    <p:extLst>
      <p:ext uri="{BB962C8B-B14F-4D97-AF65-F5344CB8AC3E}">
        <p14:creationId xmlns:p14="http://schemas.microsoft.com/office/powerpoint/2010/main" val="2650177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54908" y="119445"/>
            <a:ext cx="10968523" cy="893810"/>
          </a:xfrm>
          <a:prstGeom prst="rect">
            <a:avLst/>
          </a:prstGeom>
        </p:spPr>
        <p:txBody>
          <a:bodyPr/>
          <a:lstStyle>
            <a:lvl1pPr>
              <a:defRPr>
                <a:latin typeface="Linux Biolinum" panose="02000503000000000000" pitchFamily="2" charset="0"/>
                <a:ea typeface="Linux Biolinum" panose="02000503000000000000" pitchFamily="2" charset="0"/>
                <a:cs typeface="Linux Biolinum" panose="02000503000000000000" pitchFamily="2" charset="0"/>
              </a:defRPr>
            </a:lvl1pPr>
          </a:lstStyle>
          <a:p>
            <a:r>
              <a:rPr lang="en-US" dirty="0"/>
              <a:t>Click to edit Master title style</a:t>
            </a:r>
          </a:p>
        </p:txBody>
      </p:sp>
      <p:sp>
        <p:nvSpPr>
          <p:cNvPr id="3" name="Content Placeholder 2"/>
          <p:cNvSpPr>
            <a:spLocks noGrp="1"/>
          </p:cNvSpPr>
          <p:nvPr>
            <p:ph idx="1"/>
          </p:nvPr>
        </p:nvSpPr>
        <p:spPr>
          <a:xfrm>
            <a:off x="654908" y="1186250"/>
            <a:ext cx="10968523" cy="5251620"/>
          </a:xfrm>
          <a:prstGeom prst="rect">
            <a:avLst/>
          </a:prstGeom>
        </p:spPr>
        <p:txBody>
          <a:bodyPr/>
          <a:lstStyle>
            <a:lvl1pPr>
              <a:defRPr>
                <a:latin typeface="Palatino" pitchFamily="2" charset="77"/>
                <a:ea typeface="Palatino" pitchFamily="2" charset="77"/>
              </a:defRPr>
            </a:lvl1pPr>
            <a:lvl2pPr>
              <a:defRPr>
                <a:latin typeface="Palatino" pitchFamily="2" charset="77"/>
                <a:ea typeface="Palatino" pitchFamily="2" charset="77"/>
              </a:defRPr>
            </a:lvl2pPr>
            <a:lvl3pPr>
              <a:defRPr>
                <a:latin typeface="Palatino" pitchFamily="2" charset="77"/>
                <a:ea typeface="Palatino" pitchFamily="2" charset="77"/>
              </a:defRPr>
            </a:lvl3pPr>
            <a:lvl4pPr>
              <a:defRPr>
                <a:latin typeface="Palatino" pitchFamily="2" charset="77"/>
                <a:ea typeface="Palatino" pitchFamily="2" charset="77"/>
              </a:defRPr>
            </a:lvl4pPr>
            <a:lvl5pPr>
              <a:defRPr>
                <a:latin typeface="Palatino" pitchFamily="2" charset="77"/>
                <a:ea typeface="Palatino"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Google Shape;10;p39">
            <a:extLst>
              <a:ext uri="{FF2B5EF4-FFF2-40B4-BE49-F238E27FC236}">
                <a16:creationId xmlns:a16="http://schemas.microsoft.com/office/drawing/2014/main" id="{C95C7C31-C295-3B8F-1DFD-CA9A6C1783DE}"/>
              </a:ext>
            </a:extLst>
          </p:cNvPr>
          <p:cNvSpPr/>
          <p:nvPr userDrawn="1"/>
        </p:nvSpPr>
        <p:spPr>
          <a:xfrm>
            <a:off x="0" y="-75603"/>
            <a:ext cx="12192000" cy="170334"/>
          </a:xfrm>
          <a:prstGeom prst="rect">
            <a:avLst/>
          </a:prstGeom>
          <a:solidFill>
            <a:srgbClr val="0020A5"/>
          </a:solidFill>
          <a:ln w="12700" cap="flat" cmpd="sng">
            <a:solidFill>
              <a:srgbClr val="0B2B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b="0" i="0" u="none" strike="noStrike" cap="none">
              <a:ln>
                <a:solidFill>
                  <a:schemeClr val="bg2"/>
                </a:solidFill>
              </a:ln>
              <a:solidFill>
                <a:schemeClr val="lt1"/>
              </a:solidFill>
              <a:latin typeface="Palatino" pitchFamily="2" charset="77"/>
              <a:ea typeface="Palatino" pitchFamily="2" charset="77"/>
              <a:cs typeface="Roboto"/>
              <a:sym typeface="Roboto"/>
            </a:endParaRPr>
          </a:p>
        </p:txBody>
      </p:sp>
      <p:sp>
        <p:nvSpPr>
          <p:cNvPr id="4" name="Google Shape;158;p27">
            <a:extLst>
              <a:ext uri="{FF2B5EF4-FFF2-40B4-BE49-F238E27FC236}">
                <a16:creationId xmlns:a16="http://schemas.microsoft.com/office/drawing/2014/main" id="{59ACC795-B3A9-9CC8-A688-12B5F0A92095}"/>
              </a:ext>
            </a:extLst>
          </p:cNvPr>
          <p:cNvSpPr/>
          <p:nvPr userDrawn="1"/>
        </p:nvSpPr>
        <p:spPr>
          <a:xfrm>
            <a:off x="0" y="6542144"/>
            <a:ext cx="12192000" cy="301756"/>
          </a:xfrm>
          <a:prstGeom prst="rect">
            <a:avLst/>
          </a:prstGeom>
          <a:solidFill>
            <a:srgbClr val="0020A5"/>
          </a:solidFill>
          <a:ln w="12700" cap="flat" cmpd="sng">
            <a:solidFill>
              <a:srgbClr val="0B2B50"/>
            </a:solidFill>
            <a:prstDash val="solid"/>
            <a:miter lim="800000"/>
            <a:headEnd type="none" w="sm" len="sm"/>
            <a:tailEnd type="none" w="sm" len="sm"/>
          </a:ln>
        </p:spPr>
        <p:txBody>
          <a:bodyPr spcFirstLastPara="1" wrap="square" lIns="91433" tIns="45700" rIns="91433" bIns="45700" anchor="ctr" anchorCtr="0">
            <a:noAutofit/>
          </a:bodyPr>
          <a:lstStyle/>
          <a:p>
            <a:pPr marL="0" marR="0" lvl="0" indent="0" algn="l" rtl="0">
              <a:spcBef>
                <a:spcPts val="0"/>
              </a:spcBef>
              <a:spcAft>
                <a:spcPts val="0"/>
              </a:spcAft>
              <a:buClr>
                <a:schemeClr val="dk1"/>
              </a:buClr>
              <a:buSzPts val="1200"/>
              <a:buFont typeface="Calibri"/>
              <a:buNone/>
            </a:pPr>
            <a:endParaRPr sz="1600" b="0" i="0" u="none" strike="noStrike" cap="none">
              <a:solidFill>
                <a:schemeClr val="lt1"/>
              </a:solidFill>
              <a:latin typeface="Palatino" pitchFamily="2" charset="77"/>
              <a:ea typeface="Palatino" pitchFamily="2" charset="77"/>
              <a:cs typeface="Roboto"/>
              <a:sym typeface="Roboto"/>
            </a:endParaRPr>
          </a:p>
        </p:txBody>
      </p:sp>
      <p:sp>
        <p:nvSpPr>
          <p:cNvPr id="6" name="Google Shape;159;p27">
            <a:extLst>
              <a:ext uri="{FF2B5EF4-FFF2-40B4-BE49-F238E27FC236}">
                <a16:creationId xmlns:a16="http://schemas.microsoft.com/office/drawing/2014/main" id="{EFBD2F43-1DDB-154C-5327-2ED04D86CC5C}"/>
              </a:ext>
            </a:extLst>
          </p:cNvPr>
          <p:cNvSpPr txBox="1">
            <a:spLocks noGrp="1"/>
          </p:cNvSpPr>
          <p:nvPr>
            <p:ph type="ftr" idx="11"/>
          </p:nvPr>
        </p:nvSpPr>
        <p:spPr>
          <a:xfrm>
            <a:off x="4657345" y="6542142"/>
            <a:ext cx="4049335" cy="301758"/>
          </a:xfrm>
          <a:prstGeom prst="rect">
            <a:avLst/>
          </a:prstGeom>
          <a:noFill/>
          <a:ln>
            <a:noFill/>
          </a:ln>
        </p:spPr>
        <p:txBody>
          <a:bodyPr spcFirstLastPara="1" wrap="square" lIns="68575" tIns="34275" rIns="68575" bIns="34275" anchor="ctr" anchorCtr="0">
            <a:noAutofit/>
          </a:bodyPr>
          <a:lstStyle>
            <a:lvl1pPr marR="0" lvl="0" algn="ctr">
              <a:spcBef>
                <a:spcPts val="0"/>
              </a:spcBef>
              <a:spcAft>
                <a:spcPts val="0"/>
              </a:spcAft>
              <a:buClr>
                <a:schemeClr val="lt1"/>
              </a:buClr>
              <a:buSzPts val="1100"/>
              <a:buFont typeface="Roboto"/>
              <a:buNone/>
              <a:defRPr sz="1200" b="1" i="0" u="none" strike="noStrike" cap="none">
                <a:solidFill>
                  <a:schemeClr val="lt1"/>
                </a:solidFill>
                <a:latin typeface="Palatino" pitchFamily="2" charset="77"/>
                <a:ea typeface="Palatino" pitchFamily="2" charset="77"/>
                <a:cs typeface="Roboto"/>
                <a:sym typeface="Roboto"/>
              </a:defRPr>
            </a:lvl1pPr>
            <a:lvl2pPr marR="0" lvl="1" algn="l">
              <a:spcBef>
                <a:spcPts val="0"/>
              </a:spcBef>
              <a:spcAft>
                <a:spcPts val="0"/>
              </a:spcAft>
              <a:buClr>
                <a:schemeClr val="dk1"/>
              </a:buClr>
              <a:buSzPts val="1100"/>
              <a:buFont typeface="Calibri"/>
              <a:buNone/>
              <a:defRPr sz="1867" b="0" i="0" u="none" strike="noStrike" cap="none">
                <a:solidFill>
                  <a:schemeClr val="dk1"/>
                </a:solidFill>
                <a:latin typeface="Calibri"/>
                <a:ea typeface="Calibri"/>
                <a:cs typeface="Calibri"/>
                <a:sym typeface="Calibri"/>
              </a:defRPr>
            </a:lvl2pPr>
            <a:lvl3pPr marR="0" lvl="2" algn="l">
              <a:spcBef>
                <a:spcPts val="0"/>
              </a:spcBef>
              <a:spcAft>
                <a:spcPts val="0"/>
              </a:spcAft>
              <a:buClr>
                <a:schemeClr val="dk1"/>
              </a:buClr>
              <a:buSzPts val="1100"/>
              <a:buFont typeface="Calibri"/>
              <a:buNone/>
              <a:defRPr sz="1867" b="0" i="0" u="none" strike="noStrike" cap="none">
                <a:solidFill>
                  <a:schemeClr val="dk1"/>
                </a:solidFill>
                <a:latin typeface="Calibri"/>
                <a:ea typeface="Calibri"/>
                <a:cs typeface="Calibri"/>
                <a:sym typeface="Calibri"/>
              </a:defRPr>
            </a:lvl3pPr>
            <a:lvl4pPr marR="0" lvl="3" algn="l">
              <a:spcBef>
                <a:spcPts val="0"/>
              </a:spcBef>
              <a:spcAft>
                <a:spcPts val="0"/>
              </a:spcAft>
              <a:buClr>
                <a:schemeClr val="dk1"/>
              </a:buClr>
              <a:buSzPts val="1100"/>
              <a:buFont typeface="Calibri"/>
              <a:buNone/>
              <a:defRPr sz="1867" b="0" i="0" u="none" strike="noStrike" cap="none">
                <a:solidFill>
                  <a:schemeClr val="dk1"/>
                </a:solidFill>
                <a:latin typeface="Calibri"/>
                <a:ea typeface="Calibri"/>
                <a:cs typeface="Calibri"/>
                <a:sym typeface="Calibri"/>
              </a:defRPr>
            </a:lvl4pPr>
            <a:lvl5pPr marR="0" lvl="4" algn="l">
              <a:spcBef>
                <a:spcPts val="0"/>
              </a:spcBef>
              <a:spcAft>
                <a:spcPts val="0"/>
              </a:spcAft>
              <a:buClr>
                <a:schemeClr val="dk1"/>
              </a:buClr>
              <a:buSzPts val="1100"/>
              <a:buFont typeface="Calibri"/>
              <a:buNone/>
              <a:defRPr sz="1867" b="0" i="0" u="none" strike="noStrike" cap="none">
                <a:solidFill>
                  <a:schemeClr val="dk1"/>
                </a:solidFill>
                <a:latin typeface="Calibri"/>
                <a:ea typeface="Calibri"/>
                <a:cs typeface="Calibri"/>
                <a:sym typeface="Calibri"/>
              </a:defRPr>
            </a:lvl5pPr>
            <a:lvl6pPr marR="0" lvl="5" algn="l">
              <a:spcBef>
                <a:spcPts val="0"/>
              </a:spcBef>
              <a:spcAft>
                <a:spcPts val="0"/>
              </a:spcAft>
              <a:buClr>
                <a:schemeClr val="dk1"/>
              </a:buClr>
              <a:buSzPts val="1100"/>
              <a:buFont typeface="Calibri"/>
              <a:buNone/>
              <a:defRPr sz="1867" b="0" i="0" u="none" strike="noStrike" cap="none">
                <a:solidFill>
                  <a:schemeClr val="dk1"/>
                </a:solidFill>
                <a:latin typeface="Calibri"/>
                <a:ea typeface="Calibri"/>
                <a:cs typeface="Calibri"/>
                <a:sym typeface="Calibri"/>
              </a:defRPr>
            </a:lvl6pPr>
            <a:lvl7pPr marR="0" lvl="6" algn="l">
              <a:spcBef>
                <a:spcPts val="0"/>
              </a:spcBef>
              <a:spcAft>
                <a:spcPts val="0"/>
              </a:spcAft>
              <a:buClr>
                <a:schemeClr val="dk1"/>
              </a:buClr>
              <a:buSzPts val="1100"/>
              <a:buFont typeface="Calibri"/>
              <a:buNone/>
              <a:defRPr sz="1867" b="0" i="0" u="none" strike="noStrike" cap="none">
                <a:solidFill>
                  <a:schemeClr val="dk1"/>
                </a:solidFill>
                <a:latin typeface="Calibri"/>
                <a:ea typeface="Calibri"/>
                <a:cs typeface="Calibri"/>
                <a:sym typeface="Calibri"/>
              </a:defRPr>
            </a:lvl7pPr>
            <a:lvl8pPr marR="0" lvl="7" algn="l">
              <a:spcBef>
                <a:spcPts val="0"/>
              </a:spcBef>
              <a:spcAft>
                <a:spcPts val="0"/>
              </a:spcAft>
              <a:buClr>
                <a:schemeClr val="dk1"/>
              </a:buClr>
              <a:buSzPts val="1100"/>
              <a:buFont typeface="Calibri"/>
              <a:buNone/>
              <a:defRPr sz="1867" b="0" i="0" u="none" strike="noStrike" cap="none">
                <a:solidFill>
                  <a:schemeClr val="dk1"/>
                </a:solidFill>
                <a:latin typeface="Calibri"/>
                <a:ea typeface="Calibri"/>
                <a:cs typeface="Calibri"/>
                <a:sym typeface="Calibri"/>
              </a:defRPr>
            </a:lvl8pPr>
            <a:lvl9pPr marR="0" lvl="8" algn="l">
              <a:spcBef>
                <a:spcPts val="0"/>
              </a:spcBef>
              <a:spcAft>
                <a:spcPts val="0"/>
              </a:spcAft>
              <a:buClr>
                <a:schemeClr val="dk1"/>
              </a:buClr>
              <a:buSzPts val="1100"/>
              <a:buFont typeface="Calibri"/>
              <a:buNone/>
              <a:defRPr sz="1867" b="0" i="0" u="none" strike="noStrike" cap="none">
                <a:solidFill>
                  <a:schemeClr val="dk1"/>
                </a:solidFill>
                <a:latin typeface="Calibri"/>
                <a:ea typeface="Calibri"/>
                <a:cs typeface="Calibri"/>
                <a:sym typeface="Calibri"/>
              </a:defRPr>
            </a:lvl9pPr>
          </a:lstStyle>
          <a:p>
            <a:r>
              <a:rPr lang="en-US" dirty="0"/>
              <a:t>University of Florida</a:t>
            </a:r>
          </a:p>
        </p:txBody>
      </p:sp>
      <p:sp>
        <p:nvSpPr>
          <p:cNvPr id="7" name="Google Shape;160;p27">
            <a:extLst>
              <a:ext uri="{FF2B5EF4-FFF2-40B4-BE49-F238E27FC236}">
                <a16:creationId xmlns:a16="http://schemas.microsoft.com/office/drawing/2014/main" id="{8EE5F912-F86A-831C-7F7F-58090E4109B9}"/>
              </a:ext>
            </a:extLst>
          </p:cNvPr>
          <p:cNvSpPr txBox="1">
            <a:spLocks noGrp="1"/>
          </p:cNvSpPr>
          <p:nvPr>
            <p:ph type="sldNum" idx="12"/>
          </p:nvPr>
        </p:nvSpPr>
        <p:spPr>
          <a:xfrm>
            <a:off x="9409045" y="6542142"/>
            <a:ext cx="2782956" cy="301759"/>
          </a:xfrm>
          <a:prstGeom prst="rect">
            <a:avLst/>
          </a:prstGeom>
          <a:noFill/>
          <a:ln>
            <a:noFill/>
          </a:ln>
        </p:spPr>
        <p:txBody>
          <a:bodyPr spcFirstLastPara="1" wrap="square" lIns="68575" tIns="34275" rIns="68575" bIns="34275" anchor="ctr" anchorCtr="0">
            <a:noAutofit/>
          </a:bodyPr>
          <a:lstStyle>
            <a:lvl1pPr marL="0" marR="0" lvl="0" indent="0" algn="r">
              <a:spcBef>
                <a:spcPts val="0"/>
              </a:spcBef>
              <a:buClr>
                <a:schemeClr val="lt1"/>
              </a:buClr>
              <a:buSzPts val="900"/>
              <a:buFont typeface="Roboto"/>
              <a:buNone/>
              <a:defRPr sz="1200" b="0" i="0" u="none" strike="noStrike" cap="none">
                <a:solidFill>
                  <a:schemeClr val="lt1"/>
                </a:solidFill>
                <a:latin typeface="Palatino" pitchFamily="2" charset="77"/>
                <a:ea typeface="Palatino" pitchFamily="2" charset="77"/>
                <a:cs typeface="Roboto"/>
                <a:sym typeface="Roboto"/>
              </a:defRPr>
            </a:lvl1pPr>
            <a:lvl2pPr marL="0" marR="0" lvl="1"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2pPr>
            <a:lvl3pPr marL="0" marR="0" lvl="2"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3pPr>
            <a:lvl4pPr marL="0" marR="0" lvl="3"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4pPr>
            <a:lvl5pPr marL="0" marR="0" lvl="4"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5pPr>
            <a:lvl6pPr marL="0" marR="0" lvl="5"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6pPr>
            <a:lvl7pPr marL="0" marR="0" lvl="6"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7pPr>
            <a:lvl8pPr marL="0" marR="0" lvl="7"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8pPr>
            <a:lvl9pPr marL="0" marR="0" lvl="8"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9pPr>
          </a:lstStyle>
          <a:p>
            <a:fld id="{00000000-1234-1234-1234-123412341234}" type="slidenum">
              <a:rPr lang="en" smtClean="0"/>
              <a:pPr/>
              <a:t>‹#›</a:t>
            </a:fld>
            <a:endParaRPr lang="en">
              <a:latin typeface="Palatino" pitchFamily="2" charset="77"/>
              <a:ea typeface="Palatino" pitchFamily="2" charset="77"/>
            </a:endParaRPr>
          </a:p>
        </p:txBody>
      </p:sp>
      <p:sp>
        <p:nvSpPr>
          <p:cNvPr id="10" name="Google Shape;161;p27">
            <a:extLst>
              <a:ext uri="{FF2B5EF4-FFF2-40B4-BE49-F238E27FC236}">
                <a16:creationId xmlns:a16="http://schemas.microsoft.com/office/drawing/2014/main" id="{24020097-BCD7-6F48-E63E-2CECE2156D77}"/>
              </a:ext>
            </a:extLst>
          </p:cNvPr>
          <p:cNvSpPr txBox="1"/>
          <p:nvPr userDrawn="1"/>
        </p:nvSpPr>
        <p:spPr>
          <a:xfrm>
            <a:off x="36444" y="6542144"/>
            <a:ext cx="4313583" cy="301756"/>
          </a:xfrm>
          <a:prstGeom prst="rect">
            <a:avLst/>
          </a:prstGeom>
          <a:noFill/>
          <a:ln>
            <a:noFill/>
          </a:ln>
        </p:spPr>
        <p:txBody>
          <a:bodyPr spcFirstLastPara="1" wrap="square" lIns="91433" tIns="45700" rIns="91433" bIns="45700" anchor="ctr" anchorCtr="0">
            <a:noAutofit/>
          </a:bodyPr>
          <a:lstStyle/>
          <a:p>
            <a:pPr marL="0" marR="0" lvl="0" indent="0" algn="l" rtl="0">
              <a:spcBef>
                <a:spcPts val="0"/>
              </a:spcBef>
              <a:spcAft>
                <a:spcPts val="0"/>
              </a:spcAft>
              <a:buClr>
                <a:schemeClr val="lt1"/>
              </a:buClr>
              <a:buSzPts val="1100"/>
              <a:buFont typeface="Roboto"/>
              <a:buNone/>
            </a:pPr>
            <a:r>
              <a:rPr lang="en" sz="1200" b="1" i="0" u="none" strike="noStrike" cap="none" dirty="0">
                <a:solidFill>
                  <a:schemeClr val="lt1"/>
                </a:solidFill>
                <a:latin typeface="Palatino" pitchFamily="2" charset="77"/>
                <a:ea typeface="Palatino" pitchFamily="2" charset="77"/>
                <a:cs typeface="Roboto"/>
                <a:sym typeface="Roboto"/>
              </a:rPr>
              <a:t>Parallel and Distributed Systems Laboratory</a:t>
            </a:r>
            <a:endParaRPr sz="1467" dirty="0">
              <a:latin typeface="Palatino" pitchFamily="2" charset="77"/>
              <a:ea typeface="Palatino" pitchFamily="2" charset="77"/>
            </a:endParaRPr>
          </a:p>
        </p:txBody>
      </p:sp>
    </p:spTree>
    <p:extLst>
      <p:ext uri="{BB962C8B-B14F-4D97-AF65-F5344CB8AC3E}">
        <p14:creationId xmlns:p14="http://schemas.microsoft.com/office/powerpoint/2010/main" val="47496425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54908" y="1230925"/>
            <a:ext cx="5364892" cy="5187460"/>
          </a:xfrm>
          <a:prstGeom prst="rect">
            <a:avLst/>
          </a:prstGeom>
        </p:spPr>
        <p:txBody>
          <a:bodyPr/>
          <a:lstStyle>
            <a:lvl1pPr>
              <a:defRPr>
                <a:latin typeface="Palatino" pitchFamily="2" charset="77"/>
                <a:ea typeface="Palatino" pitchFamily="2" charset="77"/>
              </a:defRPr>
            </a:lvl1pPr>
            <a:lvl2pPr>
              <a:defRPr>
                <a:latin typeface="Palatino" pitchFamily="2" charset="77"/>
                <a:ea typeface="Palatino" pitchFamily="2" charset="77"/>
              </a:defRPr>
            </a:lvl2pPr>
            <a:lvl3pPr>
              <a:defRPr>
                <a:latin typeface="Palatino" pitchFamily="2" charset="77"/>
                <a:ea typeface="Palatino" pitchFamily="2" charset="77"/>
              </a:defRPr>
            </a:lvl3pPr>
            <a:lvl4pPr>
              <a:defRPr>
                <a:latin typeface="Palatino" pitchFamily="2" charset="77"/>
                <a:ea typeface="Palatino" pitchFamily="2" charset="77"/>
              </a:defRPr>
            </a:lvl4pPr>
            <a:lvl5pPr>
              <a:defRPr>
                <a:latin typeface="Palatino" pitchFamily="2" charset="77"/>
                <a:ea typeface="Palatino"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199" y="1230925"/>
            <a:ext cx="5451231" cy="5187460"/>
          </a:xfrm>
          <a:prstGeom prst="rect">
            <a:avLst/>
          </a:prstGeom>
        </p:spPr>
        <p:txBody>
          <a:bodyPr/>
          <a:lstStyle>
            <a:lvl1pPr>
              <a:defRPr>
                <a:latin typeface="Palatino" pitchFamily="2" charset="77"/>
                <a:ea typeface="Palatino" pitchFamily="2" charset="77"/>
              </a:defRPr>
            </a:lvl1pPr>
            <a:lvl2pPr>
              <a:defRPr>
                <a:latin typeface="Palatino" pitchFamily="2" charset="77"/>
                <a:ea typeface="Palatino" pitchFamily="2" charset="77"/>
              </a:defRPr>
            </a:lvl2pPr>
            <a:lvl3pPr>
              <a:defRPr>
                <a:latin typeface="Palatino" pitchFamily="2" charset="77"/>
                <a:ea typeface="Palatino" pitchFamily="2" charset="77"/>
              </a:defRPr>
            </a:lvl3pPr>
            <a:lvl4pPr>
              <a:defRPr>
                <a:latin typeface="Palatino" pitchFamily="2" charset="77"/>
                <a:ea typeface="Palatino" pitchFamily="2" charset="77"/>
              </a:defRPr>
            </a:lvl4pPr>
            <a:lvl5pPr>
              <a:defRPr>
                <a:latin typeface="Palatino" pitchFamily="2" charset="77"/>
                <a:ea typeface="Palatino"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Google Shape;10;p39">
            <a:extLst>
              <a:ext uri="{FF2B5EF4-FFF2-40B4-BE49-F238E27FC236}">
                <a16:creationId xmlns:a16="http://schemas.microsoft.com/office/drawing/2014/main" id="{EE08C3DA-9F4E-C129-C128-5E6CF4826305}"/>
              </a:ext>
            </a:extLst>
          </p:cNvPr>
          <p:cNvSpPr/>
          <p:nvPr userDrawn="1"/>
        </p:nvSpPr>
        <p:spPr>
          <a:xfrm>
            <a:off x="0" y="-75603"/>
            <a:ext cx="12192000" cy="170334"/>
          </a:xfrm>
          <a:prstGeom prst="rect">
            <a:avLst/>
          </a:prstGeom>
          <a:solidFill>
            <a:srgbClr val="0020A5"/>
          </a:solidFill>
          <a:ln w="12700" cap="flat" cmpd="sng">
            <a:solidFill>
              <a:srgbClr val="0B2B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b="0" i="0" u="none" strike="noStrike" cap="none">
              <a:ln>
                <a:solidFill>
                  <a:schemeClr val="bg2"/>
                </a:solidFill>
              </a:ln>
              <a:solidFill>
                <a:schemeClr val="lt1"/>
              </a:solidFill>
              <a:latin typeface="Palatino" pitchFamily="2" charset="77"/>
              <a:ea typeface="Palatino" pitchFamily="2" charset="77"/>
              <a:cs typeface="Roboto"/>
              <a:sym typeface="Roboto"/>
            </a:endParaRPr>
          </a:p>
        </p:txBody>
      </p:sp>
      <p:sp>
        <p:nvSpPr>
          <p:cNvPr id="2" name="Google Shape;158;p27">
            <a:extLst>
              <a:ext uri="{FF2B5EF4-FFF2-40B4-BE49-F238E27FC236}">
                <a16:creationId xmlns:a16="http://schemas.microsoft.com/office/drawing/2014/main" id="{D72A2F2F-F0B5-6816-9706-E7876D3314AE}"/>
              </a:ext>
            </a:extLst>
          </p:cNvPr>
          <p:cNvSpPr/>
          <p:nvPr userDrawn="1"/>
        </p:nvSpPr>
        <p:spPr>
          <a:xfrm>
            <a:off x="0" y="6559729"/>
            <a:ext cx="12192000" cy="301756"/>
          </a:xfrm>
          <a:prstGeom prst="rect">
            <a:avLst/>
          </a:prstGeom>
          <a:solidFill>
            <a:srgbClr val="0020A5"/>
          </a:solidFill>
          <a:ln w="12700" cap="flat" cmpd="sng">
            <a:solidFill>
              <a:srgbClr val="0B2B50"/>
            </a:solidFill>
            <a:prstDash val="solid"/>
            <a:miter lim="800000"/>
            <a:headEnd type="none" w="sm" len="sm"/>
            <a:tailEnd type="none" w="sm" len="sm"/>
          </a:ln>
        </p:spPr>
        <p:txBody>
          <a:bodyPr spcFirstLastPara="1" wrap="square" lIns="91433" tIns="45700" rIns="91433" bIns="45700" anchor="ctr" anchorCtr="0">
            <a:noAutofit/>
          </a:bodyPr>
          <a:lstStyle/>
          <a:p>
            <a:pPr marL="0" marR="0" lvl="0" indent="0" algn="l" rtl="0">
              <a:spcBef>
                <a:spcPts val="0"/>
              </a:spcBef>
              <a:spcAft>
                <a:spcPts val="0"/>
              </a:spcAft>
              <a:buClr>
                <a:schemeClr val="dk1"/>
              </a:buClr>
              <a:buSzPts val="1200"/>
              <a:buFont typeface="Calibri"/>
              <a:buNone/>
            </a:pPr>
            <a:endParaRPr sz="1600" b="0" i="0" u="none" strike="noStrike" cap="none">
              <a:solidFill>
                <a:schemeClr val="lt1"/>
              </a:solidFill>
              <a:latin typeface="Palatino" pitchFamily="2" charset="77"/>
              <a:ea typeface="Palatino" pitchFamily="2" charset="77"/>
              <a:cs typeface="Roboto"/>
              <a:sym typeface="Roboto"/>
            </a:endParaRPr>
          </a:p>
        </p:txBody>
      </p:sp>
      <p:sp>
        <p:nvSpPr>
          <p:cNvPr id="6" name="Google Shape;159;p27">
            <a:extLst>
              <a:ext uri="{FF2B5EF4-FFF2-40B4-BE49-F238E27FC236}">
                <a16:creationId xmlns:a16="http://schemas.microsoft.com/office/drawing/2014/main" id="{F93BB895-045E-334B-8482-682C994BDBC3}"/>
              </a:ext>
            </a:extLst>
          </p:cNvPr>
          <p:cNvSpPr txBox="1">
            <a:spLocks noGrp="1"/>
          </p:cNvSpPr>
          <p:nvPr>
            <p:ph type="ftr" idx="11"/>
          </p:nvPr>
        </p:nvSpPr>
        <p:spPr>
          <a:xfrm>
            <a:off x="4657345" y="6559727"/>
            <a:ext cx="4049335" cy="301758"/>
          </a:xfrm>
          <a:prstGeom prst="rect">
            <a:avLst/>
          </a:prstGeom>
          <a:noFill/>
          <a:ln>
            <a:noFill/>
          </a:ln>
        </p:spPr>
        <p:txBody>
          <a:bodyPr spcFirstLastPara="1" wrap="square" lIns="68575" tIns="34275" rIns="68575" bIns="34275" anchor="ctr" anchorCtr="0">
            <a:noAutofit/>
          </a:bodyPr>
          <a:lstStyle>
            <a:lvl1pPr marR="0" lvl="0" algn="ctr">
              <a:spcBef>
                <a:spcPts val="0"/>
              </a:spcBef>
              <a:spcAft>
                <a:spcPts val="0"/>
              </a:spcAft>
              <a:buClr>
                <a:schemeClr val="lt1"/>
              </a:buClr>
              <a:buSzPts val="1100"/>
              <a:buFont typeface="Roboto"/>
              <a:buNone/>
              <a:defRPr sz="1200" b="1" i="0" u="none" strike="noStrike" cap="none">
                <a:solidFill>
                  <a:schemeClr val="lt1"/>
                </a:solidFill>
                <a:latin typeface="Palatino" pitchFamily="2" charset="77"/>
                <a:ea typeface="Palatino" pitchFamily="2" charset="77"/>
                <a:cs typeface="Roboto"/>
                <a:sym typeface="Roboto"/>
              </a:defRPr>
            </a:lvl1pPr>
            <a:lvl2pPr marR="0" lvl="1" algn="l">
              <a:spcBef>
                <a:spcPts val="0"/>
              </a:spcBef>
              <a:spcAft>
                <a:spcPts val="0"/>
              </a:spcAft>
              <a:buClr>
                <a:schemeClr val="dk1"/>
              </a:buClr>
              <a:buSzPts val="1100"/>
              <a:buFont typeface="Calibri"/>
              <a:buNone/>
              <a:defRPr sz="1867" b="0" i="0" u="none" strike="noStrike" cap="none">
                <a:solidFill>
                  <a:schemeClr val="dk1"/>
                </a:solidFill>
                <a:latin typeface="Calibri"/>
                <a:ea typeface="Calibri"/>
                <a:cs typeface="Calibri"/>
                <a:sym typeface="Calibri"/>
              </a:defRPr>
            </a:lvl2pPr>
            <a:lvl3pPr marR="0" lvl="2" algn="l">
              <a:spcBef>
                <a:spcPts val="0"/>
              </a:spcBef>
              <a:spcAft>
                <a:spcPts val="0"/>
              </a:spcAft>
              <a:buClr>
                <a:schemeClr val="dk1"/>
              </a:buClr>
              <a:buSzPts val="1100"/>
              <a:buFont typeface="Calibri"/>
              <a:buNone/>
              <a:defRPr sz="1867" b="0" i="0" u="none" strike="noStrike" cap="none">
                <a:solidFill>
                  <a:schemeClr val="dk1"/>
                </a:solidFill>
                <a:latin typeface="Calibri"/>
                <a:ea typeface="Calibri"/>
                <a:cs typeface="Calibri"/>
                <a:sym typeface="Calibri"/>
              </a:defRPr>
            </a:lvl3pPr>
            <a:lvl4pPr marR="0" lvl="3" algn="l">
              <a:spcBef>
                <a:spcPts val="0"/>
              </a:spcBef>
              <a:spcAft>
                <a:spcPts val="0"/>
              </a:spcAft>
              <a:buClr>
                <a:schemeClr val="dk1"/>
              </a:buClr>
              <a:buSzPts val="1100"/>
              <a:buFont typeface="Calibri"/>
              <a:buNone/>
              <a:defRPr sz="1867" b="0" i="0" u="none" strike="noStrike" cap="none">
                <a:solidFill>
                  <a:schemeClr val="dk1"/>
                </a:solidFill>
                <a:latin typeface="Calibri"/>
                <a:ea typeface="Calibri"/>
                <a:cs typeface="Calibri"/>
                <a:sym typeface="Calibri"/>
              </a:defRPr>
            </a:lvl4pPr>
            <a:lvl5pPr marR="0" lvl="4" algn="l">
              <a:spcBef>
                <a:spcPts val="0"/>
              </a:spcBef>
              <a:spcAft>
                <a:spcPts val="0"/>
              </a:spcAft>
              <a:buClr>
                <a:schemeClr val="dk1"/>
              </a:buClr>
              <a:buSzPts val="1100"/>
              <a:buFont typeface="Calibri"/>
              <a:buNone/>
              <a:defRPr sz="1867" b="0" i="0" u="none" strike="noStrike" cap="none">
                <a:solidFill>
                  <a:schemeClr val="dk1"/>
                </a:solidFill>
                <a:latin typeface="Calibri"/>
                <a:ea typeface="Calibri"/>
                <a:cs typeface="Calibri"/>
                <a:sym typeface="Calibri"/>
              </a:defRPr>
            </a:lvl5pPr>
            <a:lvl6pPr marR="0" lvl="5" algn="l">
              <a:spcBef>
                <a:spcPts val="0"/>
              </a:spcBef>
              <a:spcAft>
                <a:spcPts val="0"/>
              </a:spcAft>
              <a:buClr>
                <a:schemeClr val="dk1"/>
              </a:buClr>
              <a:buSzPts val="1100"/>
              <a:buFont typeface="Calibri"/>
              <a:buNone/>
              <a:defRPr sz="1867" b="0" i="0" u="none" strike="noStrike" cap="none">
                <a:solidFill>
                  <a:schemeClr val="dk1"/>
                </a:solidFill>
                <a:latin typeface="Calibri"/>
                <a:ea typeface="Calibri"/>
                <a:cs typeface="Calibri"/>
                <a:sym typeface="Calibri"/>
              </a:defRPr>
            </a:lvl6pPr>
            <a:lvl7pPr marR="0" lvl="6" algn="l">
              <a:spcBef>
                <a:spcPts val="0"/>
              </a:spcBef>
              <a:spcAft>
                <a:spcPts val="0"/>
              </a:spcAft>
              <a:buClr>
                <a:schemeClr val="dk1"/>
              </a:buClr>
              <a:buSzPts val="1100"/>
              <a:buFont typeface="Calibri"/>
              <a:buNone/>
              <a:defRPr sz="1867" b="0" i="0" u="none" strike="noStrike" cap="none">
                <a:solidFill>
                  <a:schemeClr val="dk1"/>
                </a:solidFill>
                <a:latin typeface="Calibri"/>
                <a:ea typeface="Calibri"/>
                <a:cs typeface="Calibri"/>
                <a:sym typeface="Calibri"/>
              </a:defRPr>
            </a:lvl7pPr>
            <a:lvl8pPr marR="0" lvl="7" algn="l">
              <a:spcBef>
                <a:spcPts val="0"/>
              </a:spcBef>
              <a:spcAft>
                <a:spcPts val="0"/>
              </a:spcAft>
              <a:buClr>
                <a:schemeClr val="dk1"/>
              </a:buClr>
              <a:buSzPts val="1100"/>
              <a:buFont typeface="Calibri"/>
              <a:buNone/>
              <a:defRPr sz="1867" b="0" i="0" u="none" strike="noStrike" cap="none">
                <a:solidFill>
                  <a:schemeClr val="dk1"/>
                </a:solidFill>
                <a:latin typeface="Calibri"/>
                <a:ea typeface="Calibri"/>
                <a:cs typeface="Calibri"/>
                <a:sym typeface="Calibri"/>
              </a:defRPr>
            </a:lvl8pPr>
            <a:lvl9pPr marR="0" lvl="8" algn="l">
              <a:spcBef>
                <a:spcPts val="0"/>
              </a:spcBef>
              <a:spcAft>
                <a:spcPts val="0"/>
              </a:spcAft>
              <a:buClr>
                <a:schemeClr val="dk1"/>
              </a:buClr>
              <a:buSzPts val="1100"/>
              <a:buFont typeface="Calibri"/>
              <a:buNone/>
              <a:defRPr sz="1867" b="0" i="0" u="none" strike="noStrike" cap="none">
                <a:solidFill>
                  <a:schemeClr val="dk1"/>
                </a:solidFill>
                <a:latin typeface="Calibri"/>
                <a:ea typeface="Calibri"/>
                <a:cs typeface="Calibri"/>
                <a:sym typeface="Calibri"/>
              </a:defRPr>
            </a:lvl9pPr>
          </a:lstStyle>
          <a:p>
            <a:r>
              <a:rPr lang="en-US" dirty="0"/>
              <a:t>University of Florida</a:t>
            </a:r>
          </a:p>
        </p:txBody>
      </p:sp>
      <p:sp>
        <p:nvSpPr>
          <p:cNvPr id="8" name="Google Shape;160;p27">
            <a:extLst>
              <a:ext uri="{FF2B5EF4-FFF2-40B4-BE49-F238E27FC236}">
                <a16:creationId xmlns:a16="http://schemas.microsoft.com/office/drawing/2014/main" id="{671A756B-EF4C-6A2A-22CE-AB2E32506B9A}"/>
              </a:ext>
            </a:extLst>
          </p:cNvPr>
          <p:cNvSpPr txBox="1">
            <a:spLocks noGrp="1"/>
          </p:cNvSpPr>
          <p:nvPr>
            <p:ph type="sldNum" idx="12"/>
          </p:nvPr>
        </p:nvSpPr>
        <p:spPr>
          <a:xfrm>
            <a:off x="9409045" y="6559727"/>
            <a:ext cx="2782956" cy="301759"/>
          </a:xfrm>
          <a:prstGeom prst="rect">
            <a:avLst/>
          </a:prstGeom>
          <a:noFill/>
          <a:ln>
            <a:noFill/>
          </a:ln>
        </p:spPr>
        <p:txBody>
          <a:bodyPr spcFirstLastPara="1" wrap="square" lIns="68575" tIns="34275" rIns="68575" bIns="34275" anchor="ctr" anchorCtr="0">
            <a:noAutofit/>
          </a:bodyPr>
          <a:lstStyle>
            <a:lvl1pPr marL="0" marR="0" lvl="0" indent="0" algn="r">
              <a:spcBef>
                <a:spcPts val="0"/>
              </a:spcBef>
              <a:buClr>
                <a:schemeClr val="lt1"/>
              </a:buClr>
              <a:buSzPts val="900"/>
              <a:buFont typeface="Roboto"/>
              <a:buNone/>
              <a:defRPr sz="1200" b="0" i="0" u="none" strike="noStrike" cap="none">
                <a:solidFill>
                  <a:schemeClr val="lt1"/>
                </a:solidFill>
                <a:latin typeface="Palatino" pitchFamily="2" charset="77"/>
                <a:ea typeface="Palatino" pitchFamily="2" charset="77"/>
                <a:cs typeface="Roboto"/>
                <a:sym typeface="Roboto"/>
              </a:defRPr>
            </a:lvl1pPr>
            <a:lvl2pPr marL="0" marR="0" lvl="1"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2pPr>
            <a:lvl3pPr marL="0" marR="0" lvl="2"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3pPr>
            <a:lvl4pPr marL="0" marR="0" lvl="3"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4pPr>
            <a:lvl5pPr marL="0" marR="0" lvl="4"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5pPr>
            <a:lvl6pPr marL="0" marR="0" lvl="5"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6pPr>
            <a:lvl7pPr marL="0" marR="0" lvl="6"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7pPr>
            <a:lvl8pPr marL="0" marR="0" lvl="7"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8pPr>
            <a:lvl9pPr marL="0" marR="0" lvl="8"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9pPr>
          </a:lstStyle>
          <a:p>
            <a:fld id="{00000000-1234-1234-1234-123412341234}" type="slidenum">
              <a:rPr lang="en" smtClean="0"/>
              <a:pPr/>
              <a:t>‹#›</a:t>
            </a:fld>
            <a:endParaRPr lang="en">
              <a:latin typeface="Palatino" pitchFamily="2" charset="77"/>
              <a:ea typeface="Palatino" pitchFamily="2" charset="77"/>
            </a:endParaRPr>
          </a:p>
        </p:txBody>
      </p:sp>
      <p:sp>
        <p:nvSpPr>
          <p:cNvPr id="9" name="Google Shape;161;p27">
            <a:extLst>
              <a:ext uri="{FF2B5EF4-FFF2-40B4-BE49-F238E27FC236}">
                <a16:creationId xmlns:a16="http://schemas.microsoft.com/office/drawing/2014/main" id="{1ECD5E92-E98F-37BF-F4A9-ECF943764EDF}"/>
              </a:ext>
            </a:extLst>
          </p:cNvPr>
          <p:cNvSpPr txBox="1"/>
          <p:nvPr userDrawn="1"/>
        </p:nvSpPr>
        <p:spPr>
          <a:xfrm>
            <a:off x="36444" y="6559729"/>
            <a:ext cx="4313583" cy="301756"/>
          </a:xfrm>
          <a:prstGeom prst="rect">
            <a:avLst/>
          </a:prstGeom>
          <a:noFill/>
          <a:ln>
            <a:noFill/>
          </a:ln>
        </p:spPr>
        <p:txBody>
          <a:bodyPr spcFirstLastPara="1" wrap="square" lIns="91433" tIns="45700" rIns="91433" bIns="45700" anchor="ctr" anchorCtr="0">
            <a:noAutofit/>
          </a:bodyPr>
          <a:lstStyle/>
          <a:p>
            <a:pPr marL="0" marR="0" lvl="0" indent="0" algn="l" rtl="0">
              <a:spcBef>
                <a:spcPts val="0"/>
              </a:spcBef>
              <a:spcAft>
                <a:spcPts val="0"/>
              </a:spcAft>
              <a:buClr>
                <a:schemeClr val="lt1"/>
              </a:buClr>
              <a:buSzPts val="1100"/>
              <a:buFont typeface="Roboto"/>
              <a:buNone/>
            </a:pPr>
            <a:r>
              <a:rPr lang="en" sz="1200" b="1" i="0" u="none" strike="noStrike" cap="none" dirty="0">
                <a:solidFill>
                  <a:schemeClr val="lt1"/>
                </a:solidFill>
                <a:latin typeface="Palatino" pitchFamily="2" charset="77"/>
                <a:ea typeface="Palatino" pitchFamily="2" charset="77"/>
                <a:cs typeface="Roboto"/>
                <a:sym typeface="Roboto"/>
              </a:rPr>
              <a:t>Parallel and Distributed Systems Laboratory</a:t>
            </a:r>
            <a:endParaRPr sz="1467" dirty="0">
              <a:latin typeface="Palatino" pitchFamily="2" charset="77"/>
              <a:ea typeface="Palatino" pitchFamily="2" charset="77"/>
            </a:endParaRPr>
          </a:p>
        </p:txBody>
      </p:sp>
      <p:sp>
        <p:nvSpPr>
          <p:cNvPr id="10" name="Title 1">
            <a:extLst>
              <a:ext uri="{FF2B5EF4-FFF2-40B4-BE49-F238E27FC236}">
                <a16:creationId xmlns:a16="http://schemas.microsoft.com/office/drawing/2014/main" id="{D54CC842-C2AD-E371-1846-BF600E83B227}"/>
              </a:ext>
            </a:extLst>
          </p:cNvPr>
          <p:cNvSpPr>
            <a:spLocks noGrp="1"/>
          </p:cNvSpPr>
          <p:nvPr>
            <p:ph type="title"/>
          </p:nvPr>
        </p:nvSpPr>
        <p:spPr>
          <a:xfrm>
            <a:off x="654908" y="119445"/>
            <a:ext cx="10968523" cy="893810"/>
          </a:xfrm>
          <a:prstGeom prst="rect">
            <a:avLst/>
          </a:prstGeom>
        </p:spPr>
        <p:txBody>
          <a:bodyPr/>
          <a:lstStyle>
            <a:lvl1pPr>
              <a:defRPr>
                <a:latin typeface="Times New Roman" panose="02020603050405020304" pitchFamily="18" charset="0"/>
                <a:ea typeface="Palatino" pitchFamily="2" charset="77"/>
                <a:cs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521789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21276" y="94731"/>
            <a:ext cx="11528854" cy="95404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321276" y="1186249"/>
            <a:ext cx="11528854" cy="521455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Google Shape;158;p27">
            <a:extLst>
              <a:ext uri="{FF2B5EF4-FFF2-40B4-BE49-F238E27FC236}">
                <a16:creationId xmlns:a16="http://schemas.microsoft.com/office/drawing/2014/main" id="{BD711ED7-3AAC-8EB4-4630-23FCA25C91F5}"/>
              </a:ext>
            </a:extLst>
          </p:cNvPr>
          <p:cNvSpPr/>
          <p:nvPr userDrawn="1"/>
        </p:nvSpPr>
        <p:spPr>
          <a:xfrm>
            <a:off x="0" y="6559727"/>
            <a:ext cx="12192000" cy="301756"/>
          </a:xfrm>
          <a:prstGeom prst="rect">
            <a:avLst/>
          </a:prstGeom>
          <a:solidFill>
            <a:srgbClr val="0020A5"/>
          </a:solidFill>
          <a:ln w="12700" cap="flat" cmpd="sng">
            <a:solidFill>
              <a:srgbClr val="0B2B50"/>
            </a:solidFill>
            <a:prstDash val="solid"/>
            <a:miter lim="800000"/>
            <a:headEnd type="none" w="sm" len="sm"/>
            <a:tailEnd type="none" w="sm" len="sm"/>
          </a:ln>
        </p:spPr>
        <p:txBody>
          <a:bodyPr spcFirstLastPara="1" wrap="square" lIns="91433" tIns="45700" rIns="91433" bIns="45700" anchor="ctr" anchorCtr="0">
            <a:noAutofit/>
          </a:bodyPr>
          <a:lstStyle/>
          <a:p>
            <a:pPr marL="0" marR="0" lvl="0" indent="0" algn="l" rtl="0">
              <a:spcBef>
                <a:spcPts val="0"/>
              </a:spcBef>
              <a:spcAft>
                <a:spcPts val="0"/>
              </a:spcAft>
              <a:buClr>
                <a:schemeClr val="dk1"/>
              </a:buClr>
              <a:buSzPts val="1200"/>
              <a:buFont typeface="Calibri"/>
              <a:buNone/>
            </a:pPr>
            <a:endParaRPr sz="1600" b="0" i="0" u="none" strike="noStrike" cap="none">
              <a:solidFill>
                <a:schemeClr val="lt1"/>
              </a:solidFill>
              <a:latin typeface="Palatino" pitchFamily="2" charset="77"/>
              <a:ea typeface="Palatino" pitchFamily="2" charset="77"/>
              <a:cs typeface="Roboto"/>
              <a:sym typeface="Roboto"/>
            </a:endParaRPr>
          </a:p>
        </p:txBody>
      </p:sp>
      <p:sp>
        <p:nvSpPr>
          <p:cNvPr id="6" name="Google Shape;159;p27">
            <a:extLst>
              <a:ext uri="{FF2B5EF4-FFF2-40B4-BE49-F238E27FC236}">
                <a16:creationId xmlns:a16="http://schemas.microsoft.com/office/drawing/2014/main" id="{C4D0D6AA-C715-E92F-A45F-88C2F1970398}"/>
              </a:ext>
            </a:extLst>
          </p:cNvPr>
          <p:cNvSpPr txBox="1">
            <a:spLocks noGrp="1"/>
          </p:cNvSpPr>
          <p:nvPr>
            <p:ph type="ftr" idx="3"/>
          </p:nvPr>
        </p:nvSpPr>
        <p:spPr>
          <a:xfrm>
            <a:off x="4657345" y="6559725"/>
            <a:ext cx="4049335" cy="301758"/>
          </a:xfrm>
          <a:prstGeom prst="rect">
            <a:avLst/>
          </a:prstGeom>
          <a:noFill/>
          <a:ln>
            <a:noFill/>
          </a:ln>
        </p:spPr>
        <p:txBody>
          <a:bodyPr spcFirstLastPara="1" wrap="square" lIns="68575" tIns="34275" rIns="68575" bIns="34275" anchor="ctr" anchorCtr="0">
            <a:noAutofit/>
          </a:bodyPr>
          <a:lstStyle>
            <a:lvl1pPr marR="0" lvl="0" algn="ctr">
              <a:spcBef>
                <a:spcPts val="0"/>
              </a:spcBef>
              <a:spcAft>
                <a:spcPts val="0"/>
              </a:spcAft>
              <a:buClr>
                <a:schemeClr val="lt1"/>
              </a:buClr>
              <a:buSzPts val="1100"/>
              <a:buFont typeface="Roboto"/>
              <a:buNone/>
              <a:defRPr sz="1200" b="1" i="0" u="none" strike="noStrike" cap="none">
                <a:solidFill>
                  <a:schemeClr val="lt1"/>
                </a:solidFill>
                <a:latin typeface="Palatino" pitchFamily="2" charset="77"/>
                <a:ea typeface="Palatino" pitchFamily="2" charset="77"/>
                <a:cs typeface="Roboto"/>
                <a:sym typeface="Roboto"/>
              </a:defRPr>
            </a:lvl1pPr>
            <a:lvl2pPr marR="0" lvl="1" algn="l">
              <a:spcBef>
                <a:spcPts val="0"/>
              </a:spcBef>
              <a:spcAft>
                <a:spcPts val="0"/>
              </a:spcAft>
              <a:buClr>
                <a:schemeClr val="dk1"/>
              </a:buClr>
              <a:buSzPts val="1100"/>
              <a:buFont typeface="Calibri"/>
              <a:buNone/>
              <a:defRPr sz="1867" b="0" i="0" u="none" strike="noStrike" cap="none">
                <a:solidFill>
                  <a:schemeClr val="dk1"/>
                </a:solidFill>
                <a:latin typeface="Calibri"/>
                <a:ea typeface="Calibri"/>
                <a:cs typeface="Calibri"/>
                <a:sym typeface="Calibri"/>
              </a:defRPr>
            </a:lvl2pPr>
            <a:lvl3pPr marR="0" lvl="2" algn="l">
              <a:spcBef>
                <a:spcPts val="0"/>
              </a:spcBef>
              <a:spcAft>
                <a:spcPts val="0"/>
              </a:spcAft>
              <a:buClr>
                <a:schemeClr val="dk1"/>
              </a:buClr>
              <a:buSzPts val="1100"/>
              <a:buFont typeface="Calibri"/>
              <a:buNone/>
              <a:defRPr sz="1867" b="0" i="0" u="none" strike="noStrike" cap="none">
                <a:solidFill>
                  <a:schemeClr val="dk1"/>
                </a:solidFill>
                <a:latin typeface="Calibri"/>
                <a:ea typeface="Calibri"/>
                <a:cs typeface="Calibri"/>
                <a:sym typeface="Calibri"/>
              </a:defRPr>
            </a:lvl3pPr>
            <a:lvl4pPr marR="0" lvl="3" algn="l">
              <a:spcBef>
                <a:spcPts val="0"/>
              </a:spcBef>
              <a:spcAft>
                <a:spcPts val="0"/>
              </a:spcAft>
              <a:buClr>
                <a:schemeClr val="dk1"/>
              </a:buClr>
              <a:buSzPts val="1100"/>
              <a:buFont typeface="Calibri"/>
              <a:buNone/>
              <a:defRPr sz="1867" b="0" i="0" u="none" strike="noStrike" cap="none">
                <a:solidFill>
                  <a:schemeClr val="dk1"/>
                </a:solidFill>
                <a:latin typeface="Calibri"/>
                <a:ea typeface="Calibri"/>
                <a:cs typeface="Calibri"/>
                <a:sym typeface="Calibri"/>
              </a:defRPr>
            </a:lvl4pPr>
            <a:lvl5pPr marR="0" lvl="4" algn="l">
              <a:spcBef>
                <a:spcPts val="0"/>
              </a:spcBef>
              <a:spcAft>
                <a:spcPts val="0"/>
              </a:spcAft>
              <a:buClr>
                <a:schemeClr val="dk1"/>
              </a:buClr>
              <a:buSzPts val="1100"/>
              <a:buFont typeface="Calibri"/>
              <a:buNone/>
              <a:defRPr sz="1867" b="0" i="0" u="none" strike="noStrike" cap="none">
                <a:solidFill>
                  <a:schemeClr val="dk1"/>
                </a:solidFill>
                <a:latin typeface="Calibri"/>
                <a:ea typeface="Calibri"/>
                <a:cs typeface="Calibri"/>
                <a:sym typeface="Calibri"/>
              </a:defRPr>
            </a:lvl5pPr>
            <a:lvl6pPr marR="0" lvl="5" algn="l">
              <a:spcBef>
                <a:spcPts val="0"/>
              </a:spcBef>
              <a:spcAft>
                <a:spcPts val="0"/>
              </a:spcAft>
              <a:buClr>
                <a:schemeClr val="dk1"/>
              </a:buClr>
              <a:buSzPts val="1100"/>
              <a:buFont typeface="Calibri"/>
              <a:buNone/>
              <a:defRPr sz="1867" b="0" i="0" u="none" strike="noStrike" cap="none">
                <a:solidFill>
                  <a:schemeClr val="dk1"/>
                </a:solidFill>
                <a:latin typeface="Calibri"/>
                <a:ea typeface="Calibri"/>
                <a:cs typeface="Calibri"/>
                <a:sym typeface="Calibri"/>
              </a:defRPr>
            </a:lvl6pPr>
            <a:lvl7pPr marR="0" lvl="6" algn="l">
              <a:spcBef>
                <a:spcPts val="0"/>
              </a:spcBef>
              <a:spcAft>
                <a:spcPts val="0"/>
              </a:spcAft>
              <a:buClr>
                <a:schemeClr val="dk1"/>
              </a:buClr>
              <a:buSzPts val="1100"/>
              <a:buFont typeface="Calibri"/>
              <a:buNone/>
              <a:defRPr sz="1867" b="0" i="0" u="none" strike="noStrike" cap="none">
                <a:solidFill>
                  <a:schemeClr val="dk1"/>
                </a:solidFill>
                <a:latin typeface="Calibri"/>
                <a:ea typeface="Calibri"/>
                <a:cs typeface="Calibri"/>
                <a:sym typeface="Calibri"/>
              </a:defRPr>
            </a:lvl7pPr>
            <a:lvl8pPr marR="0" lvl="7" algn="l">
              <a:spcBef>
                <a:spcPts val="0"/>
              </a:spcBef>
              <a:spcAft>
                <a:spcPts val="0"/>
              </a:spcAft>
              <a:buClr>
                <a:schemeClr val="dk1"/>
              </a:buClr>
              <a:buSzPts val="1100"/>
              <a:buFont typeface="Calibri"/>
              <a:buNone/>
              <a:defRPr sz="1867" b="0" i="0" u="none" strike="noStrike" cap="none">
                <a:solidFill>
                  <a:schemeClr val="dk1"/>
                </a:solidFill>
                <a:latin typeface="Calibri"/>
                <a:ea typeface="Calibri"/>
                <a:cs typeface="Calibri"/>
                <a:sym typeface="Calibri"/>
              </a:defRPr>
            </a:lvl8pPr>
            <a:lvl9pPr marR="0" lvl="8" algn="l">
              <a:spcBef>
                <a:spcPts val="0"/>
              </a:spcBef>
              <a:spcAft>
                <a:spcPts val="0"/>
              </a:spcAft>
              <a:buClr>
                <a:schemeClr val="dk1"/>
              </a:buClr>
              <a:buSzPts val="1100"/>
              <a:buFont typeface="Calibri"/>
              <a:buNone/>
              <a:defRPr sz="1867" b="0" i="0" u="none" strike="noStrike" cap="none">
                <a:solidFill>
                  <a:schemeClr val="dk1"/>
                </a:solidFill>
                <a:latin typeface="Calibri"/>
                <a:ea typeface="Calibri"/>
                <a:cs typeface="Calibri"/>
                <a:sym typeface="Calibri"/>
              </a:defRPr>
            </a:lvl9pPr>
          </a:lstStyle>
          <a:p>
            <a:r>
              <a:rPr lang="en-US" dirty="0"/>
              <a:t>University of Florida</a:t>
            </a:r>
          </a:p>
        </p:txBody>
      </p:sp>
      <p:sp>
        <p:nvSpPr>
          <p:cNvPr id="7" name="Google Shape;160;p27">
            <a:extLst>
              <a:ext uri="{FF2B5EF4-FFF2-40B4-BE49-F238E27FC236}">
                <a16:creationId xmlns:a16="http://schemas.microsoft.com/office/drawing/2014/main" id="{A7120691-52E4-F0A3-3D71-31A7F136F99D}"/>
              </a:ext>
            </a:extLst>
          </p:cNvPr>
          <p:cNvSpPr txBox="1">
            <a:spLocks noGrp="1"/>
          </p:cNvSpPr>
          <p:nvPr>
            <p:ph type="sldNum" idx="4"/>
          </p:nvPr>
        </p:nvSpPr>
        <p:spPr>
          <a:xfrm>
            <a:off x="9409045" y="6559725"/>
            <a:ext cx="2782956" cy="301759"/>
          </a:xfrm>
          <a:prstGeom prst="rect">
            <a:avLst/>
          </a:prstGeom>
          <a:noFill/>
          <a:ln>
            <a:noFill/>
          </a:ln>
        </p:spPr>
        <p:txBody>
          <a:bodyPr spcFirstLastPara="1" wrap="square" lIns="68575" tIns="34275" rIns="68575" bIns="34275" anchor="ctr" anchorCtr="0">
            <a:noAutofit/>
          </a:bodyPr>
          <a:lstStyle>
            <a:lvl1pPr marL="0" marR="0" lvl="0" indent="0" algn="r">
              <a:spcBef>
                <a:spcPts val="0"/>
              </a:spcBef>
              <a:buClr>
                <a:schemeClr val="lt1"/>
              </a:buClr>
              <a:buSzPts val="900"/>
              <a:buFont typeface="Roboto"/>
              <a:buNone/>
              <a:defRPr sz="1200" b="0" i="0" u="none" strike="noStrike" cap="none">
                <a:solidFill>
                  <a:schemeClr val="lt1"/>
                </a:solidFill>
                <a:latin typeface="Palatino" pitchFamily="2" charset="77"/>
                <a:ea typeface="Palatino" pitchFamily="2" charset="77"/>
                <a:cs typeface="Roboto"/>
                <a:sym typeface="Roboto"/>
              </a:defRPr>
            </a:lvl1pPr>
            <a:lvl2pPr marL="0" marR="0" lvl="1"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2pPr>
            <a:lvl3pPr marL="0" marR="0" lvl="2"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3pPr>
            <a:lvl4pPr marL="0" marR="0" lvl="3"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4pPr>
            <a:lvl5pPr marL="0" marR="0" lvl="4"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5pPr>
            <a:lvl6pPr marL="0" marR="0" lvl="5"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6pPr>
            <a:lvl7pPr marL="0" marR="0" lvl="6"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7pPr>
            <a:lvl8pPr marL="0" marR="0" lvl="7"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8pPr>
            <a:lvl9pPr marL="0" marR="0" lvl="8" indent="0" algn="r">
              <a:spcBef>
                <a:spcPts val="0"/>
              </a:spcBef>
              <a:buClr>
                <a:schemeClr val="lt1"/>
              </a:buClr>
              <a:buSzPts val="900"/>
              <a:buFont typeface="Roboto"/>
              <a:buNone/>
              <a:defRPr sz="1200" b="0" i="0" u="none" strike="noStrike" cap="none">
                <a:solidFill>
                  <a:schemeClr val="lt1"/>
                </a:solidFill>
                <a:latin typeface="Roboto"/>
                <a:ea typeface="Roboto"/>
                <a:cs typeface="Roboto"/>
                <a:sym typeface="Roboto"/>
              </a:defRPr>
            </a:lvl9pPr>
          </a:lstStyle>
          <a:p>
            <a:fld id="{00000000-1234-1234-1234-123412341234}" type="slidenum">
              <a:rPr lang="en" smtClean="0"/>
              <a:pPr/>
              <a:t>‹#›</a:t>
            </a:fld>
            <a:endParaRPr lang="en" dirty="0"/>
          </a:p>
        </p:txBody>
      </p:sp>
      <p:sp>
        <p:nvSpPr>
          <p:cNvPr id="8" name="Google Shape;161;p27">
            <a:extLst>
              <a:ext uri="{FF2B5EF4-FFF2-40B4-BE49-F238E27FC236}">
                <a16:creationId xmlns:a16="http://schemas.microsoft.com/office/drawing/2014/main" id="{8225351D-E14D-F9D4-D82C-4BD445762713}"/>
              </a:ext>
            </a:extLst>
          </p:cNvPr>
          <p:cNvSpPr txBox="1"/>
          <p:nvPr userDrawn="1"/>
        </p:nvSpPr>
        <p:spPr>
          <a:xfrm>
            <a:off x="36444" y="6559727"/>
            <a:ext cx="4313583" cy="301756"/>
          </a:xfrm>
          <a:prstGeom prst="rect">
            <a:avLst/>
          </a:prstGeom>
          <a:noFill/>
          <a:ln>
            <a:noFill/>
          </a:ln>
        </p:spPr>
        <p:txBody>
          <a:bodyPr spcFirstLastPara="1" wrap="square" lIns="91433" tIns="45700" rIns="91433" bIns="45700" anchor="ctr" anchorCtr="0">
            <a:noAutofit/>
          </a:bodyPr>
          <a:lstStyle/>
          <a:p>
            <a:pPr marL="0" marR="0" lvl="0" indent="0" algn="l" rtl="0">
              <a:spcBef>
                <a:spcPts val="0"/>
              </a:spcBef>
              <a:spcAft>
                <a:spcPts val="0"/>
              </a:spcAft>
              <a:buClr>
                <a:schemeClr val="lt1"/>
              </a:buClr>
              <a:buSzPts val="1100"/>
              <a:buFont typeface="Roboto"/>
              <a:buNone/>
            </a:pPr>
            <a:r>
              <a:rPr lang="en" sz="1200" b="1" i="0" u="none" strike="noStrike" cap="none" dirty="0">
                <a:solidFill>
                  <a:schemeClr val="lt1"/>
                </a:solidFill>
                <a:latin typeface="Palatino" pitchFamily="2" charset="77"/>
                <a:ea typeface="Palatino" pitchFamily="2" charset="77"/>
                <a:cs typeface="Roboto"/>
                <a:sym typeface="Roboto"/>
              </a:rPr>
              <a:t>Parallel and Distributed Systems Laboratory</a:t>
            </a:r>
            <a:endParaRPr sz="1467" dirty="0">
              <a:latin typeface="Palatino" pitchFamily="2" charset="77"/>
              <a:ea typeface="Palatino" pitchFamily="2" charset="77"/>
            </a:endParaRPr>
          </a:p>
        </p:txBody>
      </p:sp>
      <p:sp>
        <p:nvSpPr>
          <p:cNvPr id="4" name="Google Shape;10;p39">
            <a:extLst>
              <a:ext uri="{FF2B5EF4-FFF2-40B4-BE49-F238E27FC236}">
                <a16:creationId xmlns:a16="http://schemas.microsoft.com/office/drawing/2014/main" id="{209B2F37-D834-34DE-0034-99503DA6E130}"/>
              </a:ext>
            </a:extLst>
          </p:cNvPr>
          <p:cNvSpPr/>
          <p:nvPr userDrawn="1"/>
        </p:nvSpPr>
        <p:spPr>
          <a:xfrm>
            <a:off x="0" y="-75603"/>
            <a:ext cx="12192000" cy="170334"/>
          </a:xfrm>
          <a:prstGeom prst="rect">
            <a:avLst/>
          </a:prstGeom>
          <a:solidFill>
            <a:srgbClr val="0020A5"/>
          </a:solidFill>
          <a:ln w="12700" cap="flat" cmpd="sng">
            <a:solidFill>
              <a:srgbClr val="0B2B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b="0" i="0" u="none" strike="noStrike" cap="none">
              <a:ln>
                <a:solidFill>
                  <a:schemeClr val="bg2"/>
                </a:solidFill>
              </a:ln>
              <a:solidFill>
                <a:schemeClr val="lt1"/>
              </a:solidFill>
              <a:latin typeface="Palatino" pitchFamily="2" charset="77"/>
              <a:ea typeface="Palatino" pitchFamily="2" charset="77"/>
              <a:cs typeface="Roboto"/>
              <a:sym typeface="Roboto"/>
            </a:endParaRPr>
          </a:p>
        </p:txBody>
      </p:sp>
    </p:spTree>
    <p:extLst>
      <p:ext uri="{BB962C8B-B14F-4D97-AF65-F5344CB8AC3E}">
        <p14:creationId xmlns:p14="http://schemas.microsoft.com/office/powerpoint/2010/main" val="3846770681"/>
      </p:ext>
    </p:extLst>
  </p:cSld>
  <p:clrMap bg1="lt1" tx1="dk1" bg2="lt2" tx2="dk2" accent1="accent1" accent2="accent2" accent3="accent3" accent4="accent4" accent5="accent5" accent6="accent6" hlink="hlink" folHlink="folHlink"/>
  <p:sldLayoutIdLst>
    <p:sldLayoutId id="2147483684" r:id="rId1"/>
    <p:sldLayoutId id="2147483669" r:id="rId2"/>
    <p:sldLayoutId id="2147483671" r:id="rId3"/>
  </p:sldLayoutIdLst>
  <p:hf hdr="0" dt="0"/>
  <p:txStyles>
    <p:titleStyle>
      <a:lvl1pPr algn="l" defTabSz="914400" rtl="0" eaLnBrk="1" latinLnBrk="0" hangingPunct="1">
        <a:lnSpc>
          <a:spcPct val="90000"/>
        </a:lnSpc>
        <a:spcBef>
          <a:spcPct val="0"/>
        </a:spcBef>
        <a:buNone/>
        <a:defRPr sz="4400" b="1" i="0" kern="1200">
          <a:solidFill>
            <a:srgbClr val="0020A5"/>
          </a:solidFill>
          <a:latin typeface="Linux Biolinum" panose="02000503000000000000" pitchFamily="2" charset="0"/>
          <a:ea typeface="Linux Biolinum" panose="02000503000000000000" pitchFamily="2" charset="0"/>
          <a:cs typeface="Linux Biolinum" panose="02000503000000000000" pitchFamily="2"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Palatino" pitchFamily="2" charset="77"/>
          <a:ea typeface="Palatino" pitchFamily="2" charset="77"/>
          <a:cs typeface="Roboto" charset="0"/>
        </a:defRPr>
      </a:lvl1pPr>
      <a:lvl2pPr marL="685800" indent="-228600" algn="l" defTabSz="914400" rtl="0" eaLnBrk="1" latinLnBrk="0" hangingPunct="1">
        <a:lnSpc>
          <a:spcPct val="90000"/>
        </a:lnSpc>
        <a:spcBef>
          <a:spcPts val="500"/>
        </a:spcBef>
        <a:buFont typeface="Wingdings" pitchFamily="2" charset="2"/>
        <a:buChar char="§"/>
        <a:defRPr sz="2400" kern="1200">
          <a:solidFill>
            <a:schemeClr val="tx1"/>
          </a:solidFill>
          <a:latin typeface="Palatino" pitchFamily="2" charset="77"/>
          <a:ea typeface="Palatino" pitchFamily="2" charset="77"/>
          <a:cs typeface="Roboto" charset="0"/>
        </a:defRPr>
      </a:lvl2pPr>
      <a:lvl3pPr marL="1143000" indent="-228600" algn="l" defTabSz="914400" rtl="0" eaLnBrk="1" latinLnBrk="0" hangingPunct="1">
        <a:lnSpc>
          <a:spcPct val="90000"/>
        </a:lnSpc>
        <a:spcBef>
          <a:spcPts val="500"/>
        </a:spcBef>
        <a:buFont typeface="Wingdings" pitchFamily="2" charset="2"/>
        <a:buChar char="v"/>
        <a:defRPr sz="2000" kern="1200">
          <a:solidFill>
            <a:schemeClr val="tx1"/>
          </a:solidFill>
          <a:latin typeface="Palatino" pitchFamily="2" charset="77"/>
          <a:ea typeface="Palatino" pitchFamily="2" charset="77"/>
          <a:cs typeface="Roboto" charset="0"/>
        </a:defRPr>
      </a:lvl3pPr>
      <a:lvl4pPr marL="1600200" indent="-228600" algn="l" defTabSz="914400" rtl="0" eaLnBrk="1" latinLnBrk="0" hangingPunct="1">
        <a:lnSpc>
          <a:spcPct val="90000"/>
        </a:lnSpc>
        <a:spcBef>
          <a:spcPts val="500"/>
        </a:spcBef>
        <a:buFont typeface="Wingdings" pitchFamily="2" charset="2"/>
        <a:buChar char="Ø"/>
        <a:defRPr sz="1800" kern="1200">
          <a:solidFill>
            <a:schemeClr val="tx1"/>
          </a:solidFill>
          <a:latin typeface="Palatino" pitchFamily="2" charset="77"/>
          <a:ea typeface="Palatino" pitchFamily="2" charset="77"/>
          <a:cs typeface="Roboto" charset="0"/>
        </a:defRPr>
      </a:lvl4pPr>
      <a:lvl5pPr marL="2057400" indent="-228600" algn="l" defTabSz="914400" rtl="0" eaLnBrk="1" latinLnBrk="0" hangingPunct="1">
        <a:lnSpc>
          <a:spcPct val="90000"/>
        </a:lnSpc>
        <a:spcBef>
          <a:spcPts val="500"/>
        </a:spcBef>
        <a:buFont typeface="Wingdings" pitchFamily="2" charset="2"/>
        <a:buChar char="ü"/>
        <a:defRPr sz="1800" kern="1200">
          <a:solidFill>
            <a:schemeClr val="tx1"/>
          </a:solidFill>
          <a:latin typeface="Palatino" pitchFamily="2" charset="77"/>
          <a:ea typeface="Palatino" pitchFamily="2" charset="77"/>
          <a:cs typeface="Roboto"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xiaoyilu@ufl.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9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gif"/></Relationships>
</file>

<file path=ppt/slides/_rels/slide12.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7.gi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jpeg"/></Relationships>
</file>

<file path=ppt/slides/_rels/slide29.xml.rels><?xml version="1.0" encoding="UTF-8" standalone="yes"?>
<Relationships xmlns="http://schemas.openxmlformats.org/package/2006/relationships"><Relationship Id="rId3" Type="http://schemas.openxmlformats.org/officeDocument/2006/relationships/hyperlink" Target="mailto:xiaoyilu@ufl.edu"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1.jpg"/><Relationship Id="rId4" Type="http://schemas.openxmlformats.org/officeDocument/2006/relationships/hyperlink" Target="http://padsys.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BCA39-E47C-4D54-BFA4-3F4FB16CF484}"/>
              </a:ext>
            </a:extLst>
          </p:cNvPr>
          <p:cNvSpPr>
            <a:spLocks noGrp="1"/>
          </p:cNvSpPr>
          <p:nvPr>
            <p:ph type="ctrTitle"/>
          </p:nvPr>
        </p:nvSpPr>
        <p:spPr>
          <a:xfrm>
            <a:off x="476518" y="1159435"/>
            <a:ext cx="11563081" cy="1398414"/>
          </a:xfrm>
        </p:spPr>
        <p:txBody>
          <a:bodyPr>
            <a:normAutofit fontScale="90000"/>
          </a:bodyPr>
          <a:lstStyle/>
          <a:p>
            <a:r>
              <a:rPr lang="en-US" sz="4400" dirty="0"/>
              <a:t>From Datacenter to Wide Area: Scale-Across</a:t>
            </a:r>
            <a:br>
              <a:rPr lang="en-US" sz="4400" dirty="0"/>
            </a:br>
            <a:r>
              <a:rPr lang="en-US" sz="4400" dirty="0"/>
              <a:t>Federated Learning on Real Long-Haul RDMA</a:t>
            </a:r>
            <a:endParaRPr lang="en-US" sz="4400" b="1" dirty="0">
              <a:solidFill>
                <a:srgbClr val="0020A5"/>
              </a:solidFill>
            </a:endParaRPr>
          </a:p>
        </p:txBody>
      </p:sp>
      <p:sp>
        <p:nvSpPr>
          <p:cNvPr id="3" name="Subtitle 2">
            <a:extLst>
              <a:ext uri="{FF2B5EF4-FFF2-40B4-BE49-F238E27FC236}">
                <a16:creationId xmlns:a16="http://schemas.microsoft.com/office/drawing/2014/main" id="{F66FF1D3-4BBB-44FE-B31B-2EB4BE856809}"/>
              </a:ext>
            </a:extLst>
          </p:cNvPr>
          <p:cNvSpPr>
            <a:spLocks noGrp="1"/>
          </p:cNvSpPr>
          <p:nvPr>
            <p:ph type="subTitle" idx="1"/>
          </p:nvPr>
        </p:nvSpPr>
        <p:spPr>
          <a:xfrm>
            <a:off x="1524000" y="3506502"/>
            <a:ext cx="9144000" cy="1655762"/>
          </a:xfrm>
        </p:spPr>
        <p:txBody>
          <a:bodyPr>
            <a:normAutofit/>
          </a:bodyPr>
          <a:lstStyle/>
          <a:p>
            <a:r>
              <a:rPr lang="en-US" b="1" dirty="0"/>
              <a:t>Zhonghao Chen</a:t>
            </a:r>
            <a:r>
              <a:rPr lang="en-US" altLang="zh-CN" b="1" dirty="0"/>
              <a:t>,</a:t>
            </a:r>
            <a:r>
              <a:rPr lang="zh-CN" altLang="en-US" b="1" dirty="0"/>
              <a:t> </a:t>
            </a:r>
            <a:r>
              <a:rPr lang="en-US" altLang="zh-CN" b="1" dirty="0"/>
              <a:t>Yuke Li, Xiaoyi Lu</a:t>
            </a:r>
            <a:endParaRPr lang="en-US" b="1" dirty="0"/>
          </a:p>
          <a:p>
            <a:r>
              <a:rPr lang="en-US" dirty="0">
                <a:hlinkClick r:id="rId3"/>
              </a:rPr>
              <a:t>{zh.chen, xiaoyilu}@ufl.edu</a:t>
            </a:r>
            <a:r>
              <a:rPr lang="en-US" u="sng" dirty="0"/>
              <a:t>, yli304@ucmerced.edu</a:t>
            </a:r>
          </a:p>
          <a:p>
            <a:endParaRPr lang="en-US" dirty="0"/>
          </a:p>
        </p:txBody>
      </p:sp>
      <p:sp>
        <p:nvSpPr>
          <p:cNvPr id="5" name="Rectangle 4">
            <a:extLst>
              <a:ext uri="{FF2B5EF4-FFF2-40B4-BE49-F238E27FC236}">
                <a16:creationId xmlns:a16="http://schemas.microsoft.com/office/drawing/2014/main" id="{D0CE4E15-DEA5-5E4E-93E9-781A982E7E6C}"/>
              </a:ext>
            </a:extLst>
          </p:cNvPr>
          <p:cNvSpPr/>
          <p:nvPr/>
        </p:nvSpPr>
        <p:spPr>
          <a:xfrm>
            <a:off x="2297667" y="5120226"/>
            <a:ext cx="7879080" cy="1107996"/>
          </a:xfrm>
          <a:prstGeom prst="rect">
            <a:avLst/>
          </a:prstGeom>
        </p:spPr>
        <p:txBody>
          <a:bodyPr wrap="square">
            <a:spAutoFit/>
          </a:bodyPr>
          <a:lstStyle/>
          <a:p>
            <a:pPr algn="ctr"/>
            <a:r>
              <a:rPr lang="en-US" altLang="zh-CN" sz="2200" dirty="0">
                <a:solidFill>
                  <a:srgbClr val="0020A5"/>
                </a:solidFill>
                <a:latin typeface="Palatino" pitchFamily="2" charset="77"/>
                <a:ea typeface="Palatino" pitchFamily="2" charset="77"/>
                <a:cs typeface="Calibri"/>
              </a:rPr>
              <a:t>Parallel and Distributed Systems Laboratory (PADSYS Lab)</a:t>
            </a:r>
          </a:p>
          <a:p>
            <a:pPr algn="ctr"/>
            <a:r>
              <a:rPr lang="en-US" altLang="zh-CN" sz="2200" dirty="0">
                <a:solidFill>
                  <a:srgbClr val="0020A5"/>
                </a:solidFill>
                <a:latin typeface="Palatino" pitchFamily="2" charset="77"/>
                <a:ea typeface="Palatino" pitchFamily="2" charset="77"/>
                <a:cs typeface="Calibri"/>
              </a:rPr>
              <a:t>Department of Electrical &amp; Computer Engineering (ECE)</a:t>
            </a:r>
          </a:p>
          <a:p>
            <a:pPr algn="ctr"/>
            <a:r>
              <a:rPr lang="en-US" altLang="zh-CN" sz="2200" dirty="0">
                <a:solidFill>
                  <a:srgbClr val="0020A5"/>
                </a:solidFill>
                <a:latin typeface="Palatino" pitchFamily="2" charset="77"/>
                <a:ea typeface="Palatino" pitchFamily="2" charset="77"/>
                <a:cs typeface="Calibri"/>
              </a:rPr>
              <a:t>University </a:t>
            </a:r>
            <a:r>
              <a:rPr lang="en-US" altLang="zh-CN" sz="2200" b="0" dirty="0">
                <a:solidFill>
                  <a:srgbClr val="0020A5"/>
                </a:solidFill>
                <a:latin typeface="Palatino" pitchFamily="2" charset="77"/>
                <a:ea typeface="Palatino" pitchFamily="2" charset="77"/>
                <a:cs typeface="Calibri"/>
              </a:rPr>
              <a:t>of Florida (UF)</a:t>
            </a:r>
          </a:p>
        </p:txBody>
      </p:sp>
      <p:sp>
        <p:nvSpPr>
          <p:cNvPr id="7" name="Slide Number Placeholder 6">
            <a:extLst>
              <a:ext uri="{FF2B5EF4-FFF2-40B4-BE49-F238E27FC236}">
                <a16:creationId xmlns:a16="http://schemas.microsoft.com/office/drawing/2014/main" id="{5EA47834-0F1D-8A73-A174-8F682668DD3C}"/>
              </a:ext>
            </a:extLst>
          </p:cNvPr>
          <p:cNvSpPr>
            <a:spLocks noGrp="1"/>
          </p:cNvSpPr>
          <p:nvPr>
            <p:ph type="sldNum" idx="4"/>
          </p:nvPr>
        </p:nvSpPr>
        <p:spPr/>
        <p:txBody>
          <a:bodyPr/>
          <a:lstStyle/>
          <a:p>
            <a:fld id="{00000000-1234-1234-1234-123412341234}" type="slidenum">
              <a:rPr lang="en" smtClean="0"/>
              <a:pPr/>
              <a:t>1</a:t>
            </a:fld>
            <a:endParaRPr lang="en"/>
          </a:p>
        </p:txBody>
      </p:sp>
      <p:sp>
        <p:nvSpPr>
          <p:cNvPr id="8" name="Footer Placeholder 7">
            <a:extLst>
              <a:ext uri="{FF2B5EF4-FFF2-40B4-BE49-F238E27FC236}">
                <a16:creationId xmlns:a16="http://schemas.microsoft.com/office/drawing/2014/main" id="{7F7A40D8-E6F0-E2ED-5A4A-F7FD3D5495A1}"/>
              </a:ext>
            </a:extLst>
          </p:cNvPr>
          <p:cNvSpPr>
            <a:spLocks noGrp="1"/>
          </p:cNvSpPr>
          <p:nvPr>
            <p:ph type="ftr" idx="11"/>
          </p:nvPr>
        </p:nvSpPr>
        <p:spPr/>
        <p:txBody>
          <a:bodyPr/>
          <a:lstStyle/>
          <a:p>
            <a:r>
              <a:rPr lang="en-US" dirty="0"/>
              <a:t>University of Florida</a:t>
            </a:r>
          </a:p>
        </p:txBody>
      </p:sp>
      <p:sp>
        <p:nvSpPr>
          <p:cNvPr id="4" name="Subtitle 2">
            <a:extLst>
              <a:ext uri="{FF2B5EF4-FFF2-40B4-BE49-F238E27FC236}">
                <a16:creationId xmlns:a16="http://schemas.microsoft.com/office/drawing/2014/main" id="{F76AF84B-C988-B4A7-67B1-117ACB5FA7A0}"/>
              </a:ext>
            </a:extLst>
          </p:cNvPr>
          <p:cNvSpPr txBox="1">
            <a:spLocks/>
          </p:cNvSpPr>
          <p:nvPr/>
        </p:nvSpPr>
        <p:spPr>
          <a:xfrm>
            <a:off x="3096959" y="56440"/>
            <a:ext cx="5998080" cy="683689"/>
          </a:xfrm>
          <a:prstGeom prst="rect">
            <a:avLst/>
          </a:prstGeom>
          <a:noFill/>
          <a:ln>
            <a:noFill/>
          </a:ln>
        </p:spPr>
        <p:txBody>
          <a:bodyPr spcFirstLastPara="1" vert="horz" wrap="square" lIns="91425" tIns="45700" rIns="91425" bIns="45700" rtlCol="0" anchor="t" anchorCtr="0">
            <a:normAutofit/>
          </a:bodyPr>
          <a:lstStyle>
            <a:lvl1pPr marL="228600" lvl="0" indent="-228600" algn="ctr" defTabSz="914400" rtl="0" eaLnBrk="1" latinLnBrk="0" hangingPunct="1">
              <a:lnSpc>
                <a:spcPct val="90000"/>
              </a:lnSpc>
              <a:spcBef>
                <a:spcPts val="1000"/>
              </a:spcBef>
              <a:spcAft>
                <a:spcPts val="0"/>
              </a:spcAft>
              <a:buClr>
                <a:schemeClr val="dk1"/>
              </a:buClr>
              <a:buSzPts val="2400"/>
              <a:buFont typeface="Arial"/>
              <a:buNone/>
              <a:defRPr sz="2400" kern="1200">
                <a:solidFill>
                  <a:schemeClr val="tx1"/>
                </a:solidFill>
                <a:latin typeface="+mn-lt"/>
                <a:ea typeface="Roboto" charset="0"/>
                <a:cs typeface="Roboto" charset="0"/>
              </a:defRPr>
            </a:lvl1pPr>
            <a:lvl2pPr marL="685800" lvl="1" indent="-228600" algn="ctr" defTabSz="914400" rtl="0" eaLnBrk="1" latinLnBrk="0" hangingPunct="1">
              <a:lnSpc>
                <a:spcPct val="90000"/>
              </a:lnSpc>
              <a:spcBef>
                <a:spcPts val="500"/>
              </a:spcBef>
              <a:spcAft>
                <a:spcPts val="0"/>
              </a:spcAft>
              <a:buClr>
                <a:schemeClr val="dk1"/>
              </a:buClr>
              <a:buSzPts val="2000"/>
              <a:buFont typeface="Wingdings" pitchFamily="2" charset="2"/>
              <a:buNone/>
              <a:defRPr sz="2000" kern="1200">
                <a:solidFill>
                  <a:schemeClr val="tx1"/>
                </a:solidFill>
                <a:latin typeface="+mn-lt"/>
                <a:ea typeface="Roboto" charset="0"/>
                <a:cs typeface="Roboto" charset="0"/>
              </a:defRPr>
            </a:lvl2pPr>
            <a:lvl3pPr marL="1143000" lvl="2" indent="-228600" algn="ctr" defTabSz="914400" rtl="0" eaLnBrk="1" latinLnBrk="0" hangingPunct="1">
              <a:lnSpc>
                <a:spcPct val="90000"/>
              </a:lnSpc>
              <a:spcBef>
                <a:spcPts val="500"/>
              </a:spcBef>
              <a:spcAft>
                <a:spcPts val="0"/>
              </a:spcAft>
              <a:buClr>
                <a:schemeClr val="dk1"/>
              </a:buClr>
              <a:buSzPts val="1800"/>
              <a:buFont typeface="Wingdings" pitchFamily="2" charset="2"/>
              <a:buNone/>
              <a:defRPr sz="1800" kern="1200">
                <a:solidFill>
                  <a:schemeClr val="tx1"/>
                </a:solidFill>
                <a:latin typeface="+mn-lt"/>
                <a:ea typeface="Roboto" charset="0"/>
                <a:cs typeface="Roboto" charset="0"/>
              </a:defRPr>
            </a:lvl3pPr>
            <a:lvl4pPr marL="1600200" lvl="3" indent="-228600" algn="ctr" defTabSz="914400" rtl="0" eaLnBrk="1" latinLnBrk="0" hangingPunct="1">
              <a:lnSpc>
                <a:spcPct val="90000"/>
              </a:lnSpc>
              <a:spcBef>
                <a:spcPts val="500"/>
              </a:spcBef>
              <a:spcAft>
                <a:spcPts val="0"/>
              </a:spcAft>
              <a:buClr>
                <a:schemeClr val="dk1"/>
              </a:buClr>
              <a:buSzPts val="1600"/>
              <a:buFont typeface="Wingdings" pitchFamily="2" charset="2"/>
              <a:buNone/>
              <a:defRPr sz="1600" kern="1200">
                <a:solidFill>
                  <a:schemeClr val="tx1"/>
                </a:solidFill>
                <a:latin typeface="+mn-lt"/>
                <a:ea typeface="Roboto" charset="0"/>
                <a:cs typeface="Roboto" charset="0"/>
              </a:defRPr>
            </a:lvl4pPr>
            <a:lvl5pPr marL="2057400" lvl="4" indent="-228600" algn="ctr" defTabSz="914400" rtl="0" eaLnBrk="1" latinLnBrk="0" hangingPunct="1">
              <a:lnSpc>
                <a:spcPct val="90000"/>
              </a:lnSpc>
              <a:spcBef>
                <a:spcPts val="500"/>
              </a:spcBef>
              <a:spcAft>
                <a:spcPts val="0"/>
              </a:spcAft>
              <a:buClr>
                <a:schemeClr val="dk1"/>
              </a:buClr>
              <a:buSzPts val="1600"/>
              <a:buFont typeface="Wingdings" pitchFamily="2" charset="2"/>
              <a:buNone/>
              <a:defRPr sz="1600" kern="1200">
                <a:solidFill>
                  <a:schemeClr val="tx1"/>
                </a:solidFill>
                <a:latin typeface="+mn-lt"/>
                <a:ea typeface="Roboto" charset="0"/>
                <a:cs typeface="Roboto" charset="0"/>
              </a:defRPr>
            </a:lvl5pPr>
            <a:lvl6pPr marL="2514600" lvl="5" indent="-228600" algn="ctr" defTabSz="914400" rtl="0" eaLnBrk="1" latinLnBrk="0" hangingPunct="1">
              <a:lnSpc>
                <a:spcPct val="90000"/>
              </a:lnSpc>
              <a:spcBef>
                <a:spcPts val="500"/>
              </a:spcBef>
              <a:spcAft>
                <a:spcPts val="0"/>
              </a:spcAft>
              <a:buClr>
                <a:schemeClr val="dk1"/>
              </a:buClr>
              <a:buSzPts val="1600"/>
              <a:buFont typeface="Arial"/>
              <a:buNone/>
              <a:defRPr sz="1600" kern="1200">
                <a:solidFill>
                  <a:schemeClr val="tx1"/>
                </a:solidFill>
                <a:latin typeface="+mn-lt"/>
                <a:ea typeface="+mn-ea"/>
                <a:cs typeface="+mn-cs"/>
              </a:defRPr>
            </a:lvl6pPr>
            <a:lvl7pPr marL="2971800" lvl="6" indent="-228600" algn="ctr" defTabSz="914400" rtl="0" eaLnBrk="1" latinLnBrk="0" hangingPunct="1">
              <a:lnSpc>
                <a:spcPct val="90000"/>
              </a:lnSpc>
              <a:spcBef>
                <a:spcPts val="500"/>
              </a:spcBef>
              <a:spcAft>
                <a:spcPts val="0"/>
              </a:spcAft>
              <a:buClr>
                <a:schemeClr val="dk1"/>
              </a:buClr>
              <a:buSzPts val="1600"/>
              <a:buFont typeface="Arial"/>
              <a:buNone/>
              <a:defRPr sz="1600" kern="1200">
                <a:solidFill>
                  <a:schemeClr val="tx1"/>
                </a:solidFill>
                <a:latin typeface="+mn-lt"/>
                <a:ea typeface="+mn-ea"/>
                <a:cs typeface="+mn-cs"/>
              </a:defRPr>
            </a:lvl7pPr>
            <a:lvl8pPr marL="3429000" lvl="7" indent="-228600" algn="ctr" defTabSz="914400" rtl="0" eaLnBrk="1" latinLnBrk="0" hangingPunct="1">
              <a:lnSpc>
                <a:spcPct val="90000"/>
              </a:lnSpc>
              <a:spcBef>
                <a:spcPts val="500"/>
              </a:spcBef>
              <a:spcAft>
                <a:spcPts val="0"/>
              </a:spcAft>
              <a:buClr>
                <a:schemeClr val="dk1"/>
              </a:buClr>
              <a:buSzPts val="1600"/>
              <a:buFont typeface="Arial"/>
              <a:buNone/>
              <a:defRPr sz="1600" kern="1200">
                <a:solidFill>
                  <a:schemeClr val="tx1"/>
                </a:solidFill>
                <a:latin typeface="+mn-lt"/>
                <a:ea typeface="+mn-ea"/>
                <a:cs typeface="+mn-cs"/>
              </a:defRPr>
            </a:lvl8pPr>
            <a:lvl9pPr marL="3886200" lvl="8" indent="-228600" algn="ctr" defTabSz="914400" rtl="0" eaLnBrk="1" latinLnBrk="0" hangingPunct="1">
              <a:lnSpc>
                <a:spcPct val="90000"/>
              </a:lnSpc>
              <a:spcBef>
                <a:spcPts val="500"/>
              </a:spcBef>
              <a:spcAft>
                <a:spcPts val="0"/>
              </a:spcAft>
              <a:buClr>
                <a:schemeClr val="dk1"/>
              </a:buClr>
              <a:buSzPts val="1600"/>
              <a:buFont typeface="Arial"/>
              <a:buNone/>
              <a:defRPr sz="1600" kern="1200">
                <a:solidFill>
                  <a:schemeClr val="tx1"/>
                </a:solidFill>
                <a:latin typeface="+mn-lt"/>
                <a:ea typeface="+mn-ea"/>
                <a:cs typeface="+mn-cs"/>
              </a:defRPr>
            </a:lvl9pPr>
          </a:lstStyle>
          <a:p>
            <a:r>
              <a:rPr lang="en-US" sz="1600" b="1" i="1" dirty="0"/>
              <a:t>The 33rd IEEE Hot Interconnects Symposium (HOTI ‘26)</a:t>
            </a:r>
          </a:p>
        </p:txBody>
      </p:sp>
    </p:spTree>
    <p:extLst>
      <p:ext uri="{BB962C8B-B14F-4D97-AF65-F5344CB8AC3E}">
        <p14:creationId xmlns:p14="http://schemas.microsoft.com/office/powerpoint/2010/main" val="41117754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5D6BA-CA9B-B9D2-4CF6-5FC401A06D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17C7D9-0AE7-0BEF-8182-579E7550B1BD}"/>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30B8ABC5-74DC-1AE1-A8E8-44D7E6096C49}"/>
              </a:ext>
            </a:extLst>
          </p:cNvPr>
          <p:cNvSpPr>
            <a:spLocks noGrp="1"/>
          </p:cNvSpPr>
          <p:nvPr>
            <p:ph idx="1"/>
          </p:nvPr>
        </p:nvSpPr>
        <p:spPr/>
        <p:txBody>
          <a:bodyPr/>
          <a:lstStyle/>
          <a:p>
            <a:r>
              <a:rPr lang="en-US" dirty="0">
                <a:solidFill>
                  <a:srgbClr val="C00000"/>
                </a:solidFill>
              </a:rPr>
              <a:t>Background and Motivation</a:t>
            </a:r>
          </a:p>
          <a:p>
            <a:r>
              <a:rPr lang="en-US" dirty="0"/>
              <a:t>Bottleneck Analysis</a:t>
            </a:r>
          </a:p>
          <a:p>
            <a:r>
              <a:rPr lang="en-US" dirty="0"/>
              <a:t>System Co-Design</a:t>
            </a:r>
          </a:p>
          <a:p>
            <a:r>
              <a:rPr lang="en-US" dirty="0"/>
              <a:t>Evaluation</a:t>
            </a:r>
          </a:p>
          <a:p>
            <a:r>
              <a:rPr lang="en-US" dirty="0"/>
              <a:t>Conclusion and Acknowledgments</a:t>
            </a:r>
          </a:p>
        </p:txBody>
      </p:sp>
      <p:sp>
        <p:nvSpPr>
          <p:cNvPr id="5" name="Slide Number Placeholder 4">
            <a:extLst>
              <a:ext uri="{FF2B5EF4-FFF2-40B4-BE49-F238E27FC236}">
                <a16:creationId xmlns:a16="http://schemas.microsoft.com/office/drawing/2014/main" id="{E1140CEB-3D6D-ACCC-4B21-83734AC7CF4E}"/>
              </a:ext>
            </a:extLst>
          </p:cNvPr>
          <p:cNvSpPr>
            <a:spLocks noGrp="1"/>
          </p:cNvSpPr>
          <p:nvPr>
            <p:ph type="sldNum" idx="12"/>
          </p:nvPr>
        </p:nvSpPr>
        <p:spPr/>
        <p:txBody>
          <a:bodyPr/>
          <a:lstStyle/>
          <a:p>
            <a:fld id="{00000000-1234-1234-1234-123412341234}" type="slidenum">
              <a:rPr lang="en" smtClean="0"/>
              <a:pPr/>
              <a:t>2</a:t>
            </a:fld>
            <a:endParaRPr lang="en"/>
          </a:p>
        </p:txBody>
      </p:sp>
      <p:sp>
        <p:nvSpPr>
          <p:cNvPr id="6" name="Footer Placeholder 7">
            <a:extLst>
              <a:ext uri="{FF2B5EF4-FFF2-40B4-BE49-F238E27FC236}">
                <a16:creationId xmlns:a16="http://schemas.microsoft.com/office/drawing/2014/main" id="{E7AC015C-DB6B-A7AD-203D-703ABA1B9744}"/>
              </a:ext>
            </a:extLst>
          </p:cNvPr>
          <p:cNvSpPr>
            <a:spLocks noGrp="1"/>
          </p:cNvSpPr>
          <p:nvPr>
            <p:ph type="ftr" idx="11"/>
          </p:nvPr>
        </p:nvSpPr>
        <p:spPr>
          <a:xfrm>
            <a:off x="4657345" y="6542142"/>
            <a:ext cx="4049335" cy="301758"/>
          </a:xfrm>
        </p:spPr>
        <p:txBody>
          <a:bodyPr/>
          <a:lstStyle/>
          <a:p>
            <a:r>
              <a:rPr lang="en-US" dirty="0"/>
              <a:t>University of Florida</a:t>
            </a:r>
          </a:p>
        </p:txBody>
      </p:sp>
      <p:sp>
        <p:nvSpPr>
          <p:cNvPr id="7" name="TextBox 6">
            <a:extLst>
              <a:ext uri="{FF2B5EF4-FFF2-40B4-BE49-F238E27FC236}">
                <a16:creationId xmlns:a16="http://schemas.microsoft.com/office/drawing/2014/main" id="{0119DA33-0568-BFC6-4D4C-D80F05A80D6E}"/>
              </a:ext>
            </a:extLst>
          </p:cNvPr>
          <p:cNvSpPr txBox="1"/>
          <p:nvPr/>
        </p:nvSpPr>
        <p:spPr>
          <a:xfrm>
            <a:off x="2898164" y="4840753"/>
            <a:ext cx="6825699" cy="830997"/>
          </a:xfrm>
          <a:prstGeom prst="rect">
            <a:avLst/>
          </a:prstGeom>
          <a:noFill/>
        </p:spPr>
        <p:txBody>
          <a:bodyPr wrap="square" rtlCol="0">
            <a:spAutoFit/>
          </a:bodyPr>
          <a:lstStyle/>
          <a:p>
            <a:r>
              <a:rPr lang="zh-CN" altLang="en-US" sz="2400" i="1" dirty="0">
                <a:latin typeface="Palatino" pitchFamily="2" charset="77"/>
                <a:ea typeface="Palatino" pitchFamily="2" charset="77"/>
              </a:rPr>
              <a:t>“</a:t>
            </a:r>
            <a:r>
              <a:rPr lang="en-US" altLang="zh-CN" sz="2400" i="1" dirty="0">
                <a:latin typeface="Palatino" pitchFamily="2" charset="77"/>
                <a:ea typeface="Palatino" pitchFamily="2" charset="77"/>
              </a:rPr>
              <a:t>L</a:t>
            </a:r>
            <a:r>
              <a:rPr lang="en-US" sz="2400" i="1" dirty="0">
                <a:latin typeface="Palatino" pitchFamily="2" charset="77"/>
                <a:ea typeface="Palatino" pitchFamily="2" charset="77"/>
              </a:rPr>
              <a:t>ong-haul RDMA can accelerate FL</a:t>
            </a:r>
            <a:r>
              <a:rPr lang="en-US" altLang="zh-CN" sz="2400" i="1" dirty="0">
                <a:latin typeface="Palatino" pitchFamily="2" charset="77"/>
                <a:ea typeface="Palatino" pitchFamily="2" charset="77"/>
              </a:rPr>
              <a:t>,</a:t>
            </a:r>
            <a:r>
              <a:rPr lang="zh-CN" altLang="en-US" sz="2400" i="1" dirty="0">
                <a:latin typeface="Palatino" pitchFamily="2" charset="77"/>
                <a:ea typeface="Palatino" pitchFamily="2" charset="77"/>
              </a:rPr>
              <a:t> </a:t>
            </a:r>
            <a:r>
              <a:rPr lang="en-US" altLang="zh-CN" sz="2400" i="1" dirty="0">
                <a:latin typeface="Palatino" pitchFamily="2" charset="77"/>
                <a:ea typeface="Palatino" pitchFamily="2" charset="77"/>
              </a:rPr>
              <a:t>but only with </a:t>
            </a:r>
            <a:r>
              <a:rPr lang="en-US" sz="2400" i="1" dirty="0">
                <a:latin typeface="Palatino" pitchFamily="2" charset="77"/>
                <a:ea typeface="Palatino" pitchFamily="2" charset="77"/>
              </a:rPr>
              <a:t>transport co-designed with the FL algorithms.</a:t>
            </a:r>
            <a:r>
              <a:rPr lang="zh-CN" altLang="en-US" sz="2400" i="1" dirty="0">
                <a:latin typeface="Palatino" pitchFamily="2" charset="77"/>
                <a:ea typeface="Palatino" pitchFamily="2" charset="77"/>
              </a:rPr>
              <a:t>”</a:t>
            </a:r>
            <a:endParaRPr lang="en-GB" sz="2400" i="1" dirty="0">
              <a:latin typeface="Palatino" pitchFamily="2" charset="77"/>
              <a:ea typeface="Palatino" pitchFamily="2" charset="77"/>
            </a:endParaRPr>
          </a:p>
        </p:txBody>
      </p:sp>
    </p:spTree>
    <p:extLst>
      <p:ext uri="{BB962C8B-B14F-4D97-AF65-F5344CB8AC3E}">
        <p14:creationId xmlns:p14="http://schemas.microsoft.com/office/powerpoint/2010/main" val="642708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Federated-Learning-(1)">
            <a:extLst>
              <a:ext uri="{FF2B5EF4-FFF2-40B4-BE49-F238E27FC236}">
                <a16:creationId xmlns:a16="http://schemas.microsoft.com/office/drawing/2014/main" id="{1F4040BD-0083-89EA-BA5A-1FAAC5B1AA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5514" y="3290127"/>
            <a:ext cx="4510187" cy="294498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D94936C-9AE7-7749-6325-581BA45F9385}"/>
              </a:ext>
            </a:extLst>
          </p:cNvPr>
          <p:cNvSpPr>
            <a:spLocks noGrp="1"/>
          </p:cNvSpPr>
          <p:nvPr>
            <p:ph type="title"/>
          </p:nvPr>
        </p:nvSpPr>
        <p:spPr/>
        <p:txBody>
          <a:bodyPr/>
          <a:lstStyle/>
          <a:p>
            <a:r>
              <a:rPr lang="en-US" dirty="0"/>
              <a:t>Federated Learning Introduction</a:t>
            </a:r>
          </a:p>
        </p:txBody>
      </p:sp>
      <p:sp>
        <p:nvSpPr>
          <p:cNvPr id="3" name="Content Placeholder 2">
            <a:extLst>
              <a:ext uri="{FF2B5EF4-FFF2-40B4-BE49-F238E27FC236}">
                <a16:creationId xmlns:a16="http://schemas.microsoft.com/office/drawing/2014/main" id="{661B9477-59F2-4C46-2B84-C83A4CD8490D}"/>
              </a:ext>
            </a:extLst>
          </p:cNvPr>
          <p:cNvSpPr>
            <a:spLocks noGrp="1"/>
          </p:cNvSpPr>
          <p:nvPr>
            <p:ph idx="1"/>
          </p:nvPr>
        </p:nvSpPr>
        <p:spPr/>
        <p:txBody>
          <a:bodyPr/>
          <a:lstStyle/>
          <a:p>
            <a:r>
              <a:rPr lang="en-GB" dirty="0"/>
              <a:t>Federated Learning (FL)</a:t>
            </a:r>
            <a:r>
              <a:rPr lang="zh-CN" altLang="en-US" dirty="0"/>
              <a:t> </a:t>
            </a:r>
            <a:r>
              <a:rPr lang="en-US" altLang="zh-CN" dirty="0"/>
              <a:t>enables private collaborative training</a:t>
            </a:r>
            <a:endParaRPr lang="en-GB" dirty="0"/>
          </a:p>
          <a:p>
            <a:pPr lvl="1"/>
            <a:r>
              <a:rPr lang="en-GB" dirty="0"/>
              <a:t>Clients train locally and send model updates to a central server.</a:t>
            </a:r>
          </a:p>
          <a:p>
            <a:pPr lvl="1"/>
            <a:r>
              <a:rPr lang="en-GB" dirty="0"/>
              <a:t>The server aggregates client updates into a new global model.</a:t>
            </a:r>
          </a:p>
          <a:p>
            <a:pPr lvl="1"/>
            <a:r>
              <a:rPr lang="en-US" b="1" i="1" dirty="0"/>
              <a:t>Scaling law: The larger of the scale (#Clients, model, etc.), the better.</a:t>
            </a:r>
          </a:p>
          <a:p>
            <a:r>
              <a:rPr lang="en-US" dirty="0"/>
              <a:t>The scaling problem within the FL paradigm</a:t>
            </a:r>
          </a:p>
          <a:p>
            <a:pPr lvl="1"/>
            <a:r>
              <a:rPr lang="en-US" dirty="0"/>
              <a:t>Clients from </a:t>
            </a:r>
            <a:r>
              <a:rPr lang="en-US" b="1" dirty="0"/>
              <a:t>geographically distant</a:t>
            </a:r>
            <a:r>
              <a:rPr lang="en-US" dirty="0"/>
              <a:t> sites</a:t>
            </a:r>
          </a:p>
          <a:p>
            <a:pPr lvl="1"/>
            <a:r>
              <a:rPr lang="en-US" dirty="0"/>
              <a:t>Larger models raising </a:t>
            </a:r>
            <a:r>
              <a:rPr lang="en-US" b="1" dirty="0"/>
              <a:t>communication challenges</a:t>
            </a:r>
            <a:endParaRPr lang="en-US" dirty="0"/>
          </a:p>
          <a:p>
            <a:pPr lvl="1"/>
            <a:r>
              <a:rPr lang="en-US" b="1" i="1" dirty="0"/>
              <a:t>FL becomes a wide-area communication </a:t>
            </a:r>
            <a:br>
              <a:rPr lang="en-US" b="1" i="1" dirty="0"/>
            </a:br>
            <a:r>
              <a:rPr lang="en-US" b="1" i="1" dirty="0"/>
              <a:t>problem.</a:t>
            </a:r>
          </a:p>
        </p:txBody>
      </p:sp>
      <p:sp>
        <p:nvSpPr>
          <p:cNvPr id="4" name="Footer Placeholder 3">
            <a:extLst>
              <a:ext uri="{FF2B5EF4-FFF2-40B4-BE49-F238E27FC236}">
                <a16:creationId xmlns:a16="http://schemas.microsoft.com/office/drawing/2014/main" id="{49A6E5BB-B654-FE1C-D355-C0E00A838D24}"/>
              </a:ext>
            </a:extLst>
          </p:cNvPr>
          <p:cNvSpPr>
            <a:spLocks noGrp="1"/>
          </p:cNvSpPr>
          <p:nvPr>
            <p:ph type="ftr" idx="11"/>
          </p:nvPr>
        </p:nvSpPr>
        <p:spPr/>
        <p:txBody>
          <a:bodyPr/>
          <a:lstStyle/>
          <a:p>
            <a:r>
              <a:rPr lang="en-US" dirty="0"/>
              <a:t>University of Florida</a:t>
            </a:r>
          </a:p>
        </p:txBody>
      </p:sp>
      <p:sp>
        <p:nvSpPr>
          <p:cNvPr id="5" name="Slide Number Placeholder 4">
            <a:extLst>
              <a:ext uri="{FF2B5EF4-FFF2-40B4-BE49-F238E27FC236}">
                <a16:creationId xmlns:a16="http://schemas.microsoft.com/office/drawing/2014/main" id="{9693F78A-302E-0954-FAE2-9496BCEE2494}"/>
              </a:ext>
            </a:extLst>
          </p:cNvPr>
          <p:cNvSpPr>
            <a:spLocks noGrp="1"/>
          </p:cNvSpPr>
          <p:nvPr>
            <p:ph type="sldNum" idx="12"/>
          </p:nvPr>
        </p:nvSpPr>
        <p:spPr/>
        <p:txBody>
          <a:bodyPr/>
          <a:lstStyle/>
          <a:p>
            <a:fld id="{00000000-1234-1234-1234-123412341234}" type="slidenum">
              <a:rPr lang="en" smtClean="0"/>
              <a:pPr/>
              <a:t>3</a:t>
            </a:fld>
            <a:endParaRPr lang="en"/>
          </a:p>
        </p:txBody>
      </p:sp>
    </p:spTree>
    <p:extLst>
      <p:ext uri="{BB962C8B-B14F-4D97-AF65-F5344CB8AC3E}">
        <p14:creationId xmlns:p14="http://schemas.microsoft.com/office/powerpoint/2010/main" val="1884053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fade">
                                      <p:cBhvr>
                                        <p:cTn id="15" dur="500"/>
                                        <p:tgtEl>
                                          <p:spTgt spid="3">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fade">
                                      <p:cBhvr>
                                        <p:cTn id="2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CE338-CF9F-6031-C394-535B94CB256C}"/>
              </a:ext>
            </a:extLst>
          </p:cNvPr>
          <p:cNvSpPr>
            <a:spLocks noGrp="1"/>
          </p:cNvSpPr>
          <p:nvPr>
            <p:ph type="title"/>
          </p:nvPr>
        </p:nvSpPr>
        <p:spPr/>
        <p:txBody>
          <a:bodyPr/>
          <a:lstStyle/>
          <a:p>
            <a:r>
              <a:rPr lang="en-GB" dirty="0"/>
              <a:t>FL Algorithms</a:t>
            </a:r>
          </a:p>
        </p:txBody>
      </p:sp>
      <p:sp>
        <p:nvSpPr>
          <p:cNvPr id="3" name="Content Placeholder 2">
            <a:extLst>
              <a:ext uri="{FF2B5EF4-FFF2-40B4-BE49-F238E27FC236}">
                <a16:creationId xmlns:a16="http://schemas.microsoft.com/office/drawing/2014/main" id="{D864F949-3906-BE43-7523-23AF1F6DC0E9}"/>
              </a:ext>
            </a:extLst>
          </p:cNvPr>
          <p:cNvSpPr>
            <a:spLocks noGrp="1"/>
          </p:cNvSpPr>
          <p:nvPr>
            <p:ph idx="1"/>
          </p:nvPr>
        </p:nvSpPr>
        <p:spPr/>
        <p:txBody>
          <a:bodyPr/>
          <a:lstStyle/>
          <a:p>
            <a:r>
              <a:rPr lang="en-GB" dirty="0"/>
              <a:t>Synchronous</a:t>
            </a:r>
            <a:r>
              <a:rPr lang="zh-CN" altLang="en-US" dirty="0"/>
              <a:t> </a:t>
            </a:r>
            <a:r>
              <a:rPr lang="en-US" altLang="zh-CN" dirty="0"/>
              <a:t>algorithm</a:t>
            </a:r>
            <a:endParaRPr lang="en-GB" altLang="zh-CN" dirty="0"/>
          </a:p>
          <a:p>
            <a:pPr lvl="1"/>
            <a:r>
              <a:rPr lang="en-GB" dirty="0"/>
              <a:t>Strict barrier before aggregation</a:t>
            </a:r>
          </a:p>
          <a:p>
            <a:pPr lvl="1"/>
            <a:r>
              <a:rPr lang="en-GB" dirty="0"/>
              <a:t>Ensure consistency, suffer from stragglers</a:t>
            </a:r>
          </a:p>
          <a:p>
            <a:r>
              <a:rPr lang="en-GB" dirty="0"/>
              <a:t>Asynchronous</a:t>
            </a:r>
          </a:p>
          <a:p>
            <a:pPr lvl="1"/>
            <a:r>
              <a:rPr lang="en-GB" dirty="0"/>
              <a:t>Aggregate whenever the client returns</a:t>
            </a:r>
          </a:p>
          <a:p>
            <a:pPr lvl="1"/>
            <a:r>
              <a:rPr lang="en-GB" dirty="0"/>
              <a:t>Suffer from stale update</a:t>
            </a:r>
          </a:p>
          <a:p>
            <a:r>
              <a:rPr lang="en-GB" dirty="0"/>
              <a:t>Semi-asynchronous</a:t>
            </a:r>
          </a:p>
          <a:p>
            <a:pPr lvl="1"/>
            <a:r>
              <a:rPr lang="en-GB" dirty="0"/>
              <a:t>Partial synchronization</a:t>
            </a:r>
          </a:p>
          <a:p>
            <a:pPr lvl="1"/>
            <a:r>
              <a:rPr lang="en-GB" dirty="0"/>
              <a:t>Group by metrics </a:t>
            </a:r>
            <a:br>
              <a:rPr lang="en-GB" dirty="0"/>
            </a:br>
            <a:r>
              <a:rPr lang="en-GB" dirty="0"/>
              <a:t>(model similarity, training speed)</a:t>
            </a:r>
          </a:p>
          <a:p>
            <a:endParaRPr lang="en-GB" dirty="0"/>
          </a:p>
        </p:txBody>
      </p:sp>
      <p:sp>
        <p:nvSpPr>
          <p:cNvPr id="5" name="Slide Number Placeholder 4">
            <a:extLst>
              <a:ext uri="{FF2B5EF4-FFF2-40B4-BE49-F238E27FC236}">
                <a16:creationId xmlns:a16="http://schemas.microsoft.com/office/drawing/2014/main" id="{16D4FBB7-4085-8393-BDBE-AEF9346E37C7}"/>
              </a:ext>
            </a:extLst>
          </p:cNvPr>
          <p:cNvSpPr>
            <a:spLocks noGrp="1"/>
          </p:cNvSpPr>
          <p:nvPr>
            <p:ph type="sldNum" idx="12"/>
          </p:nvPr>
        </p:nvSpPr>
        <p:spPr/>
        <p:txBody>
          <a:bodyPr/>
          <a:lstStyle/>
          <a:p>
            <a:fld id="{00000000-1234-1234-1234-123412341234}" type="slidenum">
              <a:rPr lang="en" smtClean="0"/>
              <a:pPr/>
              <a:t>4</a:t>
            </a:fld>
            <a:endParaRPr lang="en">
              <a:latin typeface="Palatino" pitchFamily="2" charset="77"/>
              <a:ea typeface="Palatino" pitchFamily="2" charset="77"/>
            </a:endParaRPr>
          </a:p>
        </p:txBody>
      </p:sp>
      <p:pic>
        <p:nvPicPr>
          <p:cNvPr id="6" name="Picture 2" descr="Synchronous federated learning and asynchronous federated learning">
            <a:extLst>
              <a:ext uri="{FF2B5EF4-FFF2-40B4-BE49-F238E27FC236}">
                <a16:creationId xmlns:a16="http://schemas.microsoft.com/office/drawing/2014/main" id="{2DEE8AB9-E2DA-76CD-FA6B-C2E135D151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8416" y="898403"/>
            <a:ext cx="4703584" cy="2811083"/>
          </a:xfrm>
          <a:prstGeom prst="rect">
            <a:avLst/>
          </a:prstGeom>
          <a:noFill/>
          <a:extLst>
            <a:ext uri="{909E8E84-426E-40DD-AFC4-6F175D3DCCD1}">
              <a14:hiddenFill xmlns:a14="http://schemas.microsoft.com/office/drawing/2010/main">
                <a:solidFill>
                  <a:srgbClr val="FFFFFF"/>
                </a:solidFill>
              </a14:hiddenFill>
            </a:ext>
          </a:extLst>
        </p:spPr>
      </p:pic>
      <p:sp>
        <p:nvSpPr>
          <p:cNvPr id="9" name="Footer Placeholder 7">
            <a:extLst>
              <a:ext uri="{FF2B5EF4-FFF2-40B4-BE49-F238E27FC236}">
                <a16:creationId xmlns:a16="http://schemas.microsoft.com/office/drawing/2014/main" id="{B962BDBF-286E-EF87-2CBB-FA0A2B88E595}"/>
              </a:ext>
            </a:extLst>
          </p:cNvPr>
          <p:cNvSpPr>
            <a:spLocks noGrp="1"/>
          </p:cNvSpPr>
          <p:nvPr>
            <p:ph type="ftr" idx="11"/>
          </p:nvPr>
        </p:nvSpPr>
        <p:spPr/>
        <p:txBody>
          <a:bodyPr/>
          <a:lstStyle/>
          <a:p>
            <a:r>
              <a:rPr lang="en-US" dirty="0"/>
              <a:t>University of Florida</a:t>
            </a:r>
          </a:p>
        </p:txBody>
      </p:sp>
      <p:grpSp>
        <p:nvGrpSpPr>
          <p:cNvPr id="22" name="Group 21">
            <a:extLst>
              <a:ext uri="{FF2B5EF4-FFF2-40B4-BE49-F238E27FC236}">
                <a16:creationId xmlns:a16="http://schemas.microsoft.com/office/drawing/2014/main" id="{36BC6AEA-D393-C41E-5AA5-C5EB86F2389D}"/>
              </a:ext>
            </a:extLst>
          </p:cNvPr>
          <p:cNvGrpSpPr/>
          <p:nvPr/>
        </p:nvGrpSpPr>
        <p:grpSpPr>
          <a:xfrm>
            <a:off x="8551515" y="4009453"/>
            <a:ext cx="2577385" cy="2128450"/>
            <a:chOff x="7292947" y="4262034"/>
            <a:chExt cx="2577385" cy="2128450"/>
          </a:xfrm>
        </p:grpSpPr>
        <p:pic>
          <p:nvPicPr>
            <p:cNvPr id="10" name="Picture 2" descr="Synchronous federated learning and asynchronous federated learning">
              <a:extLst>
                <a:ext uri="{FF2B5EF4-FFF2-40B4-BE49-F238E27FC236}">
                  <a16:creationId xmlns:a16="http://schemas.microsoft.com/office/drawing/2014/main" id="{FCEDC151-39F1-43A8-BFEB-C5B623912B4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1127" r="52625" b="18485"/>
            <a:stretch>
              <a:fillRect/>
            </a:stretch>
          </p:blipFill>
          <p:spPr bwMode="auto">
            <a:xfrm>
              <a:off x="7292947" y="4262034"/>
              <a:ext cx="2228323" cy="1697563"/>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a:extLst>
                <a:ext uri="{FF2B5EF4-FFF2-40B4-BE49-F238E27FC236}">
                  <a16:creationId xmlns:a16="http://schemas.microsoft.com/office/drawing/2014/main" id="{E38B4728-DE19-8CE4-AE2E-F8398CB88065}"/>
                </a:ext>
              </a:extLst>
            </p:cNvPr>
            <p:cNvCxnSpPr>
              <a:cxnSpLocks/>
            </p:cNvCxnSpPr>
            <p:nvPr/>
          </p:nvCxnSpPr>
          <p:spPr>
            <a:xfrm>
              <a:off x="8948695" y="4545686"/>
              <a:ext cx="0" cy="1222619"/>
            </a:xfrm>
            <a:prstGeom prst="line">
              <a:avLst/>
            </a:prstGeom>
            <a:ln w="127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Rectangle 15">
              <a:extLst>
                <a:ext uri="{FF2B5EF4-FFF2-40B4-BE49-F238E27FC236}">
                  <a16:creationId xmlns:a16="http://schemas.microsoft.com/office/drawing/2014/main" id="{C4C54EBE-5CB9-57E5-01CC-300C7B508CC9}"/>
                </a:ext>
              </a:extLst>
            </p:cNvPr>
            <p:cNvSpPr/>
            <p:nvPr/>
          </p:nvSpPr>
          <p:spPr>
            <a:xfrm>
              <a:off x="8955045" y="5229224"/>
              <a:ext cx="176250" cy="117475"/>
            </a:xfrm>
            <a:prstGeom prst="rect">
              <a:avLst/>
            </a:prstGeom>
            <a:solidFill>
              <a:srgbClr val="98B1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5ADD25F1-DBBA-1BFC-8CAD-651097371337}"/>
                </a:ext>
              </a:extLst>
            </p:cNvPr>
            <p:cNvSpPr/>
            <p:nvPr/>
          </p:nvSpPr>
          <p:spPr>
            <a:xfrm>
              <a:off x="8955045" y="5613012"/>
              <a:ext cx="176250" cy="117475"/>
            </a:xfrm>
            <a:prstGeom prst="rect">
              <a:avLst/>
            </a:prstGeom>
            <a:solidFill>
              <a:srgbClr val="98B1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ight Brace 17">
              <a:extLst>
                <a:ext uri="{FF2B5EF4-FFF2-40B4-BE49-F238E27FC236}">
                  <a16:creationId xmlns:a16="http://schemas.microsoft.com/office/drawing/2014/main" id="{34FB1975-E349-EDB1-CBA9-410BF3CA9EEE}"/>
                </a:ext>
              </a:extLst>
            </p:cNvPr>
            <p:cNvSpPr/>
            <p:nvPr/>
          </p:nvSpPr>
          <p:spPr>
            <a:xfrm>
              <a:off x="9200444" y="5287961"/>
              <a:ext cx="45719" cy="383788"/>
            </a:xfrm>
            <a:prstGeom prst="rightBrace">
              <a:avLst/>
            </a:prstGeom>
            <a:ln w="12700"/>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19" name="TextBox 18">
              <a:extLst>
                <a:ext uri="{FF2B5EF4-FFF2-40B4-BE49-F238E27FC236}">
                  <a16:creationId xmlns:a16="http://schemas.microsoft.com/office/drawing/2014/main" id="{E1683041-6915-384E-E440-00D42E9B883D}"/>
                </a:ext>
              </a:extLst>
            </p:cNvPr>
            <p:cNvSpPr txBox="1"/>
            <p:nvPr/>
          </p:nvSpPr>
          <p:spPr>
            <a:xfrm>
              <a:off x="9223303" y="5360382"/>
              <a:ext cx="647029" cy="261610"/>
            </a:xfrm>
            <a:prstGeom prst="rect">
              <a:avLst/>
            </a:prstGeom>
            <a:noFill/>
          </p:spPr>
          <p:txBody>
            <a:bodyPr wrap="square" rtlCol="0">
              <a:spAutoFit/>
            </a:bodyPr>
            <a:lstStyle/>
            <a:p>
              <a:r>
                <a:rPr lang="en-GB" sz="1100" b="1" dirty="0">
                  <a:latin typeface="Times New Roman" panose="02020603050405020304" pitchFamily="18" charset="0"/>
                  <a:cs typeface="Times New Roman" panose="02020603050405020304" pitchFamily="18" charset="0"/>
                </a:rPr>
                <a:t>Group</a:t>
              </a:r>
            </a:p>
          </p:txBody>
        </p:sp>
        <p:sp>
          <p:nvSpPr>
            <p:cNvPr id="20" name="TextBox 19">
              <a:extLst>
                <a:ext uri="{FF2B5EF4-FFF2-40B4-BE49-F238E27FC236}">
                  <a16:creationId xmlns:a16="http://schemas.microsoft.com/office/drawing/2014/main" id="{A335AECA-2B0B-9F2E-1297-28C6B76B34B7}"/>
                </a:ext>
              </a:extLst>
            </p:cNvPr>
            <p:cNvSpPr txBox="1"/>
            <p:nvPr/>
          </p:nvSpPr>
          <p:spPr>
            <a:xfrm>
              <a:off x="7607626" y="5959597"/>
              <a:ext cx="1435544" cy="430887"/>
            </a:xfrm>
            <a:prstGeom prst="rect">
              <a:avLst/>
            </a:prstGeom>
            <a:noFill/>
          </p:spPr>
          <p:txBody>
            <a:bodyPr wrap="square" rtlCol="0">
              <a:spAutoFit/>
            </a:bodyPr>
            <a:lstStyle/>
            <a:p>
              <a:r>
                <a:rPr lang="en-GB" sz="1100" b="1" dirty="0">
                  <a:latin typeface="Times New Roman" panose="02020603050405020304" pitchFamily="18" charset="0"/>
                  <a:cs typeface="Times New Roman" panose="02020603050405020304" pitchFamily="18" charset="0"/>
                </a:rPr>
                <a:t>Semi-Asynchronous Federated Learning</a:t>
              </a:r>
            </a:p>
          </p:txBody>
        </p:sp>
      </p:grpSp>
    </p:spTree>
    <p:extLst>
      <p:ext uri="{BB962C8B-B14F-4D97-AF65-F5344CB8AC3E}">
        <p14:creationId xmlns:p14="http://schemas.microsoft.com/office/powerpoint/2010/main" val="1703140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4936C-9AE7-7749-6325-581BA45F9385}"/>
              </a:ext>
            </a:extLst>
          </p:cNvPr>
          <p:cNvSpPr>
            <a:spLocks noGrp="1"/>
          </p:cNvSpPr>
          <p:nvPr>
            <p:ph type="title"/>
          </p:nvPr>
        </p:nvSpPr>
        <p:spPr/>
        <p:txBody>
          <a:bodyPr/>
          <a:lstStyle/>
          <a:p>
            <a:r>
              <a:rPr lang="en-US" dirty="0"/>
              <a:t>Motivation</a:t>
            </a:r>
          </a:p>
        </p:txBody>
      </p:sp>
      <p:sp>
        <p:nvSpPr>
          <p:cNvPr id="3" name="Content Placeholder 2">
            <a:extLst>
              <a:ext uri="{FF2B5EF4-FFF2-40B4-BE49-F238E27FC236}">
                <a16:creationId xmlns:a16="http://schemas.microsoft.com/office/drawing/2014/main" id="{661B9477-59F2-4C46-2B84-C83A4CD8490D}"/>
              </a:ext>
            </a:extLst>
          </p:cNvPr>
          <p:cNvSpPr>
            <a:spLocks noGrp="1"/>
          </p:cNvSpPr>
          <p:nvPr>
            <p:ph idx="1"/>
          </p:nvPr>
        </p:nvSpPr>
        <p:spPr/>
        <p:txBody>
          <a:bodyPr/>
          <a:lstStyle/>
          <a:p>
            <a:r>
              <a:rPr lang="en-US" dirty="0"/>
              <a:t>Communication Domination</a:t>
            </a:r>
          </a:p>
          <a:p>
            <a:pPr lvl="1"/>
            <a:r>
              <a:rPr lang="en-US" dirty="0"/>
              <a:t>A100 cluster, 1</a:t>
            </a:r>
            <a:r>
              <a:rPr lang="en-US" altLang="zh-CN" dirty="0"/>
              <a:t>,</a:t>
            </a:r>
            <a:r>
              <a:rPr lang="en-US" dirty="0"/>
              <a:t>024 clients</a:t>
            </a:r>
          </a:p>
          <a:p>
            <a:pPr lvl="1"/>
            <a:r>
              <a:rPr lang="en-US" dirty="0"/>
              <a:t>Ceiling set by the TCP transport beneath them</a:t>
            </a:r>
          </a:p>
          <a:p>
            <a:pPr lvl="1"/>
            <a:r>
              <a:rPr lang="en-US" dirty="0"/>
              <a:t>Marginal gains from optimizing computing</a:t>
            </a:r>
          </a:p>
          <a:p>
            <a:r>
              <a:rPr lang="en-US" dirty="0"/>
              <a:t>RDMA as an obvious substrate</a:t>
            </a:r>
          </a:p>
          <a:p>
            <a:pPr lvl="1"/>
            <a:r>
              <a:rPr lang="en-US" dirty="0"/>
              <a:t>Zero-copy, kernel bypass</a:t>
            </a:r>
          </a:p>
          <a:p>
            <a:pPr lvl="1"/>
            <a:r>
              <a:rPr lang="en-US" dirty="0"/>
              <a:t>Underexplored at wide-area network</a:t>
            </a:r>
          </a:p>
          <a:p>
            <a:pPr lvl="1"/>
            <a:r>
              <a:rPr lang="en-US" b="1" dirty="0"/>
              <a:t>Long-haul RDMA</a:t>
            </a:r>
          </a:p>
        </p:txBody>
      </p:sp>
      <p:sp>
        <p:nvSpPr>
          <p:cNvPr id="5" name="Slide Number Placeholder 4">
            <a:extLst>
              <a:ext uri="{FF2B5EF4-FFF2-40B4-BE49-F238E27FC236}">
                <a16:creationId xmlns:a16="http://schemas.microsoft.com/office/drawing/2014/main" id="{9693F78A-302E-0954-FAE2-9496BCEE2494}"/>
              </a:ext>
            </a:extLst>
          </p:cNvPr>
          <p:cNvSpPr>
            <a:spLocks noGrp="1"/>
          </p:cNvSpPr>
          <p:nvPr>
            <p:ph type="sldNum" idx="12"/>
          </p:nvPr>
        </p:nvSpPr>
        <p:spPr/>
        <p:txBody>
          <a:bodyPr/>
          <a:lstStyle/>
          <a:p>
            <a:fld id="{00000000-1234-1234-1234-123412341234}" type="slidenum">
              <a:rPr lang="en" smtClean="0"/>
              <a:pPr/>
              <a:t>5</a:t>
            </a:fld>
            <a:endParaRPr lang="en"/>
          </a:p>
        </p:txBody>
      </p:sp>
      <p:pic>
        <p:nvPicPr>
          <p:cNvPr id="7" name="Picture 6">
            <a:extLst>
              <a:ext uri="{FF2B5EF4-FFF2-40B4-BE49-F238E27FC236}">
                <a16:creationId xmlns:a16="http://schemas.microsoft.com/office/drawing/2014/main" id="{1825F42D-9A1A-5755-6502-396AFE972F74}"/>
              </a:ext>
            </a:extLst>
          </p:cNvPr>
          <p:cNvPicPr>
            <a:picLocks noChangeAspect="1"/>
          </p:cNvPicPr>
          <p:nvPr/>
        </p:nvPicPr>
        <p:blipFill>
          <a:blip r:embed="rId3"/>
          <a:stretch>
            <a:fillRect/>
          </a:stretch>
        </p:blipFill>
        <p:spPr>
          <a:xfrm>
            <a:off x="7763775" y="1013310"/>
            <a:ext cx="4428226" cy="2395141"/>
          </a:xfrm>
          <a:prstGeom prst="rect">
            <a:avLst/>
          </a:prstGeom>
        </p:spPr>
      </p:pic>
      <p:sp>
        <p:nvSpPr>
          <p:cNvPr id="8" name="Footer Placeholder 7">
            <a:extLst>
              <a:ext uri="{FF2B5EF4-FFF2-40B4-BE49-F238E27FC236}">
                <a16:creationId xmlns:a16="http://schemas.microsoft.com/office/drawing/2014/main" id="{0970AAD2-AD97-9CF6-BC4F-455821AE1FC8}"/>
              </a:ext>
            </a:extLst>
          </p:cNvPr>
          <p:cNvSpPr>
            <a:spLocks noGrp="1"/>
          </p:cNvSpPr>
          <p:nvPr>
            <p:ph type="ftr" idx="11"/>
          </p:nvPr>
        </p:nvSpPr>
        <p:spPr>
          <a:xfrm>
            <a:off x="4657345" y="6542142"/>
            <a:ext cx="4049335" cy="301758"/>
          </a:xfrm>
        </p:spPr>
        <p:txBody>
          <a:bodyPr/>
          <a:lstStyle/>
          <a:p>
            <a:r>
              <a:rPr lang="en-US" dirty="0"/>
              <a:t>University of Florida</a:t>
            </a:r>
          </a:p>
        </p:txBody>
      </p:sp>
      <p:grpSp>
        <p:nvGrpSpPr>
          <p:cNvPr id="14" name="Group 13">
            <a:extLst>
              <a:ext uri="{FF2B5EF4-FFF2-40B4-BE49-F238E27FC236}">
                <a16:creationId xmlns:a16="http://schemas.microsoft.com/office/drawing/2014/main" id="{D8496E8C-BFB2-0768-11C4-50E129BDE436}"/>
              </a:ext>
            </a:extLst>
          </p:cNvPr>
          <p:cNvGrpSpPr/>
          <p:nvPr/>
        </p:nvGrpSpPr>
        <p:grpSpPr>
          <a:xfrm>
            <a:off x="5187092" y="4146946"/>
            <a:ext cx="6350000" cy="2133600"/>
            <a:chOff x="5842000" y="4304270"/>
            <a:chExt cx="6350000" cy="2133600"/>
          </a:xfrm>
        </p:grpSpPr>
        <p:pic>
          <p:nvPicPr>
            <p:cNvPr id="12" name="Picture 11">
              <a:extLst>
                <a:ext uri="{FF2B5EF4-FFF2-40B4-BE49-F238E27FC236}">
                  <a16:creationId xmlns:a16="http://schemas.microsoft.com/office/drawing/2014/main" id="{BC9A9CD2-43AC-90F9-CF5C-9AFB46B034C2}"/>
                </a:ext>
              </a:extLst>
            </p:cNvPr>
            <p:cNvPicPr>
              <a:picLocks noChangeAspect="1"/>
            </p:cNvPicPr>
            <p:nvPr/>
          </p:nvPicPr>
          <p:blipFill>
            <a:blip r:embed="rId4"/>
            <a:stretch>
              <a:fillRect/>
            </a:stretch>
          </p:blipFill>
          <p:spPr>
            <a:xfrm>
              <a:off x="5842000" y="4304270"/>
              <a:ext cx="6350000" cy="2133600"/>
            </a:xfrm>
            <a:prstGeom prst="rect">
              <a:avLst/>
            </a:prstGeom>
          </p:spPr>
        </p:pic>
        <p:sp>
          <p:nvSpPr>
            <p:cNvPr id="13" name="Rectangle 12">
              <a:extLst>
                <a:ext uri="{FF2B5EF4-FFF2-40B4-BE49-F238E27FC236}">
                  <a16:creationId xmlns:a16="http://schemas.microsoft.com/office/drawing/2014/main" id="{6E538F3F-D4D4-695A-2DDD-2040C9E2D9D1}"/>
                </a:ext>
              </a:extLst>
            </p:cNvPr>
            <p:cNvSpPr/>
            <p:nvPr/>
          </p:nvSpPr>
          <p:spPr>
            <a:xfrm>
              <a:off x="8694380" y="6110711"/>
              <a:ext cx="702365" cy="12498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grpSp>
    </p:spTree>
    <p:extLst>
      <p:ext uri="{BB962C8B-B14F-4D97-AF65-F5344CB8AC3E}">
        <p14:creationId xmlns:p14="http://schemas.microsoft.com/office/powerpoint/2010/main" val="744012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500"/>
                                        <p:tgtEl>
                                          <p:spTgt spid="3">
                                            <p:txEl>
                                              <p:pRg st="6" end="6"/>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fade">
                                      <p:cBhvr>
                                        <p:cTn id="33" dur="500"/>
                                        <p:tgtEl>
                                          <p:spTgt spid="3">
                                            <p:txEl>
                                              <p:pRg st="7" end="7"/>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C5C42-5406-740F-7F4F-2B96DC91E587}"/>
              </a:ext>
            </a:extLst>
          </p:cNvPr>
          <p:cNvSpPr>
            <a:spLocks noGrp="1"/>
          </p:cNvSpPr>
          <p:nvPr>
            <p:ph type="title"/>
          </p:nvPr>
        </p:nvSpPr>
        <p:spPr/>
        <p:txBody>
          <a:bodyPr/>
          <a:lstStyle/>
          <a:p>
            <a:r>
              <a:rPr lang="en-US" dirty="0">
                <a:cs typeface="Arial" panose="020B0604020202020204" pitchFamily="34" charset="0"/>
              </a:rPr>
              <a:t>Why Long-Haul RDMA?​</a:t>
            </a:r>
          </a:p>
        </p:txBody>
      </p:sp>
      <p:sp>
        <p:nvSpPr>
          <p:cNvPr id="5" name="Slide Number Placeholder 4">
            <a:extLst>
              <a:ext uri="{FF2B5EF4-FFF2-40B4-BE49-F238E27FC236}">
                <a16:creationId xmlns:a16="http://schemas.microsoft.com/office/drawing/2014/main" id="{C5A38E19-AB1F-7A14-7B3C-78E42AFF298A}"/>
              </a:ext>
            </a:extLst>
          </p:cNvPr>
          <p:cNvSpPr>
            <a:spLocks noGrp="1"/>
          </p:cNvSpPr>
          <p:nvPr>
            <p:ph type="sldNum" idx="12"/>
          </p:nvPr>
        </p:nvSpPr>
        <p:spPr/>
        <p:txBody>
          <a:bodyPr/>
          <a:lstStyle/>
          <a:p>
            <a:fld id="{A7DE5374-1B62-664B-BFA2-751E9C536EA1}" type="slidenum">
              <a:rPr lang="en-US"/>
              <a:t>6</a:t>
            </a:fld>
            <a:endParaRPr lang="en-US"/>
          </a:p>
        </p:txBody>
      </p:sp>
      <p:pic>
        <p:nvPicPr>
          <p:cNvPr id="6" name="Content Placeholder 5">
            <a:extLst>
              <a:ext uri="{FF2B5EF4-FFF2-40B4-BE49-F238E27FC236}">
                <a16:creationId xmlns:a16="http://schemas.microsoft.com/office/drawing/2014/main" id="{1748434A-FE3C-E515-D02C-C59E7B28113A}"/>
              </a:ext>
            </a:extLst>
          </p:cNvPr>
          <p:cNvPicPr>
            <a:picLocks noGrp="1" noChangeAspect="1"/>
          </p:cNvPicPr>
          <p:nvPr/>
        </p:nvPicPr>
        <p:blipFill>
          <a:blip r:embed="rId3"/>
          <a:stretch>
            <a:fillRect/>
          </a:stretch>
        </p:blipFill>
        <p:spPr>
          <a:xfrm>
            <a:off x="6052125" y="4633783"/>
            <a:ext cx="4514850" cy="1683658"/>
          </a:xfrm>
          <a:prstGeom prst="rect">
            <a:avLst/>
          </a:prstGeom>
        </p:spPr>
      </p:pic>
      <p:pic>
        <p:nvPicPr>
          <p:cNvPr id="7" name="Picture 6">
            <a:extLst>
              <a:ext uri="{FF2B5EF4-FFF2-40B4-BE49-F238E27FC236}">
                <a16:creationId xmlns:a16="http://schemas.microsoft.com/office/drawing/2014/main" id="{03F3B527-32C0-4E27-9D2D-31CE55867550}"/>
              </a:ext>
            </a:extLst>
          </p:cNvPr>
          <p:cNvPicPr>
            <a:picLocks noChangeAspect="1"/>
          </p:cNvPicPr>
          <p:nvPr/>
        </p:nvPicPr>
        <p:blipFill>
          <a:blip r:embed="rId4"/>
          <a:stretch>
            <a:fillRect/>
          </a:stretch>
        </p:blipFill>
        <p:spPr>
          <a:xfrm>
            <a:off x="7731627" y="2826866"/>
            <a:ext cx="4244522" cy="2228850"/>
          </a:xfrm>
          <a:prstGeom prst="rect">
            <a:avLst/>
          </a:prstGeom>
          <a:ln w="19050">
            <a:solidFill>
              <a:srgbClr val="002060"/>
            </a:solidFill>
          </a:ln>
        </p:spPr>
      </p:pic>
      <p:sp>
        <p:nvSpPr>
          <p:cNvPr id="8" name="TextBox 10">
            <a:extLst>
              <a:ext uri="{FF2B5EF4-FFF2-40B4-BE49-F238E27FC236}">
                <a16:creationId xmlns:a16="http://schemas.microsoft.com/office/drawing/2014/main" id="{1A27FE52-72DA-E70C-4E78-10022D680597}"/>
              </a:ext>
            </a:extLst>
          </p:cNvPr>
          <p:cNvSpPr txBox="1"/>
          <p:nvPr/>
        </p:nvSpPr>
        <p:spPr>
          <a:xfrm>
            <a:off x="1098611" y="1976619"/>
            <a:ext cx="8972145"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ea typeface="Calibri"/>
                <a:cs typeface="Arial" panose="020B0604020202020204" pitchFamily="34" charset="0"/>
              </a:rPr>
              <a:t>"</a:t>
            </a:r>
            <a:r>
              <a:rPr lang="en-US" b="1" i="1">
                <a:ea typeface="+mn-lt"/>
                <a:cs typeface="Arial" panose="020B0604020202020204" pitchFamily="34" charset="0"/>
              </a:rPr>
              <a:t>A</a:t>
            </a:r>
            <a:r>
              <a:rPr lang="en-US" b="1" i="1" dirty="0">
                <a:ea typeface="+mn-lt"/>
                <a:cs typeface="Arial" panose="020B0604020202020204" pitchFamily="34" charset="0"/>
              </a:rPr>
              <a:t>t Gemini Ultra scale, we combine SuperPods in multiple datacenters using Google’s intra-cluster and inter-cluster network</a:t>
            </a:r>
            <a:r>
              <a:rPr lang="en-US" dirty="0">
                <a:ea typeface="+mn-lt"/>
                <a:cs typeface="Arial" panose="020B0604020202020204" pitchFamily="34" charset="0"/>
              </a:rPr>
              <a:t>" -- Gemini Team, Google</a:t>
            </a:r>
            <a:endParaRPr lang="en-US" dirty="0">
              <a:cs typeface="Arial" panose="020B0604020202020204" pitchFamily="34" charset="0"/>
            </a:endParaRPr>
          </a:p>
        </p:txBody>
      </p:sp>
      <p:sp>
        <p:nvSpPr>
          <p:cNvPr id="9" name="TextBox 11">
            <a:extLst>
              <a:ext uri="{FF2B5EF4-FFF2-40B4-BE49-F238E27FC236}">
                <a16:creationId xmlns:a16="http://schemas.microsoft.com/office/drawing/2014/main" id="{66EDBBBF-EE5D-97BA-A469-CF70BDC389A9}"/>
              </a:ext>
            </a:extLst>
          </p:cNvPr>
          <p:cNvSpPr txBox="1"/>
          <p:nvPr/>
        </p:nvSpPr>
        <p:spPr>
          <a:xfrm>
            <a:off x="1098611" y="2622950"/>
            <a:ext cx="6290729" cy="92333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ea typeface="Calibri"/>
                <a:cs typeface="Arial" panose="020B0604020202020204" pitchFamily="34" charset="0"/>
              </a:rPr>
              <a:t>"</a:t>
            </a:r>
            <a:r>
              <a:rPr lang="en-US" b="1" i="1" dirty="0">
                <a:ea typeface="+mn-lt"/>
                <a:cs typeface="Arial" panose="020B0604020202020204" pitchFamily="34" charset="0"/>
              </a:rPr>
              <a:t>We had to scale to more compute and that compute was not available as part of one cluster. We had to go to multi-cluster training</a:t>
            </a:r>
            <a:r>
              <a:rPr lang="en-US" dirty="0">
                <a:ea typeface="+mn-lt"/>
                <a:cs typeface="Arial" panose="020B0604020202020204" pitchFamily="34" charset="0"/>
              </a:rPr>
              <a:t>" -- </a:t>
            </a:r>
            <a:r>
              <a:rPr lang="en-US">
                <a:ea typeface="Calibri"/>
                <a:cs typeface="Arial" panose="020B0604020202020204" pitchFamily="34" charset="0"/>
              </a:rPr>
              <a:t>Pre-Training GPT-4.5, OpenAI</a:t>
            </a:r>
            <a:endParaRPr lang="en-US">
              <a:cs typeface="Arial" panose="020B0604020202020204" pitchFamily="34" charset="0"/>
            </a:endParaRPr>
          </a:p>
        </p:txBody>
      </p:sp>
      <p:pic>
        <p:nvPicPr>
          <p:cNvPr id="12" name="Picture 11">
            <a:extLst>
              <a:ext uri="{FF2B5EF4-FFF2-40B4-BE49-F238E27FC236}">
                <a16:creationId xmlns:a16="http://schemas.microsoft.com/office/drawing/2014/main" id="{348274C4-39A6-DA4C-EC0F-6D4F217F19E5}"/>
              </a:ext>
            </a:extLst>
          </p:cNvPr>
          <p:cNvPicPr>
            <a:picLocks noChangeAspect="1"/>
          </p:cNvPicPr>
          <p:nvPr/>
        </p:nvPicPr>
        <p:blipFill>
          <a:blip r:embed="rId5"/>
          <a:stretch>
            <a:fillRect/>
          </a:stretch>
        </p:blipFill>
        <p:spPr>
          <a:xfrm>
            <a:off x="1098611" y="3653422"/>
            <a:ext cx="4808751" cy="2527589"/>
          </a:xfrm>
          <a:prstGeom prst="rect">
            <a:avLst/>
          </a:prstGeom>
          <a:ln w="28575">
            <a:solidFill>
              <a:srgbClr val="002060"/>
            </a:solidFill>
          </a:ln>
        </p:spPr>
      </p:pic>
      <p:pic>
        <p:nvPicPr>
          <p:cNvPr id="13" name="Picture 12">
            <a:extLst>
              <a:ext uri="{FF2B5EF4-FFF2-40B4-BE49-F238E27FC236}">
                <a16:creationId xmlns:a16="http://schemas.microsoft.com/office/drawing/2014/main" id="{B0538E0C-D49B-8FFF-72C1-CBF82F8FEDC2}"/>
              </a:ext>
            </a:extLst>
          </p:cNvPr>
          <p:cNvPicPr>
            <a:picLocks noChangeAspect="1"/>
          </p:cNvPicPr>
          <p:nvPr/>
        </p:nvPicPr>
        <p:blipFill>
          <a:blip r:embed="rId6"/>
          <a:srcRect r="10748" b="13321"/>
          <a:stretch>
            <a:fillRect/>
          </a:stretch>
        </p:blipFill>
        <p:spPr>
          <a:xfrm>
            <a:off x="361155" y="4150049"/>
            <a:ext cx="2851601" cy="1325563"/>
          </a:xfrm>
          <a:prstGeom prst="rect">
            <a:avLst/>
          </a:prstGeom>
          <a:ln w="19050">
            <a:solidFill>
              <a:srgbClr val="002060"/>
            </a:solidFill>
          </a:ln>
        </p:spPr>
      </p:pic>
      <p:sp>
        <p:nvSpPr>
          <p:cNvPr id="16" name="TextBox 15">
            <a:extLst>
              <a:ext uri="{FF2B5EF4-FFF2-40B4-BE49-F238E27FC236}">
                <a16:creationId xmlns:a16="http://schemas.microsoft.com/office/drawing/2014/main" id="{BBBEC8F5-7F40-CA82-310F-7F289FED795C}"/>
              </a:ext>
            </a:extLst>
          </p:cNvPr>
          <p:cNvSpPr txBox="1"/>
          <p:nvPr/>
        </p:nvSpPr>
        <p:spPr>
          <a:xfrm>
            <a:off x="1098611" y="1477287"/>
            <a:ext cx="8227702" cy="400110"/>
          </a:xfrm>
          <a:prstGeom prst="rect">
            <a:avLst/>
          </a:prstGeom>
          <a:noFill/>
        </p:spPr>
        <p:txBody>
          <a:bodyPr wrap="none" rtlCol="0">
            <a:spAutoFit/>
          </a:bodyPr>
          <a:lstStyle/>
          <a:p>
            <a:r>
              <a:rPr lang="en-US" sz="2000">
                <a:solidFill>
                  <a:srgbClr val="C00000"/>
                </a:solidFill>
              </a:rPr>
              <a:t>Large training systems are already expanding across clusters and datacenters:</a:t>
            </a:r>
          </a:p>
        </p:txBody>
      </p:sp>
      <p:sp>
        <p:nvSpPr>
          <p:cNvPr id="10" name="Footer Placeholder 7">
            <a:extLst>
              <a:ext uri="{FF2B5EF4-FFF2-40B4-BE49-F238E27FC236}">
                <a16:creationId xmlns:a16="http://schemas.microsoft.com/office/drawing/2014/main" id="{76607075-521C-C0C7-4C89-AF2C762B9B23}"/>
              </a:ext>
            </a:extLst>
          </p:cNvPr>
          <p:cNvSpPr>
            <a:spLocks noGrp="1"/>
          </p:cNvSpPr>
          <p:nvPr>
            <p:ph type="ftr" idx="11"/>
          </p:nvPr>
        </p:nvSpPr>
        <p:spPr>
          <a:xfrm>
            <a:off x="4657345" y="6542142"/>
            <a:ext cx="4049335" cy="301758"/>
          </a:xfrm>
        </p:spPr>
        <p:txBody>
          <a:bodyPr/>
          <a:lstStyle/>
          <a:p>
            <a:r>
              <a:rPr lang="en-US" dirty="0"/>
              <a:t>University of Florida</a:t>
            </a:r>
          </a:p>
        </p:txBody>
      </p:sp>
    </p:spTree>
    <p:extLst>
      <p:ext uri="{BB962C8B-B14F-4D97-AF65-F5344CB8AC3E}">
        <p14:creationId xmlns:p14="http://schemas.microsoft.com/office/powerpoint/2010/main" val="11301775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C5C42-5406-740F-7F4F-2B96DC91E587}"/>
              </a:ext>
            </a:extLst>
          </p:cNvPr>
          <p:cNvSpPr>
            <a:spLocks noGrp="1"/>
          </p:cNvSpPr>
          <p:nvPr>
            <p:ph type="title"/>
          </p:nvPr>
        </p:nvSpPr>
        <p:spPr/>
        <p:txBody>
          <a:bodyPr>
            <a:normAutofit/>
          </a:bodyPr>
          <a:lstStyle/>
          <a:p>
            <a:r>
              <a:rPr lang="en-US" sz="4000" dirty="0">
                <a:cs typeface="Arial" panose="020B0604020202020204" pitchFamily="34" charset="0"/>
              </a:rPr>
              <a:t>What Signifies in Long-Haul RDMA</a:t>
            </a:r>
          </a:p>
        </p:txBody>
      </p:sp>
      <p:sp>
        <p:nvSpPr>
          <p:cNvPr id="5" name="Slide Number Placeholder 4">
            <a:extLst>
              <a:ext uri="{FF2B5EF4-FFF2-40B4-BE49-F238E27FC236}">
                <a16:creationId xmlns:a16="http://schemas.microsoft.com/office/drawing/2014/main" id="{C5A38E19-AB1F-7A14-7B3C-78E42AFF298A}"/>
              </a:ext>
            </a:extLst>
          </p:cNvPr>
          <p:cNvSpPr>
            <a:spLocks noGrp="1"/>
          </p:cNvSpPr>
          <p:nvPr>
            <p:ph type="sldNum" idx="12"/>
          </p:nvPr>
        </p:nvSpPr>
        <p:spPr/>
        <p:txBody>
          <a:bodyPr/>
          <a:lstStyle/>
          <a:p>
            <a:fld id="{A7DE5374-1B62-664B-BFA2-751E9C536EA1}" type="slidenum">
              <a:rPr lang="en-US"/>
              <a:t>7</a:t>
            </a:fld>
            <a:endParaRPr lang="en-US"/>
          </a:p>
        </p:txBody>
      </p:sp>
      <mc:AlternateContent xmlns:mc="http://schemas.openxmlformats.org/markup-compatibility/2006" xmlns:a14="http://schemas.microsoft.com/office/drawing/2010/main">
        <mc:Choice Requires="a14">
          <p:sp>
            <p:nvSpPr>
              <p:cNvPr id="8" name="Rounded Rectangle 7">
                <a:extLst>
                  <a:ext uri="{FF2B5EF4-FFF2-40B4-BE49-F238E27FC236}">
                    <a16:creationId xmlns:a16="http://schemas.microsoft.com/office/drawing/2014/main" id="{D7F19321-72F5-C8B5-3EF8-C73D6C353FB9}"/>
                  </a:ext>
                </a:extLst>
              </p:cNvPr>
              <p:cNvSpPr/>
              <p:nvPr/>
            </p:nvSpPr>
            <p:spPr>
              <a:xfrm>
                <a:off x="1040023" y="4038259"/>
                <a:ext cx="4839731" cy="1129053"/>
              </a:xfrm>
              <a:prstGeom prst="roundRect">
                <a:avLst/>
              </a:prstGeom>
              <a:solidFill>
                <a:srgbClr val="70AD47">
                  <a:alpha val="20000"/>
                </a:srgbClr>
              </a:solidFill>
              <a:ln>
                <a:noFill/>
              </a:ln>
            </p:spPr>
            <p:style>
              <a:lnRef idx="0">
                <a:scrgbClr r="0" g="0" b="0"/>
              </a:lnRef>
              <a:fillRef idx="0">
                <a:scrgbClr r="0" g="0" b="0"/>
              </a:fillRef>
              <a:effectRef idx="0">
                <a:scrgbClr r="0" g="0" b="0"/>
              </a:effectRef>
              <a:fontRef idx="minor">
                <a:schemeClr val="lt1"/>
              </a:fontRef>
            </p:style>
            <p:txBody>
              <a:bodyPr lIns="45720" rIns="0" rtlCol="0" anchor="ctr"/>
              <a:lstStyle/>
              <a:p>
                <a:r>
                  <a:rPr lang="en-US">
                    <a:solidFill>
                      <a:sysClr val="windowText" lastClr="000000"/>
                    </a:solidFill>
                    <a:cs typeface="Arial" panose="020B0604020202020204" pitchFamily="34" charset="0"/>
                  </a:rPr>
                  <a:t>Intra-Datacenter </a:t>
                </a:r>
              </a:p>
              <a:p>
                <a:r>
                  <a:rPr lang="en-US" b="1">
                    <a:solidFill>
                      <a:sysClr val="windowText" lastClr="000000"/>
                    </a:solidFill>
                    <a:cs typeface="Arial" panose="020B0604020202020204" pitchFamily="34" charset="0"/>
                  </a:rPr>
                  <a:t>Short-Path | Open loop                   </a:t>
                </a:r>
                <a14:m>
                  <m:oMath xmlns:m="http://schemas.openxmlformats.org/officeDocument/2006/math">
                    <m:r>
                      <a:rPr lang="en-US" b="0" i="1">
                        <a:solidFill>
                          <a:sysClr val="windowText" lastClr="000000"/>
                        </a:solidFill>
                        <a:latin typeface="Cambria Math" panose="02040503050406030204" pitchFamily="18" charset="0"/>
                        <a:cs typeface="Arial" panose="020B0604020202020204" pitchFamily="34" charset="0"/>
                      </a:rPr>
                      <m:t>𝑅𝑇𝑇</m:t>
                    </m:r>
                    <m:r>
                      <a:rPr lang="en-US" b="0" i="1">
                        <a:solidFill>
                          <a:sysClr val="windowText" lastClr="000000"/>
                        </a:solidFill>
                        <a:latin typeface="Cambria Math" panose="02040503050406030204" pitchFamily="18" charset="0"/>
                        <a:cs typeface="Arial" panose="020B0604020202020204" pitchFamily="34" charset="0"/>
                      </a:rPr>
                      <m:t> 2</m:t>
                    </m:r>
                    <m:r>
                      <a:rPr lang="en-US" b="0" i="1">
                        <a:solidFill>
                          <a:sysClr val="windowText" lastClr="000000"/>
                        </a:solidFill>
                        <a:latin typeface="Cambria Math" panose="02040503050406030204" pitchFamily="18" charset="0"/>
                        <a:ea typeface="Cambria Math" panose="02040503050406030204" pitchFamily="18" charset="0"/>
                        <a:cs typeface="Arial" panose="020B0604020202020204" pitchFamily="34" charset="0"/>
                      </a:rPr>
                      <m:t>𝜇</m:t>
                    </m:r>
                    <m:r>
                      <a:rPr lang="en-US" b="0" i="1">
                        <a:solidFill>
                          <a:sysClr val="windowText" lastClr="000000"/>
                        </a:solidFill>
                        <a:latin typeface="Cambria Math" panose="02040503050406030204" pitchFamily="18" charset="0"/>
                        <a:ea typeface="Cambria Math" panose="02040503050406030204" pitchFamily="18" charset="0"/>
                        <a:cs typeface="Arial" panose="020B0604020202020204" pitchFamily="34" charset="0"/>
                      </a:rPr>
                      <m:t>𝑠</m:t>
                    </m:r>
                  </m:oMath>
                </a14:m>
                <a:endParaRPr lang="en-US">
                  <a:solidFill>
                    <a:sysClr val="windowText" lastClr="000000"/>
                  </a:solidFill>
                  <a:cs typeface="Arial" panose="020B0604020202020204" pitchFamily="34" charset="0"/>
                </a:endParaRPr>
              </a:p>
              <a:p>
                <a:r>
                  <a:rPr lang="en-US" sz="1600">
                    <a:solidFill>
                      <a:sysClr val="windowText" lastClr="000000"/>
                    </a:solidFill>
                    <a:cs typeface="Arial" panose="020B0604020202020204" pitchFamily="34" charset="0"/>
                  </a:rPr>
                  <a:t>Sender keeps the pipe full. Feedback returns before it becomes a throughput constraint.</a:t>
                </a:r>
              </a:p>
            </p:txBody>
          </p:sp>
        </mc:Choice>
        <mc:Fallback xmlns="">
          <p:sp>
            <p:nvSpPr>
              <p:cNvPr id="8" name="Rounded Rectangle 7">
                <a:extLst>
                  <a:ext uri="{FF2B5EF4-FFF2-40B4-BE49-F238E27FC236}">
                    <a16:creationId xmlns:a16="http://schemas.microsoft.com/office/drawing/2014/main" id="{D7F19321-72F5-C8B5-3EF8-C73D6C353FB9}"/>
                  </a:ext>
                </a:extLst>
              </p:cNvPr>
              <p:cNvSpPr>
                <a:spLocks noRot="1" noChangeAspect="1" noMove="1" noResize="1" noEditPoints="1" noAdjustHandles="1" noChangeArrowheads="1" noChangeShapeType="1" noTextEdit="1"/>
              </p:cNvSpPr>
              <p:nvPr/>
            </p:nvSpPr>
            <p:spPr>
              <a:xfrm>
                <a:off x="1040023" y="4038259"/>
                <a:ext cx="4839731" cy="1129053"/>
              </a:xfrm>
              <a:prstGeom prst="roundRect">
                <a:avLst/>
              </a:prstGeom>
              <a:blipFill>
                <a:blip r:embed="rId3"/>
                <a:stretch>
                  <a:fillRect l="-1047" t="-2198" b="-549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ounded Rectangle 8">
                <a:extLst>
                  <a:ext uri="{FF2B5EF4-FFF2-40B4-BE49-F238E27FC236}">
                    <a16:creationId xmlns:a16="http://schemas.microsoft.com/office/drawing/2014/main" id="{AEB66DF6-4F0E-B8C9-AC21-FBE37E86DEBA}"/>
                  </a:ext>
                </a:extLst>
              </p:cNvPr>
              <p:cNvSpPr/>
              <p:nvPr/>
            </p:nvSpPr>
            <p:spPr>
              <a:xfrm>
                <a:off x="6687403" y="4038259"/>
                <a:ext cx="4567541" cy="1129053"/>
              </a:xfrm>
              <a:prstGeom prst="roundRect">
                <a:avLst/>
              </a:prstGeom>
              <a:solidFill>
                <a:srgbClr val="ED7D31">
                  <a:alpha val="20392"/>
                </a:srgbClr>
              </a:solidFill>
              <a:ln>
                <a:noFill/>
              </a:ln>
            </p:spPr>
            <p:style>
              <a:lnRef idx="0">
                <a:scrgbClr r="0" g="0" b="0"/>
              </a:lnRef>
              <a:fillRef idx="0">
                <a:scrgbClr r="0" g="0" b="0"/>
              </a:fillRef>
              <a:effectRef idx="0">
                <a:scrgbClr r="0" g="0" b="0"/>
              </a:effectRef>
              <a:fontRef idx="minor">
                <a:schemeClr val="lt1"/>
              </a:fontRef>
            </p:style>
            <p:txBody>
              <a:bodyPr lIns="45720" rIns="0" rtlCol="0" anchor="ctr"/>
              <a:lstStyle/>
              <a:p>
                <a:r>
                  <a:rPr lang="en-US">
                    <a:solidFill>
                      <a:sysClr val="windowText" lastClr="000000"/>
                    </a:solidFill>
                    <a:cs typeface="Arial" panose="020B0604020202020204" pitchFamily="34" charset="0"/>
                  </a:rPr>
                  <a:t>Inter-Datacenter </a:t>
                </a:r>
              </a:p>
              <a:p>
                <a:r>
                  <a:rPr lang="en-US" b="1">
                    <a:solidFill>
                      <a:sysClr val="windowText" lastClr="000000"/>
                    </a:solidFill>
                    <a:cs typeface="Arial" panose="020B0604020202020204" pitchFamily="34" charset="0"/>
                  </a:rPr>
                  <a:t>Long-Haul | Closed loop               </a:t>
                </a:r>
                <a14:m>
                  <m:oMath xmlns:m="http://schemas.openxmlformats.org/officeDocument/2006/math">
                    <m:r>
                      <a:rPr lang="en-US" i="1">
                        <a:solidFill>
                          <a:sysClr val="windowText" lastClr="000000"/>
                        </a:solidFill>
                        <a:latin typeface="Cambria Math" panose="02040503050406030204" pitchFamily="18" charset="0"/>
                        <a:cs typeface="Arial" panose="020B0604020202020204" pitchFamily="34" charset="0"/>
                      </a:rPr>
                      <m:t>𝑅𝑇𝑇</m:t>
                    </m:r>
                    <m:r>
                      <a:rPr lang="en-US" i="1">
                        <a:solidFill>
                          <a:sysClr val="windowText" lastClr="000000"/>
                        </a:solidFill>
                        <a:latin typeface="Cambria Math" panose="02040503050406030204" pitchFamily="18" charset="0"/>
                        <a:cs typeface="Arial" panose="020B0604020202020204" pitchFamily="34" charset="0"/>
                      </a:rPr>
                      <m:t> 88</m:t>
                    </m:r>
                    <m:r>
                      <a:rPr lang="en-US" b="0" i="1">
                        <a:solidFill>
                          <a:sysClr val="windowText" lastClr="000000"/>
                        </a:solidFill>
                        <a:latin typeface="Cambria Math" panose="02040503050406030204" pitchFamily="18" charset="0"/>
                        <a:cs typeface="Arial" panose="020B0604020202020204" pitchFamily="34" charset="0"/>
                      </a:rPr>
                      <m:t>𝑚𝑠</m:t>
                    </m:r>
                  </m:oMath>
                </a14:m>
                <a:endParaRPr lang="en-US">
                  <a:solidFill>
                    <a:sysClr val="windowText" lastClr="000000"/>
                  </a:solidFill>
                  <a:cs typeface="Arial" panose="020B0604020202020204" pitchFamily="34" charset="0"/>
                </a:endParaRPr>
              </a:p>
              <a:p>
                <a:r>
                  <a:rPr lang="en-US" sz="1600">
                    <a:solidFill>
                      <a:sysClr val="windowText" lastClr="000000"/>
                    </a:solidFill>
                    <a:cs typeface="Arial" panose="020B0604020202020204" pitchFamily="34" charset="0"/>
                  </a:rPr>
                  <a:t>The sender waits 44,000× longer for the same feedback.</a:t>
                </a:r>
              </a:p>
            </p:txBody>
          </p:sp>
        </mc:Choice>
        <mc:Fallback xmlns="">
          <p:sp>
            <p:nvSpPr>
              <p:cNvPr id="9" name="Rounded Rectangle 8">
                <a:extLst>
                  <a:ext uri="{FF2B5EF4-FFF2-40B4-BE49-F238E27FC236}">
                    <a16:creationId xmlns:a16="http://schemas.microsoft.com/office/drawing/2014/main" id="{AEB66DF6-4F0E-B8C9-AC21-FBE37E86DEBA}"/>
                  </a:ext>
                </a:extLst>
              </p:cNvPr>
              <p:cNvSpPr>
                <a:spLocks noRot="1" noChangeAspect="1" noMove="1" noResize="1" noEditPoints="1" noAdjustHandles="1" noChangeArrowheads="1" noChangeShapeType="1" noTextEdit="1"/>
              </p:cNvSpPr>
              <p:nvPr/>
            </p:nvSpPr>
            <p:spPr>
              <a:xfrm>
                <a:off x="6687403" y="4038259"/>
                <a:ext cx="4567541" cy="1129053"/>
              </a:xfrm>
              <a:prstGeom prst="roundRect">
                <a:avLst/>
              </a:prstGeom>
              <a:blipFill>
                <a:blip r:embed="rId4"/>
                <a:stretch>
                  <a:fillRect l="-831" t="-2198" b="-5495"/>
                </a:stretch>
              </a:blipFill>
              <a:ln>
                <a:noFill/>
              </a:ln>
            </p:spPr>
            <p:txBody>
              <a:bodyPr/>
              <a:lstStyle/>
              <a:p>
                <a:r>
                  <a:rPr lang="en-US">
                    <a:noFill/>
                  </a:rPr>
                  <a:t> </a:t>
                </a:r>
              </a:p>
            </p:txBody>
          </p:sp>
        </mc:Fallback>
      </mc:AlternateContent>
      <p:sp>
        <p:nvSpPr>
          <p:cNvPr id="10" name="Rounded Rectangle 9">
            <a:extLst>
              <a:ext uri="{FF2B5EF4-FFF2-40B4-BE49-F238E27FC236}">
                <a16:creationId xmlns:a16="http://schemas.microsoft.com/office/drawing/2014/main" id="{F65CADDF-ACBA-AB24-1936-BA5C52D23287}"/>
              </a:ext>
            </a:extLst>
          </p:cNvPr>
          <p:cNvSpPr/>
          <p:nvPr/>
        </p:nvSpPr>
        <p:spPr>
          <a:xfrm>
            <a:off x="1040023" y="5400446"/>
            <a:ext cx="10214921" cy="859291"/>
          </a:xfrm>
          <a:prstGeom prst="roundRect">
            <a:avLst/>
          </a:prstGeom>
          <a:solidFill>
            <a:srgbClr val="5B9BD5">
              <a:alpha val="19608"/>
            </a:srgbClr>
          </a:solidFill>
          <a:ln>
            <a:noFill/>
          </a:ln>
        </p:spPr>
        <p:style>
          <a:lnRef idx="0">
            <a:scrgbClr r="0" g="0" b="0"/>
          </a:lnRef>
          <a:fillRef idx="0">
            <a:scrgbClr r="0" g="0" b="0"/>
          </a:fillRef>
          <a:effectRef idx="0">
            <a:scrgbClr r="0" g="0" b="0"/>
          </a:effectRef>
          <a:fontRef idx="minor">
            <a:schemeClr val="lt1"/>
          </a:fontRef>
        </p:style>
        <p:txBody>
          <a:bodyPr lIns="45720" rIns="0" rtlCol="0" anchor="ctr"/>
          <a:lstStyle/>
          <a:p>
            <a:r>
              <a:rPr lang="en-US" i="1">
                <a:solidFill>
                  <a:sysClr val="windowText" lastClr="000000"/>
                </a:solidFill>
                <a:cs typeface="Arial" panose="020B0604020202020204" pitchFamily="34" charset="0"/>
              </a:rPr>
              <a:t>Existing RDMA models and intuition assume the open-loop regime. Long-haul breaks them. So what actually the performace will be once feedback costs order-of-magnitude higher?</a:t>
            </a:r>
          </a:p>
        </p:txBody>
      </p:sp>
      <p:sp>
        <p:nvSpPr>
          <p:cNvPr id="11" name="TextBox 10">
            <a:extLst>
              <a:ext uri="{FF2B5EF4-FFF2-40B4-BE49-F238E27FC236}">
                <a16:creationId xmlns:a16="http://schemas.microsoft.com/office/drawing/2014/main" id="{874DCAA2-1D79-8210-63CC-84DFA6E084B2}"/>
              </a:ext>
            </a:extLst>
          </p:cNvPr>
          <p:cNvSpPr txBox="1"/>
          <p:nvPr/>
        </p:nvSpPr>
        <p:spPr>
          <a:xfrm>
            <a:off x="4110584" y="3737026"/>
            <a:ext cx="3970831" cy="369332"/>
          </a:xfrm>
          <a:prstGeom prst="rect">
            <a:avLst/>
          </a:prstGeom>
          <a:noFill/>
        </p:spPr>
        <p:txBody>
          <a:bodyPr wrap="none" rtlCol="0">
            <a:spAutoFit/>
          </a:bodyPr>
          <a:lstStyle/>
          <a:p>
            <a:r>
              <a:rPr lang="en-US">
                <a:solidFill>
                  <a:srgbClr val="C00000"/>
                </a:solidFill>
              </a:rPr>
              <a:t>The key change is Round-Trip Time (RTT)</a:t>
            </a:r>
          </a:p>
        </p:txBody>
      </p:sp>
      <p:pic>
        <p:nvPicPr>
          <p:cNvPr id="15" name="Picture 14">
            <a:extLst>
              <a:ext uri="{FF2B5EF4-FFF2-40B4-BE49-F238E27FC236}">
                <a16:creationId xmlns:a16="http://schemas.microsoft.com/office/drawing/2014/main" id="{59168202-0140-C079-1512-5E7B903047A7}"/>
              </a:ext>
            </a:extLst>
          </p:cNvPr>
          <p:cNvPicPr>
            <a:picLocks noChangeAspect="1"/>
          </p:cNvPicPr>
          <p:nvPr/>
        </p:nvPicPr>
        <p:blipFill>
          <a:blip r:embed="rId5"/>
          <a:stretch>
            <a:fillRect/>
          </a:stretch>
        </p:blipFill>
        <p:spPr>
          <a:xfrm>
            <a:off x="3428999" y="1832026"/>
            <a:ext cx="5334000" cy="1905000"/>
          </a:xfrm>
          <a:prstGeom prst="rect">
            <a:avLst/>
          </a:prstGeom>
        </p:spPr>
      </p:pic>
      <p:sp>
        <p:nvSpPr>
          <p:cNvPr id="6" name="Footer Placeholder 7">
            <a:extLst>
              <a:ext uri="{FF2B5EF4-FFF2-40B4-BE49-F238E27FC236}">
                <a16:creationId xmlns:a16="http://schemas.microsoft.com/office/drawing/2014/main" id="{25AA7221-7A5A-C91D-D310-0D01ED86F541}"/>
              </a:ext>
            </a:extLst>
          </p:cNvPr>
          <p:cNvSpPr>
            <a:spLocks noGrp="1"/>
          </p:cNvSpPr>
          <p:nvPr>
            <p:ph type="ftr" idx="11"/>
          </p:nvPr>
        </p:nvSpPr>
        <p:spPr>
          <a:xfrm>
            <a:off x="4657345" y="6542142"/>
            <a:ext cx="4049335" cy="301758"/>
          </a:xfrm>
        </p:spPr>
        <p:txBody>
          <a:bodyPr/>
          <a:lstStyle/>
          <a:p>
            <a:r>
              <a:rPr lang="en-US" dirty="0"/>
              <a:t>University of Florida</a:t>
            </a:r>
          </a:p>
        </p:txBody>
      </p:sp>
    </p:spTree>
    <p:extLst>
      <p:ext uri="{BB962C8B-B14F-4D97-AF65-F5344CB8AC3E}">
        <p14:creationId xmlns:p14="http://schemas.microsoft.com/office/powerpoint/2010/main" val="30840681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EC381-D4E4-F588-F4F3-66FF26BBFB52}"/>
              </a:ext>
            </a:extLst>
          </p:cNvPr>
          <p:cNvSpPr>
            <a:spLocks noGrp="1"/>
          </p:cNvSpPr>
          <p:nvPr>
            <p:ph type="title"/>
          </p:nvPr>
        </p:nvSpPr>
        <p:spPr/>
        <p:txBody>
          <a:bodyPr/>
          <a:lstStyle/>
          <a:p>
            <a:r>
              <a:rPr lang="en-GB" dirty="0"/>
              <a:t>Research Questions</a:t>
            </a:r>
          </a:p>
        </p:txBody>
      </p:sp>
      <p:sp>
        <p:nvSpPr>
          <p:cNvPr id="3" name="Content Placeholder 2">
            <a:extLst>
              <a:ext uri="{FF2B5EF4-FFF2-40B4-BE49-F238E27FC236}">
                <a16:creationId xmlns:a16="http://schemas.microsoft.com/office/drawing/2014/main" id="{B3A07926-B91E-26A8-C899-77092EFB41D5}"/>
              </a:ext>
            </a:extLst>
          </p:cNvPr>
          <p:cNvSpPr>
            <a:spLocks noGrp="1"/>
          </p:cNvSpPr>
          <p:nvPr>
            <p:ph idx="1"/>
          </p:nvPr>
        </p:nvSpPr>
        <p:spPr/>
        <p:txBody>
          <a:bodyPr>
            <a:normAutofit/>
          </a:bodyPr>
          <a:lstStyle/>
          <a:p>
            <a:r>
              <a:rPr lang="en-GB" dirty="0"/>
              <a:t>Gap between data </a:t>
            </a:r>
            <a:r>
              <a:rPr lang="en-GB" dirty="0" err="1"/>
              <a:t>center</a:t>
            </a:r>
            <a:r>
              <a:rPr lang="en-GB" dirty="0"/>
              <a:t> and long-haul RDMA</a:t>
            </a:r>
          </a:p>
          <a:p>
            <a:pPr lvl="1"/>
            <a:r>
              <a:rPr lang="en-US" dirty="0"/>
              <a:t>Microsecond RTTs, lossless fabric, hardware-managed reliability.</a:t>
            </a:r>
          </a:p>
          <a:p>
            <a:r>
              <a:rPr lang="en-US" b="1" dirty="0"/>
              <a:t>Can long-haul RDMA enhance the efficiency of FL in WAN?</a:t>
            </a:r>
          </a:p>
          <a:p>
            <a:pPr lvl="1"/>
            <a:r>
              <a:rPr lang="en-US" b="1" dirty="0"/>
              <a:t>Does RDMA outperform TCP?</a:t>
            </a:r>
          </a:p>
          <a:p>
            <a:pPr marL="914400" lvl="2" indent="0">
              <a:buNone/>
            </a:pPr>
            <a:r>
              <a:rPr lang="en-US" dirty="0"/>
              <a:t>A direct, like-for-like comparison at the same MPI layer, on the same NIC.</a:t>
            </a:r>
          </a:p>
          <a:p>
            <a:pPr lvl="1"/>
            <a:r>
              <a:rPr lang="en-US" b="1" dirty="0"/>
              <a:t>Under which conditions?</a:t>
            </a:r>
          </a:p>
          <a:p>
            <a:pPr marL="914400" lvl="2" indent="0">
              <a:buNone/>
            </a:pPr>
            <a:r>
              <a:rPr lang="en-US" dirty="0"/>
              <a:t>Which FL algorithm, model sizes and client counts amplify or mask the difference.</a:t>
            </a:r>
          </a:p>
          <a:p>
            <a:pPr lvl="1"/>
            <a:r>
              <a:rPr lang="en-US" b="1" dirty="0"/>
              <a:t>Does it need co-design?</a:t>
            </a:r>
          </a:p>
          <a:p>
            <a:pPr marL="914400" lvl="2" indent="0">
              <a:buNone/>
            </a:pPr>
            <a:r>
              <a:rPr lang="en-US" dirty="0"/>
              <a:t>Whether the benefit requires changes to communication and system-level components.</a:t>
            </a:r>
          </a:p>
          <a:p>
            <a:pPr lvl="1"/>
            <a:endParaRPr lang="en-US" dirty="0"/>
          </a:p>
        </p:txBody>
      </p:sp>
      <p:sp>
        <p:nvSpPr>
          <p:cNvPr id="5" name="Slide Number Placeholder 4">
            <a:extLst>
              <a:ext uri="{FF2B5EF4-FFF2-40B4-BE49-F238E27FC236}">
                <a16:creationId xmlns:a16="http://schemas.microsoft.com/office/drawing/2014/main" id="{EEA9134E-7598-1C04-0F98-3541F6832208}"/>
              </a:ext>
            </a:extLst>
          </p:cNvPr>
          <p:cNvSpPr>
            <a:spLocks noGrp="1"/>
          </p:cNvSpPr>
          <p:nvPr>
            <p:ph type="sldNum" idx="12"/>
          </p:nvPr>
        </p:nvSpPr>
        <p:spPr/>
        <p:txBody>
          <a:bodyPr/>
          <a:lstStyle/>
          <a:p>
            <a:fld id="{00000000-1234-1234-1234-123412341234}" type="slidenum">
              <a:rPr lang="en" smtClean="0"/>
              <a:pPr/>
              <a:t>8</a:t>
            </a:fld>
            <a:endParaRPr lang="en">
              <a:latin typeface="Palatino" pitchFamily="2" charset="77"/>
              <a:ea typeface="Palatino" pitchFamily="2" charset="77"/>
            </a:endParaRPr>
          </a:p>
        </p:txBody>
      </p:sp>
      <p:sp>
        <p:nvSpPr>
          <p:cNvPr id="7" name="Footer Placeholder 7">
            <a:extLst>
              <a:ext uri="{FF2B5EF4-FFF2-40B4-BE49-F238E27FC236}">
                <a16:creationId xmlns:a16="http://schemas.microsoft.com/office/drawing/2014/main" id="{8DF7FB9A-06B5-AE7C-2C41-8E23E6B86411}"/>
              </a:ext>
            </a:extLst>
          </p:cNvPr>
          <p:cNvSpPr>
            <a:spLocks noGrp="1"/>
          </p:cNvSpPr>
          <p:nvPr>
            <p:ph type="ftr" idx="11"/>
          </p:nvPr>
        </p:nvSpPr>
        <p:spPr>
          <a:xfrm>
            <a:off x="4657345" y="6542142"/>
            <a:ext cx="4049335" cy="301758"/>
          </a:xfrm>
        </p:spPr>
        <p:txBody>
          <a:bodyPr/>
          <a:lstStyle/>
          <a:p>
            <a:r>
              <a:rPr lang="en-US" dirty="0"/>
              <a:t>University of Florida</a:t>
            </a:r>
          </a:p>
        </p:txBody>
      </p:sp>
    </p:spTree>
    <p:extLst>
      <p:ext uri="{BB962C8B-B14F-4D97-AF65-F5344CB8AC3E}">
        <p14:creationId xmlns:p14="http://schemas.microsoft.com/office/powerpoint/2010/main" val="41226373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BBB67-3636-A2A7-2269-93FF37001A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7F17CD-92B3-2C4E-8D5E-E8E784ACAD51}"/>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FE01B6AE-410E-B365-610F-7FBB2868E5A6}"/>
              </a:ext>
            </a:extLst>
          </p:cNvPr>
          <p:cNvSpPr>
            <a:spLocks noGrp="1"/>
          </p:cNvSpPr>
          <p:nvPr>
            <p:ph idx="1"/>
          </p:nvPr>
        </p:nvSpPr>
        <p:spPr/>
        <p:txBody>
          <a:bodyPr/>
          <a:lstStyle/>
          <a:p>
            <a:r>
              <a:rPr lang="en-US" dirty="0">
                <a:solidFill>
                  <a:schemeClr val="bg1">
                    <a:lumMod val="75000"/>
                  </a:schemeClr>
                </a:solidFill>
              </a:rPr>
              <a:t>Background and Motivation</a:t>
            </a:r>
          </a:p>
          <a:p>
            <a:r>
              <a:rPr lang="en-US" dirty="0">
                <a:solidFill>
                  <a:srgbClr val="C00000"/>
                </a:solidFill>
              </a:rPr>
              <a:t>Bottleneck Analysis</a:t>
            </a:r>
          </a:p>
          <a:p>
            <a:r>
              <a:rPr lang="en-US" dirty="0"/>
              <a:t>System Co-Design</a:t>
            </a:r>
          </a:p>
          <a:p>
            <a:r>
              <a:rPr lang="en-US" dirty="0"/>
              <a:t>Evaluation</a:t>
            </a:r>
          </a:p>
          <a:p>
            <a:r>
              <a:rPr lang="en-US" dirty="0"/>
              <a:t>Conclusion and Acknowledgments</a:t>
            </a:r>
          </a:p>
        </p:txBody>
      </p:sp>
      <p:sp>
        <p:nvSpPr>
          <p:cNvPr id="5" name="Slide Number Placeholder 4">
            <a:extLst>
              <a:ext uri="{FF2B5EF4-FFF2-40B4-BE49-F238E27FC236}">
                <a16:creationId xmlns:a16="http://schemas.microsoft.com/office/drawing/2014/main" id="{616B7487-F5CE-A62E-80A6-458CF839D4C8}"/>
              </a:ext>
            </a:extLst>
          </p:cNvPr>
          <p:cNvSpPr>
            <a:spLocks noGrp="1"/>
          </p:cNvSpPr>
          <p:nvPr>
            <p:ph type="sldNum" idx="12"/>
          </p:nvPr>
        </p:nvSpPr>
        <p:spPr/>
        <p:txBody>
          <a:bodyPr/>
          <a:lstStyle/>
          <a:p>
            <a:fld id="{00000000-1234-1234-1234-123412341234}" type="slidenum">
              <a:rPr lang="en" smtClean="0"/>
              <a:pPr/>
              <a:t>9</a:t>
            </a:fld>
            <a:endParaRPr lang="en"/>
          </a:p>
        </p:txBody>
      </p:sp>
      <p:sp>
        <p:nvSpPr>
          <p:cNvPr id="6" name="Footer Placeholder 7">
            <a:extLst>
              <a:ext uri="{FF2B5EF4-FFF2-40B4-BE49-F238E27FC236}">
                <a16:creationId xmlns:a16="http://schemas.microsoft.com/office/drawing/2014/main" id="{E7BD54B1-973B-5ED8-CD72-29F4143B1CB1}"/>
              </a:ext>
            </a:extLst>
          </p:cNvPr>
          <p:cNvSpPr>
            <a:spLocks noGrp="1"/>
          </p:cNvSpPr>
          <p:nvPr>
            <p:ph type="ftr" idx="11"/>
          </p:nvPr>
        </p:nvSpPr>
        <p:spPr>
          <a:xfrm>
            <a:off x="4657345" y="6542142"/>
            <a:ext cx="4049335" cy="301758"/>
          </a:xfrm>
        </p:spPr>
        <p:txBody>
          <a:bodyPr/>
          <a:lstStyle/>
          <a:p>
            <a:r>
              <a:rPr lang="en-US" dirty="0"/>
              <a:t>University of Florida</a:t>
            </a:r>
          </a:p>
        </p:txBody>
      </p:sp>
    </p:spTree>
    <p:extLst>
      <p:ext uri="{BB962C8B-B14F-4D97-AF65-F5344CB8AC3E}">
        <p14:creationId xmlns:p14="http://schemas.microsoft.com/office/powerpoint/2010/main" val="3191761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D62A8-4C53-4F7A-9E37-EA9589A71ACA}"/>
              </a:ext>
            </a:extLst>
          </p:cNvPr>
          <p:cNvSpPr>
            <a:spLocks noGrp="1"/>
          </p:cNvSpPr>
          <p:nvPr>
            <p:ph type="title"/>
          </p:nvPr>
        </p:nvSpPr>
        <p:spPr/>
        <p:txBody>
          <a:bodyPr/>
          <a:lstStyle/>
          <a:p>
            <a:r>
              <a:rPr lang="en-GB" dirty="0"/>
              <a:t>Default UCX RC at Long-Haul</a:t>
            </a:r>
          </a:p>
        </p:txBody>
      </p:sp>
      <p:sp>
        <p:nvSpPr>
          <p:cNvPr id="3" name="Content Placeholder 2">
            <a:extLst>
              <a:ext uri="{FF2B5EF4-FFF2-40B4-BE49-F238E27FC236}">
                <a16:creationId xmlns:a16="http://schemas.microsoft.com/office/drawing/2014/main" id="{1A9BFD9F-5A4F-E508-5B7F-D91882D8679F}"/>
              </a:ext>
            </a:extLst>
          </p:cNvPr>
          <p:cNvSpPr>
            <a:spLocks noGrp="1"/>
          </p:cNvSpPr>
          <p:nvPr>
            <p:ph idx="1"/>
          </p:nvPr>
        </p:nvSpPr>
        <p:spPr/>
        <p:txBody>
          <a:bodyPr/>
          <a:lstStyle/>
          <a:p>
            <a:r>
              <a:rPr lang="en-US" dirty="0"/>
              <a:t>Default UCX RC at long-haul RDMA </a:t>
            </a:r>
            <a:r>
              <a:rPr lang="en-US" dirty="0" err="1"/>
              <a:t>envirounment</a:t>
            </a:r>
            <a:endParaRPr lang="en-US" dirty="0"/>
          </a:p>
          <a:p>
            <a:pPr lvl="1"/>
            <a:r>
              <a:rPr lang="en-US" dirty="0"/>
              <a:t>Achieves only </a:t>
            </a:r>
            <a:r>
              <a:rPr lang="en-US" b="1" dirty="0"/>
              <a:t>23 MB/s per stream</a:t>
            </a:r>
          </a:p>
          <a:p>
            <a:pPr lvl="1"/>
            <a:r>
              <a:rPr lang="en-US" b="1" dirty="0"/>
              <a:t>Independent of message size</a:t>
            </a:r>
          </a:p>
          <a:p>
            <a:pPr lvl="1"/>
            <a:r>
              <a:rPr lang="en-US" dirty="0" err="1"/>
              <a:t>ib_write_bw</a:t>
            </a:r>
            <a:r>
              <a:rPr lang="en-US" dirty="0"/>
              <a:t> reaches </a:t>
            </a:r>
            <a:r>
              <a:rPr lang="en-US" b="1" dirty="0"/>
              <a:t>~10.3 GB/s</a:t>
            </a:r>
            <a:r>
              <a:rPr lang="en-US" dirty="0"/>
              <a:t> on the same link</a:t>
            </a:r>
            <a:r>
              <a:rPr lang="zh-CN" altLang="en-US" dirty="0"/>
              <a:t> </a:t>
            </a:r>
            <a:r>
              <a:rPr lang="en-US" altLang="zh-CN" dirty="0"/>
              <a:t>at 64 MB</a:t>
            </a:r>
            <a:endParaRPr lang="en-US" dirty="0"/>
          </a:p>
          <a:p>
            <a:r>
              <a:rPr lang="en-US" dirty="0"/>
              <a:t>The transport is emitting a fixed number of messages.</a:t>
            </a:r>
          </a:p>
          <a:p>
            <a:endParaRPr lang="en-US" dirty="0"/>
          </a:p>
          <a:p>
            <a:endParaRPr lang="en-GB" dirty="0"/>
          </a:p>
        </p:txBody>
      </p:sp>
      <p:sp>
        <p:nvSpPr>
          <p:cNvPr id="4" name="Footer Placeholder 3">
            <a:extLst>
              <a:ext uri="{FF2B5EF4-FFF2-40B4-BE49-F238E27FC236}">
                <a16:creationId xmlns:a16="http://schemas.microsoft.com/office/drawing/2014/main" id="{4ACAE16D-7EF6-4170-B53F-1AE95239DA39}"/>
              </a:ext>
            </a:extLst>
          </p:cNvPr>
          <p:cNvSpPr>
            <a:spLocks noGrp="1"/>
          </p:cNvSpPr>
          <p:nvPr>
            <p:ph type="ftr" idx="11"/>
          </p:nvPr>
        </p:nvSpPr>
        <p:spPr/>
        <p:txBody>
          <a:bodyPr/>
          <a:lstStyle/>
          <a:p>
            <a:r>
              <a:rPr lang="en-US"/>
              <a:t>University of Florida</a:t>
            </a:r>
            <a:endParaRPr lang="en-US" dirty="0"/>
          </a:p>
        </p:txBody>
      </p:sp>
      <p:sp>
        <p:nvSpPr>
          <p:cNvPr id="5" name="Slide Number Placeholder 4">
            <a:extLst>
              <a:ext uri="{FF2B5EF4-FFF2-40B4-BE49-F238E27FC236}">
                <a16:creationId xmlns:a16="http://schemas.microsoft.com/office/drawing/2014/main" id="{87106774-1781-9D6E-65F2-3922758AB564}"/>
              </a:ext>
            </a:extLst>
          </p:cNvPr>
          <p:cNvSpPr>
            <a:spLocks noGrp="1"/>
          </p:cNvSpPr>
          <p:nvPr>
            <p:ph type="sldNum" idx="12"/>
          </p:nvPr>
        </p:nvSpPr>
        <p:spPr/>
        <p:txBody>
          <a:bodyPr/>
          <a:lstStyle/>
          <a:p>
            <a:fld id="{00000000-1234-1234-1234-123412341234}" type="slidenum">
              <a:rPr lang="en" smtClean="0"/>
              <a:pPr/>
              <a:t>10</a:t>
            </a:fld>
            <a:endParaRPr lang="en">
              <a:latin typeface="Palatino" pitchFamily="2" charset="77"/>
              <a:ea typeface="Palatino" pitchFamily="2" charset="77"/>
            </a:endParaRPr>
          </a:p>
        </p:txBody>
      </p:sp>
      <p:pic>
        <p:nvPicPr>
          <p:cNvPr id="14" name="Picture 13">
            <a:extLst>
              <a:ext uri="{FF2B5EF4-FFF2-40B4-BE49-F238E27FC236}">
                <a16:creationId xmlns:a16="http://schemas.microsoft.com/office/drawing/2014/main" id="{D0DFBE01-70FB-EEA1-A314-BDF399479E53}"/>
              </a:ext>
            </a:extLst>
          </p:cNvPr>
          <p:cNvPicPr>
            <a:picLocks noChangeAspect="1"/>
          </p:cNvPicPr>
          <p:nvPr/>
        </p:nvPicPr>
        <p:blipFill>
          <a:blip r:embed="rId3">
            <a:extLst>
              <a:ext uri="{28A0092B-C50C-407E-A947-70E740481C1C}">
                <a14:useLocalDpi xmlns:a14="http://schemas.microsoft.com/office/drawing/2010/main" val="0"/>
              </a:ext>
            </a:extLst>
          </a:blip>
          <a:srcRect t="22110" r="4986" b="2747"/>
          <a:stretch>
            <a:fillRect/>
          </a:stretch>
        </p:blipFill>
        <p:spPr>
          <a:xfrm>
            <a:off x="2403550" y="3345152"/>
            <a:ext cx="7384900" cy="3144854"/>
          </a:xfrm>
          <a:prstGeom prst="rect">
            <a:avLst/>
          </a:prstGeom>
        </p:spPr>
      </p:pic>
    </p:spTree>
    <p:extLst>
      <p:ext uri="{BB962C8B-B14F-4D97-AF65-F5344CB8AC3E}">
        <p14:creationId xmlns:p14="http://schemas.microsoft.com/office/powerpoint/2010/main" val="170147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270A4-D442-406A-5CA5-4E809B9FC4CC}"/>
              </a:ext>
            </a:extLst>
          </p:cNvPr>
          <p:cNvSpPr>
            <a:spLocks noGrp="1"/>
          </p:cNvSpPr>
          <p:nvPr>
            <p:ph type="title"/>
          </p:nvPr>
        </p:nvSpPr>
        <p:spPr/>
        <p:txBody>
          <a:bodyPr/>
          <a:lstStyle/>
          <a:p>
            <a:r>
              <a:rPr lang="en-GB" dirty="0"/>
              <a:t>Root Cause: Firmware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C175E95-A6F5-5A88-E7FB-33CFDAFD411B}"/>
                  </a:ext>
                </a:extLst>
              </p:cNvPr>
              <p:cNvSpPr>
                <a:spLocks noGrp="1"/>
              </p:cNvSpPr>
              <p:nvPr>
                <p:ph idx="1"/>
              </p:nvPr>
            </p:nvSpPr>
            <p:spPr/>
            <p:txBody>
              <a:bodyPr/>
              <a:lstStyle/>
              <a:p>
                <a:r>
                  <a:rPr lang="en-GB" dirty="0"/>
                  <a:t>On DEVX-created queue pairs the firmware misclassifies the on-air ACK response as loss</a:t>
                </a:r>
              </a:p>
              <a:p>
                <a:pPr lvl="1"/>
                <a:r>
                  <a:rPr lang="en-GB" dirty="0"/>
                  <a:t>UCP posts one 64MB WR</a:t>
                </a:r>
              </a:p>
              <a:p>
                <a:pPr lvl="1"/>
                <a:r>
                  <a:rPr lang="en-GB" dirty="0"/>
                  <a:t>NIC counters show 64 </a:t>
                </a:r>
                <a14:m>
                  <m:oMath xmlns:m="http://schemas.openxmlformats.org/officeDocument/2006/math">
                    <m:r>
                      <a:rPr lang="en-GB" i="1" smtClean="0">
                        <a:latin typeface="Cambria Math" panose="02040503050406030204" pitchFamily="18" charset="0"/>
                        <a:ea typeface="Cambria Math" panose="02040503050406030204" pitchFamily="18" charset="0"/>
                      </a:rPr>
                      <m:t>×</m:t>
                    </m:r>
                  </m:oMath>
                </a14:m>
                <a:r>
                  <a:rPr lang="en-GB" dirty="0"/>
                  <a:t> 1MB: firmware split</a:t>
                </a:r>
              </a:p>
              <a:p>
                <a:pPr lvl="1"/>
                <a:r>
                  <a:rPr lang="en-GB" dirty="0"/>
                  <a:t>On the DEVX QP path, in-flight data with 88ms latency triggers adaptive retransmission -&gt; ~200 </a:t>
                </a:r>
                <a:r>
                  <a:rPr lang="en-GB" dirty="0" err="1"/>
                  <a:t>roce_adp_retrains</a:t>
                </a:r>
                <a:endParaRPr lang="en-GB" dirty="0"/>
              </a:p>
              <a:p>
                <a:pPr lvl="1"/>
                <a:r>
                  <a:rPr lang="en-GB" dirty="0"/>
                  <a:t>A removable configuration pathology, not a property of RC.</a:t>
                </a:r>
              </a:p>
            </p:txBody>
          </p:sp>
        </mc:Choice>
        <mc:Fallback>
          <p:sp>
            <p:nvSpPr>
              <p:cNvPr id="3" name="Content Placeholder 2">
                <a:extLst>
                  <a:ext uri="{FF2B5EF4-FFF2-40B4-BE49-F238E27FC236}">
                    <a16:creationId xmlns:a16="http://schemas.microsoft.com/office/drawing/2014/main" id="{9C175E95-A6F5-5A88-E7FB-33CFDAFD411B}"/>
                  </a:ext>
                </a:extLst>
              </p:cNvPr>
              <p:cNvSpPr>
                <a:spLocks noGrp="1" noRot="1" noChangeAspect="1" noMove="1" noResize="1" noEditPoints="1" noAdjustHandles="1" noChangeArrowheads="1" noChangeShapeType="1" noTextEdit="1"/>
              </p:cNvSpPr>
              <p:nvPr>
                <p:ph idx="1"/>
              </p:nvPr>
            </p:nvSpPr>
            <p:spPr>
              <a:blipFill>
                <a:blip r:embed="rId3"/>
                <a:stretch>
                  <a:fillRect l="-925" t="-1691" r="-1734"/>
                </a:stretch>
              </a:blipFill>
            </p:spPr>
            <p:txBody>
              <a:bodyPr/>
              <a:lstStyle/>
              <a:p>
                <a:r>
                  <a:rPr lang="en-GB">
                    <a:noFill/>
                  </a:rPr>
                  <a:t> </a:t>
                </a:r>
              </a:p>
            </p:txBody>
          </p:sp>
        </mc:Fallback>
      </mc:AlternateContent>
      <p:sp>
        <p:nvSpPr>
          <p:cNvPr id="4" name="Footer Placeholder 3">
            <a:extLst>
              <a:ext uri="{FF2B5EF4-FFF2-40B4-BE49-F238E27FC236}">
                <a16:creationId xmlns:a16="http://schemas.microsoft.com/office/drawing/2014/main" id="{20F07E1C-09E6-63C0-0F15-888D92394B4F}"/>
              </a:ext>
            </a:extLst>
          </p:cNvPr>
          <p:cNvSpPr>
            <a:spLocks noGrp="1"/>
          </p:cNvSpPr>
          <p:nvPr>
            <p:ph type="ftr" idx="11"/>
          </p:nvPr>
        </p:nvSpPr>
        <p:spPr/>
        <p:txBody>
          <a:bodyPr/>
          <a:lstStyle/>
          <a:p>
            <a:r>
              <a:rPr lang="en-US"/>
              <a:t>University of Florida</a:t>
            </a:r>
            <a:endParaRPr lang="en-US" dirty="0"/>
          </a:p>
        </p:txBody>
      </p:sp>
      <p:sp>
        <p:nvSpPr>
          <p:cNvPr id="5" name="Slide Number Placeholder 4">
            <a:extLst>
              <a:ext uri="{FF2B5EF4-FFF2-40B4-BE49-F238E27FC236}">
                <a16:creationId xmlns:a16="http://schemas.microsoft.com/office/drawing/2014/main" id="{A5AABE12-FB13-A2E6-0008-6E8946B9FE41}"/>
              </a:ext>
            </a:extLst>
          </p:cNvPr>
          <p:cNvSpPr>
            <a:spLocks noGrp="1"/>
          </p:cNvSpPr>
          <p:nvPr>
            <p:ph type="sldNum" idx="12"/>
          </p:nvPr>
        </p:nvSpPr>
        <p:spPr/>
        <p:txBody>
          <a:bodyPr/>
          <a:lstStyle/>
          <a:p>
            <a:fld id="{00000000-1234-1234-1234-123412341234}" type="slidenum">
              <a:rPr lang="en" smtClean="0"/>
              <a:pPr/>
              <a:t>11</a:t>
            </a:fld>
            <a:endParaRPr lang="en">
              <a:latin typeface="Palatino" pitchFamily="2" charset="77"/>
              <a:ea typeface="Palatino" pitchFamily="2" charset="77"/>
            </a:endParaRPr>
          </a:p>
        </p:txBody>
      </p:sp>
      <p:pic>
        <p:nvPicPr>
          <p:cNvPr id="9" name="Picture 8">
            <a:extLst>
              <a:ext uri="{FF2B5EF4-FFF2-40B4-BE49-F238E27FC236}">
                <a16:creationId xmlns:a16="http://schemas.microsoft.com/office/drawing/2014/main" id="{832BF962-2DE4-B8C9-434A-5A0BF22CA13E}"/>
              </a:ext>
            </a:extLst>
          </p:cNvPr>
          <p:cNvPicPr>
            <a:picLocks noChangeAspect="1"/>
          </p:cNvPicPr>
          <p:nvPr/>
        </p:nvPicPr>
        <p:blipFill>
          <a:blip r:embed="rId4">
            <a:extLst>
              <a:ext uri="{28A0092B-C50C-407E-A947-70E740481C1C}">
                <a14:useLocalDpi xmlns:a14="http://schemas.microsoft.com/office/drawing/2010/main" val="0"/>
              </a:ext>
            </a:extLst>
          </a:blip>
          <a:srcRect b="20798"/>
          <a:stretch>
            <a:fillRect/>
          </a:stretch>
        </p:blipFill>
        <p:spPr>
          <a:xfrm>
            <a:off x="1052857" y="4318895"/>
            <a:ext cx="10086285" cy="1932902"/>
          </a:xfrm>
          <a:prstGeom prst="rect">
            <a:avLst/>
          </a:prstGeom>
        </p:spPr>
      </p:pic>
    </p:spTree>
    <p:extLst>
      <p:ext uri="{BB962C8B-B14F-4D97-AF65-F5344CB8AC3E}">
        <p14:creationId xmlns:p14="http://schemas.microsoft.com/office/powerpoint/2010/main" val="1893867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EE4CD-F4A0-EEEB-F1D7-F6C3DE5607E8}"/>
              </a:ext>
            </a:extLst>
          </p:cNvPr>
          <p:cNvSpPr>
            <a:spLocks noGrp="1"/>
          </p:cNvSpPr>
          <p:nvPr>
            <p:ph type="title"/>
          </p:nvPr>
        </p:nvSpPr>
        <p:spPr/>
        <p:txBody>
          <a:bodyPr/>
          <a:lstStyle/>
          <a:p>
            <a:r>
              <a:rPr lang="en-GB" dirty="0"/>
              <a:t>RC-Fixed</a:t>
            </a:r>
          </a:p>
        </p:txBody>
      </p:sp>
      <p:sp>
        <p:nvSpPr>
          <p:cNvPr id="3" name="Content Placeholder 2">
            <a:extLst>
              <a:ext uri="{FF2B5EF4-FFF2-40B4-BE49-F238E27FC236}">
                <a16:creationId xmlns:a16="http://schemas.microsoft.com/office/drawing/2014/main" id="{33B58C8D-1C90-FA02-4B91-41D5E4D7FB44}"/>
              </a:ext>
            </a:extLst>
          </p:cNvPr>
          <p:cNvSpPr>
            <a:spLocks noGrp="1"/>
          </p:cNvSpPr>
          <p:nvPr>
            <p:ph idx="1"/>
          </p:nvPr>
        </p:nvSpPr>
        <p:spPr/>
        <p:txBody>
          <a:bodyPr/>
          <a:lstStyle/>
          <a:p>
            <a:r>
              <a:rPr lang="en-US" dirty="0"/>
              <a:t>RC-Fixed</a:t>
            </a:r>
            <a:endParaRPr lang="en-US" b="1" dirty="0"/>
          </a:p>
          <a:p>
            <a:pPr lvl="1"/>
            <a:r>
              <a:rPr lang="en-US" dirty="0"/>
              <a:t>Set UCX_IB_MLX5_DEVX=n</a:t>
            </a:r>
          </a:p>
          <a:p>
            <a:pPr lvl="1"/>
            <a:r>
              <a:rPr lang="en-US" dirty="0"/>
              <a:t>UCX level improved to 4.3 GB/s; MPI level improved to 2.5 GB/s</a:t>
            </a:r>
          </a:p>
          <a:p>
            <a:pPr lvl="1"/>
            <a:r>
              <a:rPr lang="en-US" dirty="0"/>
              <a:t>Change only the queue pair creation path</a:t>
            </a:r>
          </a:p>
          <a:p>
            <a:pPr lvl="1"/>
            <a:endParaRPr lang="en-GB" dirty="0"/>
          </a:p>
        </p:txBody>
      </p:sp>
      <p:sp>
        <p:nvSpPr>
          <p:cNvPr id="4" name="Footer Placeholder 3">
            <a:extLst>
              <a:ext uri="{FF2B5EF4-FFF2-40B4-BE49-F238E27FC236}">
                <a16:creationId xmlns:a16="http://schemas.microsoft.com/office/drawing/2014/main" id="{0BBA4828-A469-C82D-6783-D03F18AC3473}"/>
              </a:ext>
            </a:extLst>
          </p:cNvPr>
          <p:cNvSpPr>
            <a:spLocks noGrp="1"/>
          </p:cNvSpPr>
          <p:nvPr>
            <p:ph type="ftr" idx="11"/>
          </p:nvPr>
        </p:nvSpPr>
        <p:spPr/>
        <p:txBody>
          <a:bodyPr/>
          <a:lstStyle/>
          <a:p>
            <a:r>
              <a:rPr lang="en-US"/>
              <a:t>University of Florida</a:t>
            </a:r>
            <a:endParaRPr lang="en-US" dirty="0"/>
          </a:p>
        </p:txBody>
      </p:sp>
      <p:sp>
        <p:nvSpPr>
          <p:cNvPr id="5" name="Slide Number Placeholder 4">
            <a:extLst>
              <a:ext uri="{FF2B5EF4-FFF2-40B4-BE49-F238E27FC236}">
                <a16:creationId xmlns:a16="http://schemas.microsoft.com/office/drawing/2014/main" id="{C26FF6B6-9B13-A7DE-4F39-7C761D0A94EA}"/>
              </a:ext>
            </a:extLst>
          </p:cNvPr>
          <p:cNvSpPr>
            <a:spLocks noGrp="1"/>
          </p:cNvSpPr>
          <p:nvPr>
            <p:ph type="sldNum" idx="12"/>
          </p:nvPr>
        </p:nvSpPr>
        <p:spPr/>
        <p:txBody>
          <a:bodyPr/>
          <a:lstStyle/>
          <a:p>
            <a:fld id="{00000000-1234-1234-1234-123412341234}" type="slidenum">
              <a:rPr lang="en" smtClean="0"/>
              <a:pPr/>
              <a:t>12</a:t>
            </a:fld>
            <a:endParaRPr lang="en">
              <a:latin typeface="Palatino" pitchFamily="2" charset="77"/>
              <a:ea typeface="Palatino" pitchFamily="2" charset="77"/>
            </a:endParaRPr>
          </a:p>
        </p:txBody>
      </p:sp>
      <p:pic>
        <p:nvPicPr>
          <p:cNvPr id="7" name="Picture 6">
            <a:extLst>
              <a:ext uri="{FF2B5EF4-FFF2-40B4-BE49-F238E27FC236}">
                <a16:creationId xmlns:a16="http://schemas.microsoft.com/office/drawing/2014/main" id="{776A7660-0716-E2C1-B82D-88F942C9A472}"/>
              </a:ext>
            </a:extLst>
          </p:cNvPr>
          <p:cNvPicPr>
            <a:picLocks noChangeAspect="1"/>
          </p:cNvPicPr>
          <p:nvPr/>
        </p:nvPicPr>
        <p:blipFill>
          <a:blip r:embed="rId3">
            <a:extLst>
              <a:ext uri="{28A0092B-C50C-407E-A947-70E740481C1C}">
                <a14:useLocalDpi xmlns:a14="http://schemas.microsoft.com/office/drawing/2010/main" val="0"/>
              </a:ext>
            </a:extLst>
          </a:blip>
          <a:srcRect b="27365"/>
          <a:stretch>
            <a:fillRect/>
          </a:stretch>
        </p:blipFill>
        <p:spPr>
          <a:xfrm>
            <a:off x="1101704" y="3812060"/>
            <a:ext cx="9574565" cy="2033551"/>
          </a:xfrm>
          <a:prstGeom prst="rect">
            <a:avLst/>
          </a:prstGeom>
        </p:spPr>
      </p:pic>
    </p:spTree>
    <p:extLst>
      <p:ext uri="{BB962C8B-B14F-4D97-AF65-F5344CB8AC3E}">
        <p14:creationId xmlns:p14="http://schemas.microsoft.com/office/powerpoint/2010/main" val="3084931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A8532-088B-D93A-482D-0A4241162307}"/>
              </a:ext>
            </a:extLst>
          </p:cNvPr>
          <p:cNvSpPr>
            <a:spLocks noGrp="1"/>
          </p:cNvSpPr>
          <p:nvPr>
            <p:ph type="title"/>
          </p:nvPr>
        </p:nvSpPr>
        <p:spPr/>
        <p:txBody>
          <a:bodyPr/>
          <a:lstStyle/>
          <a:p>
            <a:r>
              <a:rPr lang="en-GB" dirty="0"/>
              <a:t>ACK-Coupled Completion</a:t>
            </a:r>
          </a:p>
        </p:txBody>
      </p:sp>
      <p:sp>
        <p:nvSpPr>
          <p:cNvPr id="3" name="Content Placeholder 2">
            <a:extLst>
              <a:ext uri="{FF2B5EF4-FFF2-40B4-BE49-F238E27FC236}">
                <a16:creationId xmlns:a16="http://schemas.microsoft.com/office/drawing/2014/main" id="{2414CA88-DD37-E9A8-46FF-722A8B50531A}"/>
              </a:ext>
            </a:extLst>
          </p:cNvPr>
          <p:cNvSpPr>
            <a:spLocks noGrp="1"/>
          </p:cNvSpPr>
          <p:nvPr>
            <p:ph idx="1"/>
          </p:nvPr>
        </p:nvSpPr>
        <p:spPr/>
        <p:txBody>
          <a:bodyPr/>
          <a:lstStyle/>
          <a:p>
            <a:r>
              <a:rPr lang="en-GB" dirty="0"/>
              <a:t>RC: ACK-coupled completion</a:t>
            </a:r>
          </a:p>
          <a:p>
            <a:pPr lvl="1"/>
            <a:r>
              <a:rPr lang="en-US" dirty="0"/>
              <a:t>Send completion is still </a:t>
            </a:r>
            <a:r>
              <a:rPr lang="en-US" b="1" dirty="0"/>
              <a:t>coupled to a wire-level ACK</a:t>
            </a:r>
            <a:endParaRPr lang="en-US" dirty="0"/>
          </a:p>
          <a:p>
            <a:pPr lvl="1"/>
            <a:r>
              <a:rPr lang="en-US" dirty="0"/>
              <a:t>Hardware caps on </a:t>
            </a:r>
            <a:r>
              <a:rPr lang="en-US" b="1" dirty="0"/>
              <a:t>in-flight requests</a:t>
            </a:r>
            <a:r>
              <a:rPr lang="en-US" dirty="0"/>
              <a:t> remain</a:t>
            </a:r>
          </a:p>
          <a:p>
            <a:pPr lvl="1"/>
            <a:r>
              <a:rPr lang="en-US" dirty="0"/>
              <a:t>Each transfer still pays a </a:t>
            </a:r>
            <a:r>
              <a:rPr lang="en-US" b="1" dirty="0"/>
              <a:t>rendezvous </a:t>
            </a:r>
            <a:br>
              <a:rPr lang="en-US" b="1" dirty="0"/>
            </a:br>
            <a:r>
              <a:rPr lang="en-US" b="1" dirty="0"/>
              <a:t>handshake</a:t>
            </a:r>
          </a:p>
          <a:p>
            <a:r>
              <a:rPr lang="en-US" dirty="0"/>
              <a:t>The bottleneck is a property of the </a:t>
            </a:r>
            <a:br>
              <a:rPr lang="en-US" dirty="0"/>
            </a:br>
            <a:r>
              <a:rPr lang="en-US" b="1" dirty="0"/>
              <a:t>default UCX RC transport</a:t>
            </a:r>
          </a:p>
          <a:p>
            <a:pPr lvl="1"/>
            <a:r>
              <a:rPr lang="en-US" dirty="0"/>
              <a:t>A transport decouples payload transmission </a:t>
            </a:r>
            <a:br>
              <a:rPr lang="en-US" dirty="0"/>
            </a:br>
            <a:r>
              <a:rPr lang="en-US" dirty="0"/>
              <a:t>from ACK-dependent reliability control </a:t>
            </a:r>
          </a:p>
          <a:p>
            <a:pPr lvl="1"/>
            <a:r>
              <a:rPr lang="en-US" dirty="0"/>
              <a:t>Workload (FL) awareness is missing.</a:t>
            </a:r>
          </a:p>
          <a:p>
            <a:pPr lvl="1"/>
            <a:r>
              <a:rPr lang="en-US" dirty="0"/>
              <a:t>The default chain from the FL aggregator </a:t>
            </a:r>
            <a:br>
              <a:rPr lang="en-US" dirty="0"/>
            </a:br>
            <a:r>
              <a:rPr lang="en-US" dirty="0"/>
              <a:t>down to verbs assumes short-RTT </a:t>
            </a:r>
            <a:br>
              <a:rPr lang="en-US" dirty="0"/>
            </a:br>
            <a:r>
              <a:rPr lang="en-US" dirty="0" err="1"/>
              <a:t>behaviour</a:t>
            </a:r>
            <a:r>
              <a:rPr lang="en-US" dirty="0"/>
              <a:t> at </a:t>
            </a:r>
            <a:r>
              <a:rPr lang="en-US" b="1" dirty="0"/>
              <a:t>every</a:t>
            </a:r>
            <a:r>
              <a:rPr lang="en-US" dirty="0"/>
              <a:t> level.</a:t>
            </a:r>
          </a:p>
          <a:p>
            <a:endParaRPr lang="en-US" dirty="0"/>
          </a:p>
          <a:p>
            <a:pPr lvl="1"/>
            <a:endParaRPr lang="en-GB" dirty="0"/>
          </a:p>
          <a:p>
            <a:pPr lvl="1"/>
            <a:endParaRPr lang="en-GB" dirty="0"/>
          </a:p>
        </p:txBody>
      </p:sp>
      <p:sp>
        <p:nvSpPr>
          <p:cNvPr id="4" name="Footer Placeholder 3">
            <a:extLst>
              <a:ext uri="{FF2B5EF4-FFF2-40B4-BE49-F238E27FC236}">
                <a16:creationId xmlns:a16="http://schemas.microsoft.com/office/drawing/2014/main" id="{9D6A7A2F-2CBC-B428-2B39-F5761002AE7B}"/>
              </a:ext>
            </a:extLst>
          </p:cNvPr>
          <p:cNvSpPr>
            <a:spLocks noGrp="1"/>
          </p:cNvSpPr>
          <p:nvPr>
            <p:ph type="ftr" idx="11"/>
          </p:nvPr>
        </p:nvSpPr>
        <p:spPr/>
        <p:txBody>
          <a:bodyPr/>
          <a:lstStyle/>
          <a:p>
            <a:r>
              <a:rPr lang="en-US"/>
              <a:t>University of Florida</a:t>
            </a:r>
            <a:endParaRPr lang="en-US" dirty="0"/>
          </a:p>
        </p:txBody>
      </p:sp>
      <p:sp>
        <p:nvSpPr>
          <p:cNvPr id="5" name="Slide Number Placeholder 4">
            <a:extLst>
              <a:ext uri="{FF2B5EF4-FFF2-40B4-BE49-F238E27FC236}">
                <a16:creationId xmlns:a16="http://schemas.microsoft.com/office/drawing/2014/main" id="{7464BDD5-22FC-0D03-F817-056D9CDF45C0}"/>
              </a:ext>
            </a:extLst>
          </p:cNvPr>
          <p:cNvSpPr>
            <a:spLocks noGrp="1"/>
          </p:cNvSpPr>
          <p:nvPr>
            <p:ph type="sldNum" idx="12"/>
          </p:nvPr>
        </p:nvSpPr>
        <p:spPr/>
        <p:txBody>
          <a:bodyPr/>
          <a:lstStyle/>
          <a:p>
            <a:fld id="{00000000-1234-1234-1234-123412341234}" type="slidenum">
              <a:rPr lang="en" smtClean="0"/>
              <a:pPr/>
              <a:t>13</a:t>
            </a:fld>
            <a:endParaRPr lang="en">
              <a:latin typeface="Palatino" pitchFamily="2" charset="77"/>
              <a:ea typeface="Palatino" pitchFamily="2" charset="77"/>
            </a:endParaRPr>
          </a:p>
        </p:txBody>
      </p:sp>
      <p:pic>
        <p:nvPicPr>
          <p:cNvPr id="30" name="Picture 29">
            <a:extLst>
              <a:ext uri="{FF2B5EF4-FFF2-40B4-BE49-F238E27FC236}">
                <a16:creationId xmlns:a16="http://schemas.microsoft.com/office/drawing/2014/main" id="{FC06A040-A2F6-F70B-1B3E-C2C6B8140647}"/>
              </a:ext>
            </a:extLst>
          </p:cNvPr>
          <p:cNvPicPr>
            <a:picLocks noChangeAspect="1"/>
          </p:cNvPicPr>
          <p:nvPr/>
        </p:nvPicPr>
        <p:blipFill>
          <a:blip r:embed="rId3"/>
          <a:srcRect t="11495"/>
          <a:stretch>
            <a:fillRect/>
          </a:stretch>
        </p:blipFill>
        <p:spPr>
          <a:xfrm>
            <a:off x="7547029" y="5281252"/>
            <a:ext cx="4644971" cy="1156618"/>
          </a:xfrm>
          <a:prstGeom prst="rect">
            <a:avLst/>
          </a:prstGeom>
        </p:spPr>
      </p:pic>
      <p:pic>
        <p:nvPicPr>
          <p:cNvPr id="32" name="Picture 31">
            <a:extLst>
              <a:ext uri="{FF2B5EF4-FFF2-40B4-BE49-F238E27FC236}">
                <a16:creationId xmlns:a16="http://schemas.microsoft.com/office/drawing/2014/main" id="{069EF966-6119-6956-822D-858AB5C6A0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26568" y="2059677"/>
            <a:ext cx="3881147" cy="2738645"/>
          </a:xfrm>
          <a:prstGeom prst="rect">
            <a:avLst/>
          </a:prstGeom>
        </p:spPr>
      </p:pic>
    </p:spTree>
    <p:extLst>
      <p:ext uri="{BB962C8B-B14F-4D97-AF65-F5344CB8AC3E}">
        <p14:creationId xmlns:p14="http://schemas.microsoft.com/office/powerpoint/2010/main" val="1538650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CE1ED-39D7-654A-E1B8-1926652968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072DC6-38AE-B581-9C9C-6F94B9F3E453}"/>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D9A3AEB9-ED58-302A-5CE6-FF7512859F7F}"/>
              </a:ext>
            </a:extLst>
          </p:cNvPr>
          <p:cNvSpPr>
            <a:spLocks noGrp="1"/>
          </p:cNvSpPr>
          <p:nvPr>
            <p:ph idx="1"/>
          </p:nvPr>
        </p:nvSpPr>
        <p:spPr/>
        <p:txBody>
          <a:bodyPr/>
          <a:lstStyle/>
          <a:p>
            <a:r>
              <a:rPr lang="en-US" dirty="0">
                <a:solidFill>
                  <a:schemeClr val="bg1">
                    <a:lumMod val="75000"/>
                  </a:schemeClr>
                </a:solidFill>
              </a:rPr>
              <a:t>Background and Motivation</a:t>
            </a:r>
          </a:p>
          <a:p>
            <a:r>
              <a:rPr lang="en-US" dirty="0">
                <a:solidFill>
                  <a:schemeClr val="bg1">
                    <a:lumMod val="75000"/>
                  </a:schemeClr>
                </a:solidFill>
              </a:rPr>
              <a:t>Bottleneck Analysis</a:t>
            </a:r>
          </a:p>
          <a:p>
            <a:r>
              <a:rPr lang="en-US" dirty="0">
                <a:solidFill>
                  <a:srgbClr val="C00000"/>
                </a:solidFill>
              </a:rPr>
              <a:t>System Co-Design</a:t>
            </a:r>
          </a:p>
          <a:p>
            <a:r>
              <a:rPr lang="en-US" dirty="0"/>
              <a:t>Evaluation</a:t>
            </a:r>
          </a:p>
          <a:p>
            <a:r>
              <a:rPr lang="en-US" dirty="0"/>
              <a:t>Conclusion and Acknowledgments</a:t>
            </a:r>
          </a:p>
        </p:txBody>
      </p:sp>
      <p:sp>
        <p:nvSpPr>
          <p:cNvPr id="5" name="Slide Number Placeholder 4">
            <a:extLst>
              <a:ext uri="{FF2B5EF4-FFF2-40B4-BE49-F238E27FC236}">
                <a16:creationId xmlns:a16="http://schemas.microsoft.com/office/drawing/2014/main" id="{F076E25C-6F85-D680-5A83-BB6F4495086C}"/>
              </a:ext>
            </a:extLst>
          </p:cNvPr>
          <p:cNvSpPr>
            <a:spLocks noGrp="1"/>
          </p:cNvSpPr>
          <p:nvPr>
            <p:ph type="sldNum" idx="12"/>
          </p:nvPr>
        </p:nvSpPr>
        <p:spPr/>
        <p:txBody>
          <a:bodyPr/>
          <a:lstStyle/>
          <a:p>
            <a:fld id="{00000000-1234-1234-1234-123412341234}" type="slidenum">
              <a:rPr lang="en" smtClean="0"/>
              <a:pPr/>
              <a:t>14</a:t>
            </a:fld>
            <a:endParaRPr lang="en"/>
          </a:p>
        </p:txBody>
      </p:sp>
      <p:sp>
        <p:nvSpPr>
          <p:cNvPr id="6" name="Footer Placeholder 7">
            <a:extLst>
              <a:ext uri="{FF2B5EF4-FFF2-40B4-BE49-F238E27FC236}">
                <a16:creationId xmlns:a16="http://schemas.microsoft.com/office/drawing/2014/main" id="{49CC3394-5FCD-AB6B-62A5-7CF6D67E9AC6}"/>
              </a:ext>
            </a:extLst>
          </p:cNvPr>
          <p:cNvSpPr>
            <a:spLocks noGrp="1"/>
          </p:cNvSpPr>
          <p:nvPr>
            <p:ph type="ftr" idx="11"/>
          </p:nvPr>
        </p:nvSpPr>
        <p:spPr>
          <a:xfrm>
            <a:off x="4657345" y="6542142"/>
            <a:ext cx="4049335" cy="301758"/>
          </a:xfrm>
        </p:spPr>
        <p:txBody>
          <a:bodyPr/>
          <a:lstStyle/>
          <a:p>
            <a:r>
              <a:rPr lang="en-US" dirty="0"/>
              <a:t>University of Florida</a:t>
            </a:r>
          </a:p>
        </p:txBody>
      </p:sp>
    </p:spTree>
    <p:extLst>
      <p:ext uri="{BB962C8B-B14F-4D97-AF65-F5344CB8AC3E}">
        <p14:creationId xmlns:p14="http://schemas.microsoft.com/office/powerpoint/2010/main" val="14304316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58CE0-A010-9C63-B670-E9082D685D8C}"/>
              </a:ext>
            </a:extLst>
          </p:cNvPr>
          <p:cNvSpPr>
            <a:spLocks noGrp="1"/>
          </p:cNvSpPr>
          <p:nvPr>
            <p:ph type="title"/>
          </p:nvPr>
        </p:nvSpPr>
        <p:spPr/>
        <p:txBody>
          <a:bodyPr/>
          <a:lstStyle/>
          <a:p>
            <a:r>
              <a:rPr lang="en-GB" dirty="0"/>
              <a:t>Long-haul RDMA Co-design</a:t>
            </a:r>
          </a:p>
        </p:txBody>
      </p:sp>
      <p:sp>
        <p:nvSpPr>
          <p:cNvPr id="3" name="Content Placeholder 2">
            <a:extLst>
              <a:ext uri="{FF2B5EF4-FFF2-40B4-BE49-F238E27FC236}">
                <a16:creationId xmlns:a16="http://schemas.microsoft.com/office/drawing/2014/main" id="{EC366701-EA04-F9B8-6C54-58EFDA3AC0E7}"/>
              </a:ext>
            </a:extLst>
          </p:cNvPr>
          <p:cNvSpPr>
            <a:spLocks noGrp="1"/>
          </p:cNvSpPr>
          <p:nvPr>
            <p:ph idx="1"/>
          </p:nvPr>
        </p:nvSpPr>
        <p:spPr/>
        <p:txBody>
          <a:bodyPr/>
          <a:lstStyle/>
          <a:p>
            <a:r>
              <a:rPr lang="en-GB" dirty="0"/>
              <a:t>LHR presents four layers of adaptation across the network</a:t>
            </a:r>
          </a:p>
          <a:p>
            <a:pPr lvl="1"/>
            <a:r>
              <a:rPr lang="en-US" dirty="0"/>
              <a:t>Driven by constraints the </a:t>
            </a:r>
            <a:r>
              <a:rPr lang="en-US" dirty="0" err="1"/>
              <a:t>neighbouring</a:t>
            </a:r>
            <a:r>
              <a:rPr lang="en-US" dirty="0"/>
              <a:t> layer cannot absorb. </a:t>
            </a:r>
          </a:p>
          <a:p>
            <a:pPr lvl="1"/>
            <a:r>
              <a:rPr lang="en-US" dirty="0"/>
              <a:t>Concentrate in the FL application layer and UCX transport</a:t>
            </a:r>
          </a:p>
          <a:p>
            <a:pPr lvl="1"/>
            <a:r>
              <a:rPr lang="en-US" dirty="0"/>
              <a:t>MPI runtime is left unmodified.</a:t>
            </a:r>
            <a:endParaRPr lang="en-GB" dirty="0"/>
          </a:p>
          <a:p>
            <a:pPr lvl="1"/>
            <a:r>
              <a:rPr lang="en-GB" dirty="0"/>
              <a:t>Choosing UC + UD/DC at RDMA verbs level</a:t>
            </a:r>
          </a:p>
        </p:txBody>
      </p:sp>
      <p:sp>
        <p:nvSpPr>
          <p:cNvPr id="4" name="Footer Placeholder 3">
            <a:extLst>
              <a:ext uri="{FF2B5EF4-FFF2-40B4-BE49-F238E27FC236}">
                <a16:creationId xmlns:a16="http://schemas.microsoft.com/office/drawing/2014/main" id="{ACFC78BA-0B54-443A-9B8A-89EAEB79751F}"/>
              </a:ext>
            </a:extLst>
          </p:cNvPr>
          <p:cNvSpPr>
            <a:spLocks noGrp="1"/>
          </p:cNvSpPr>
          <p:nvPr>
            <p:ph type="ftr" idx="11"/>
          </p:nvPr>
        </p:nvSpPr>
        <p:spPr/>
        <p:txBody>
          <a:bodyPr/>
          <a:lstStyle/>
          <a:p>
            <a:r>
              <a:rPr lang="en-US"/>
              <a:t>University of Florida</a:t>
            </a:r>
            <a:endParaRPr lang="en-US" dirty="0"/>
          </a:p>
        </p:txBody>
      </p:sp>
      <p:sp>
        <p:nvSpPr>
          <p:cNvPr id="5" name="Slide Number Placeholder 4">
            <a:extLst>
              <a:ext uri="{FF2B5EF4-FFF2-40B4-BE49-F238E27FC236}">
                <a16:creationId xmlns:a16="http://schemas.microsoft.com/office/drawing/2014/main" id="{A9B097A4-AC8B-6168-6B8B-54252984693F}"/>
              </a:ext>
            </a:extLst>
          </p:cNvPr>
          <p:cNvSpPr>
            <a:spLocks noGrp="1"/>
          </p:cNvSpPr>
          <p:nvPr>
            <p:ph type="sldNum" idx="12"/>
          </p:nvPr>
        </p:nvSpPr>
        <p:spPr/>
        <p:txBody>
          <a:bodyPr/>
          <a:lstStyle/>
          <a:p>
            <a:fld id="{00000000-1234-1234-1234-123412341234}" type="slidenum">
              <a:rPr lang="en" smtClean="0"/>
              <a:pPr/>
              <a:t>15</a:t>
            </a:fld>
            <a:endParaRPr lang="en">
              <a:latin typeface="Palatino" pitchFamily="2" charset="77"/>
              <a:ea typeface="Palatino" pitchFamily="2" charset="77"/>
            </a:endParaRPr>
          </a:p>
        </p:txBody>
      </p:sp>
      <p:pic>
        <p:nvPicPr>
          <p:cNvPr id="7" name="Picture 6">
            <a:extLst>
              <a:ext uri="{FF2B5EF4-FFF2-40B4-BE49-F238E27FC236}">
                <a16:creationId xmlns:a16="http://schemas.microsoft.com/office/drawing/2014/main" id="{61FE01EA-8288-3440-210B-F9A664811F56}"/>
              </a:ext>
            </a:extLst>
          </p:cNvPr>
          <p:cNvPicPr>
            <a:picLocks noChangeAspect="1"/>
          </p:cNvPicPr>
          <p:nvPr/>
        </p:nvPicPr>
        <p:blipFill>
          <a:blip r:embed="rId3"/>
          <a:stretch>
            <a:fillRect/>
          </a:stretch>
        </p:blipFill>
        <p:spPr>
          <a:xfrm>
            <a:off x="3120276" y="3370001"/>
            <a:ext cx="5951448" cy="3067869"/>
          </a:xfrm>
          <a:prstGeom prst="rect">
            <a:avLst/>
          </a:prstGeom>
        </p:spPr>
      </p:pic>
    </p:spTree>
    <p:extLst>
      <p:ext uri="{BB962C8B-B14F-4D97-AF65-F5344CB8AC3E}">
        <p14:creationId xmlns:p14="http://schemas.microsoft.com/office/powerpoint/2010/main" val="12963070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24E82-0E30-5634-53DC-2E4DE9474F55}"/>
              </a:ext>
            </a:extLst>
          </p:cNvPr>
          <p:cNvSpPr>
            <a:spLocks noGrp="1"/>
          </p:cNvSpPr>
          <p:nvPr>
            <p:ph type="title"/>
          </p:nvPr>
        </p:nvSpPr>
        <p:spPr/>
        <p:txBody>
          <a:bodyPr/>
          <a:lstStyle/>
          <a:p>
            <a:r>
              <a:rPr lang="en-GB" dirty="0"/>
              <a:t>FL &amp; MPI Layer</a:t>
            </a:r>
          </a:p>
        </p:txBody>
      </p:sp>
      <p:sp>
        <p:nvSpPr>
          <p:cNvPr id="3" name="Content Placeholder 2">
            <a:extLst>
              <a:ext uri="{FF2B5EF4-FFF2-40B4-BE49-F238E27FC236}">
                <a16:creationId xmlns:a16="http://schemas.microsoft.com/office/drawing/2014/main" id="{5666D3EC-EF22-67FF-0DA1-214BE15DC5DA}"/>
              </a:ext>
            </a:extLst>
          </p:cNvPr>
          <p:cNvSpPr>
            <a:spLocks noGrp="1"/>
          </p:cNvSpPr>
          <p:nvPr>
            <p:ph idx="1"/>
          </p:nvPr>
        </p:nvSpPr>
        <p:spPr/>
        <p:txBody>
          <a:bodyPr/>
          <a:lstStyle/>
          <a:p>
            <a:r>
              <a:rPr lang="en-GB" dirty="0"/>
              <a:t>Foundation-model parameters reach GB or TB level</a:t>
            </a:r>
          </a:p>
          <a:p>
            <a:pPr lvl="1"/>
            <a:r>
              <a:rPr lang="en-US" dirty="0"/>
              <a:t>A single MPI call is capped at ~2 GB with MPI_BYTE</a:t>
            </a:r>
          </a:p>
          <a:p>
            <a:r>
              <a:rPr lang="en-GB" dirty="0"/>
              <a:t>Divide model tensors into 32 MB chunks</a:t>
            </a:r>
          </a:p>
          <a:p>
            <a:pPr lvl="1"/>
            <a:r>
              <a:rPr lang="en-GB" dirty="0"/>
              <a:t>Large enough to amortize MPI invocation overhead</a:t>
            </a:r>
          </a:p>
          <a:p>
            <a:pPr lvl="1"/>
            <a:r>
              <a:rPr lang="en-GB" dirty="0"/>
              <a:t>Small enough to bound sender-side replay buffering</a:t>
            </a:r>
          </a:p>
          <a:p>
            <a:pPr lvl="1"/>
            <a:r>
              <a:rPr lang="en-GB" dirty="0"/>
              <a:t>Enables efficient pipelined transmission</a:t>
            </a:r>
          </a:p>
        </p:txBody>
      </p:sp>
      <p:sp>
        <p:nvSpPr>
          <p:cNvPr id="4" name="Footer Placeholder 3">
            <a:extLst>
              <a:ext uri="{FF2B5EF4-FFF2-40B4-BE49-F238E27FC236}">
                <a16:creationId xmlns:a16="http://schemas.microsoft.com/office/drawing/2014/main" id="{C0941C4F-C336-3DB2-72C9-5793D97D5E68}"/>
              </a:ext>
            </a:extLst>
          </p:cNvPr>
          <p:cNvSpPr>
            <a:spLocks noGrp="1"/>
          </p:cNvSpPr>
          <p:nvPr>
            <p:ph type="ftr" idx="11"/>
          </p:nvPr>
        </p:nvSpPr>
        <p:spPr/>
        <p:txBody>
          <a:bodyPr/>
          <a:lstStyle/>
          <a:p>
            <a:r>
              <a:rPr lang="en-US"/>
              <a:t>University of Florida</a:t>
            </a:r>
            <a:endParaRPr lang="en-US" dirty="0"/>
          </a:p>
        </p:txBody>
      </p:sp>
      <p:sp>
        <p:nvSpPr>
          <p:cNvPr id="5" name="Slide Number Placeholder 4">
            <a:extLst>
              <a:ext uri="{FF2B5EF4-FFF2-40B4-BE49-F238E27FC236}">
                <a16:creationId xmlns:a16="http://schemas.microsoft.com/office/drawing/2014/main" id="{A563C6EB-85AD-3BFA-D8D2-FF122824A79B}"/>
              </a:ext>
            </a:extLst>
          </p:cNvPr>
          <p:cNvSpPr>
            <a:spLocks noGrp="1"/>
          </p:cNvSpPr>
          <p:nvPr>
            <p:ph type="sldNum" idx="12"/>
          </p:nvPr>
        </p:nvSpPr>
        <p:spPr/>
        <p:txBody>
          <a:bodyPr/>
          <a:lstStyle/>
          <a:p>
            <a:fld id="{00000000-1234-1234-1234-123412341234}" type="slidenum">
              <a:rPr lang="en" smtClean="0"/>
              <a:pPr/>
              <a:t>16</a:t>
            </a:fld>
            <a:endParaRPr lang="en">
              <a:latin typeface="Palatino" pitchFamily="2" charset="77"/>
              <a:ea typeface="Palatino" pitchFamily="2" charset="77"/>
            </a:endParaRPr>
          </a:p>
        </p:txBody>
      </p:sp>
      <p:pic>
        <p:nvPicPr>
          <p:cNvPr id="10" name="Picture 9">
            <a:extLst>
              <a:ext uri="{FF2B5EF4-FFF2-40B4-BE49-F238E27FC236}">
                <a16:creationId xmlns:a16="http://schemas.microsoft.com/office/drawing/2014/main" id="{CC76DAD7-06B5-ED51-CF3C-3CA750825D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321" y="4033823"/>
            <a:ext cx="7774724" cy="2205112"/>
          </a:xfrm>
          <a:prstGeom prst="rect">
            <a:avLst/>
          </a:prstGeom>
        </p:spPr>
      </p:pic>
    </p:spTree>
    <p:extLst>
      <p:ext uri="{BB962C8B-B14F-4D97-AF65-F5344CB8AC3E}">
        <p14:creationId xmlns:p14="http://schemas.microsoft.com/office/powerpoint/2010/main" val="20899169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6282F-7559-89A4-6661-4CF9D548D622}"/>
              </a:ext>
            </a:extLst>
          </p:cNvPr>
          <p:cNvSpPr>
            <a:spLocks noGrp="1"/>
          </p:cNvSpPr>
          <p:nvPr>
            <p:ph type="title"/>
          </p:nvPr>
        </p:nvSpPr>
        <p:spPr/>
        <p:txBody>
          <a:bodyPr/>
          <a:lstStyle/>
          <a:p>
            <a:r>
              <a:rPr lang="en-US" dirty="0"/>
              <a:t>LHR vs. UCX RC Transport</a:t>
            </a:r>
            <a:endParaRPr lang="en-GB" dirty="0"/>
          </a:p>
        </p:txBody>
      </p:sp>
      <p:sp>
        <p:nvSpPr>
          <p:cNvPr id="3" name="Content Placeholder 2">
            <a:extLst>
              <a:ext uri="{FF2B5EF4-FFF2-40B4-BE49-F238E27FC236}">
                <a16:creationId xmlns:a16="http://schemas.microsoft.com/office/drawing/2014/main" id="{1C90E8DF-14AA-94FE-F22F-1610A643DC06}"/>
              </a:ext>
            </a:extLst>
          </p:cNvPr>
          <p:cNvSpPr>
            <a:spLocks noGrp="1"/>
          </p:cNvSpPr>
          <p:nvPr>
            <p:ph idx="1"/>
          </p:nvPr>
        </p:nvSpPr>
        <p:spPr/>
        <p:txBody>
          <a:bodyPr/>
          <a:lstStyle/>
          <a:p>
            <a:r>
              <a:rPr lang="en-GB" dirty="0"/>
              <a:t>Take reliability control off the critical path</a:t>
            </a:r>
          </a:p>
          <a:p>
            <a:r>
              <a:rPr lang="en-GB" dirty="0"/>
              <a:t>Data plane</a:t>
            </a:r>
          </a:p>
          <a:p>
            <a:pPr lvl="1"/>
            <a:r>
              <a:rPr lang="en-US" dirty="0"/>
              <a:t>Fixed-size fragments moved with </a:t>
            </a:r>
            <a:br>
              <a:rPr lang="en-US" dirty="0"/>
            </a:br>
            <a:r>
              <a:rPr lang="en-US" b="1" dirty="0"/>
              <a:t>UC RDMA write-with-immediate</a:t>
            </a:r>
            <a:r>
              <a:rPr lang="en-US" dirty="0"/>
              <a:t>. </a:t>
            </a:r>
          </a:p>
          <a:p>
            <a:pPr lvl="1"/>
            <a:r>
              <a:rPr lang="en-US" dirty="0"/>
              <a:t>The sender obtains </a:t>
            </a:r>
            <a:r>
              <a:rPr lang="en-US" b="1" dirty="0"/>
              <a:t>local completion</a:t>
            </a:r>
            <a:r>
              <a:rPr lang="en-US" dirty="0"/>
              <a:t> </a:t>
            </a:r>
            <a:br>
              <a:rPr lang="en-US" dirty="0"/>
            </a:br>
            <a:r>
              <a:rPr lang="en-US" dirty="0"/>
              <a:t>as soon as a fragment is posted</a:t>
            </a:r>
          </a:p>
          <a:p>
            <a:r>
              <a:rPr lang="en-US" dirty="0"/>
              <a:t>Control plane</a:t>
            </a:r>
          </a:p>
          <a:p>
            <a:pPr lvl="1"/>
            <a:r>
              <a:rPr lang="en-US" dirty="0"/>
              <a:t>LHR rebuilds reliability in software</a:t>
            </a:r>
          </a:p>
          <a:p>
            <a:pPr lvl="1"/>
            <a:r>
              <a:rPr lang="en-US" dirty="0"/>
              <a:t>ACK / SACK and retransmission traffic </a:t>
            </a:r>
            <a:br>
              <a:rPr lang="en-US" dirty="0"/>
            </a:br>
            <a:r>
              <a:rPr lang="en-US" dirty="0"/>
              <a:t>runs on a </a:t>
            </a:r>
            <a:r>
              <a:rPr lang="en-US" b="1" dirty="0"/>
              <a:t>separate queue pair</a:t>
            </a:r>
          </a:p>
          <a:p>
            <a:endParaRPr lang="en-GB" dirty="0"/>
          </a:p>
        </p:txBody>
      </p:sp>
      <p:sp>
        <p:nvSpPr>
          <p:cNvPr id="4" name="Footer Placeholder 3">
            <a:extLst>
              <a:ext uri="{FF2B5EF4-FFF2-40B4-BE49-F238E27FC236}">
                <a16:creationId xmlns:a16="http://schemas.microsoft.com/office/drawing/2014/main" id="{BF3A6A81-E19A-9784-CF52-950127328320}"/>
              </a:ext>
            </a:extLst>
          </p:cNvPr>
          <p:cNvSpPr>
            <a:spLocks noGrp="1"/>
          </p:cNvSpPr>
          <p:nvPr>
            <p:ph type="ftr" idx="11"/>
          </p:nvPr>
        </p:nvSpPr>
        <p:spPr/>
        <p:txBody>
          <a:bodyPr/>
          <a:lstStyle/>
          <a:p>
            <a:r>
              <a:rPr lang="en-US"/>
              <a:t>University of Florida</a:t>
            </a:r>
            <a:endParaRPr lang="en-US" dirty="0"/>
          </a:p>
        </p:txBody>
      </p:sp>
      <p:sp>
        <p:nvSpPr>
          <p:cNvPr id="5" name="Slide Number Placeholder 4">
            <a:extLst>
              <a:ext uri="{FF2B5EF4-FFF2-40B4-BE49-F238E27FC236}">
                <a16:creationId xmlns:a16="http://schemas.microsoft.com/office/drawing/2014/main" id="{FF31F438-AF1A-BA1C-9B67-F6CFFFDC528C}"/>
              </a:ext>
            </a:extLst>
          </p:cNvPr>
          <p:cNvSpPr>
            <a:spLocks noGrp="1"/>
          </p:cNvSpPr>
          <p:nvPr>
            <p:ph type="sldNum" idx="12"/>
          </p:nvPr>
        </p:nvSpPr>
        <p:spPr/>
        <p:txBody>
          <a:bodyPr/>
          <a:lstStyle/>
          <a:p>
            <a:fld id="{00000000-1234-1234-1234-123412341234}" type="slidenum">
              <a:rPr lang="en" smtClean="0"/>
              <a:pPr/>
              <a:t>17</a:t>
            </a:fld>
            <a:endParaRPr lang="en">
              <a:latin typeface="Palatino" pitchFamily="2" charset="77"/>
              <a:ea typeface="Palatino" pitchFamily="2" charset="77"/>
            </a:endParaRPr>
          </a:p>
        </p:txBody>
      </p:sp>
      <p:pic>
        <p:nvPicPr>
          <p:cNvPr id="13" name="Picture 12">
            <a:extLst>
              <a:ext uri="{FF2B5EF4-FFF2-40B4-BE49-F238E27FC236}">
                <a16:creationId xmlns:a16="http://schemas.microsoft.com/office/drawing/2014/main" id="{F48E7535-D3F3-5A5F-A290-305C15701A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61822" y="420130"/>
            <a:ext cx="4430178" cy="6072628"/>
          </a:xfrm>
          <a:prstGeom prst="rect">
            <a:avLst/>
          </a:prstGeom>
        </p:spPr>
      </p:pic>
    </p:spTree>
    <p:extLst>
      <p:ext uri="{BB962C8B-B14F-4D97-AF65-F5344CB8AC3E}">
        <p14:creationId xmlns:p14="http://schemas.microsoft.com/office/powerpoint/2010/main" val="27077425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F248D-2F94-058D-1629-B9FA27D12C74}"/>
              </a:ext>
            </a:extLst>
          </p:cNvPr>
          <p:cNvSpPr>
            <a:spLocks noGrp="1"/>
          </p:cNvSpPr>
          <p:nvPr>
            <p:ph type="title"/>
          </p:nvPr>
        </p:nvSpPr>
        <p:spPr/>
        <p:txBody>
          <a:bodyPr/>
          <a:lstStyle/>
          <a:p>
            <a:r>
              <a:rPr lang="en-GB" dirty="0"/>
              <a:t>FL Awareness</a:t>
            </a:r>
          </a:p>
        </p:txBody>
      </p:sp>
      <p:sp>
        <p:nvSpPr>
          <p:cNvPr id="3" name="Content Placeholder 2">
            <a:extLst>
              <a:ext uri="{FF2B5EF4-FFF2-40B4-BE49-F238E27FC236}">
                <a16:creationId xmlns:a16="http://schemas.microsoft.com/office/drawing/2014/main" id="{408A4C37-35B1-C396-0C6A-85C5187467EE}"/>
              </a:ext>
            </a:extLst>
          </p:cNvPr>
          <p:cNvSpPr>
            <a:spLocks noGrp="1"/>
          </p:cNvSpPr>
          <p:nvPr>
            <p:ph idx="1"/>
          </p:nvPr>
        </p:nvSpPr>
        <p:spPr/>
        <p:txBody>
          <a:bodyPr/>
          <a:lstStyle/>
          <a:p>
            <a:r>
              <a:rPr lang="en-US" dirty="0"/>
              <a:t>LHR adopts FL-algorithm-aware replay buffering and ACK batching</a:t>
            </a:r>
          </a:p>
          <a:p>
            <a:pPr lvl="1"/>
            <a:r>
              <a:rPr lang="en-US" dirty="0"/>
              <a:t>Sender-side replay and receiver-side staging are bounded by a finite ring-buffer window</a:t>
            </a:r>
          </a:p>
          <a:p>
            <a:pPr lvl="1"/>
            <a:r>
              <a:rPr lang="en-US" dirty="0"/>
              <a:t>The capacity is adaptively configured to the expected number of concurrent model transfers based on algorithms</a:t>
            </a:r>
          </a:p>
          <a:p>
            <a:r>
              <a:rPr lang="en-US" dirty="0"/>
              <a:t>Ring size and cumulative-ACK threshold are tuned </a:t>
            </a:r>
            <a:r>
              <a:rPr lang="en-US" b="1" dirty="0"/>
              <a:t>jointly</a:t>
            </a:r>
          </a:p>
          <a:p>
            <a:pPr lvl="1"/>
            <a:r>
              <a:rPr lang="en-US" dirty="0"/>
              <a:t>Buffer capacity sets how many replay slots exist</a:t>
            </a:r>
          </a:p>
          <a:p>
            <a:pPr lvl="1"/>
            <a:r>
              <a:rPr lang="en-US" dirty="0"/>
              <a:t>ACK cadence sets how fast they are released</a:t>
            </a:r>
          </a:p>
          <a:p>
            <a:r>
              <a:rPr lang="en-US" dirty="0"/>
              <a:t>LHR registers as a </a:t>
            </a:r>
            <a:r>
              <a:rPr lang="en-US" b="1" dirty="0"/>
              <a:t>standard UCT transport</a:t>
            </a:r>
          </a:p>
          <a:p>
            <a:pPr lvl="1"/>
            <a:r>
              <a:rPr lang="en-US" dirty="0"/>
              <a:t>Selected through a UCX environment variable</a:t>
            </a:r>
            <a:endParaRPr lang="en-GB" dirty="0"/>
          </a:p>
        </p:txBody>
      </p:sp>
      <p:sp>
        <p:nvSpPr>
          <p:cNvPr id="4" name="Footer Placeholder 3">
            <a:extLst>
              <a:ext uri="{FF2B5EF4-FFF2-40B4-BE49-F238E27FC236}">
                <a16:creationId xmlns:a16="http://schemas.microsoft.com/office/drawing/2014/main" id="{F1859322-F330-1AED-D325-CD39B1063BA0}"/>
              </a:ext>
            </a:extLst>
          </p:cNvPr>
          <p:cNvSpPr>
            <a:spLocks noGrp="1"/>
          </p:cNvSpPr>
          <p:nvPr>
            <p:ph type="ftr" idx="11"/>
          </p:nvPr>
        </p:nvSpPr>
        <p:spPr/>
        <p:txBody>
          <a:bodyPr/>
          <a:lstStyle/>
          <a:p>
            <a:r>
              <a:rPr lang="en-US"/>
              <a:t>University of Florida</a:t>
            </a:r>
            <a:endParaRPr lang="en-US" dirty="0"/>
          </a:p>
        </p:txBody>
      </p:sp>
      <p:sp>
        <p:nvSpPr>
          <p:cNvPr id="5" name="Slide Number Placeholder 4">
            <a:extLst>
              <a:ext uri="{FF2B5EF4-FFF2-40B4-BE49-F238E27FC236}">
                <a16:creationId xmlns:a16="http://schemas.microsoft.com/office/drawing/2014/main" id="{60A69323-BDC8-0249-59D0-1251885BD66B}"/>
              </a:ext>
            </a:extLst>
          </p:cNvPr>
          <p:cNvSpPr>
            <a:spLocks noGrp="1"/>
          </p:cNvSpPr>
          <p:nvPr>
            <p:ph type="sldNum" idx="12"/>
          </p:nvPr>
        </p:nvSpPr>
        <p:spPr/>
        <p:txBody>
          <a:bodyPr/>
          <a:lstStyle/>
          <a:p>
            <a:fld id="{00000000-1234-1234-1234-123412341234}" type="slidenum">
              <a:rPr lang="en" smtClean="0"/>
              <a:pPr/>
              <a:t>18</a:t>
            </a:fld>
            <a:endParaRPr lang="en">
              <a:latin typeface="Palatino" pitchFamily="2" charset="77"/>
              <a:ea typeface="Palatino" pitchFamily="2" charset="77"/>
            </a:endParaRPr>
          </a:p>
        </p:txBody>
      </p:sp>
    </p:spTree>
    <p:extLst>
      <p:ext uri="{BB962C8B-B14F-4D97-AF65-F5344CB8AC3E}">
        <p14:creationId xmlns:p14="http://schemas.microsoft.com/office/powerpoint/2010/main" val="42728769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B2338-B3FF-155E-90DC-91B0AF2926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6260BF-70BA-4AF7-E499-BDB1A3147E08}"/>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3C41C59E-6685-47F0-57B4-0137681E94E5}"/>
              </a:ext>
            </a:extLst>
          </p:cNvPr>
          <p:cNvSpPr>
            <a:spLocks noGrp="1"/>
          </p:cNvSpPr>
          <p:nvPr>
            <p:ph idx="1"/>
          </p:nvPr>
        </p:nvSpPr>
        <p:spPr/>
        <p:txBody>
          <a:bodyPr/>
          <a:lstStyle/>
          <a:p>
            <a:r>
              <a:rPr lang="en-US" dirty="0">
                <a:solidFill>
                  <a:schemeClr val="bg1">
                    <a:lumMod val="75000"/>
                  </a:schemeClr>
                </a:solidFill>
              </a:rPr>
              <a:t>Background and Motivation</a:t>
            </a:r>
          </a:p>
          <a:p>
            <a:r>
              <a:rPr lang="en-US" dirty="0">
                <a:solidFill>
                  <a:schemeClr val="bg1">
                    <a:lumMod val="75000"/>
                  </a:schemeClr>
                </a:solidFill>
              </a:rPr>
              <a:t>Bottleneck Analysis </a:t>
            </a:r>
          </a:p>
          <a:p>
            <a:r>
              <a:rPr lang="en-US" dirty="0">
                <a:solidFill>
                  <a:schemeClr val="bg1">
                    <a:lumMod val="75000"/>
                  </a:schemeClr>
                </a:solidFill>
              </a:rPr>
              <a:t>Co-Design</a:t>
            </a:r>
          </a:p>
          <a:p>
            <a:r>
              <a:rPr lang="en-US" dirty="0">
                <a:solidFill>
                  <a:srgbClr val="C00000"/>
                </a:solidFill>
              </a:rPr>
              <a:t>Evaluation</a:t>
            </a:r>
          </a:p>
          <a:p>
            <a:r>
              <a:rPr lang="en-US" dirty="0"/>
              <a:t>Conclusion and Acknowledgments</a:t>
            </a:r>
          </a:p>
        </p:txBody>
      </p:sp>
      <p:sp>
        <p:nvSpPr>
          <p:cNvPr id="5" name="Slide Number Placeholder 4">
            <a:extLst>
              <a:ext uri="{FF2B5EF4-FFF2-40B4-BE49-F238E27FC236}">
                <a16:creationId xmlns:a16="http://schemas.microsoft.com/office/drawing/2014/main" id="{65D08B76-7448-E437-FF6F-C3E8C8798535}"/>
              </a:ext>
            </a:extLst>
          </p:cNvPr>
          <p:cNvSpPr>
            <a:spLocks noGrp="1"/>
          </p:cNvSpPr>
          <p:nvPr>
            <p:ph type="sldNum" idx="12"/>
          </p:nvPr>
        </p:nvSpPr>
        <p:spPr/>
        <p:txBody>
          <a:bodyPr/>
          <a:lstStyle/>
          <a:p>
            <a:fld id="{00000000-1234-1234-1234-123412341234}" type="slidenum">
              <a:rPr lang="en" smtClean="0"/>
              <a:pPr/>
              <a:t>19</a:t>
            </a:fld>
            <a:endParaRPr lang="en"/>
          </a:p>
        </p:txBody>
      </p:sp>
      <p:sp>
        <p:nvSpPr>
          <p:cNvPr id="6" name="Footer Placeholder 7">
            <a:extLst>
              <a:ext uri="{FF2B5EF4-FFF2-40B4-BE49-F238E27FC236}">
                <a16:creationId xmlns:a16="http://schemas.microsoft.com/office/drawing/2014/main" id="{45ADCF49-096E-F12C-85E2-D93612602B87}"/>
              </a:ext>
            </a:extLst>
          </p:cNvPr>
          <p:cNvSpPr>
            <a:spLocks noGrp="1"/>
          </p:cNvSpPr>
          <p:nvPr>
            <p:ph type="ftr" idx="11"/>
          </p:nvPr>
        </p:nvSpPr>
        <p:spPr>
          <a:xfrm>
            <a:off x="4657345" y="6542142"/>
            <a:ext cx="4049335" cy="301758"/>
          </a:xfrm>
        </p:spPr>
        <p:txBody>
          <a:bodyPr/>
          <a:lstStyle/>
          <a:p>
            <a:r>
              <a:rPr lang="en-US" dirty="0"/>
              <a:t>University of Florida</a:t>
            </a:r>
          </a:p>
        </p:txBody>
      </p:sp>
    </p:spTree>
    <p:extLst>
      <p:ext uri="{BB962C8B-B14F-4D97-AF65-F5344CB8AC3E}">
        <p14:creationId xmlns:p14="http://schemas.microsoft.com/office/powerpoint/2010/main" val="11918314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71946-5119-B0E7-DA80-7F70D16DB04D}"/>
              </a:ext>
            </a:extLst>
          </p:cNvPr>
          <p:cNvSpPr>
            <a:spLocks noGrp="1"/>
          </p:cNvSpPr>
          <p:nvPr>
            <p:ph type="title"/>
          </p:nvPr>
        </p:nvSpPr>
        <p:spPr/>
        <p:txBody>
          <a:bodyPr/>
          <a:lstStyle/>
          <a:p>
            <a:r>
              <a:rPr lang="en-GB" dirty="0"/>
              <a:t>Evaluation Platform</a:t>
            </a:r>
          </a:p>
        </p:txBody>
      </p:sp>
      <p:sp>
        <p:nvSpPr>
          <p:cNvPr id="3" name="Content Placeholder 2">
            <a:extLst>
              <a:ext uri="{FF2B5EF4-FFF2-40B4-BE49-F238E27FC236}">
                <a16:creationId xmlns:a16="http://schemas.microsoft.com/office/drawing/2014/main" id="{AB0CFD81-17CD-D4A7-16D0-AFE76062D22D}"/>
              </a:ext>
            </a:extLst>
          </p:cNvPr>
          <p:cNvSpPr>
            <a:spLocks noGrp="1"/>
          </p:cNvSpPr>
          <p:nvPr>
            <p:ph idx="1"/>
          </p:nvPr>
        </p:nvSpPr>
        <p:spPr/>
        <p:txBody>
          <a:bodyPr>
            <a:normAutofit/>
          </a:bodyPr>
          <a:lstStyle/>
          <a:p>
            <a:r>
              <a:rPr lang="en-US" dirty="0"/>
              <a:t>Platform</a:t>
            </a:r>
          </a:p>
          <a:p>
            <a:pPr lvl="1"/>
            <a:r>
              <a:rPr lang="en-US" dirty="0"/>
              <a:t>Energy Sciences Network (</a:t>
            </a:r>
            <a:r>
              <a:rPr lang="en-US" dirty="0" err="1"/>
              <a:t>ESnet</a:t>
            </a:r>
            <a:r>
              <a:rPr lang="en-US" dirty="0"/>
              <a:t>)</a:t>
            </a:r>
          </a:p>
          <a:p>
            <a:pPr lvl="1"/>
            <a:r>
              <a:rPr lang="en-US" dirty="0"/>
              <a:t>Four data transfer nodes (DTNs),</a:t>
            </a:r>
            <a:br>
              <a:rPr lang="en-US" dirty="0"/>
            </a:br>
            <a:r>
              <a:rPr lang="en-US" dirty="0"/>
              <a:t>each with ~88ms latency</a:t>
            </a:r>
          </a:p>
          <a:p>
            <a:pPr lvl="1"/>
            <a:r>
              <a:rPr lang="en-US" dirty="0"/>
              <a:t>Transport used: TCP; RC (default) and RC-fixed;</a:t>
            </a:r>
            <a:br>
              <a:rPr lang="en-US" dirty="0"/>
            </a:br>
            <a:r>
              <a:rPr lang="en-US" dirty="0"/>
              <a:t>LHR</a:t>
            </a:r>
          </a:p>
          <a:p>
            <a:r>
              <a:rPr lang="en-US" dirty="0"/>
              <a:t>Framework and workloads</a:t>
            </a:r>
          </a:p>
          <a:p>
            <a:pPr lvl="1"/>
            <a:r>
              <a:rPr lang="en-US" dirty="0"/>
              <a:t>Real traced from APPFL v0.4.2 + proxy rebuild</a:t>
            </a:r>
          </a:p>
          <a:p>
            <a:pPr lvl="1"/>
            <a:r>
              <a:rPr lang="en-US" dirty="0"/>
              <a:t>Vision transformer (</a:t>
            </a:r>
            <a:r>
              <a:rPr lang="en-US" dirty="0" err="1"/>
              <a:t>ViT</a:t>
            </a:r>
            <a:r>
              <a:rPr lang="en-US" dirty="0"/>
              <a:t>) and VGG-16</a:t>
            </a:r>
          </a:p>
          <a:p>
            <a:pPr lvl="1"/>
            <a:r>
              <a:rPr lang="en-US" dirty="0" err="1"/>
              <a:t>FedAvg</a:t>
            </a:r>
            <a:r>
              <a:rPr lang="en-US" dirty="0"/>
              <a:t> (sync), </a:t>
            </a:r>
            <a:r>
              <a:rPr lang="en-US" dirty="0" err="1"/>
              <a:t>FedAsync</a:t>
            </a:r>
            <a:r>
              <a:rPr lang="en-US" dirty="0"/>
              <a:t> (async), </a:t>
            </a:r>
            <a:r>
              <a:rPr lang="en-US" dirty="0" err="1"/>
              <a:t>FedBuff</a:t>
            </a:r>
            <a:r>
              <a:rPr lang="en-US" dirty="0"/>
              <a:t> (semi-async)</a:t>
            </a:r>
          </a:p>
        </p:txBody>
      </p:sp>
      <p:sp>
        <p:nvSpPr>
          <p:cNvPr id="4" name="Footer Placeholder 3">
            <a:extLst>
              <a:ext uri="{FF2B5EF4-FFF2-40B4-BE49-F238E27FC236}">
                <a16:creationId xmlns:a16="http://schemas.microsoft.com/office/drawing/2014/main" id="{721EB281-2865-6740-F8C3-CF65A86144BC}"/>
              </a:ext>
            </a:extLst>
          </p:cNvPr>
          <p:cNvSpPr>
            <a:spLocks noGrp="1"/>
          </p:cNvSpPr>
          <p:nvPr>
            <p:ph type="ftr" idx="11"/>
          </p:nvPr>
        </p:nvSpPr>
        <p:spPr/>
        <p:txBody>
          <a:bodyPr/>
          <a:lstStyle/>
          <a:p>
            <a:r>
              <a:rPr lang="en-US"/>
              <a:t>University of Florida</a:t>
            </a:r>
            <a:endParaRPr lang="en-US" dirty="0"/>
          </a:p>
        </p:txBody>
      </p:sp>
      <p:sp>
        <p:nvSpPr>
          <p:cNvPr id="5" name="Slide Number Placeholder 4">
            <a:extLst>
              <a:ext uri="{FF2B5EF4-FFF2-40B4-BE49-F238E27FC236}">
                <a16:creationId xmlns:a16="http://schemas.microsoft.com/office/drawing/2014/main" id="{4B2C4E77-B17A-6722-45BE-6F12E1E2D97B}"/>
              </a:ext>
            </a:extLst>
          </p:cNvPr>
          <p:cNvSpPr>
            <a:spLocks noGrp="1"/>
          </p:cNvSpPr>
          <p:nvPr>
            <p:ph type="sldNum" idx="12"/>
          </p:nvPr>
        </p:nvSpPr>
        <p:spPr/>
        <p:txBody>
          <a:bodyPr/>
          <a:lstStyle/>
          <a:p>
            <a:fld id="{00000000-1234-1234-1234-123412341234}" type="slidenum">
              <a:rPr lang="en" smtClean="0"/>
              <a:pPr/>
              <a:t>20</a:t>
            </a:fld>
            <a:endParaRPr lang="en">
              <a:latin typeface="Palatino" pitchFamily="2" charset="77"/>
              <a:ea typeface="Palatino" pitchFamily="2" charset="77"/>
            </a:endParaRPr>
          </a:p>
        </p:txBody>
      </p:sp>
      <p:pic>
        <p:nvPicPr>
          <p:cNvPr id="7" name="Picture 6">
            <a:extLst>
              <a:ext uri="{FF2B5EF4-FFF2-40B4-BE49-F238E27FC236}">
                <a16:creationId xmlns:a16="http://schemas.microsoft.com/office/drawing/2014/main" id="{112B6CB1-D3A2-6A79-D62F-5122F30313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9049" y="1807227"/>
            <a:ext cx="4212951" cy="2902758"/>
          </a:xfrm>
          <a:prstGeom prst="rect">
            <a:avLst/>
          </a:prstGeom>
        </p:spPr>
      </p:pic>
      <p:pic>
        <p:nvPicPr>
          <p:cNvPr id="8" name="Picture 7" descr="Home">
            <a:extLst>
              <a:ext uri="{FF2B5EF4-FFF2-40B4-BE49-F238E27FC236}">
                <a16:creationId xmlns:a16="http://schemas.microsoft.com/office/drawing/2014/main" id="{8C973104-3A2B-B46F-CA92-D1BC74BDFF6C}"/>
              </a:ext>
            </a:extLst>
          </p:cNvPr>
          <p:cNvPicPr>
            <a:picLocks noChangeAspect="1"/>
          </p:cNvPicPr>
          <p:nvPr/>
        </p:nvPicPr>
        <p:blipFill>
          <a:blip r:embed="rId4"/>
          <a:stretch>
            <a:fillRect/>
          </a:stretch>
        </p:blipFill>
        <p:spPr>
          <a:xfrm>
            <a:off x="8850419" y="1013255"/>
            <a:ext cx="2470210" cy="702905"/>
          </a:xfrm>
          <a:prstGeom prst="rect">
            <a:avLst/>
          </a:prstGeom>
        </p:spPr>
      </p:pic>
    </p:spTree>
    <p:extLst>
      <p:ext uri="{BB962C8B-B14F-4D97-AF65-F5344CB8AC3E}">
        <p14:creationId xmlns:p14="http://schemas.microsoft.com/office/powerpoint/2010/main" val="14782918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53533-FFEC-8868-6E42-1999C1D48567}"/>
              </a:ext>
            </a:extLst>
          </p:cNvPr>
          <p:cNvSpPr>
            <a:spLocks noGrp="1"/>
          </p:cNvSpPr>
          <p:nvPr>
            <p:ph type="title"/>
          </p:nvPr>
        </p:nvSpPr>
        <p:spPr/>
        <p:txBody>
          <a:bodyPr/>
          <a:lstStyle/>
          <a:p>
            <a:r>
              <a:rPr lang="en-GB" dirty="0"/>
              <a:t>Microbenchmark</a:t>
            </a:r>
          </a:p>
        </p:txBody>
      </p:sp>
      <p:sp>
        <p:nvSpPr>
          <p:cNvPr id="3" name="Content Placeholder 2">
            <a:extLst>
              <a:ext uri="{FF2B5EF4-FFF2-40B4-BE49-F238E27FC236}">
                <a16:creationId xmlns:a16="http://schemas.microsoft.com/office/drawing/2014/main" id="{B9128F85-1D3B-198E-F81F-C557CDCB46A6}"/>
              </a:ext>
            </a:extLst>
          </p:cNvPr>
          <p:cNvSpPr>
            <a:spLocks noGrp="1"/>
          </p:cNvSpPr>
          <p:nvPr>
            <p:ph idx="1"/>
          </p:nvPr>
        </p:nvSpPr>
        <p:spPr/>
        <p:txBody>
          <a:bodyPr/>
          <a:lstStyle/>
          <a:p>
            <a:r>
              <a:rPr lang="en-GB" dirty="0"/>
              <a:t>RDMA verbs level: </a:t>
            </a:r>
            <a:r>
              <a:rPr lang="en-US" dirty="0"/>
              <a:t>the wire is fine</a:t>
            </a:r>
            <a:endParaRPr lang="en-US" b="1" dirty="0"/>
          </a:p>
          <a:p>
            <a:pPr lvl="1"/>
            <a:r>
              <a:rPr lang="en-US" dirty="0"/>
              <a:t>Raw RDMA WRITE climbs </a:t>
            </a:r>
            <a:r>
              <a:rPr lang="en-US" b="1" dirty="0"/>
              <a:t>527 MB/s → 10.3 GB/s. </a:t>
            </a:r>
            <a:r>
              <a:rPr lang="en-US" dirty="0"/>
              <a:t>TCP holds 1.3–2 GB/s.</a:t>
            </a:r>
          </a:p>
          <a:p>
            <a:r>
              <a:rPr lang="en-US" dirty="0"/>
              <a:t>The cliff appears at UCX level</a:t>
            </a:r>
          </a:p>
          <a:p>
            <a:pPr lvl="1"/>
            <a:r>
              <a:rPr lang="en-US" dirty="0"/>
              <a:t>Default RC plateaus at </a:t>
            </a:r>
            <a:r>
              <a:rPr lang="en-US" b="1" dirty="0"/>
              <a:t>19 MB/s at 512 KB</a:t>
            </a:r>
            <a:r>
              <a:rPr lang="en-US" dirty="0"/>
              <a:t> with no scaling through 64 MB. UCX-level TCP scales linearly to ~1.5 GB/s.</a:t>
            </a:r>
          </a:p>
          <a:p>
            <a:pPr lvl="1"/>
            <a:r>
              <a:rPr lang="en-US" dirty="0"/>
              <a:t>RC-fixed scales to </a:t>
            </a:r>
            <a:r>
              <a:rPr lang="en-US" b="1" dirty="0"/>
              <a:t>4.3 GB/s;</a:t>
            </a:r>
            <a:r>
              <a:rPr lang="en-US" dirty="0"/>
              <a:t> LHR scales </a:t>
            </a:r>
            <a:r>
              <a:rPr lang="en-US" b="1" dirty="0"/>
              <a:t>to 6.0 GB/s</a:t>
            </a:r>
            <a:r>
              <a:rPr lang="en-US" dirty="0"/>
              <a:t>.</a:t>
            </a:r>
          </a:p>
          <a:p>
            <a:pPr lvl="1"/>
            <a:endParaRPr lang="en-GB" dirty="0"/>
          </a:p>
          <a:p>
            <a:pPr lvl="1"/>
            <a:endParaRPr lang="en-GB" dirty="0"/>
          </a:p>
        </p:txBody>
      </p:sp>
      <p:sp>
        <p:nvSpPr>
          <p:cNvPr id="4" name="Footer Placeholder 3">
            <a:extLst>
              <a:ext uri="{FF2B5EF4-FFF2-40B4-BE49-F238E27FC236}">
                <a16:creationId xmlns:a16="http://schemas.microsoft.com/office/drawing/2014/main" id="{96C667CD-340E-CEFB-4A6A-C76284477572}"/>
              </a:ext>
            </a:extLst>
          </p:cNvPr>
          <p:cNvSpPr>
            <a:spLocks noGrp="1"/>
          </p:cNvSpPr>
          <p:nvPr>
            <p:ph type="ftr" idx="11"/>
          </p:nvPr>
        </p:nvSpPr>
        <p:spPr/>
        <p:txBody>
          <a:bodyPr/>
          <a:lstStyle/>
          <a:p>
            <a:r>
              <a:rPr lang="en-US"/>
              <a:t>University of Florida</a:t>
            </a:r>
            <a:endParaRPr lang="en-US" dirty="0"/>
          </a:p>
        </p:txBody>
      </p:sp>
      <p:sp>
        <p:nvSpPr>
          <p:cNvPr id="5" name="Slide Number Placeholder 4">
            <a:extLst>
              <a:ext uri="{FF2B5EF4-FFF2-40B4-BE49-F238E27FC236}">
                <a16:creationId xmlns:a16="http://schemas.microsoft.com/office/drawing/2014/main" id="{6AA54B52-27DE-C796-9255-FC9466B2D5F8}"/>
              </a:ext>
            </a:extLst>
          </p:cNvPr>
          <p:cNvSpPr>
            <a:spLocks noGrp="1"/>
          </p:cNvSpPr>
          <p:nvPr>
            <p:ph type="sldNum" idx="12"/>
          </p:nvPr>
        </p:nvSpPr>
        <p:spPr/>
        <p:txBody>
          <a:bodyPr/>
          <a:lstStyle/>
          <a:p>
            <a:fld id="{00000000-1234-1234-1234-123412341234}" type="slidenum">
              <a:rPr lang="en" smtClean="0"/>
              <a:pPr/>
              <a:t>21</a:t>
            </a:fld>
            <a:endParaRPr lang="en">
              <a:latin typeface="Palatino" pitchFamily="2" charset="77"/>
              <a:ea typeface="Palatino" pitchFamily="2" charset="77"/>
            </a:endParaRPr>
          </a:p>
        </p:txBody>
      </p:sp>
      <p:pic>
        <p:nvPicPr>
          <p:cNvPr id="8" name="Picture 7">
            <a:extLst>
              <a:ext uri="{FF2B5EF4-FFF2-40B4-BE49-F238E27FC236}">
                <a16:creationId xmlns:a16="http://schemas.microsoft.com/office/drawing/2014/main" id="{1D0DE931-168A-0D58-D513-DCE1034A52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807345"/>
            <a:ext cx="12191999" cy="2734797"/>
          </a:xfrm>
          <a:prstGeom prst="rect">
            <a:avLst/>
          </a:prstGeom>
        </p:spPr>
      </p:pic>
    </p:spTree>
    <p:extLst>
      <p:ext uri="{BB962C8B-B14F-4D97-AF65-F5344CB8AC3E}">
        <p14:creationId xmlns:p14="http://schemas.microsoft.com/office/powerpoint/2010/main" val="7279998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AEEB1-0C3C-E287-CDE5-F7B1FEAB95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5D2EFB-E4A2-2BD7-E6AA-8B0B9E939D36}"/>
              </a:ext>
            </a:extLst>
          </p:cNvPr>
          <p:cNvSpPr>
            <a:spLocks noGrp="1"/>
          </p:cNvSpPr>
          <p:nvPr>
            <p:ph type="title"/>
          </p:nvPr>
        </p:nvSpPr>
        <p:spPr/>
        <p:txBody>
          <a:bodyPr/>
          <a:lstStyle/>
          <a:p>
            <a:r>
              <a:rPr lang="en-GB" dirty="0"/>
              <a:t>Microbenchmark</a:t>
            </a:r>
          </a:p>
        </p:txBody>
      </p:sp>
      <p:sp>
        <p:nvSpPr>
          <p:cNvPr id="3" name="Content Placeholder 2">
            <a:extLst>
              <a:ext uri="{FF2B5EF4-FFF2-40B4-BE49-F238E27FC236}">
                <a16:creationId xmlns:a16="http://schemas.microsoft.com/office/drawing/2014/main" id="{DF34AEEC-C1EB-9D9F-61D5-2E3FA20CAF56}"/>
              </a:ext>
            </a:extLst>
          </p:cNvPr>
          <p:cNvSpPr>
            <a:spLocks noGrp="1"/>
          </p:cNvSpPr>
          <p:nvPr>
            <p:ph idx="1"/>
          </p:nvPr>
        </p:nvSpPr>
        <p:spPr/>
        <p:txBody>
          <a:bodyPr/>
          <a:lstStyle/>
          <a:p>
            <a:r>
              <a:rPr lang="en-GB" dirty="0"/>
              <a:t>MPI level</a:t>
            </a:r>
          </a:p>
          <a:p>
            <a:pPr lvl="1"/>
            <a:r>
              <a:rPr lang="en-US" dirty="0"/>
              <a:t>LHR recovers two orders of magnitude</a:t>
            </a:r>
          </a:p>
          <a:p>
            <a:pPr lvl="1"/>
            <a:r>
              <a:rPr lang="en-US" dirty="0"/>
              <a:t>The RC-fixed → LHR gap of </a:t>
            </a:r>
            <a:r>
              <a:rPr lang="en-US" b="1" dirty="0"/>
              <a:t>1.56–1.98×</a:t>
            </a:r>
            <a:r>
              <a:rPr lang="en-US" dirty="0"/>
              <a:t> isolates LHR's own contribution</a:t>
            </a:r>
          </a:p>
          <a:p>
            <a:pPr lvl="1"/>
            <a:endParaRPr lang="en-GB" dirty="0"/>
          </a:p>
          <a:p>
            <a:pPr lvl="1"/>
            <a:endParaRPr lang="en-GB" dirty="0"/>
          </a:p>
        </p:txBody>
      </p:sp>
      <p:sp>
        <p:nvSpPr>
          <p:cNvPr id="4" name="Footer Placeholder 3">
            <a:extLst>
              <a:ext uri="{FF2B5EF4-FFF2-40B4-BE49-F238E27FC236}">
                <a16:creationId xmlns:a16="http://schemas.microsoft.com/office/drawing/2014/main" id="{295D9A69-9C41-7636-49FF-A58BFAFA0067}"/>
              </a:ext>
            </a:extLst>
          </p:cNvPr>
          <p:cNvSpPr>
            <a:spLocks noGrp="1"/>
          </p:cNvSpPr>
          <p:nvPr>
            <p:ph type="ftr" idx="11"/>
          </p:nvPr>
        </p:nvSpPr>
        <p:spPr/>
        <p:txBody>
          <a:bodyPr/>
          <a:lstStyle/>
          <a:p>
            <a:r>
              <a:rPr lang="en-US"/>
              <a:t>University of Florida</a:t>
            </a:r>
            <a:endParaRPr lang="en-US" dirty="0"/>
          </a:p>
        </p:txBody>
      </p:sp>
      <p:sp>
        <p:nvSpPr>
          <p:cNvPr id="5" name="Slide Number Placeholder 4">
            <a:extLst>
              <a:ext uri="{FF2B5EF4-FFF2-40B4-BE49-F238E27FC236}">
                <a16:creationId xmlns:a16="http://schemas.microsoft.com/office/drawing/2014/main" id="{2B795C40-8A05-2D5E-CB5B-9270DF9442EE}"/>
              </a:ext>
            </a:extLst>
          </p:cNvPr>
          <p:cNvSpPr>
            <a:spLocks noGrp="1"/>
          </p:cNvSpPr>
          <p:nvPr>
            <p:ph type="sldNum" idx="12"/>
          </p:nvPr>
        </p:nvSpPr>
        <p:spPr/>
        <p:txBody>
          <a:bodyPr/>
          <a:lstStyle/>
          <a:p>
            <a:fld id="{00000000-1234-1234-1234-123412341234}" type="slidenum">
              <a:rPr lang="en" smtClean="0"/>
              <a:pPr/>
              <a:t>22</a:t>
            </a:fld>
            <a:endParaRPr lang="en">
              <a:latin typeface="Palatino" pitchFamily="2" charset="77"/>
              <a:ea typeface="Palatino" pitchFamily="2" charset="77"/>
            </a:endParaRPr>
          </a:p>
        </p:txBody>
      </p:sp>
      <p:pic>
        <p:nvPicPr>
          <p:cNvPr id="8" name="Picture 7">
            <a:extLst>
              <a:ext uri="{FF2B5EF4-FFF2-40B4-BE49-F238E27FC236}">
                <a16:creationId xmlns:a16="http://schemas.microsoft.com/office/drawing/2014/main" id="{DA4540B6-F07F-92F1-E941-7C8FC3C370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703073"/>
            <a:ext cx="12191999" cy="2734797"/>
          </a:xfrm>
          <a:prstGeom prst="rect">
            <a:avLst/>
          </a:prstGeom>
        </p:spPr>
      </p:pic>
    </p:spTree>
    <p:extLst>
      <p:ext uri="{BB962C8B-B14F-4D97-AF65-F5344CB8AC3E}">
        <p14:creationId xmlns:p14="http://schemas.microsoft.com/office/powerpoint/2010/main" val="14138106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AFF79-B39D-D35B-6C7F-51C45248599A}"/>
              </a:ext>
            </a:extLst>
          </p:cNvPr>
          <p:cNvSpPr>
            <a:spLocks noGrp="1"/>
          </p:cNvSpPr>
          <p:nvPr>
            <p:ph type="title"/>
          </p:nvPr>
        </p:nvSpPr>
        <p:spPr/>
        <p:txBody>
          <a:bodyPr/>
          <a:lstStyle/>
          <a:p>
            <a:r>
              <a:rPr lang="en-GB" dirty="0"/>
              <a:t>End-to-End FL Runtime</a:t>
            </a:r>
          </a:p>
        </p:txBody>
      </p:sp>
      <p:sp>
        <p:nvSpPr>
          <p:cNvPr id="4" name="Footer Placeholder 3">
            <a:extLst>
              <a:ext uri="{FF2B5EF4-FFF2-40B4-BE49-F238E27FC236}">
                <a16:creationId xmlns:a16="http://schemas.microsoft.com/office/drawing/2014/main" id="{8F519F55-2BAD-02B8-89B8-444D9A237C4C}"/>
              </a:ext>
            </a:extLst>
          </p:cNvPr>
          <p:cNvSpPr>
            <a:spLocks noGrp="1"/>
          </p:cNvSpPr>
          <p:nvPr>
            <p:ph type="ftr" idx="11"/>
          </p:nvPr>
        </p:nvSpPr>
        <p:spPr/>
        <p:txBody>
          <a:bodyPr/>
          <a:lstStyle/>
          <a:p>
            <a:r>
              <a:rPr lang="en-US"/>
              <a:t>University of Florida</a:t>
            </a:r>
            <a:endParaRPr lang="en-US" dirty="0"/>
          </a:p>
        </p:txBody>
      </p:sp>
      <p:sp>
        <p:nvSpPr>
          <p:cNvPr id="5" name="Slide Number Placeholder 4">
            <a:extLst>
              <a:ext uri="{FF2B5EF4-FFF2-40B4-BE49-F238E27FC236}">
                <a16:creationId xmlns:a16="http://schemas.microsoft.com/office/drawing/2014/main" id="{E3DAB5D6-9139-A8C3-7369-360980E9769B}"/>
              </a:ext>
            </a:extLst>
          </p:cNvPr>
          <p:cNvSpPr>
            <a:spLocks noGrp="1"/>
          </p:cNvSpPr>
          <p:nvPr>
            <p:ph type="sldNum" idx="12"/>
          </p:nvPr>
        </p:nvSpPr>
        <p:spPr/>
        <p:txBody>
          <a:bodyPr/>
          <a:lstStyle/>
          <a:p>
            <a:fld id="{00000000-1234-1234-1234-123412341234}" type="slidenum">
              <a:rPr lang="en" smtClean="0"/>
              <a:pPr/>
              <a:t>23</a:t>
            </a:fld>
            <a:endParaRPr lang="en">
              <a:latin typeface="Palatino" pitchFamily="2" charset="77"/>
              <a:ea typeface="Palatino" pitchFamily="2" charset="77"/>
            </a:endParaRPr>
          </a:p>
        </p:txBody>
      </p:sp>
      <p:sp>
        <p:nvSpPr>
          <p:cNvPr id="9" name="Content Placeholder 8">
            <a:extLst>
              <a:ext uri="{FF2B5EF4-FFF2-40B4-BE49-F238E27FC236}">
                <a16:creationId xmlns:a16="http://schemas.microsoft.com/office/drawing/2014/main" id="{45CFCDB2-93F4-A614-869D-D8D0185498AB}"/>
              </a:ext>
            </a:extLst>
          </p:cNvPr>
          <p:cNvSpPr>
            <a:spLocks noGrp="1"/>
          </p:cNvSpPr>
          <p:nvPr>
            <p:ph idx="1"/>
          </p:nvPr>
        </p:nvSpPr>
        <p:spPr/>
        <p:txBody>
          <a:bodyPr/>
          <a:lstStyle/>
          <a:p>
            <a:r>
              <a:rPr lang="en-US" dirty="0"/>
              <a:t>LHR is the most efficient transport in the long-haul FL setting.</a:t>
            </a:r>
          </a:p>
          <a:p>
            <a:pPr lvl="1"/>
            <a:r>
              <a:rPr lang="en-US" dirty="0"/>
              <a:t>112–177 s across the three policies, substantially faster.</a:t>
            </a:r>
          </a:p>
          <a:p>
            <a:pPr lvl="1"/>
            <a:r>
              <a:rPr lang="en-US" dirty="0"/>
              <a:t>Default RC massively exceeds on </a:t>
            </a:r>
            <a:r>
              <a:rPr lang="en-US" dirty="0" err="1"/>
              <a:t>FedBuff</a:t>
            </a:r>
            <a:r>
              <a:rPr lang="en-US" dirty="0"/>
              <a:t> and </a:t>
            </a:r>
            <a:r>
              <a:rPr lang="en-US" dirty="0" err="1"/>
              <a:t>FedAsync</a:t>
            </a:r>
            <a:r>
              <a:rPr lang="en-US" dirty="0"/>
              <a:t>, leaving it </a:t>
            </a:r>
            <a:r>
              <a:rPr lang="en-US" b="1" dirty="0"/>
              <a:t>unusable as a default transport</a:t>
            </a:r>
            <a:r>
              <a:rPr lang="en-US" dirty="0"/>
              <a:t> for asynchronous FL at this RTT.</a:t>
            </a:r>
          </a:p>
          <a:p>
            <a:pPr lvl="1"/>
            <a:r>
              <a:rPr lang="en-US" dirty="0" err="1"/>
              <a:t>ViT</a:t>
            </a:r>
            <a:r>
              <a:rPr lang="en-US" dirty="0"/>
              <a:t> reproduces the same result structure</a:t>
            </a:r>
          </a:p>
        </p:txBody>
      </p:sp>
      <p:pic>
        <p:nvPicPr>
          <p:cNvPr id="12" name="Picture 11">
            <a:extLst>
              <a:ext uri="{FF2B5EF4-FFF2-40B4-BE49-F238E27FC236}">
                <a16:creationId xmlns:a16="http://schemas.microsoft.com/office/drawing/2014/main" id="{80DEA492-061D-054D-621F-8DAF98AFAC71}"/>
              </a:ext>
            </a:extLst>
          </p:cNvPr>
          <p:cNvPicPr>
            <a:picLocks noChangeAspect="1"/>
          </p:cNvPicPr>
          <p:nvPr/>
        </p:nvPicPr>
        <p:blipFill>
          <a:blip r:embed="rId3">
            <a:extLst>
              <a:ext uri="{28A0092B-C50C-407E-A947-70E740481C1C}">
                <a14:useLocalDpi xmlns:a14="http://schemas.microsoft.com/office/drawing/2010/main" val="0"/>
              </a:ext>
            </a:extLst>
          </a:blip>
          <a:srcRect l="4130" t="7071" r="1548" b="5668"/>
          <a:stretch>
            <a:fillRect/>
          </a:stretch>
        </p:blipFill>
        <p:spPr>
          <a:xfrm>
            <a:off x="497394" y="3602847"/>
            <a:ext cx="5461795" cy="2673871"/>
          </a:xfrm>
          <a:prstGeom prst="rect">
            <a:avLst/>
          </a:prstGeom>
        </p:spPr>
      </p:pic>
      <p:pic>
        <p:nvPicPr>
          <p:cNvPr id="14" name="Picture 13">
            <a:extLst>
              <a:ext uri="{FF2B5EF4-FFF2-40B4-BE49-F238E27FC236}">
                <a16:creationId xmlns:a16="http://schemas.microsoft.com/office/drawing/2014/main" id="{6B3B5D49-FCFA-A6D0-C9F2-CE61454CC690}"/>
              </a:ext>
            </a:extLst>
          </p:cNvPr>
          <p:cNvPicPr>
            <a:picLocks noChangeAspect="1"/>
          </p:cNvPicPr>
          <p:nvPr/>
        </p:nvPicPr>
        <p:blipFill rotWithShape="1">
          <a:blip r:embed="rId4">
            <a:extLst>
              <a:ext uri="{28A0092B-C50C-407E-A947-70E740481C1C}">
                <a14:useLocalDpi xmlns:a14="http://schemas.microsoft.com/office/drawing/2010/main" val="0"/>
              </a:ext>
            </a:extLst>
          </a:blip>
          <a:srcRect l="23" t="1556" r="12753" b="4688"/>
          <a:stretch>
            <a:fillRect/>
          </a:stretch>
        </p:blipFill>
        <p:spPr>
          <a:xfrm>
            <a:off x="5959189" y="3951917"/>
            <a:ext cx="6096000" cy="1975729"/>
          </a:xfrm>
          <a:prstGeom prst="rect">
            <a:avLst/>
          </a:prstGeom>
        </p:spPr>
      </p:pic>
    </p:spTree>
    <p:extLst>
      <p:ext uri="{BB962C8B-B14F-4D97-AF65-F5344CB8AC3E}">
        <p14:creationId xmlns:p14="http://schemas.microsoft.com/office/powerpoint/2010/main" val="29898440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85747-F9D6-EF4D-0731-B44B24C2E2AA}"/>
              </a:ext>
            </a:extLst>
          </p:cNvPr>
          <p:cNvSpPr>
            <a:spLocks noGrp="1"/>
          </p:cNvSpPr>
          <p:nvPr>
            <p:ph type="title"/>
          </p:nvPr>
        </p:nvSpPr>
        <p:spPr/>
        <p:txBody>
          <a:bodyPr/>
          <a:lstStyle/>
          <a:p>
            <a:r>
              <a:rPr lang="en-GB" dirty="0"/>
              <a:t>Runtime Breakdown</a:t>
            </a:r>
          </a:p>
        </p:txBody>
      </p:sp>
      <p:sp>
        <p:nvSpPr>
          <p:cNvPr id="4" name="Footer Placeholder 3">
            <a:extLst>
              <a:ext uri="{FF2B5EF4-FFF2-40B4-BE49-F238E27FC236}">
                <a16:creationId xmlns:a16="http://schemas.microsoft.com/office/drawing/2014/main" id="{FFA9C386-9E35-FE5D-607D-875F3B1C82EF}"/>
              </a:ext>
            </a:extLst>
          </p:cNvPr>
          <p:cNvSpPr>
            <a:spLocks noGrp="1"/>
          </p:cNvSpPr>
          <p:nvPr>
            <p:ph type="ftr" idx="11"/>
          </p:nvPr>
        </p:nvSpPr>
        <p:spPr/>
        <p:txBody>
          <a:bodyPr/>
          <a:lstStyle/>
          <a:p>
            <a:r>
              <a:rPr lang="en-US"/>
              <a:t>University of Florida</a:t>
            </a:r>
            <a:endParaRPr lang="en-US" dirty="0"/>
          </a:p>
        </p:txBody>
      </p:sp>
      <p:sp>
        <p:nvSpPr>
          <p:cNvPr id="5" name="Slide Number Placeholder 4">
            <a:extLst>
              <a:ext uri="{FF2B5EF4-FFF2-40B4-BE49-F238E27FC236}">
                <a16:creationId xmlns:a16="http://schemas.microsoft.com/office/drawing/2014/main" id="{0DEB0C13-F5FE-BC26-FF0B-AF2325D0A3D9}"/>
              </a:ext>
            </a:extLst>
          </p:cNvPr>
          <p:cNvSpPr>
            <a:spLocks noGrp="1"/>
          </p:cNvSpPr>
          <p:nvPr>
            <p:ph type="sldNum" idx="12"/>
          </p:nvPr>
        </p:nvSpPr>
        <p:spPr/>
        <p:txBody>
          <a:bodyPr/>
          <a:lstStyle/>
          <a:p>
            <a:fld id="{00000000-1234-1234-1234-123412341234}" type="slidenum">
              <a:rPr lang="en" smtClean="0"/>
              <a:pPr/>
              <a:t>24</a:t>
            </a:fld>
            <a:endParaRPr lang="en">
              <a:latin typeface="Palatino" pitchFamily="2" charset="77"/>
              <a:ea typeface="Palatino" pitchFamily="2" charset="77"/>
            </a:endParaRPr>
          </a:p>
        </p:txBody>
      </p:sp>
      <p:sp>
        <p:nvSpPr>
          <p:cNvPr id="9" name="Content Placeholder 8">
            <a:extLst>
              <a:ext uri="{FF2B5EF4-FFF2-40B4-BE49-F238E27FC236}">
                <a16:creationId xmlns:a16="http://schemas.microsoft.com/office/drawing/2014/main" id="{9F23B7E5-4FC1-68DD-1BA9-6607B0DAC440}"/>
              </a:ext>
            </a:extLst>
          </p:cNvPr>
          <p:cNvSpPr>
            <a:spLocks noGrp="1"/>
          </p:cNvSpPr>
          <p:nvPr>
            <p:ph idx="1"/>
          </p:nvPr>
        </p:nvSpPr>
        <p:spPr/>
        <p:txBody>
          <a:bodyPr/>
          <a:lstStyle/>
          <a:p>
            <a:r>
              <a:rPr lang="en-GB" dirty="0"/>
              <a:t>Compute is constant and small: can be under 11.5% of runtime</a:t>
            </a:r>
          </a:p>
          <a:p>
            <a:r>
              <a:rPr lang="en-GB" dirty="0"/>
              <a:t>The RC penalty is symmetric for both down and up time</a:t>
            </a:r>
          </a:p>
          <a:p>
            <a:pPr lvl="1"/>
            <a:r>
              <a:rPr lang="en-US" dirty="0"/>
              <a:t>RC is 82× LHR for down time, with 249s vs. 32s in up time</a:t>
            </a:r>
            <a:endParaRPr lang="en-GB" dirty="0"/>
          </a:p>
          <a:p>
            <a:r>
              <a:rPr lang="en-GB" dirty="0"/>
              <a:t>The observations are transferrable across models</a:t>
            </a:r>
          </a:p>
        </p:txBody>
      </p:sp>
      <p:pic>
        <p:nvPicPr>
          <p:cNvPr id="10" name="Content Placeholder 6">
            <a:extLst>
              <a:ext uri="{FF2B5EF4-FFF2-40B4-BE49-F238E27FC236}">
                <a16:creationId xmlns:a16="http://schemas.microsoft.com/office/drawing/2014/main" id="{CF7DFB46-1B02-26E1-A452-278B6F1D5D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5925" y="3429000"/>
            <a:ext cx="8795178" cy="2990596"/>
          </a:xfrm>
          <a:prstGeom prst="rect">
            <a:avLst/>
          </a:prstGeom>
        </p:spPr>
      </p:pic>
    </p:spTree>
    <p:extLst>
      <p:ext uri="{BB962C8B-B14F-4D97-AF65-F5344CB8AC3E}">
        <p14:creationId xmlns:p14="http://schemas.microsoft.com/office/powerpoint/2010/main" val="7291756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B8AE1DA-6F75-A772-ECD7-BFCE6B259D99}"/>
              </a:ext>
            </a:extLst>
          </p:cNvPr>
          <p:cNvPicPr>
            <a:picLocks noChangeAspect="1"/>
          </p:cNvPicPr>
          <p:nvPr/>
        </p:nvPicPr>
        <p:blipFill rotWithShape="1">
          <a:blip r:embed="rId3">
            <a:extLst>
              <a:ext uri="{28A0092B-C50C-407E-A947-70E740481C1C}">
                <a14:useLocalDpi xmlns:a14="http://schemas.microsoft.com/office/drawing/2010/main" val="0"/>
              </a:ext>
            </a:extLst>
          </a:blip>
          <a:srcRect l="4478" t="5627" r="2353" b="4312"/>
          <a:stretch>
            <a:fillRect/>
          </a:stretch>
        </p:blipFill>
        <p:spPr>
          <a:xfrm>
            <a:off x="6348849" y="3767703"/>
            <a:ext cx="4715661" cy="2450441"/>
          </a:xfrm>
          <a:prstGeom prst="rect">
            <a:avLst/>
          </a:prstGeom>
        </p:spPr>
      </p:pic>
      <p:sp>
        <p:nvSpPr>
          <p:cNvPr id="2" name="Title 1">
            <a:extLst>
              <a:ext uri="{FF2B5EF4-FFF2-40B4-BE49-F238E27FC236}">
                <a16:creationId xmlns:a16="http://schemas.microsoft.com/office/drawing/2014/main" id="{60139490-0754-0676-6355-4366BE7C45E0}"/>
              </a:ext>
            </a:extLst>
          </p:cNvPr>
          <p:cNvSpPr>
            <a:spLocks noGrp="1"/>
          </p:cNvSpPr>
          <p:nvPr>
            <p:ph type="title"/>
          </p:nvPr>
        </p:nvSpPr>
        <p:spPr/>
        <p:txBody>
          <a:bodyPr/>
          <a:lstStyle/>
          <a:p>
            <a:r>
              <a:rPr lang="en-GB" dirty="0"/>
              <a:t>Sensitivity of Chunk and Scale</a:t>
            </a:r>
          </a:p>
        </p:txBody>
      </p:sp>
      <p:sp>
        <p:nvSpPr>
          <p:cNvPr id="4" name="Footer Placeholder 3">
            <a:extLst>
              <a:ext uri="{FF2B5EF4-FFF2-40B4-BE49-F238E27FC236}">
                <a16:creationId xmlns:a16="http://schemas.microsoft.com/office/drawing/2014/main" id="{874AA23A-ECF9-E7A9-DF80-89B96DC319AD}"/>
              </a:ext>
            </a:extLst>
          </p:cNvPr>
          <p:cNvSpPr>
            <a:spLocks noGrp="1"/>
          </p:cNvSpPr>
          <p:nvPr>
            <p:ph type="ftr" idx="11"/>
          </p:nvPr>
        </p:nvSpPr>
        <p:spPr/>
        <p:txBody>
          <a:bodyPr/>
          <a:lstStyle/>
          <a:p>
            <a:r>
              <a:rPr lang="en-US"/>
              <a:t>University of Florida</a:t>
            </a:r>
            <a:endParaRPr lang="en-US" dirty="0"/>
          </a:p>
        </p:txBody>
      </p:sp>
      <p:sp>
        <p:nvSpPr>
          <p:cNvPr id="5" name="Slide Number Placeholder 4">
            <a:extLst>
              <a:ext uri="{FF2B5EF4-FFF2-40B4-BE49-F238E27FC236}">
                <a16:creationId xmlns:a16="http://schemas.microsoft.com/office/drawing/2014/main" id="{D12BC54E-CA8D-2BD9-8C9E-4F23AAB85726}"/>
              </a:ext>
            </a:extLst>
          </p:cNvPr>
          <p:cNvSpPr>
            <a:spLocks noGrp="1"/>
          </p:cNvSpPr>
          <p:nvPr>
            <p:ph type="sldNum" idx="12"/>
          </p:nvPr>
        </p:nvSpPr>
        <p:spPr/>
        <p:txBody>
          <a:bodyPr/>
          <a:lstStyle/>
          <a:p>
            <a:fld id="{00000000-1234-1234-1234-123412341234}" type="slidenum">
              <a:rPr lang="en" smtClean="0"/>
              <a:pPr/>
              <a:t>25</a:t>
            </a:fld>
            <a:endParaRPr lang="en">
              <a:latin typeface="Palatino" pitchFamily="2" charset="77"/>
              <a:ea typeface="Palatino" pitchFamily="2" charset="77"/>
            </a:endParaRPr>
          </a:p>
        </p:txBody>
      </p:sp>
      <p:sp>
        <p:nvSpPr>
          <p:cNvPr id="9" name="Content Placeholder 8">
            <a:extLst>
              <a:ext uri="{FF2B5EF4-FFF2-40B4-BE49-F238E27FC236}">
                <a16:creationId xmlns:a16="http://schemas.microsoft.com/office/drawing/2014/main" id="{4BBF1DD5-0C27-5501-C42C-D3689E0EAB47}"/>
              </a:ext>
            </a:extLst>
          </p:cNvPr>
          <p:cNvSpPr>
            <a:spLocks noGrp="1"/>
          </p:cNvSpPr>
          <p:nvPr>
            <p:ph idx="1"/>
          </p:nvPr>
        </p:nvSpPr>
        <p:spPr/>
        <p:txBody>
          <a:bodyPr/>
          <a:lstStyle/>
          <a:p>
            <a:r>
              <a:rPr lang="en-GB" dirty="0"/>
              <a:t>Chunking does not close the gap</a:t>
            </a:r>
          </a:p>
          <a:p>
            <a:pPr lvl="1"/>
            <a:r>
              <a:rPr lang="en-GB" dirty="0"/>
              <a:t>LHR sits below TCP by a constant margin</a:t>
            </a:r>
          </a:p>
          <a:p>
            <a:r>
              <a:rPr lang="en-GB" dirty="0"/>
              <a:t>Sublinear scaling</a:t>
            </a:r>
          </a:p>
          <a:p>
            <a:pPr lvl="1"/>
            <a:r>
              <a:rPr lang="en-US" dirty="0"/>
              <a:t>4 → 16 ranks adds </a:t>
            </a:r>
            <a:r>
              <a:rPr lang="en-US" b="1" dirty="0"/>
              <a:t>+28.8% to TCP</a:t>
            </a:r>
            <a:r>
              <a:rPr lang="en-US" dirty="0"/>
              <a:t> and </a:t>
            </a:r>
            <a:r>
              <a:rPr lang="en-US" b="1" dirty="0"/>
              <a:t>+18.2% to LHR</a:t>
            </a:r>
            <a:r>
              <a:rPr lang="en-US" dirty="0"/>
              <a:t> on </a:t>
            </a:r>
            <a:r>
              <a:rPr lang="en-US" dirty="0" err="1"/>
              <a:t>FedAvg</a:t>
            </a:r>
            <a:r>
              <a:rPr lang="en-US" dirty="0"/>
              <a:t>. </a:t>
            </a:r>
          </a:p>
          <a:p>
            <a:pPr lvl="1"/>
            <a:r>
              <a:rPr lang="en-US" dirty="0"/>
              <a:t>The advantage holds at </a:t>
            </a:r>
            <a:r>
              <a:rPr lang="en-US" b="1" dirty="0"/>
              <a:t>1.10–1.37×</a:t>
            </a:r>
            <a:r>
              <a:rPr lang="en-US" dirty="0"/>
              <a:t> at every scale.</a:t>
            </a:r>
            <a:endParaRPr lang="en-GB" dirty="0"/>
          </a:p>
        </p:txBody>
      </p:sp>
      <p:pic>
        <p:nvPicPr>
          <p:cNvPr id="10" name="Content Placeholder 6">
            <a:extLst>
              <a:ext uri="{FF2B5EF4-FFF2-40B4-BE49-F238E27FC236}">
                <a16:creationId xmlns:a16="http://schemas.microsoft.com/office/drawing/2014/main" id="{7B801795-A749-B53B-108D-1594E0356A9C}"/>
              </a:ext>
            </a:extLst>
          </p:cNvPr>
          <p:cNvPicPr>
            <a:picLocks noChangeAspect="1"/>
          </p:cNvPicPr>
          <p:nvPr/>
        </p:nvPicPr>
        <p:blipFill rotWithShape="1">
          <a:blip r:embed="rId4">
            <a:extLst>
              <a:ext uri="{28A0092B-C50C-407E-A947-70E740481C1C}">
                <a14:useLocalDpi xmlns:a14="http://schemas.microsoft.com/office/drawing/2010/main" val="0"/>
              </a:ext>
            </a:extLst>
          </a:blip>
          <a:srcRect b="5380"/>
          <a:stretch>
            <a:fillRect/>
          </a:stretch>
        </p:blipFill>
        <p:spPr>
          <a:xfrm>
            <a:off x="902825" y="3857575"/>
            <a:ext cx="5407444" cy="2270698"/>
          </a:xfrm>
          <a:prstGeom prst="rect">
            <a:avLst/>
          </a:prstGeom>
        </p:spPr>
      </p:pic>
    </p:spTree>
    <p:extLst>
      <p:ext uri="{BB962C8B-B14F-4D97-AF65-F5344CB8AC3E}">
        <p14:creationId xmlns:p14="http://schemas.microsoft.com/office/powerpoint/2010/main" val="28306352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D81BF-FE1C-A5F6-30FC-778A3ACF1B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F23F6B-0568-D7C2-B375-A8FA4E2997B8}"/>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2CD18B2A-DEE9-E001-3D5A-AB8C65BFB4DD}"/>
              </a:ext>
            </a:extLst>
          </p:cNvPr>
          <p:cNvSpPr>
            <a:spLocks noGrp="1"/>
          </p:cNvSpPr>
          <p:nvPr>
            <p:ph idx="1"/>
          </p:nvPr>
        </p:nvSpPr>
        <p:spPr/>
        <p:txBody>
          <a:bodyPr/>
          <a:lstStyle/>
          <a:p>
            <a:r>
              <a:rPr lang="en-US" dirty="0">
                <a:solidFill>
                  <a:schemeClr val="bg1">
                    <a:lumMod val="75000"/>
                  </a:schemeClr>
                </a:solidFill>
              </a:rPr>
              <a:t>Background and Motivation</a:t>
            </a:r>
          </a:p>
          <a:p>
            <a:r>
              <a:rPr lang="en-US" dirty="0">
                <a:solidFill>
                  <a:schemeClr val="bg1">
                    <a:lumMod val="75000"/>
                  </a:schemeClr>
                </a:solidFill>
              </a:rPr>
              <a:t>Bottleneck Analysis</a:t>
            </a:r>
          </a:p>
          <a:p>
            <a:r>
              <a:rPr lang="en-US" dirty="0">
                <a:solidFill>
                  <a:schemeClr val="bg1">
                    <a:lumMod val="75000"/>
                  </a:schemeClr>
                </a:solidFill>
              </a:rPr>
              <a:t>System Co-Design</a:t>
            </a:r>
          </a:p>
          <a:p>
            <a:r>
              <a:rPr lang="en-US" dirty="0">
                <a:solidFill>
                  <a:schemeClr val="bg1">
                    <a:lumMod val="75000"/>
                  </a:schemeClr>
                </a:solidFill>
              </a:rPr>
              <a:t>Evaluation</a:t>
            </a:r>
          </a:p>
          <a:p>
            <a:r>
              <a:rPr lang="en-US" dirty="0">
                <a:solidFill>
                  <a:srgbClr val="C00000"/>
                </a:solidFill>
              </a:rPr>
              <a:t>Conclusion and Acknowledgments</a:t>
            </a:r>
          </a:p>
        </p:txBody>
      </p:sp>
      <p:sp>
        <p:nvSpPr>
          <p:cNvPr id="5" name="Slide Number Placeholder 4">
            <a:extLst>
              <a:ext uri="{FF2B5EF4-FFF2-40B4-BE49-F238E27FC236}">
                <a16:creationId xmlns:a16="http://schemas.microsoft.com/office/drawing/2014/main" id="{E4D5A559-4AEF-D2BD-EC41-917C9FED3FDC}"/>
              </a:ext>
            </a:extLst>
          </p:cNvPr>
          <p:cNvSpPr>
            <a:spLocks noGrp="1"/>
          </p:cNvSpPr>
          <p:nvPr>
            <p:ph type="sldNum" idx="12"/>
          </p:nvPr>
        </p:nvSpPr>
        <p:spPr/>
        <p:txBody>
          <a:bodyPr/>
          <a:lstStyle/>
          <a:p>
            <a:fld id="{00000000-1234-1234-1234-123412341234}" type="slidenum">
              <a:rPr lang="en" smtClean="0"/>
              <a:pPr/>
              <a:t>26</a:t>
            </a:fld>
            <a:endParaRPr lang="en"/>
          </a:p>
        </p:txBody>
      </p:sp>
      <p:sp>
        <p:nvSpPr>
          <p:cNvPr id="6" name="Footer Placeholder 7">
            <a:extLst>
              <a:ext uri="{FF2B5EF4-FFF2-40B4-BE49-F238E27FC236}">
                <a16:creationId xmlns:a16="http://schemas.microsoft.com/office/drawing/2014/main" id="{74C99537-6523-85D6-859E-7362483B55ED}"/>
              </a:ext>
            </a:extLst>
          </p:cNvPr>
          <p:cNvSpPr>
            <a:spLocks noGrp="1"/>
          </p:cNvSpPr>
          <p:nvPr>
            <p:ph type="ftr" idx="11"/>
          </p:nvPr>
        </p:nvSpPr>
        <p:spPr>
          <a:xfrm>
            <a:off x="4657345" y="6542142"/>
            <a:ext cx="4049335" cy="301758"/>
          </a:xfrm>
        </p:spPr>
        <p:txBody>
          <a:bodyPr/>
          <a:lstStyle/>
          <a:p>
            <a:r>
              <a:rPr lang="en-US" dirty="0"/>
              <a:t>University of Florida</a:t>
            </a:r>
          </a:p>
        </p:txBody>
      </p:sp>
    </p:spTree>
    <p:extLst>
      <p:ext uri="{BB962C8B-B14F-4D97-AF65-F5344CB8AC3E}">
        <p14:creationId xmlns:p14="http://schemas.microsoft.com/office/powerpoint/2010/main" val="33472854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E933FD6-6880-154A-C054-518E3BA9F694}"/>
              </a:ext>
            </a:extLst>
          </p:cNvPr>
          <p:cNvSpPr>
            <a:spLocks noGrp="1"/>
          </p:cNvSpPr>
          <p:nvPr>
            <p:ph type="sldNum" idx="12"/>
          </p:nvPr>
        </p:nvSpPr>
        <p:spPr/>
        <p:txBody>
          <a:bodyPr/>
          <a:lstStyle/>
          <a:p>
            <a:fld id="{00000000-1234-1234-1234-123412341234}" type="slidenum">
              <a:rPr lang="en-US" smtClean="0"/>
              <a:pPr/>
              <a:t>27</a:t>
            </a:fld>
            <a:endParaRPr lang="en-US" dirty="0"/>
          </a:p>
        </p:txBody>
      </p:sp>
      <p:sp>
        <p:nvSpPr>
          <p:cNvPr id="6" name="Rectangle 5">
            <a:extLst>
              <a:ext uri="{FF2B5EF4-FFF2-40B4-BE49-F238E27FC236}">
                <a16:creationId xmlns:a16="http://schemas.microsoft.com/office/drawing/2014/main" id="{EE372DBD-EE78-88A3-79A6-B7E212CCAFAE}"/>
              </a:ext>
            </a:extLst>
          </p:cNvPr>
          <p:cNvSpPr/>
          <p:nvPr/>
        </p:nvSpPr>
        <p:spPr>
          <a:xfrm>
            <a:off x="654908" y="1046372"/>
            <a:ext cx="2689934" cy="260726"/>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Problem</a:t>
            </a:r>
          </a:p>
        </p:txBody>
      </p:sp>
      <p:sp>
        <p:nvSpPr>
          <p:cNvPr id="8" name="Rectangle 7">
            <a:extLst>
              <a:ext uri="{FF2B5EF4-FFF2-40B4-BE49-F238E27FC236}">
                <a16:creationId xmlns:a16="http://schemas.microsoft.com/office/drawing/2014/main" id="{8E242C32-0C24-0E28-8617-A9FB08469904}"/>
              </a:ext>
            </a:extLst>
          </p:cNvPr>
          <p:cNvSpPr/>
          <p:nvPr/>
        </p:nvSpPr>
        <p:spPr>
          <a:xfrm>
            <a:off x="1105534" y="1308550"/>
            <a:ext cx="9953263" cy="65573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6876756-F44A-6F71-6C58-ABC0C9DFB88A}"/>
              </a:ext>
            </a:extLst>
          </p:cNvPr>
          <p:cNvSpPr txBox="1"/>
          <p:nvPr/>
        </p:nvSpPr>
        <p:spPr>
          <a:xfrm>
            <a:off x="1132167" y="1307098"/>
            <a:ext cx="9926630" cy="646331"/>
          </a:xfrm>
          <a:prstGeom prst="rect">
            <a:avLst/>
          </a:prstGeom>
          <a:noFill/>
        </p:spPr>
        <p:txBody>
          <a:bodyPr wrap="square" rtlCol="0">
            <a:spAutoFit/>
          </a:bodyPr>
          <a:lstStyle/>
          <a:p>
            <a:r>
              <a:rPr lang="en-US" dirty="0">
                <a:solidFill>
                  <a:schemeClr val="accent4">
                    <a:lumMod val="50000"/>
                  </a:schemeClr>
                </a:solidFill>
              </a:rPr>
              <a:t>Federated learning increasingly turns into a wide-area communication problem. Whether long-haul RDMA can serve as the substrate has not been measured on real infrastructure.</a:t>
            </a:r>
          </a:p>
        </p:txBody>
      </p:sp>
      <p:sp>
        <p:nvSpPr>
          <p:cNvPr id="12" name="Rectangle 11">
            <a:extLst>
              <a:ext uri="{FF2B5EF4-FFF2-40B4-BE49-F238E27FC236}">
                <a16:creationId xmlns:a16="http://schemas.microsoft.com/office/drawing/2014/main" id="{AC71E4AE-B672-F2B3-BAFC-EFE2B1011515}"/>
              </a:ext>
            </a:extLst>
          </p:cNvPr>
          <p:cNvSpPr/>
          <p:nvPr/>
        </p:nvSpPr>
        <p:spPr>
          <a:xfrm>
            <a:off x="654908" y="2090113"/>
            <a:ext cx="2689934" cy="260726"/>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Objective</a:t>
            </a:r>
          </a:p>
        </p:txBody>
      </p:sp>
      <p:sp>
        <p:nvSpPr>
          <p:cNvPr id="13" name="Rectangle 12">
            <a:extLst>
              <a:ext uri="{FF2B5EF4-FFF2-40B4-BE49-F238E27FC236}">
                <a16:creationId xmlns:a16="http://schemas.microsoft.com/office/drawing/2014/main" id="{0094DA31-77E1-B081-B207-C792DC33D29A}"/>
              </a:ext>
            </a:extLst>
          </p:cNvPr>
          <p:cNvSpPr/>
          <p:nvPr/>
        </p:nvSpPr>
        <p:spPr>
          <a:xfrm>
            <a:off x="1132167" y="2350839"/>
            <a:ext cx="9953263" cy="53501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177E6BC-1B64-CCFC-A6D2-B5B22E74BFCF}"/>
              </a:ext>
            </a:extLst>
          </p:cNvPr>
          <p:cNvSpPr txBox="1"/>
          <p:nvPr/>
        </p:nvSpPr>
        <p:spPr>
          <a:xfrm>
            <a:off x="1224948" y="2296375"/>
            <a:ext cx="9833849" cy="646331"/>
          </a:xfrm>
          <a:prstGeom prst="rect">
            <a:avLst/>
          </a:prstGeom>
          <a:noFill/>
        </p:spPr>
        <p:txBody>
          <a:bodyPr wrap="square" rtlCol="0">
            <a:spAutoFit/>
          </a:bodyPr>
          <a:lstStyle/>
          <a:p>
            <a:r>
              <a:rPr lang="en-US" dirty="0">
                <a:solidFill>
                  <a:schemeClr val="accent1">
                    <a:lumMod val="50000"/>
                  </a:schemeClr>
                </a:solidFill>
              </a:rPr>
              <a:t>Determine whether RDMA outperforms TCP for FL in the wide area, under which conditions the advantage is most significant.</a:t>
            </a:r>
          </a:p>
        </p:txBody>
      </p:sp>
      <p:sp>
        <p:nvSpPr>
          <p:cNvPr id="15" name="Rectangle 14">
            <a:extLst>
              <a:ext uri="{FF2B5EF4-FFF2-40B4-BE49-F238E27FC236}">
                <a16:creationId xmlns:a16="http://schemas.microsoft.com/office/drawing/2014/main" id="{9860029C-6200-E5AD-B6A6-8F5AA22D5A8C}"/>
              </a:ext>
            </a:extLst>
          </p:cNvPr>
          <p:cNvSpPr/>
          <p:nvPr/>
        </p:nvSpPr>
        <p:spPr>
          <a:xfrm>
            <a:off x="654908" y="2975823"/>
            <a:ext cx="2689934" cy="260726"/>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Key Idea</a:t>
            </a:r>
          </a:p>
        </p:txBody>
      </p:sp>
      <p:sp>
        <p:nvSpPr>
          <p:cNvPr id="16" name="Rectangle 15">
            <a:extLst>
              <a:ext uri="{FF2B5EF4-FFF2-40B4-BE49-F238E27FC236}">
                <a16:creationId xmlns:a16="http://schemas.microsoft.com/office/drawing/2014/main" id="{34B956B4-A67E-4E06-0767-7901756AD830}"/>
              </a:ext>
            </a:extLst>
          </p:cNvPr>
          <p:cNvSpPr/>
          <p:nvPr/>
        </p:nvSpPr>
        <p:spPr>
          <a:xfrm>
            <a:off x="1132167" y="3236550"/>
            <a:ext cx="9953263" cy="384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D316A31-7B1D-0BB0-9533-CC9FE87992D5}"/>
              </a:ext>
            </a:extLst>
          </p:cNvPr>
          <p:cNvSpPr txBox="1"/>
          <p:nvPr/>
        </p:nvSpPr>
        <p:spPr>
          <a:xfrm>
            <a:off x="1223230" y="3252117"/>
            <a:ext cx="7492372" cy="369332"/>
          </a:xfrm>
          <a:prstGeom prst="rect">
            <a:avLst/>
          </a:prstGeom>
          <a:noFill/>
        </p:spPr>
        <p:txBody>
          <a:bodyPr wrap="none" rtlCol="0">
            <a:spAutoFit/>
          </a:bodyPr>
          <a:lstStyle/>
          <a:p>
            <a:r>
              <a:rPr lang="en-US" dirty="0">
                <a:solidFill>
                  <a:schemeClr val="accent6">
                    <a:lumMod val="50000"/>
                  </a:schemeClr>
                </a:solidFill>
              </a:rPr>
              <a:t>Co-design transport layer with FL awareness and take ACK off the critical path. </a:t>
            </a:r>
          </a:p>
        </p:txBody>
      </p:sp>
      <p:sp>
        <p:nvSpPr>
          <p:cNvPr id="18" name="Rectangle 17">
            <a:extLst>
              <a:ext uri="{FF2B5EF4-FFF2-40B4-BE49-F238E27FC236}">
                <a16:creationId xmlns:a16="http://schemas.microsoft.com/office/drawing/2014/main" id="{96D0A59C-F0FD-5AFB-AEF1-E613F6FC9803}"/>
              </a:ext>
            </a:extLst>
          </p:cNvPr>
          <p:cNvSpPr/>
          <p:nvPr/>
        </p:nvSpPr>
        <p:spPr>
          <a:xfrm>
            <a:off x="654908" y="3706255"/>
            <a:ext cx="2689934" cy="260726"/>
          </a:xfrm>
          <a:prstGeom prst="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Key Contributions</a:t>
            </a:r>
          </a:p>
        </p:txBody>
      </p:sp>
      <p:sp>
        <p:nvSpPr>
          <p:cNvPr id="19" name="Rectangle 18">
            <a:extLst>
              <a:ext uri="{FF2B5EF4-FFF2-40B4-BE49-F238E27FC236}">
                <a16:creationId xmlns:a16="http://schemas.microsoft.com/office/drawing/2014/main" id="{2FA4C220-6087-C66D-E38C-EEC239E9843C}"/>
              </a:ext>
            </a:extLst>
          </p:cNvPr>
          <p:cNvSpPr/>
          <p:nvPr/>
        </p:nvSpPr>
        <p:spPr>
          <a:xfrm>
            <a:off x="1132167" y="3968433"/>
            <a:ext cx="9953263" cy="136604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FB2F4E7D-E2EF-A2B0-2C35-2F253E83804F}"/>
              </a:ext>
            </a:extLst>
          </p:cNvPr>
          <p:cNvSpPr txBox="1"/>
          <p:nvPr/>
        </p:nvSpPr>
        <p:spPr>
          <a:xfrm>
            <a:off x="1223230" y="4052675"/>
            <a:ext cx="9835567" cy="1200329"/>
          </a:xfrm>
          <a:prstGeom prst="rect">
            <a:avLst/>
          </a:prstGeom>
          <a:noFill/>
        </p:spPr>
        <p:txBody>
          <a:bodyPr wrap="square" rtlCol="0">
            <a:spAutoFit/>
          </a:bodyPr>
          <a:lstStyle/>
          <a:p>
            <a:r>
              <a:rPr lang="en-US" dirty="0">
                <a:solidFill>
                  <a:schemeClr val="accent2">
                    <a:lumMod val="50000"/>
                  </a:schemeClr>
                </a:solidFill>
              </a:rPr>
              <a:t>- LHR, a long-haul-friendly transport that outperforms TCP by up to 1.31× and default UCX RC by up to 24.84×, robust to chunk-size and client-count sweeps.</a:t>
            </a:r>
          </a:p>
          <a:p>
            <a:r>
              <a:rPr lang="en-US" dirty="0">
                <a:solidFill>
                  <a:schemeClr val="accent2">
                    <a:lumMod val="50000"/>
                  </a:schemeClr>
                </a:solidFill>
              </a:rPr>
              <a:t>- Characterization of default UCX RC’s failure of DEVX-triggered firmware retransmission at long RTT.</a:t>
            </a:r>
            <a:br>
              <a:rPr lang="en-US" dirty="0">
                <a:solidFill>
                  <a:schemeClr val="accent2">
                    <a:lumMod val="50000"/>
                  </a:schemeClr>
                </a:solidFill>
              </a:rPr>
            </a:br>
            <a:r>
              <a:rPr lang="en-US" dirty="0">
                <a:solidFill>
                  <a:schemeClr val="accent2">
                    <a:lumMod val="50000"/>
                  </a:schemeClr>
                </a:solidFill>
              </a:rPr>
              <a:t>- Evaluation of long-haul RDMA for FL on a real ~88 </a:t>
            </a:r>
            <a:r>
              <a:rPr lang="en-US" dirty="0" err="1">
                <a:solidFill>
                  <a:schemeClr val="accent2">
                    <a:lumMod val="50000"/>
                  </a:schemeClr>
                </a:solidFill>
              </a:rPr>
              <a:t>ms</a:t>
            </a:r>
            <a:r>
              <a:rPr lang="en-US" dirty="0">
                <a:solidFill>
                  <a:schemeClr val="accent2">
                    <a:lumMod val="50000"/>
                  </a:schemeClr>
                </a:solidFill>
              </a:rPr>
              <a:t> </a:t>
            </a:r>
            <a:r>
              <a:rPr lang="en-US" dirty="0" err="1">
                <a:solidFill>
                  <a:schemeClr val="accent2">
                    <a:lumMod val="50000"/>
                  </a:schemeClr>
                </a:solidFill>
              </a:rPr>
              <a:t>ESnet</a:t>
            </a:r>
            <a:r>
              <a:rPr lang="en-US" dirty="0">
                <a:solidFill>
                  <a:schemeClr val="accent2">
                    <a:lumMod val="50000"/>
                  </a:schemeClr>
                </a:solidFill>
              </a:rPr>
              <a:t> testbed, across three algorithms.</a:t>
            </a:r>
          </a:p>
        </p:txBody>
      </p:sp>
      <p:sp>
        <p:nvSpPr>
          <p:cNvPr id="2" name="Rectangle 1">
            <a:extLst>
              <a:ext uri="{FF2B5EF4-FFF2-40B4-BE49-F238E27FC236}">
                <a16:creationId xmlns:a16="http://schemas.microsoft.com/office/drawing/2014/main" id="{C1D1B502-CBC3-32D1-C2FE-5E9E8431E9DE}"/>
              </a:ext>
            </a:extLst>
          </p:cNvPr>
          <p:cNvSpPr/>
          <p:nvPr/>
        </p:nvSpPr>
        <p:spPr>
          <a:xfrm>
            <a:off x="654908" y="5430791"/>
            <a:ext cx="2689934" cy="260726"/>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Future Work</a:t>
            </a:r>
          </a:p>
        </p:txBody>
      </p:sp>
      <p:sp>
        <p:nvSpPr>
          <p:cNvPr id="7" name="Rectangle 6">
            <a:extLst>
              <a:ext uri="{FF2B5EF4-FFF2-40B4-BE49-F238E27FC236}">
                <a16:creationId xmlns:a16="http://schemas.microsoft.com/office/drawing/2014/main" id="{B9072951-9033-86C0-885E-BD8B8D526C02}"/>
              </a:ext>
            </a:extLst>
          </p:cNvPr>
          <p:cNvSpPr/>
          <p:nvPr/>
        </p:nvSpPr>
        <p:spPr>
          <a:xfrm>
            <a:off x="1132167" y="5691518"/>
            <a:ext cx="9953263" cy="384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E762869-EC02-688B-D6AB-E4F82134F51C}"/>
              </a:ext>
            </a:extLst>
          </p:cNvPr>
          <p:cNvSpPr txBox="1"/>
          <p:nvPr/>
        </p:nvSpPr>
        <p:spPr>
          <a:xfrm>
            <a:off x="1223230" y="5707085"/>
            <a:ext cx="5794150" cy="369332"/>
          </a:xfrm>
          <a:prstGeom prst="rect">
            <a:avLst/>
          </a:prstGeom>
          <a:noFill/>
        </p:spPr>
        <p:txBody>
          <a:bodyPr wrap="none" rtlCol="0">
            <a:spAutoFit/>
          </a:bodyPr>
          <a:lstStyle/>
          <a:p>
            <a:r>
              <a:rPr lang="en-US" dirty="0">
                <a:solidFill>
                  <a:schemeClr val="accent6">
                    <a:lumMod val="50000"/>
                  </a:schemeClr>
                </a:solidFill>
              </a:rPr>
              <a:t>Further optimize the design for performance and scalability.</a:t>
            </a:r>
          </a:p>
        </p:txBody>
      </p:sp>
      <p:sp>
        <p:nvSpPr>
          <p:cNvPr id="10" name="Title 1">
            <a:extLst>
              <a:ext uri="{FF2B5EF4-FFF2-40B4-BE49-F238E27FC236}">
                <a16:creationId xmlns:a16="http://schemas.microsoft.com/office/drawing/2014/main" id="{434C8EC8-B46B-5D80-A470-B84CDE601A84}"/>
              </a:ext>
            </a:extLst>
          </p:cNvPr>
          <p:cNvSpPr>
            <a:spLocks noGrp="1"/>
          </p:cNvSpPr>
          <p:nvPr>
            <p:ph type="title"/>
          </p:nvPr>
        </p:nvSpPr>
        <p:spPr>
          <a:xfrm>
            <a:off x="654908" y="119445"/>
            <a:ext cx="10968523" cy="893810"/>
          </a:xfrm>
        </p:spPr>
        <p:txBody>
          <a:bodyPr/>
          <a:lstStyle/>
          <a:p>
            <a:r>
              <a:rPr lang="en-GB" dirty="0"/>
              <a:t>Summary</a:t>
            </a:r>
          </a:p>
        </p:txBody>
      </p:sp>
      <p:sp>
        <p:nvSpPr>
          <p:cNvPr id="22" name="Footer Placeholder 7">
            <a:extLst>
              <a:ext uri="{FF2B5EF4-FFF2-40B4-BE49-F238E27FC236}">
                <a16:creationId xmlns:a16="http://schemas.microsoft.com/office/drawing/2014/main" id="{8C554F13-37B6-DD30-E693-87F9B8AEDA0C}"/>
              </a:ext>
            </a:extLst>
          </p:cNvPr>
          <p:cNvSpPr>
            <a:spLocks noGrp="1"/>
          </p:cNvSpPr>
          <p:nvPr>
            <p:ph type="ftr" idx="11"/>
          </p:nvPr>
        </p:nvSpPr>
        <p:spPr>
          <a:xfrm>
            <a:off x="4657345" y="6542142"/>
            <a:ext cx="4049335" cy="301758"/>
          </a:xfrm>
        </p:spPr>
        <p:txBody>
          <a:bodyPr/>
          <a:lstStyle/>
          <a:p>
            <a:r>
              <a:rPr lang="en-US" dirty="0"/>
              <a:t>University of Florida</a:t>
            </a:r>
          </a:p>
        </p:txBody>
      </p:sp>
    </p:spTree>
    <p:extLst>
      <p:ext uri="{BB962C8B-B14F-4D97-AF65-F5344CB8AC3E}">
        <p14:creationId xmlns:p14="http://schemas.microsoft.com/office/powerpoint/2010/main" val="39828860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4C28B-1E0E-51B1-8C5A-96A4DE304171}"/>
              </a:ext>
            </a:extLst>
          </p:cNvPr>
          <p:cNvSpPr>
            <a:spLocks noGrp="1"/>
          </p:cNvSpPr>
          <p:nvPr>
            <p:ph type="title"/>
          </p:nvPr>
        </p:nvSpPr>
        <p:spPr/>
        <p:txBody>
          <a:bodyPr/>
          <a:lstStyle/>
          <a:p>
            <a:r>
              <a:rPr lang="en-US" dirty="0">
                <a:latin typeface="Linux Biolinum" panose="02000503000000000000" pitchFamily="2" charset="0"/>
                <a:ea typeface="Linux Biolinum" panose="02000503000000000000" pitchFamily="2" charset="0"/>
                <a:cs typeface="Linux Biolinum" panose="02000503000000000000" pitchFamily="2" charset="0"/>
              </a:rPr>
              <a:t>Acknowledgement</a:t>
            </a:r>
            <a:endParaRPr lang="en-GB" dirty="0">
              <a:latin typeface="Linux Biolinum" panose="02000503000000000000" pitchFamily="2" charset="0"/>
              <a:ea typeface="Linux Biolinum" panose="02000503000000000000" pitchFamily="2" charset="0"/>
              <a:cs typeface="Linux Biolinum" panose="02000503000000000000" pitchFamily="2" charset="0"/>
            </a:endParaRPr>
          </a:p>
        </p:txBody>
      </p:sp>
      <p:sp>
        <p:nvSpPr>
          <p:cNvPr id="3" name="Content Placeholder 2">
            <a:extLst>
              <a:ext uri="{FF2B5EF4-FFF2-40B4-BE49-F238E27FC236}">
                <a16:creationId xmlns:a16="http://schemas.microsoft.com/office/drawing/2014/main" id="{6AE2BACA-AF66-E608-B850-9BA46C713500}"/>
              </a:ext>
            </a:extLst>
          </p:cNvPr>
          <p:cNvSpPr>
            <a:spLocks noGrp="1"/>
          </p:cNvSpPr>
          <p:nvPr>
            <p:ph idx="1"/>
          </p:nvPr>
        </p:nvSpPr>
        <p:spPr>
          <a:xfrm>
            <a:off x="654908" y="1126687"/>
            <a:ext cx="8441392" cy="4575175"/>
          </a:xfrm>
        </p:spPr>
        <p:txBody>
          <a:bodyPr>
            <a:normAutofit/>
          </a:bodyPr>
          <a:lstStyle/>
          <a:p>
            <a:r>
              <a:rPr lang="en-US" dirty="0"/>
              <a:t>We thank all anonymous reviewers for their valuable feedback</a:t>
            </a:r>
          </a:p>
          <a:p>
            <a:r>
              <a:rPr lang="en-US" dirty="0"/>
              <a:t>We also appreciate the constructive discussions and support from our colleagues and collaborators</a:t>
            </a:r>
          </a:p>
          <a:p>
            <a:r>
              <a:rPr lang="en-US" dirty="0"/>
              <a:t>This work is under the SR-APPFL project</a:t>
            </a:r>
          </a:p>
          <a:p>
            <a:endParaRPr lang="en-US" sz="1700" dirty="0"/>
          </a:p>
          <a:p>
            <a:endParaRPr lang="en-GB" dirty="0"/>
          </a:p>
        </p:txBody>
      </p:sp>
      <p:sp>
        <p:nvSpPr>
          <p:cNvPr id="4" name="Footer Placeholder 3">
            <a:extLst>
              <a:ext uri="{FF2B5EF4-FFF2-40B4-BE49-F238E27FC236}">
                <a16:creationId xmlns:a16="http://schemas.microsoft.com/office/drawing/2014/main" id="{A5F263A8-1B6D-1B1C-9084-A68608CF0E28}"/>
              </a:ext>
            </a:extLst>
          </p:cNvPr>
          <p:cNvSpPr>
            <a:spLocks noGrp="1"/>
          </p:cNvSpPr>
          <p:nvPr>
            <p:ph type="ftr" idx="11"/>
          </p:nvPr>
        </p:nvSpPr>
        <p:spPr/>
        <p:txBody>
          <a:bodyPr/>
          <a:lstStyle/>
          <a:p>
            <a:r>
              <a:rPr lang="en-US"/>
              <a:t>PADSYS Lab</a:t>
            </a:r>
            <a:endParaRPr lang="en-US" dirty="0"/>
          </a:p>
        </p:txBody>
      </p:sp>
      <p:sp>
        <p:nvSpPr>
          <p:cNvPr id="5" name="Slide Number Placeholder 4">
            <a:extLst>
              <a:ext uri="{FF2B5EF4-FFF2-40B4-BE49-F238E27FC236}">
                <a16:creationId xmlns:a16="http://schemas.microsoft.com/office/drawing/2014/main" id="{056056BC-B465-80CA-046A-B6692C01F741}"/>
              </a:ext>
            </a:extLst>
          </p:cNvPr>
          <p:cNvSpPr>
            <a:spLocks noGrp="1"/>
          </p:cNvSpPr>
          <p:nvPr>
            <p:ph type="sldNum" idx="12"/>
          </p:nvPr>
        </p:nvSpPr>
        <p:spPr/>
        <p:txBody>
          <a:bodyPr/>
          <a:lstStyle/>
          <a:p>
            <a:fld id="{00000000-1234-1234-1234-123412341234}" type="slidenum">
              <a:rPr lang="en-US" smtClean="0"/>
              <a:pPr/>
              <a:t>28</a:t>
            </a:fld>
            <a:endParaRPr lang="en-US" dirty="0"/>
          </a:p>
        </p:txBody>
      </p:sp>
      <p:pic>
        <p:nvPicPr>
          <p:cNvPr id="6" name="Picture 2">
            <a:extLst>
              <a:ext uri="{FF2B5EF4-FFF2-40B4-BE49-F238E27FC236}">
                <a16:creationId xmlns:a16="http://schemas.microsoft.com/office/drawing/2014/main" id="{48E740C1-0BC7-637F-46B4-2D207F27F0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87153" y="3762962"/>
            <a:ext cx="838201" cy="84229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United States Department of Energy - Wikipedia">
            <a:extLst>
              <a:ext uri="{FF2B5EF4-FFF2-40B4-BE49-F238E27FC236}">
                <a16:creationId xmlns:a16="http://schemas.microsoft.com/office/drawing/2014/main" id="{59572DC8-A03C-B155-0483-7FE7F694EC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7035" y="3849851"/>
            <a:ext cx="780057" cy="780057"/>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A qr code on a white background&#10;&#10;AI-generated content may be incorrect.">
            <a:extLst>
              <a:ext uri="{FF2B5EF4-FFF2-40B4-BE49-F238E27FC236}">
                <a16:creationId xmlns:a16="http://schemas.microsoft.com/office/drawing/2014/main" id="{569DC0F4-5859-01E4-5EAF-00F268F4978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27981" y="1895703"/>
            <a:ext cx="1598400" cy="1598400"/>
          </a:xfrm>
          <a:prstGeom prst="rect">
            <a:avLst/>
          </a:prstGeom>
        </p:spPr>
      </p:pic>
      <p:sp>
        <p:nvSpPr>
          <p:cNvPr id="18" name="Rounded Rectangle 17">
            <a:extLst>
              <a:ext uri="{FF2B5EF4-FFF2-40B4-BE49-F238E27FC236}">
                <a16:creationId xmlns:a16="http://schemas.microsoft.com/office/drawing/2014/main" id="{8E6E959F-45FE-7F08-C751-F74DE010641A}"/>
              </a:ext>
            </a:extLst>
          </p:cNvPr>
          <p:cNvSpPr/>
          <p:nvPr/>
        </p:nvSpPr>
        <p:spPr>
          <a:xfrm>
            <a:off x="8755067" y="916027"/>
            <a:ext cx="2744228" cy="764036"/>
          </a:xfrm>
          <a:prstGeom prst="roundRect">
            <a:avLst/>
          </a:prstGeom>
          <a:solidFill>
            <a:schemeClr val="accent6">
              <a:lumMod val="75000"/>
            </a:schemeClr>
          </a:solidFill>
          <a:ln w="25400">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Linux Biolinum" panose="02000503000000000000" pitchFamily="2" charset="0"/>
                <a:ea typeface="Linux Biolinum" panose="02000503000000000000" pitchFamily="2" charset="0"/>
                <a:cs typeface="Linux Biolinum" panose="02000503000000000000" pitchFamily="2" charset="0"/>
              </a:rPr>
              <a:t>SR-APPFL</a:t>
            </a:r>
            <a:endParaRPr lang="en-US" sz="2400" baseline="30000" dirty="0">
              <a:latin typeface="Linux Biolinum" panose="02000503000000000000" pitchFamily="2" charset="0"/>
              <a:ea typeface="Linux Biolinum" panose="02000503000000000000" pitchFamily="2" charset="0"/>
              <a:cs typeface="Linux Biolinum" panose="02000503000000000000" pitchFamily="2" charset="0"/>
            </a:endParaRPr>
          </a:p>
        </p:txBody>
      </p:sp>
      <p:pic>
        <p:nvPicPr>
          <p:cNvPr id="20" name="Picture 19" descr="A close-up of a computer screen&#10;&#10;AI-generated content may be incorrect.">
            <a:extLst>
              <a:ext uri="{FF2B5EF4-FFF2-40B4-BE49-F238E27FC236}">
                <a16:creationId xmlns:a16="http://schemas.microsoft.com/office/drawing/2014/main" id="{B91752AB-2759-7555-FB1D-CE7F7BB04CD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13539" y="4660020"/>
            <a:ext cx="4909892" cy="1461982"/>
          </a:xfrm>
          <a:prstGeom prst="rect">
            <a:avLst/>
          </a:prstGeom>
        </p:spPr>
      </p:pic>
      <p:sp>
        <p:nvSpPr>
          <p:cNvPr id="21" name="TextBox 20">
            <a:extLst>
              <a:ext uri="{FF2B5EF4-FFF2-40B4-BE49-F238E27FC236}">
                <a16:creationId xmlns:a16="http://schemas.microsoft.com/office/drawing/2014/main" id="{36BC0103-D72F-FBE8-07C4-19CC49B41A34}"/>
              </a:ext>
            </a:extLst>
          </p:cNvPr>
          <p:cNvSpPr txBox="1"/>
          <p:nvPr/>
        </p:nvSpPr>
        <p:spPr>
          <a:xfrm>
            <a:off x="311726" y="4588493"/>
            <a:ext cx="6170132" cy="1661993"/>
          </a:xfrm>
          <a:prstGeom prst="rect">
            <a:avLst/>
          </a:prstGeom>
          <a:noFill/>
        </p:spPr>
        <p:txBody>
          <a:bodyPr wrap="square" rtlCol="0">
            <a:spAutoFit/>
          </a:bodyPr>
          <a:lstStyle/>
          <a:p>
            <a:r>
              <a:rPr lang="en-US" sz="1600" dirty="0"/>
              <a:t>This work was partially supported by</a:t>
            </a:r>
          </a:p>
          <a:p>
            <a:r>
              <a:rPr lang="en-US" sz="1600" dirty="0"/>
              <a:t> - U.S. NSF research #2623546, #2623548, #2623610, and #2623611</a:t>
            </a:r>
          </a:p>
          <a:p>
            <a:r>
              <a:rPr lang="en-US" sz="1600" dirty="0"/>
              <a:t> - U.S. Department of Energy (DOE) under grant DE-SC0024207</a:t>
            </a:r>
          </a:p>
          <a:p>
            <a:r>
              <a:rPr lang="en-US" sz="1600" dirty="0"/>
              <a:t> - </a:t>
            </a:r>
            <a:r>
              <a:rPr lang="en-US" dirty="0"/>
              <a:t>This research made use of the Energy Sciences Network (</a:t>
            </a:r>
            <a:r>
              <a:rPr lang="en-US" dirty="0" err="1"/>
              <a:t>ESnet</a:t>
            </a:r>
            <a:r>
              <a:rPr lang="en-US" dirty="0"/>
              <a:t>), the U.S. Department of Energy Office of Science’s high-performance networking user facility</a:t>
            </a:r>
          </a:p>
        </p:txBody>
      </p:sp>
      <p:pic>
        <p:nvPicPr>
          <p:cNvPr id="8" name="Picture 7" descr="Home">
            <a:extLst>
              <a:ext uri="{FF2B5EF4-FFF2-40B4-BE49-F238E27FC236}">
                <a16:creationId xmlns:a16="http://schemas.microsoft.com/office/drawing/2014/main" id="{4418EF3A-2C53-561C-9752-461810A21625}"/>
              </a:ext>
            </a:extLst>
          </p:cNvPr>
          <p:cNvPicPr>
            <a:picLocks noChangeAspect="1"/>
          </p:cNvPicPr>
          <p:nvPr/>
        </p:nvPicPr>
        <p:blipFill>
          <a:blip r:embed="rId7"/>
          <a:stretch>
            <a:fillRect/>
          </a:stretch>
        </p:blipFill>
        <p:spPr>
          <a:xfrm>
            <a:off x="7059522" y="3829369"/>
            <a:ext cx="2470210" cy="702905"/>
          </a:xfrm>
          <a:prstGeom prst="rect">
            <a:avLst/>
          </a:prstGeom>
        </p:spPr>
      </p:pic>
    </p:spTree>
    <p:extLst>
      <p:ext uri="{BB962C8B-B14F-4D97-AF65-F5344CB8AC3E}">
        <p14:creationId xmlns:p14="http://schemas.microsoft.com/office/powerpoint/2010/main" val="34151208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7B0EB-4DD8-82A9-B04F-6598DB905A18}"/>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D5A441E-93BD-DFCC-57C3-B2A066BD1DA2}"/>
              </a:ext>
            </a:extLst>
          </p:cNvPr>
          <p:cNvSpPr>
            <a:spLocks noGrp="1"/>
          </p:cNvSpPr>
          <p:nvPr>
            <p:ph type="sldNum" idx="12"/>
          </p:nvPr>
        </p:nvSpPr>
        <p:spPr/>
        <p:txBody>
          <a:bodyPr/>
          <a:lstStyle/>
          <a:p>
            <a:fld id="{00000000-1234-1234-1234-123412341234}" type="slidenum">
              <a:rPr lang="en" smtClean="0"/>
              <a:pPr/>
              <a:t>29</a:t>
            </a:fld>
            <a:endParaRPr lang="en"/>
          </a:p>
        </p:txBody>
      </p:sp>
      <p:sp>
        <p:nvSpPr>
          <p:cNvPr id="8" name="Title 5">
            <a:extLst>
              <a:ext uri="{FF2B5EF4-FFF2-40B4-BE49-F238E27FC236}">
                <a16:creationId xmlns:a16="http://schemas.microsoft.com/office/drawing/2014/main" id="{ACE3944D-010A-D954-64B8-015A44953A32}"/>
              </a:ext>
            </a:extLst>
          </p:cNvPr>
          <p:cNvSpPr>
            <a:spLocks noGrp="1"/>
          </p:cNvSpPr>
          <p:nvPr>
            <p:ph type="title"/>
          </p:nvPr>
        </p:nvSpPr>
        <p:spPr>
          <a:xfrm>
            <a:off x="838200" y="1501254"/>
            <a:ext cx="10515600" cy="2511188"/>
          </a:xfrm>
          <a:prstGeom prst="rect">
            <a:avLst/>
          </a:prstGeom>
        </p:spPr>
        <p:txBody>
          <a:bodyPr>
            <a:normAutofit/>
          </a:bodyPr>
          <a:lstStyle/>
          <a:p>
            <a:pPr algn="ctr"/>
            <a:r>
              <a:rPr lang="en-US" b="1" dirty="0"/>
              <a:t>Thank you!</a:t>
            </a:r>
            <a:br>
              <a:rPr lang="en-US" dirty="0"/>
            </a:br>
            <a:br>
              <a:rPr lang="en-US" dirty="0"/>
            </a:br>
            <a:r>
              <a:rPr lang="en-US" sz="2700" dirty="0">
                <a:hlinkClick r:id="rId3"/>
              </a:rPr>
              <a:t>zh.chen@ufl.edu</a:t>
            </a:r>
            <a:r>
              <a:rPr lang="en-US" sz="2700" dirty="0"/>
              <a:t> </a:t>
            </a:r>
            <a:br>
              <a:rPr lang="en-US" sz="2700" dirty="0"/>
            </a:br>
            <a:r>
              <a:rPr lang="en-US" sz="2700" dirty="0">
                <a:hlinkClick r:id="rId4"/>
              </a:rPr>
              <a:t>http://padsys.org/</a:t>
            </a:r>
            <a:endParaRPr lang="en-US" dirty="0"/>
          </a:p>
        </p:txBody>
      </p:sp>
      <p:pic>
        <p:nvPicPr>
          <p:cNvPr id="9" name="Picture 8" descr="Icon&#10;&#10;Description automatically generated">
            <a:extLst>
              <a:ext uri="{FF2B5EF4-FFF2-40B4-BE49-F238E27FC236}">
                <a16:creationId xmlns:a16="http://schemas.microsoft.com/office/drawing/2014/main" id="{022DAA2D-4854-60BF-49BA-0E310F80EBE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13705" y="4430017"/>
            <a:ext cx="1276700" cy="1276700"/>
          </a:xfrm>
          <a:prstGeom prst="rect">
            <a:avLst/>
          </a:prstGeom>
        </p:spPr>
      </p:pic>
      <p:pic>
        <p:nvPicPr>
          <p:cNvPr id="10" name="Picture 9" descr="Blue letters on a black background&#10;&#10;AI-generated content may be incorrect.">
            <a:extLst>
              <a:ext uri="{FF2B5EF4-FFF2-40B4-BE49-F238E27FC236}">
                <a16:creationId xmlns:a16="http://schemas.microsoft.com/office/drawing/2014/main" id="{5D1F550C-278E-75F9-9CC2-F269E27DE7F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98255" y="4430017"/>
            <a:ext cx="6703398" cy="1195741"/>
          </a:xfrm>
          <a:prstGeom prst="rect">
            <a:avLst/>
          </a:prstGeom>
        </p:spPr>
      </p:pic>
      <p:sp>
        <p:nvSpPr>
          <p:cNvPr id="2" name="Footer Placeholder 7">
            <a:extLst>
              <a:ext uri="{FF2B5EF4-FFF2-40B4-BE49-F238E27FC236}">
                <a16:creationId xmlns:a16="http://schemas.microsoft.com/office/drawing/2014/main" id="{463A8BEF-5F1F-36BC-0973-DCA821AAB8C8}"/>
              </a:ext>
            </a:extLst>
          </p:cNvPr>
          <p:cNvSpPr>
            <a:spLocks noGrp="1"/>
          </p:cNvSpPr>
          <p:nvPr>
            <p:ph type="ftr" idx="11"/>
          </p:nvPr>
        </p:nvSpPr>
        <p:spPr>
          <a:xfrm>
            <a:off x="4657345" y="6542142"/>
            <a:ext cx="4049335" cy="301758"/>
          </a:xfrm>
        </p:spPr>
        <p:txBody>
          <a:bodyPr/>
          <a:lstStyle/>
          <a:p>
            <a:r>
              <a:rPr lang="en-US" dirty="0"/>
              <a:t>University of Florida</a:t>
            </a:r>
          </a:p>
        </p:txBody>
      </p:sp>
    </p:spTree>
    <p:extLst>
      <p:ext uri="{BB962C8B-B14F-4D97-AF65-F5344CB8AC3E}">
        <p14:creationId xmlns:p14="http://schemas.microsoft.com/office/powerpoint/2010/main" val="4501488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uxi-kvs-benchcouncil-sept19-final" id="{A875F4CB-B1C9-A443-A8DB-32837D49D544}" vid="{E175DAE6-BB42-7948-AA10-0E9F7B0589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36256</TotalTime>
  <Words>5527</Words>
  <Application>Microsoft Macintosh PowerPoint</Application>
  <PresentationFormat>Widescreen</PresentationFormat>
  <Paragraphs>361</Paragraphs>
  <Slides>29</Slides>
  <Notes>28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29</vt:i4>
      </vt:variant>
    </vt:vector>
  </HeadingPairs>
  <TitlesOfParts>
    <vt:vector size="40" baseType="lpstr">
      <vt:lpstr>Aptos</vt:lpstr>
      <vt:lpstr>Arial</vt:lpstr>
      <vt:lpstr>Calibri</vt:lpstr>
      <vt:lpstr>Cambria Math</vt:lpstr>
      <vt:lpstr>Consolas</vt:lpstr>
      <vt:lpstr>Linux Biolinum</vt:lpstr>
      <vt:lpstr>Palatino</vt:lpstr>
      <vt:lpstr>Roboto</vt:lpstr>
      <vt:lpstr>Times New Roman</vt:lpstr>
      <vt:lpstr>Wingdings</vt:lpstr>
      <vt:lpstr>Office Theme</vt:lpstr>
      <vt:lpstr>From Datacenter to Wide Area: Scale-Across Federated Learning on Real Long-Haul RDMA</vt:lpstr>
      <vt:lpstr>Outline</vt:lpstr>
      <vt:lpstr>Federated Learning Introduction</vt:lpstr>
      <vt:lpstr>FL Algorithms</vt:lpstr>
      <vt:lpstr>Motivation</vt:lpstr>
      <vt:lpstr>Why Long-Haul RDMA?​</vt:lpstr>
      <vt:lpstr>What Signifies in Long-Haul RDMA</vt:lpstr>
      <vt:lpstr>Research Questions</vt:lpstr>
      <vt:lpstr>Outline</vt:lpstr>
      <vt:lpstr>Default UCX RC at Long-Haul</vt:lpstr>
      <vt:lpstr>Root Cause: Firmware</vt:lpstr>
      <vt:lpstr>RC-Fixed</vt:lpstr>
      <vt:lpstr>ACK-Coupled Completion</vt:lpstr>
      <vt:lpstr>Outline</vt:lpstr>
      <vt:lpstr>Long-haul RDMA Co-design</vt:lpstr>
      <vt:lpstr>FL &amp; MPI Layer</vt:lpstr>
      <vt:lpstr>LHR vs. UCX RC Transport</vt:lpstr>
      <vt:lpstr>FL Awareness</vt:lpstr>
      <vt:lpstr>Outline</vt:lpstr>
      <vt:lpstr>Evaluation Platform</vt:lpstr>
      <vt:lpstr>Microbenchmark</vt:lpstr>
      <vt:lpstr>Microbenchmark</vt:lpstr>
      <vt:lpstr>End-to-End FL Runtime</vt:lpstr>
      <vt:lpstr>Runtime Breakdown</vt:lpstr>
      <vt:lpstr>Sensitivity of Chunk and Scale</vt:lpstr>
      <vt:lpstr>Outline</vt:lpstr>
      <vt:lpstr>Summary</vt:lpstr>
      <vt:lpstr>Acknowledgement</vt:lpstr>
      <vt:lpstr>Thank you!  zh.chen@ufl.edu  http://padsys.org/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Kashyap, Arjun</dc:creator>
  <cp:lastModifiedBy>Zhonghao Chen</cp:lastModifiedBy>
  <cp:revision>2591</cp:revision>
  <dcterms:created xsi:type="dcterms:W3CDTF">2020-10-25T02:45:52Z</dcterms:created>
  <dcterms:modified xsi:type="dcterms:W3CDTF">2026-08-18T01:28:43Z</dcterms:modified>
</cp:coreProperties>
</file>