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sdx" ContentType="application/vnd.ms-visio.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  <p:sldMasterId id="2147483661" r:id="rId3"/>
  </p:sldMasterIdLst>
  <p:notesMasterIdLst>
    <p:notesMasterId r:id="rId108"/>
  </p:notesMasterIdLst>
  <p:sldIdLst>
    <p:sldId id="257" r:id="rId4"/>
    <p:sldId id="2147477950" r:id="rId5"/>
    <p:sldId id="258" r:id="rId6"/>
    <p:sldId id="2147477951" r:id="rId7"/>
    <p:sldId id="2147477955" r:id="rId8"/>
    <p:sldId id="2147477956" r:id="rId9"/>
    <p:sldId id="2147477957" r:id="rId10"/>
    <p:sldId id="2147477960" r:id="rId11"/>
    <p:sldId id="335" r:id="rId12"/>
    <p:sldId id="2147477958" r:id="rId13"/>
    <p:sldId id="2147477962" r:id="rId14"/>
    <p:sldId id="256" r:id="rId15"/>
    <p:sldId id="2147477941" r:id="rId16"/>
    <p:sldId id="2147477920" r:id="rId17"/>
    <p:sldId id="2147477940" r:id="rId18"/>
    <p:sldId id="2147477937" r:id="rId19"/>
    <p:sldId id="2147477857" r:id="rId20"/>
    <p:sldId id="2147477938" r:id="rId21"/>
    <p:sldId id="2147477896" r:id="rId22"/>
    <p:sldId id="2147477945" r:id="rId23"/>
    <p:sldId id="2147477921" r:id="rId24"/>
    <p:sldId id="2147477942" r:id="rId25"/>
    <p:sldId id="2147477922" r:id="rId26"/>
    <p:sldId id="2147477859" r:id="rId27"/>
    <p:sldId id="2147477923" r:id="rId28"/>
    <p:sldId id="2147477926" r:id="rId29"/>
    <p:sldId id="2147477944" r:id="rId30"/>
    <p:sldId id="2147477963" r:id="rId31"/>
    <p:sldId id="2147477929" r:id="rId32"/>
    <p:sldId id="2147477946" r:id="rId33"/>
    <p:sldId id="2147477947" r:id="rId34"/>
    <p:sldId id="2147477917" r:id="rId35"/>
    <p:sldId id="2147477931" r:id="rId36"/>
    <p:sldId id="2147477949" r:id="rId37"/>
    <p:sldId id="2147477952" r:id="rId38"/>
    <p:sldId id="2147477641" r:id="rId39"/>
    <p:sldId id="2147477642" r:id="rId40"/>
    <p:sldId id="2147477643" r:id="rId41"/>
    <p:sldId id="2147477644" r:id="rId42"/>
    <p:sldId id="2147477646" r:id="rId43"/>
    <p:sldId id="2147477645" r:id="rId44"/>
    <p:sldId id="2147477647" r:id="rId45"/>
    <p:sldId id="2147477648" r:id="rId46"/>
    <p:sldId id="2147477649" r:id="rId47"/>
    <p:sldId id="2147477652" r:id="rId48"/>
    <p:sldId id="2147477653" r:id="rId49"/>
    <p:sldId id="2147477654" r:id="rId50"/>
    <p:sldId id="2147477655" r:id="rId51"/>
    <p:sldId id="2147477656" r:id="rId52"/>
    <p:sldId id="2147477657" r:id="rId53"/>
    <p:sldId id="2147477953" r:id="rId54"/>
    <p:sldId id="2147470124" r:id="rId55"/>
    <p:sldId id="2147477768" r:id="rId56"/>
    <p:sldId id="2147477769" r:id="rId57"/>
    <p:sldId id="2147470005" r:id="rId58"/>
    <p:sldId id="2147477770" r:id="rId59"/>
    <p:sldId id="2147470006" r:id="rId60"/>
    <p:sldId id="2147477702" r:id="rId61"/>
    <p:sldId id="2147477802" r:id="rId62"/>
    <p:sldId id="2147477954" r:id="rId63"/>
    <p:sldId id="2147477964" r:id="rId64"/>
    <p:sldId id="290" r:id="rId65"/>
    <p:sldId id="2147477967" r:id="rId66"/>
    <p:sldId id="2147477968" r:id="rId67"/>
    <p:sldId id="2147477966" r:id="rId68"/>
    <p:sldId id="2147477965" r:id="rId69"/>
    <p:sldId id="2147477969" r:id="rId70"/>
    <p:sldId id="2147477970" r:id="rId71"/>
    <p:sldId id="2147477971" r:id="rId72"/>
    <p:sldId id="2147477972" r:id="rId73"/>
    <p:sldId id="259" r:id="rId74"/>
    <p:sldId id="260" r:id="rId75"/>
    <p:sldId id="262" r:id="rId76"/>
    <p:sldId id="263" r:id="rId77"/>
    <p:sldId id="267" r:id="rId78"/>
    <p:sldId id="265" r:id="rId79"/>
    <p:sldId id="264" r:id="rId80"/>
    <p:sldId id="266" r:id="rId81"/>
    <p:sldId id="268" r:id="rId82"/>
    <p:sldId id="309" r:id="rId83"/>
    <p:sldId id="310" r:id="rId84"/>
    <p:sldId id="270" r:id="rId85"/>
    <p:sldId id="271" r:id="rId86"/>
    <p:sldId id="312" r:id="rId87"/>
    <p:sldId id="311" r:id="rId88"/>
    <p:sldId id="313" r:id="rId89"/>
    <p:sldId id="314" r:id="rId90"/>
    <p:sldId id="274" r:id="rId91"/>
    <p:sldId id="276" r:id="rId92"/>
    <p:sldId id="278" r:id="rId93"/>
    <p:sldId id="281" r:id="rId94"/>
    <p:sldId id="283" r:id="rId95"/>
    <p:sldId id="284" r:id="rId96"/>
    <p:sldId id="315" r:id="rId97"/>
    <p:sldId id="317" r:id="rId98"/>
    <p:sldId id="318" r:id="rId99"/>
    <p:sldId id="287" r:id="rId100"/>
    <p:sldId id="320" r:id="rId101"/>
    <p:sldId id="323" r:id="rId102"/>
    <p:sldId id="321" r:id="rId103"/>
    <p:sldId id="299" r:id="rId104"/>
    <p:sldId id="319" r:id="rId105"/>
    <p:sldId id="300" r:id="rId106"/>
    <p:sldId id="2147477973" r:id="rId10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DC0F064-F923-46D5-85A6-160E7387C9EC}">
          <p14:sldIdLst>
            <p14:sldId id="257"/>
            <p14:sldId id="2147477950"/>
            <p14:sldId id="258"/>
          </p14:sldIdLst>
        </p14:section>
        <p14:section name="UCIe Introduction" id="{A77D5982-1276-4A13-828E-BF8A6020FCEF}">
          <p14:sldIdLst>
            <p14:sldId id="2147477951"/>
            <p14:sldId id="2147477955"/>
            <p14:sldId id="2147477956"/>
            <p14:sldId id="2147477957"/>
            <p14:sldId id="2147477960"/>
            <p14:sldId id="335"/>
            <p14:sldId id="2147477958"/>
            <p14:sldId id="2147477962"/>
          </p14:sldIdLst>
        </p14:section>
        <p14:section name="UCIe Electrical" id="{BFCFA1DD-8BAF-46C2-81D0-EDD803CFBDD0}">
          <p14:sldIdLst>
            <p14:sldId id="256"/>
            <p14:sldId id="2147477941"/>
            <p14:sldId id="2147477920"/>
            <p14:sldId id="2147477940"/>
            <p14:sldId id="2147477937"/>
            <p14:sldId id="2147477857"/>
            <p14:sldId id="2147477938"/>
            <p14:sldId id="2147477896"/>
            <p14:sldId id="2147477945"/>
            <p14:sldId id="2147477921"/>
            <p14:sldId id="2147477942"/>
            <p14:sldId id="2147477922"/>
            <p14:sldId id="2147477859"/>
            <p14:sldId id="2147477923"/>
            <p14:sldId id="2147477926"/>
            <p14:sldId id="2147477944"/>
            <p14:sldId id="2147477963"/>
            <p14:sldId id="2147477929"/>
            <p14:sldId id="2147477946"/>
            <p14:sldId id="2147477947"/>
            <p14:sldId id="2147477917"/>
            <p14:sldId id="2147477931"/>
            <p14:sldId id="2147477949"/>
          </p14:sldIdLst>
        </p14:section>
        <p14:section name="UCIe Protocol" id="{9002D2BD-7D9C-4F0A-A2C6-F4EB1B8EC6CC}">
          <p14:sldIdLst>
            <p14:sldId id="2147477952"/>
            <p14:sldId id="2147477641"/>
            <p14:sldId id="2147477642"/>
            <p14:sldId id="2147477643"/>
            <p14:sldId id="2147477644"/>
            <p14:sldId id="2147477646"/>
            <p14:sldId id="2147477645"/>
            <p14:sldId id="2147477647"/>
            <p14:sldId id="2147477648"/>
            <p14:sldId id="2147477649"/>
            <p14:sldId id="2147477652"/>
            <p14:sldId id="2147477653"/>
            <p14:sldId id="2147477654"/>
            <p14:sldId id="2147477655"/>
            <p14:sldId id="2147477656"/>
            <p14:sldId id="2147477657"/>
          </p14:sldIdLst>
        </p14:section>
        <p14:section name="UCIe Form Factor &amp; Compliance" id="{090440EE-DB04-479D-87F9-0F370396D8C6}">
          <p14:sldIdLst>
            <p14:sldId id="2147477953"/>
            <p14:sldId id="2147470124"/>
            <p14:sldId id="2147477768"/>
            <p14:sldId id="2147477769"/>
            <p14:sldId id="2147470005"/>
            <p14:sldId id="2147477770"/>
            <p14:sldId id="2147470006"/>
            <p14:sldId id="2147477702"/>
            <p14:sldId id="2147477802"/>
          </p14:sldIdLst>
        </p14:section>
        <p14:section name="UCIe Manageability" id="{A3C034CF-2305-40AB-B020-D2C914EFACD9}">
          <p14:sldIdLst>
            <p14:sldId id="2147477954"/>
            <p14:sldId id="2147477964"/>
            <p14:sldId id="290"/>
            <p14:sldId id="2147477967"/>
            <p14:sldId id="2147477968"/>
            <p14:sldId id="2147477966"/>
            <p14:sldId id="2147477965"/>
            <p14:sldId id="2147477969"/>
            <p14:sldId id="2147477970"/>
            <p14:sldId id="2147477971"/>
            <p14:sldId id="2147477972"/>
            <p14:sldId id="259"/>
            <p14:sldId id="260"/>
            <p14:sldId id="262"/>
            <p14:sldId id="263"/>
            <p14:sldId id="267"/>
            <p14:sldId id="265"/>
            <p14:sldId id="264"/>
            <p14:sldId id="266"/>
            <p14:sldId id="268"/>
            <p14:sldId id="309"/>
            <p14:sldId id="310"/>
            <p14:sldId id="270"/>
            <p14:sldId id="271"/>
            <p14:sldId id="312"/>
            <p14:sldId id="311"/>
            <p14:sldId id="313"/>
            <p14:sldId id="314"/>
            <p14:sldId id="274"/>
            <p14:sldId id="276"/>
            <p14:sldId id="278"/>
            <p14:sldId id="281"/>
            <p14:sldId id="283"/>
            <p14:sldId id="284"/>
            <p14:sldId id="315"/>
            <p14:sldId id="317"/>
            <p14:sldId id="318"/>
            <p14:sldId id="287"/>
            <p14:sldId id="320"/>
            <p14:sldId id="323"/>
            <p14:sldId id="321"/>
            <p14:sldId id="299"/>
            <p14:sldId id="319"/>
            <p14:sldId id="300"/>
            <p14:sldId id="2147477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488" userDrawn="1">
          <p15:clr>
            <a:srgbClr val="A4A3A4"/>
          </p15:clr>
        </p15:guide>
        <p15:guide id="2" pos="3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  <a:srgbClr val="7030A0"/>
    <a:srgbClr val="FFFF00"/>
    <a:srgbClr val="2B4892"/>
    <a:srgbClr val="289316"/>
    <a:srgbClr val="E4EAF2"/>
    <a:srgbClr val="8DC63F"/>
    <a:srgbClr val="FEBA17"/>
    <a:srgbClr val="2E58B2"/>
    <a:srgbClr val="2B4C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6BA728-13D1-4D67-BC19-AEC5C62BE571}" v="1" dt="2026-08-06T05:26:48.398"/>
    <p1510:client id="{E743D030-E0BB-4805-A599-32B7122B2AF7}" v="24" dt="2026-08-06T22:17:35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1" autoAdjust="0"/>
    <p:restoredTop sz="94637" autoAdjust="0"/>
  </p:normalViewPr>
  <p:slideViewPr>
    <p:cSldViewPr snapToGrid="0" snapToObjects="1">
      <p:cViewPr varScale="1">
        <p:scale>
          <a:sx n="145" d="100"/>
          <a:sy n="145" d="100"/>
        </p:scale>
        <p:origin x="120" y="240"/>
      </p:cViewPr>
      <p:guideLst>
        <p:guide orient="horz" pos="1488"/>
        <p:guide pos="3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tableStyles" Target="tableStyles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microsoft.com/office/2015/10/relationships/revisionInfo" Target="revisionInfo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presProps" Target="presProps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viewProps" Target="viewProps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8334CE-47AA-4301-B629-B2D5F6DD7E09}" type="datetimeFigureOut">
              <a:t>8/6/2026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74A9E-358E-407C-B2D7-9013B52A5CBF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820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53574-60DA-38E1-6DE7-D59986F24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C644EC-4387-6D3D-5413-6B1468839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38629-74A5-D27C-6CB3-1F9705A63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DAC58-E93B-5CA4-68ED-D4A9F89FEC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4395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9A16C-72F3-CB4A-1CFF-AFD979606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78C6E-192D-AAAD-E296-77C50DC4F6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E73AB4-B63B-B73B-CBA2-77A7F1D86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14F08-716C-7486-6A00-4D2CC417EA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3987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C05872-E810-C90E-A422-1F02B9CAD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7433C4-CC9E-F686-7AED-C4C20C786E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B9AF8-0D53-E0E6-7BF2-093CD43EC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C2B62-BEB4-D214-19EE-BB31687E8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4927E4-7171-4872-98B6-7439342399EA}" type="slidenum">
              <a:rPr kumimoji="0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4876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TX de-emphasis equation is the classical version modified for Single-Ended, hence looks different.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3099D1-382E-40F3-8C7A-F260ADA943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8560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4927E4-7171-4872-98B6-7439342399EA}" type="slidenum">
              <a:rPr kumimoji="0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826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4927E4-7171-4872-98B6-7439342399EA}" type="slidenum">
              <a:rPr kumimoji="0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5418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3099D1-382E-40F3-8C7A-F260ADA943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9795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3099D1-382E-40F3-8C7A-F260ADA943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6285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Include automotive slide?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4927E4-7171-4872-98B6-7439342399EA}" type="slidenum">
              <a:rPr kumimoji="0" lang="en-US" altLang="ja-JP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ja-JP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5305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63099D1-382E-40F3-8C7A-F260ADA9434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04446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499AB-5CF8-0DBC-CD11-8A51B6CE2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24B6F-A778-16A6-38DF-F453416BAD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8E8AA-0CCD-9A18-212E-FA4FCDF1B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5D28C-2B7A-9B00-6FE4-060EF5B69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C7998A-3CAB-4239-8857-FB8D69A265A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Helvetica Neue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39543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table: compare to UCIe 1.0/1.1</a:t>
            </a:r>
          </a:p>
          <a:p>
            <a:r>
              <a:rPr lang="en-US" dirty="0"/>
              <a:t>Vcc, find common overlap based on FV characteristics</a:t>
            </a:r>
          </a:p>
          <a:p>
            <a:r>
              <a:rPr lang="en-US" dirty="0"/>
              <a:t>Cover HBM next gen?  Lower top speed?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6470E3-30C1-41B4-A30F-A17EB9EEA68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9667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F362D4-5DD5-1441-A093-8EF5773AF7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726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Introduce yourself (name, AMD, role on the UALink Chiplet spec). One-line pitch: this tutorial is about a standardized way to disaggregate UALink onto a dedicated I/O chiplet connected over UCIe. Set the arc: (1) what UALink is and why you'd put it on a chiplet, (2) how it works - the stack split, the UCIe transport, credit loops, (3) scaling, management and RAS, (4) roadmap and how to get involved. Assumptions: we assume you're comfortable with UCIe (there's a companion UCIe tutorial); we do NOT assume UALink knowledge - we start from basics. Housekeeping: ~90 minutes, two short discussion breaks, Q&amp;A at the end. Encourage questions at the breaks.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agenda at a high level - don't read it verbatim. State the learning objectives so people know what they'll walk away with: (1) explain what UALink is and where it fits; (2) articulate why disaggregating onto a chiplet is the right trade-off; (3) describe where the stack is split and why; (4) trace how TL flits ride on UCIe Format 6 and reason about the 93% efficiency; (5) explain the multi-loop credit/replay model; (6) size a chiplet across the two form factors; (7) describe management/reset/RAS and how to engage with the workgroup. Point out the two discussion breaks are interactive - you want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UALink plainly for newcomers. The key differentiator vs. a network is that it's memory-semantic: accelerators can do load/store to each other with low latency, which is what large model training/inference needs when a job spans many accelerators. It's an OPEN standard - multiple vendors, governed by the UALink Consortium - which matters for the ecosystem argument later. Anchor the timeline: UALink 200 v1.0 was released in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framing slide that orients networking people. Scale-out = across nodes/racks over a network (Ethernet, Ultra Ethernet). Scale-up = within a tightly-coupled domain where accelerators behave almost like one big machine, sharing memory semantics. UALink lives in the scale-up domain and complements, not competes with, scale-out. Emphasize 'open alternative to proprietary' - contrast with closed scale-up links without naming competitors combatively.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Give the system-level picture before diving into a single link. Accelerators connect via UALink switches into a pod. TODO: add a clean topology diagram here - a set of accelerators around a switch. The point to land: each accelerator's 'port' into this fabric is what the chiplet will ultimately implement the lower layers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ANCHOR SLIDE. Spend a moment here; everything later references it. TL = transaction semantics and end-to-end credits. DL = reliability: replay, framing into flits. PL = the physical SerDes. Tell them explicitly: keep this picture in your head, because the whole chiplet idea is about cutting this stack between TL and DL. That one sentence sets up Module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the intro by situating the chiplet spec in the family: the base UALink 200 spec plus the Chiplet spec v1.0 we're covering today. One-sentence preview: the chiplet is a standardized home for DL+PL (plus SerDes), reached from the compute die over UCIe. Transition to motivation: 'So why would you do this?'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as a ~3-minute live poll/discussion. Let the room propose split points and optimization goals (latency, area, reuse, interop). Use their answers to segue into Module 4, where we reveal the actual TL/DL choice and the reasoning. If the room is quiet, offer two strawman options (split above TL vs. below DL) and ask which they'd 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STANDARDIZE it rather than each vendor rolling their own? Reuse across a product line, and - the big one - multi-vendor interoperability: a standardized chiplet interface means a compute die from one vendor can pair with a UALink chiplet from another. That spreads R&amp;D cost across the ecosystem and speeds time-to-integration. This is the ecosystem case that complements the pure-engineering case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core engineering motivation. Compute dies are on leading-edge, expensive nodes; high-speed I/O and SerDes don't need - and often don't want - that node. Moving DL/PL+SerDes to a chiplet lets you use an I/O-optimized process, frees area on the pricey compute die, improves yield (smaller dies, known-good-die), and lets I/O and compute evolve on independent schedules. These are the same drivers behind chiplet strategies generally, applied to UALink.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 honest about the costs up front - it builds credibility. Crossing a die boundary adds a UCIe hop, some flit overhead (~7%, we'll derive it), and extra credit loops for flow control. The message: these are bounded and worth it, and the rest of the tutorial quantifies them. End on the central design question that the deep-dive answers: WHERE to cut the stack (TL/DL) and HOW to carry it across (UCIe). Hand into the discussion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the deep-dive with the headline decision. Callback to the anchor stack slide: the cut is precisely between TL and DL. TL - the transaction layer, with all its vendor-specific request/response and end-to-end credit logic - stays on the compute die. DL (replay, framing) and PL (SerDes) move onto the chiplet. Say it in one line they'll remember: 'the die keeps the meaning, the chiplet keeps the delivery.'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C8965-0BB1-E1C7-A4BE-E46427623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8A32D-729E-9016-DAEA-12506B7F90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DC657-DD01-9864-FA74-5BDE9C37B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the deep-dive with the headline decision. Callback to the anchor stack slide: the cut is precisely between TL and DL. TL - the transaction layer, with all its vendor-specific request/response and end-to-end credit logic - stays on the compute die. DL (replay, framing) and PL (SerDes) move onto the chiplet. Say it in one line they'll remember: 'the die keeps the meaning, the chiplet keeps the delivery.'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880B0-1AC7-F48C-DB75-5E51D9589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36523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02EF-18B4-4494-AADD-9ED6DA420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A6592-8AA8-B0F7-CF38-2E20FD73CC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AFC26-D648-7DF3-036B-D370417D52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the deep-dive with the headline decision. Callback to the anchor stack slide: the cut is precisely between TL and DL. TL - the transaction layer, with all its vendor-specific request/response and end-to-end credit logic - stays on the compute die. DL (replay, framing) and PL (SerDes) move onto the chiplet. Say it in one line they'll remember: 'the die keeps the meaning, the chiplet keeps the delivery.'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7FC91-90C3-EE19-1C49-E429CA605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285639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diagram top to bottom, following one packet's path. On the accelerator die (grey, top): accelerator issues over UPLI into TL, the TL&lt;-&gt;UCIe filiterizer packs TL into UCIe flits, and the UCIe D2D module (x64) drives the die-to-die link. Cross the UCIe boundary down into the chiplet (blue): UCIe D2D receives, UCIe&lt;-&gt;TL unpacks, TL feeds the stations, each station runs UALink DL then PL+SerDES to the wire. Point out the management path on the right: Root of Trust / Power / RAS on the die, bridged over a UCIe sideband to Pwr/Sec/RAS on the chiplet - covered in Module 8. Take 2-3 min; this figure is the map for the whole deep-dive.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Reinforce the diagram as an ordered pipeline for people who don't parse block diagrams. Read the transmit path as a sequence (the bullets). Emphasize: TL is filiterized into UCIe Format 6 flits (Module 5), carried across ONE UCIe hop, then reconstituted on the chiplet and handed to a station's DL/PL. Receive mirrors it. The single die-boundary crossing each direction is the source of the extra hop and the credit loops we quantify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84FFF-6E39-AC6B-9FD4-17C422B25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BC201-147D-665C-9513-3EFBD3ED1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E7E3F-EFDD-E31E-FB9B-53EC4EC2A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Reinforce the diagram as an ordered pipeline for people who don't parse block diagrams. Read the transmit path as a sequence (the bullets). Emphasize: TL is filiterized into UCIe Format 6 flits (Module 5), carried across ONE UCIe hop, then reconstituted on the chiplet and handed to a station's DL/PL. Receive mirrors it. The single die-boundary crossing each direction is the source of the extra hop and the credit loops we quantify next.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29152-A4E1-92BC-697C-9DDEB15273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147280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31DB7-614C-4BBA-6DB1-D99D56CFE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57FD36-D482-E1D9-A520-D1CC167B10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97BCE-EB8E-A5C2-034B-97BB9D121E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Reinforce the diagram as an ordered pipeline for people who don't parse block diagrams. Read the transmit path as a sequence (the bullets). Emphasize: TL is filiterized into UCIe Format 6 flits (Module 5), carried across ONE UCIe hop, then reconstituted on the chiplet and handed to a station's DL/PL. Receive mirrors it. The single die-boundary crossing each direction is the source of the extra hop and the credit loops we quantify next.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7491C-F17C-8B4D-2C7A-0DD981D61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09603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F4267-17A3-0313-6E62-D2225CFB4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5D9120-0005-0C05-CC13-6BC3EE5D8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3A9DC-9321-C448-B160-C61F6D4F40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as a ~3-minute live poll/discussion. Let the room propose split points and optimization goals (latency, area, reuse, interop). Use their answers to segue into Module 4, where we reveal the actual TL/DL choice and the reasoning. If the room is quiet, offer two strawman options (split above TL vs. below DL) and ask which they'd pick.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37506-72B7-1ECF-7959-D2A94F402C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908201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transport decision. UCIe defines several flit formats; the chiplet uses Format 6 - the Latency-Optimized 256B flit with optional bytes. Two reasons (next slides expand): it maximizes usable payload (238 of 256 bytes for TL), and its latency-optimized framing matches UALink's low-latency scale-up mission. Don't teach Format 6 internals - the audience knows UCIe; focus on why we picked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payoff figure for Module 5 - dwell on it. Each horizontal block is one 256B UCIe flit; read left-to-right, top-to-bottom (0..255). Colored runs are UALink TL half-flits (32B each - two per 64B TL flit); hatched 'H' cells are header/overhead, white 'U' is unused. The pattern SHIFTS flit to flit: because 238 usable bytes doesn't divide evenly by the 64B TL flit, TL flits straddle UCIe-flit boundaries and the alignment rotates. After a few flits it repeats. That rotation is the '3.7 TL flits per UCIe flit' fact on the next slide - point at two adjacent flits and show the offset moving.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Concrete and honest efficiency. 238/256 = 92.97% of every UCIe flit is UALink TL payload. The remaining ~7% (18 bytes) isn't waste - it's the UH header (framing/alignment), UCRC (integrity), and DL sideband bytes (control across the boundary). Because overhead is fixed per flit, the big 256B Format-6 flit keeps the percentage low; a smaller flit would be worse. Tee up discussion break 2: is any of it recoverable, and what would you sacrifice (integrity? sideband bandwidth?) to get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Motivate the multi-loop design. Natively, TL credits alone govern flow end to end. Insert a die boundary and you add buffering stages (UCIe D2D FIFOs, filiterizer, DL) that each need overflow protection. A single end-to-end loop can't see or protect those, so you nest additional loops. Frame it: every place data can pile up needs back-pressure. Next slide names the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figure left to right following Data Flow. Left = Accelerator SiP (accelerator die + chiplet), right = Switch SiP (chiplet + switch die); data crosses the SerDes link in the middle. Trace the loops: the outer TL Credit Loop (cyan) runs end to end, accelerator TL to switch TL. The Filiterizer Credit Loop (red) is local to each die&lt;-&gt;chiplet pair. UCIe rdy/val (green) and DL Replay operate within the UCIe/DL stages. Key insight: the loops are NESTED and INDEPENDENT - a replay/stall in an inner loop is contained and doesn't force the outer TL loop to replay. That containment keeps the extra loops from becoming a latency or throughput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Deepen containment - the reassurance an architect wants. Each loop is independent: a corrupted flit on the UCIe hop is fixed by UCIe replay without the end-to-end TL loop knowing; a DL issue is fixed by DL replay locally. Errors handled at the lowest loop that can see them. Each loop sizes buffers for ITS OWN round-trip (short for local die-to-die, longer end-to-end), more efficient than one giant end-to-end buffer. Net: extra loops add bounded, localized latency rather than compounding globally.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69256-86E4-C0FA-413E-F4460770C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E5975-14DA-F6F0-9ED2-B364C97FD1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B9E66-BAE9-6F84-4798-7015D7D6C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as a ~3-minute live poll/discussion. Let the room propose split points and optimization goals (latency, area, reuse, interop). Use their answers to segue into Module 4, where we reveal the actual TL/DL choice and the reasoning. If the room is quiet, offer two strawman options (split above TL vs. below DL) and ask which they'd pick.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5DBF6-57A0-E9A3-4CE0-2C66F233F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977917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0336D-BDBD-2D22-FEFE-825D0E9C8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8275E-369B-60A1-996F-B97D128C08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2D97F9-B592-8A24-1852-81FB89AE1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figure left to right following Data Flow. Left = Accelerator SiP (accelerator die + chiplet), right = Switch SiP (chiplet + switch die); data crosses the SerDes link in the middle. Trace the loops: the outer TL Credit Loop (cyan) runs end to end, accelerator TL to switch TL. The Filiterizer Credit Loop (red) is local to each die&lt;-&gt;chiplet pair. UCIe rdy/val (green) and DL Replay operate within the UCIe/DL stages. Key insight: the loops are NESTED and INDEPENDENT - a replay/stall in an inner loop is contained and doesn't force the outer TL loop to replay. That containment keeps the extra loops from becoming a latency or throughput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1CBB0-5BB5-35D2-CB34-092981540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064800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5A1CE-A447-1BDF-57D8-4F3457E12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9DAB4-0AAF-A54E-74B6-8C20A0A90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22CF58-51B8-4B19-2863-046B80A27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figure left to right following Data Flow. Left = Accelerator SiP (accelerator die + chiplet), right = Switch SiP (chiplet + switch die); data crosses the SerDes link in the middle. Trace the loops: the outer TL Credit Loop (cyan) runs end to end, accelerator TL to switch TL. The Filiterizer Credit Loop (red) is local to each die&lt;-&gt;chiplet pair. UCIe rdy/val (green) and DL Replay operate within the UCIe/DL stages. Key insight: the loops are NESTED and INDEPENDENT - a replay/stall in an inner loop is contained and doesn't force the outer TL loop to replay. That containment keeps the extra loops from becoming a latency or throughput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E6C0A-99E1-530A-5F2B-6CD7126A5D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342079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table row by row. Key relationships: UCIe x64 instances double (5-&gt;10), so does everything downstream - stations (10-&gt;20), SERDES lanes (40-&gt;80), area (~100-&gt;~200 mm2). Call out the dramatic shoreline difference between UCIe-S (11.4/22.7 mm) and UCIe-A (1.9/3.9 mm): advanced packaging buys back an order of magnitude of shoreline, which matters when shoreline is your constraint (next slide). Mention the footnote: SERDES count is flexible at a 2:1 station-to-SERDES ratio - reduce SERDES and you reduce stations, with one x64 dropping to a single station. Don't read every cell; highlight the doubling and the S-vs-A contrast.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CE6B9-C42D-AE06-3643-F19009BA4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B91F9-D63D-B1DF-C536-69A16BB98E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525BA-7F83-0DDE-FF90-6CBA6C471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as a ~3-minute live poll/discussion. Let the room propose split points and optimization goals (latency, area, reuse, interop). Use their answers to segue into Module 4, where we reveal the actual TL/DL choice and the reasoning. If the room is quiet, offer two strawman options (split above TL vs. below DL) and ask which they'd pick.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9BF18-BEFE-F3CC-7214-636ABEB25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881112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A4A70-BB85-0268-ED0E-3ECFE85DB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6EABB-CDD2-6EB7-5418-7C2FE59CC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6839C-68BB-DB45-6DBB-93B4F440FD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figure left to right following Data Flow. Left = Accelerator SiP (accelerator die + chiplet), right = Switch SiP (chiplet + switch die); data crosses the SerDes link in the middle. Trace the loops: the outer TL Credit Loop (cyan) runs end to end, accelerator TL to switch TL. The Filiterizer Credit Loop (red) is local to each die&lt;-&gt;chiplet pair. UCIe rdy/val (green) and DL Replay operate within the UCIe/DL stages. Key insight: the loops are NESTED and INDEPENDENT - a replay/stall in an inner loop is contained and doesn't force the outer TL loop to replay. That containment keeps the extra loops from becoming a latency or throughput problem.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2E63D-EF0B-2FFA-DE7B-044462E2E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9293804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2CA01-FAF3-A149-81A1-E814201E2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37C13-9BBE-A199-F3B9-E2FD8AA007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0A838-4E54-1671-A604-5A1B34C4B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as a ~3-minute live poll/discussion. Let the room propose split points and optimization goals (latency, area, reuse, interop). Use their answers to segue into Module 4, where we reveal the actual TL/DL choice and the reasoning. If the room is quiet, offer two strawman options (split above TL vs. below DL) and ask which they'd pick.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B4E37-827A-8779-80F5-308A66E8C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9528717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 tied back to the seven learning objectives. Land the throughline: we motivated disaggregation, chose the TL/DL split, carried TL over UCIe Format 6 (~93%, &gt;33 GT/s), made flow control work with three nested credit loops, sized the chiplet across two form factors, and handled management/RAS over the sideband. Callback to Module 3: now that the mechanics are on the table, the cost - one extra hop, ~7% flit overhead, added credit loops - is clearly bounded, and the architectural payoff holds. Then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EA033-361D-B03A-4366-937650F63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8B871A-2C36-E168-8128-748FC9BF9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E6127-94F4-3C0A-EA4D-385357D91E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 tied back to the seven learning objectives. Land the throughline: we motivated disaggregation, chose the TL/DL split, carried TL over UCIe Format 6 (~93%, &gt;33 GT/s), made flow control work with three nested credit loops, sized the chiplet across two form factors, and handled management/RAS over the sideband. Callback to Module 3: now that the mechanics are on the table, the cost - one extra hop, ~7% flit overhead, added credit loops - is clearly bounded, and the architectural payoff holds. Then invite questions.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47AD0-31A5-2483-69C4-EF5310336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648077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the audience. Open Q&amp;A - seed with the moderator questions from the companion sheet if the room is quiet (why disaggregate, the 93%/7% split, why UCIe &amp; &gt;33 GT/s, the three credit loops, RAS across the boundary, interop, reset, vNext). Keep the appendix handy to jump to byte-map, credit-sizing, DL flit, or RAS bifurcation detail on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8EE1B-5B29-63B5-A209-151370A10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830376-369F-2A6A-E686-99CE41E00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EE5AE4-2D5F-C185-27EF-6C2C2E035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BEF3B-4A23-40EA-6B76-22092B3A12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11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uciexpress.org/" TargetMode="Externa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6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5.jpe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93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AC546EB7-29FA-69E5-85A4-48B2AC5B546F}"/>
              </a:ext>
            </a:extLst>
          </p:cNvPr>
          <p:cNvGrpSpPr/>
          <p:nvPr userDrawn="1"/>
        </p:nvGrpSpPr>
        <p:grpSpPr>
          <a:xfrm>
            <a:off x="6724067" y="1371215"/>
            <a:ext cx="5468318" cy="5486784"/>
            <a:chOff x="5367131" y="0"/>
            <a:chExt cx="6824870" cy="6847916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92A18ECF-1ED8-4CFD-A683-7009C085936F}"/>
                </a:ext>
              </a:extLst>
            </p:cNvPr>
            <p:cNvSpPr/>
            <p:nvPr/>
          </p:nvSpPr>
          <p:spPr>
            <a:xfrm>
              <a:off x="10485783" y="0"/>
              <a:ext cx="1706218" cy="1711284"/>
            </a:xfrm>
            <a:prstGeom prst="rect">
              <a:avLst/>
            </a:prstGeom>
            <a:solidFill>
              <a:srgbClr val="6ABF48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AutoShape 4">
              <a:extLst>
                <a:ext uri="{FF2B5EF4-FFF2-40B4-BE49-F238E27FC236}">
                  <a16:creationId xmlns:a16="http://schemas.microsoft.com/office/drawing/2014/main" id="{8FC17AC0-17B2-2378-7FD7-F9183C53F128}"/>
                </a:ext>
              </a:extLst>
            </p:cNvPr>
            <p:cNvSpPr/>
            <p:nvPr/>
          </p:nvSpPr>
          <p:spPr>
            <a:xfrm>
              <a:off x="8779566" y="1711283"/>
              <a:ext cx="1706218" cy="1711284"/>
            </a:xfrm>
            <a:prstGeom prst="rect">
              <a:avLst/>
            </a:prstGeom>
            <a:solidFill>
              <a:srgbClr val="2B4892"/>
            </a:solidFill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D8D8EDB-100C-AF7D-03AE-40323557FE1F}"/>
                </a:ext>
              </a:extLst>
            </p:cNvPr>
            <p:cNvGrpSpPr/>
            <p:nvPr userDrawn="1"/>
          </p:nvGrpSpPr>
          <p:grpSpPr>
            <a:xfrm>
              <a:off x="5367131" y="5136632"/>
              <a:ext cx="5118653" cy="1711284"/>
              <a:chOff x="5367131" y="5133852"/>
              <a:chExt cx="5118653" cy="1711284"/>
            </a:xfrm>
          </p:grpSpPr>
          <p:sp>
            <p:nvSpPr>
              <p:cNvPr id="12" name="AutoShape 6">
                <a:extLst>
                  <a:ext uri="{FF2B5EF4-FFF2-40B4-BE49-F238E27FC236}">
                    <a16:creationId xmlns:a16="http://schemas.microsoft.com/office/drawing/2014/main" id="{6799ECFE-EF99-6EF3-8A65-880B7064F5A8}"/>
                  </a:ext>
                </a:extLst>
              </p:cNvPr>
              <p:cNvSpPr/>
              <p:nvPr/>
            </p:nvSpPr>
            <p:spPr>
              <a:xfrm>
                <a:off x="5367131" y="5133852"/>
                <a:ext cx="1706218" cy="1711284"/>
              </a:xfrm>
              <a:prstGeom prst="rect">
                <a:avLst/>
              </a:prstGeom>
              <a:solidFill>
                <a:srgbClr val="2B4892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" name="AutoShape 7">
                <a:extLst>
                  <a:ext uri="{FF2B5EF4-FFF2-40B4-BE49-F238E27FC236}">
                    <a16:creationId xmlns:a16="http://schemas.microsoft.com/office/drawing/2014/main" id="{816D300E-FBFD-9CE3-2099-B2EAD70AC5A2}"/>
                  </a:ext>
                </a:extLst>
              </p:cNvPr>
              <p:cNvSpPr/>
              <p:nvPr/>
            </p:nvSpPr>
            <p:spPr>
              <a:xfrm>
                <a:off x="8779566" y="5133852"/>
                <a:ext cx="1706218" cy="1711284"/>
              </a:xfrm>
              <a:prstGeom prst="rect">
                <a:avLst/>
              </a:prstGeom>
              <a:solidFill>
                <a:srgbClr val="2B4892"/>
              </a:solidFill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273906C-7893-1BA1-1748-46CDC5270BC8}"/>
                </a:ext>
              </a:extLst>
            </p:cNvPr>
            <p:cNvGrpSpPr/>
            <p:nvPr userDrawn="1"/>
          </p:nvGrpSpPr>
          <p:grpSpPr>
            <a:xfrm>
              <a:off x="7073349" y="3425254"/>
              <a:ext cx="5118652" cy="1711284"/>
              <a:chOff x="7073349" y="3425254"/>
              <a:chExt cx="5118652" cy="1711284"/>
            </a:xfrm>
          </p:grpSpPr>
          <p:sp>
            <p:nvSpPr>
              <p:cNvPr id="11" name="AutoShape 5">
                <a:extLst>
                  <a:ext uri="{FF2B5EF4-FFF2-40B4-BE49-F238E27FC236}">
                    <a16:creationId xmlns:a16="http://schemas.microsoft.com/office/drawing/2014/main" id="{6E8ED174-9282-113A-A989-504026126604}"/>
                  </a:ext>
                </a:extLst>
              </p:cNvPr>
              <p:cNvSpPr/>
              <p:nvPr/>
            </p:nvSpPr>
            <p:spPr>
              <a:xfrm>
                <a:off x="7073349" y="3425254"/>
                <a:ext cx="1706218" cy="1711284"/>
              </a:xfrm>
              <a:prstGeom prst="rect">
                <a:avLst/>
              </a:prstGeom>
              <a:solidFill>
                <a:srgbClr val="6ABF48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AutoShape 8">
                <a:extLst>
                  <a:ext uri="{FF2B5EF4-FFF2-40B4-BE49-F238E27FC236}">
                    <a16:creationId xmlns:a16="http://schemas.microsoft.com/office/drawing/2014/main" id="{584DD8DE-78CF-3C04-354C-1F2FF902DEC6}"/>
                  </a:ext>
                </a:extLst>
              </p:cNvPr>
              <p:cNvSpPr/>
              <p:nvPr/>
            </p:nvSpPr>
            <p:spPr>
              <a:xfrm>
                <a:off x="10485783" y="3425254"/>
                <a:ext cx="1706218" cy="1711284"/>
              </a:xfrm>
              <a:prstGeom prst="rect">
                <a:avLst/>
              </a:prstGeom>
              <a:solidFill>
                <a:srgbClr val="6ABF48"/>
              </a:solidFill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81ED22-8903-8FFC-7BC8-07A2C3EEDD46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623385" y="556996"/>
            <a:ext cx="8524908" cy="235702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F1751-6EB6-93A1-E8EB-64E7035F05A9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623385" y="3429000"/>
            <a:ext cx="7189798" cy="18427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F8730BF9-7CFA-9A6F-36EB-2EE9D8137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5CF23B8-18BE-485D-BC2C-61110F510EA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D5C54-5851-8B91-F248-A854681957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2800" y="5881922"/>
            <a:ext cx="1136924" cy="63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043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20943-5C25-C850-746D-88068D11B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355291"/>
            <a:ext cx="11058832" cy="61810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C5CD8-D74E-0A0B-BFD6-D67961B44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2" y="1119823"/>
            <a:ext cx="11039168" cy="4983913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200"/>
            </a:lvl1pPr>
            <a:lvl2pPr marL="457200" indent="-171450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2pPr>
            <a:lvl3pPr marL="688975" indent="-171450">
              <a:lnSpc>
                <a:spcPct val="10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  <a:defRPr sz="1800"/>
            </a:lvl3pPr>
            <a:lvl4pPr marL="855663" indent="-171450">
              <a:lnSpc>
                <a:spcPct val="10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  <a:defRPr sz="1600"/>
            </a:lvl4pPr>
            <a:lvl5pPr marL="973138" indent="-171450">
              <a:lnSpc>
                <a:spcPct val="10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5ACD6F4C-A5EC-D57F-8C1A-03921A41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5CF23B8-18BE-485D-BC2C-61110F510EA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82508B-600B-38CF-E1FB-D4C7DDEF7E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2431" y="5769952"/>
            <a:ext cx="1369291" cy="76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662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7296">
          <p15:clr>
            <a:srgbClr val="FBAE40"/>
          </p15:clr>
        </p15:guide>
        <p15:guide id="3" orient="horz" pos="288">
          <p15:clr>
            <a:srgbClr val="FBAE40"/>
          </p15:clr>
        </p15:guide>
        <p15:guide id="4" orient="horz" pos="40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20943-5C25-C850-746D-88068D11B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355291"/>
            <a:ext cx="11058832" cy="61810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5D9C50-AA6C-ACB2-6A3B-2EEEE61FE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2" y="1648838"/>
            <a:ext cx="11039168" cy="4454898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200"/>
            </a:lvl1pPr>
            <a:lvl2pPr marL="457200" indent="-171450">
              <a:lnSpc>
                <a:spcPct val="100000"/>
              </a:lnSpc>
              <a:buClr>
                <a:schemeClr val="accent2"/>
              </a:buClr>
              <a:buFont typeface="Wingdings" panose="05000000000000000000" pitchFamily="2" charset="2"/>
              <a:buChar char="§"/>
              <a:defRPr sz="2000"/>
            </a:lvl2pPr>
            <a:lvl3pPr marL="688975" indent="-171450">
              <a:lnSpc>
                <a:spcPct val="10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  <a:defRPr sz="1800"/>
            </a:lvl3pPr>
            <a:lvl4pPr marL="855663" indent="-171450">
              <a:lnSpc>
                <a:spcPct val="10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  <a:defRPr sz="1600"/>
            </a:lvl4pPr>
            <a:lvl5pPr marL="973138" indent="-171450">
              <a:lnSpc>
                <a:spcPct val="100000"/>
              </a:lnSpc>
              <a:buClr>
                <a:schemeClr val="accent3"/>
              </a:buClr>
              <a:buFont typeface="Wingdings" panose="05000000000000000000" pitchFamily="2" charset="2"/>
              <a:buChar char="§"/>
              <a:defRPr sz="13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27F1D02-909D-66BC-0BE9-1315E33F9D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399" y="915924"/>
            <a:ext cx="11066002" cy="55511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43D1D76-3E58-33CD-3610-15DC351D3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5CF23B8-18BE-485D-BC2C-61110F510EA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46408A-A534-5ADF-33BB-8DC2FAAEC7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2431" y="5775928"/>
            <a:ext cx="1369291" cy="76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913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7296">
          <p15:clr>
            <a:srgbClr val="FBAE40"/>
          </p15:clr>
        </p15:guide>
        <p15:guide id="3" orient="horz" pos="288">
          <p15:clr>
            <a:srgbClr val="FBAE40"/>
          </p15:clr>
        </p15:guide>
        <p15:guide id="4" orient="horz" pos="40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5E3ED-8FF0-2B1F-67D2-8C4A43C4B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49" y="714810"/>
            <a:ext cx="7796931" cy="2580502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C32DE-ED9A-CCC5-767F-5D15EFE26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3354792"/>
            <a:ext cx="5944922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89605F9-7EE7-46E5-B283-9C61EE0293D7}"/>
              </a:ext>
            </a:extLst>
          </p:cNvPr>
          <p:cNvGrpSpPr/>
          <p:nvPr userDrawn="1"/>
        </p:nvGrpSpPr>
        <p:grpSpPr>
          <a:xfrm>
            <a:off x="6724067" y="1371215"/>
            <a:ext cx="5468318" cy="5486784"/>
            <a:chOff x="5367131" y="0"/>
            <a:chExt cx="6824870" cy="6847916"/>
          </a:xfrm>
        </p:grpSpPr>
        <p:sp>
          <p:nvSpPr>
            <p:cNvPr id="11" name="AutoShape 3">
              <a:extLst>
                <a:ext uri="{FF2B5EF4-FFF2-40B4-BE49-F238E27FC236}">
                  <a16:creationId xmlns:a16="http://schemas.microsoft.com/office/drawing/2014/main" id="{62702C5B-807D-2766-9672-12D712BCFD78}"/>
                </a:ext>
              </a:extLst>
            </p:cNvPr>
            <p:cNvSpPr/>
            <p:nvPr/>
          </p:nvSpPr>
          <p:spPr>
            <a:xfrm>
              <a:off x="10485783" y="0"/>
              <a:ext cx="1706218" cy="1711284"/>
            </a:xfrm>
            <a:prstGeom prst="rect">
              <a:avLst/>
            </a:prstGeom>
            <a:solidFill>
              <a:srgbClr val="6ABF48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2" name="AutoShape 4">
              <a:extLst>
                <a:ext uri="{FF2B5EF4-FFF2-40B4-BE49-F238E27FC236}">
                  <a16:creationId xmlns:a16="http://schemas.microsoft.com/office/drawing/2014/main" id="{FD3ADE8D-0AE3-EA00-391A-5EBEF7D9195D}"/>
                </a:ext>
              </a:extLst>
            </p:cNvPr>
            <p:cNvSpPr/>
            <p:nvPr/>
          </p:nvSpPr>
          <p:spPr>
            <a:xfrm>
              <a:off x="8779566" y="1711283"/>
              <a:ext cx="1706218" cy="1711284"/>
            </a:xfrm>
            <a:prstGeom prst="rect">
              <a:avLst/>
            </a:prstGeom>
            <a:solidFill>
              <a:srgbClr val="2B4892"/>
            </a:solidFill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0D3D713-70B8-2D89-072E-03ACDF6C7DCB}"/>
                </a:ext>
              </a:extLst>
            </p:cNvPr>
            <p:cNvGrpSpPr/>
            <p:nvPr userDrawn="1"/>
          </p:nvGrpSpPr>
          <p:grpSpPr>
            <a:xfrm>
              <a:off x="5367131" y="5136632"/>
              <a:ext cx="5118653" cy="1711284"/>
              <a:chOff x="5367131" y="5133852"/>
              <a:chExt cx="5118653" cy="1711284"/>
            </a:xfrm>
          </p:grpSpPr>
          <p:sp>
            <p:nvSpPr>
              <p:cNvPr id="24" name="AutoShape 6">
                <a:extLst>
                  <a:ext uri="{FF2B5EF4-FFF2-40B4-BE49-F238E27FC236}">
                    <a16:creationId xmlns:a16="http://schemas.microsoft.com/office/drawing/2014/main" id="{2F77E6AD-79C6-6D24-9140-38E670D35D78}"/>
                  </a:ext>
                </a:extLst>
              </p:cNvPr>
              <p:cNvSpPr/>
              <p:nvPr/>
            </p:nvSpPr>
            <p:spPr>
              <a:xfrm>
                <a:off x="5367131" y="5133852"/>
                <a:ext cx="1706218" cy="1711284"/>
              </a:xfrm>
              <a:prstGeom prst="rect">
                <a:avLst/>
              </a:prstGeom>
              <a:solidFill>
                <a:srgbClr val="2B4892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5" name="AutoShape 7">
                <a:extLst>
                  <a:ext uri="{FF2B5EF4-FFF2-40B4-BE49-F238E27FC236}">
                    <a16:creationId xmlns:a16="http://schemas.microsoft.com/office/drawing/2014/main" id="{9B16B8D4-6861-1108-F75E-7FE88B76F58A}"/>
                  </a:ext>
                </a:extLst>
              </p:cNvPr>
              <p:cNvSpPr/>
              <p:nvPr/>
            </p:nvSpPr>
            <p:spPr>
              <a:xfrm>
                <a:off x="8779566" y="5133852"/>
                <a:ext cx="1706218" cy="1711284"/>
              </a:xfrm>
              <a:prstGeom prst="rect">
                <a:avLst/>
              </a:prstGeom>
              <a:solidFill>
                <a:srgbClr val="2B4892"/>
              </a:solidFill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E533047-8116-A228-C749-923A0FAAF600}"/>
                </a:ext>
              </a:extLst>
            </p:cNvPr>
            <p:cNvGrpSpPr/>
            <p:nvPr userDrawn="1"/>
          </p:nvGrpSpPr>
          <p:grpSpPr>
            <a:xfrm>
              <a:off x="7073349" y="3425254"/>
              <a:ext cx="5118652" cy="1711284"/>
              <a:chOff x="7073349" y="3425254"/>
              <a:chExt cx="5118652" cy="1711284"/>
            </a:xfrm>
          </p:grpSpPr>
          <p:sp>
            <p:nvSpPr>
              <p:cNvPr id="22" name="AutoShape 5">
                <a:extLst>
                  <a:ext uri="{FF2B5EF4-FFF2-40B4-BE49-F238E27FC236}">
                    <a16:creationId xmlns:a16="http://schemas.microsoft.com/office/drawing/2014/main" id="{7820A3E4-EC96-533A-4ABB-D07A131D79DE}"/>
                  </a:ext>
                </a:extLst>
              </p:cNvPr>
              <p:cNvSpPr/>
              <p:nvPr/>
            </p:nvSpPr>
            <p:spPr>
              <a:xfrm>
                <a:off x="7073349" y="3425254"/>
                <a:ext cx="1706218" cy="1711284"/>
              </a:xfrm>
              <a:prstGeom prst="rect">
                <a:avLst/>
              </a:prstGeom>
              <a:solidFill>
                <a:srgbClr val="6ABF48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" name="AutoShape 8">
                <a:extLst>
                  <a:ext uri="{FF2B5EF4-FFF2-40B4-BE49-F238E27FC236}">
                    <a16:creationId xmlns:a16="http://schemas.microsoft.com/office/drawing/2014/main" id="{1AA5B05A-4541-05DA-1DF1-73FA87976BEA}"/>
                  </a:ext>
                </a:extLst>
              </p:cNvPr>
              <p:cNvSpPr/>
              <p:nvPr/>
            </p:nvSpPr>
            <p:spPr>
              <a:xfrm>
                <a:off x="10485783" y="3425254"/>
                <a:ext cx="1706218" cy="1711284"/>
              </a:xfrm>
              <a:prstGeom prst="rect">
                <a:avLst/>
              </a:prstGeom>
              <a:solidFill>
                <a:srgbClr val="6ABF48"/>
              </a:solidFill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D3F6C925-EFCC-8458-194A-2D1280BF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5CF23B8-18BE-485D-BC2C-61110F510EA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F13332C-D49F-8256-A1C0-F291A3F4CC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8358" y="5934635"/>
            <a:ext cx="1073364" cy="59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273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F26621-12FA-974C-5FB8-F081CAFEE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355291"/>
            <a:ext cx="11058832" cy="61810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D1518A2-953B-1783-0251-3A50821CD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2" y="1170881"/>
            <a:ext cx="5133475" cy="4928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2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300" dirty="0"/>
            </a:lvl5pPr>
          </a:lstStyle>
          <a:p>
            <a:pPr marL="171450" lvl="0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marL="171450" lvl="1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71450" lvl="2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marL="171450" lvl="3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  <a:p>
            <a:pPr marL="171450" lvl="4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BE395A0-B680-CBFD-A221-44C19F6234E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477000" y="1170881"/>
            <a:ext cx="5133475" cy="4440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2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300" dirty="0"/>
            </a:lvl5pPr>
          </a:lstStyle>
          <a:p>
            <a:pPr marL="171450" lvl="0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marL="171450" lvl="1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71450" lvl="2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marL="171450" lvl="3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  <a:p>
            <a:pPr marL="171450" lvl="4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A3E08C0-354F-5E78-08DA-18C5093F0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5CF23B8-18BE-485D-BC2C-61110F510EA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B9ECD5-3523-4EDB-F375-79C22E7AF95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2431" y="5769952"/>
            <a:ext cx="1369291" cy="76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580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FF0A45AD-D1B5-8A16-49AB-90A9AAE5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355291"/>
            <a:ext cx="11058832" cy="61810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2A76E1-3ED4-0C0A-C591-D78464CCFE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399" y="1204861"/>
            <a:ext cx="11066002" cy="555113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586C6A02-D652-33C7-52B5-19D82F4B2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2" y="1851367"/>
            <a:ext cx="5133475" cy="4247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2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300" dirty="0"/>
            </a:lvl5pPr>
          </a:lstStyle>
          <a:p>
            <a:pPr marL="171450" lvl="0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marL="171450" lvl="1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71450" lvl="2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marL="171450" lvl="3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  <a:p>
            <a:pPr marL="171450" lvl="4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884EDB7A-0396-7688-50CA-07D57B168494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477000" y="1852009"/>
            <a:ext cx="5133475" cy="37875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sz="22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300" dirty="0"/>
            </a:lvl5pPr>
          </a:lstStyle>
          <a:p>
            <a:pPr marL="171450" lvl="0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Click to edit Master text styles</a:t>
            </a:r>
          </a:p>
          <a:p>
            <a:pPr marL="171450" lvl="1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Second level</a:t>
            </a:r>
          </a:p>
          <a:p>
            <a:pPr marL="171450" lvl="2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marL="171450" lvl="3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  <a:p>
            <a:pPr marL="171450" lvl="4" indent="-171450">
              <a:lnSpc>
                <a:spcPct val="10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713DA38-A74E-4FC7-F1B5-2699A978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5CF23B8-18BE-485D-BC2C-61110F510EA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4F236F-DF65-5185-E8F6-F56DA513D5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2431" y="5769952"/>
            <a:ext cx="1369291" cy="76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983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D8215DF-C4B7-D545-466F-29CEFD64E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355291"/>
            <a:ext cx="11058832" cy="618101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E88D4C9-8A17-2374-E9C8-8A83EE9A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5CF23B8-18BE-485D-BC2C-61110F510EA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AD2DA-48F2-8598-6B83-93A4DD32E9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82431" y="5769952"/>
            <a:ext cx="1369291" cy="76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938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468219F-16EC-2222-0214-F1F8BC2C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5CF23B8-18BE-485D-BC2C-61110F510EA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289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uestions?">
    <p:bg>
      <p:bgPr>
        <a:solidFill>
          <a:srgbClr val="193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2108019-FEA5-2C8C-EDA4-D49C1EC8A075}"/>
              </a:ext>
            </a:extLst>
          </p:cNvPr>
          <p:cNvSpPr txBox="1"/>
          <p:nvPr userDrawn="1"/>
        </p:nvSpPr>
        <p:spPr>
          <a:xfrm>
            <a:off x="569775" y="2830504"/>
            <a:ext cx="63180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Questions?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B7B556D-84D7-AC79-A515-EBAB445C08B1}"/>
              </a:ext>
            </a:extLst>
          </p:cNvPr>
          <p:cNvGrpSpPr/>
          <p:nvPr userDrawn="1"/>
        </p:nvGrpSpPr>
        <p:grpSpPr>
          <a:xfrm>
            <a:off x="6724067" y="1371215"/>
            <a:ext cx="5468318" cy="5486784"/>
            <a:chOff x="5367131" y="0"/>
            <a:chExt cx="6824870" cy="68479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F4DAB1A3-4753-6415-C2E6-D6D7183ADA0C}"/>
                </a:ext>
              </a:extLst>
            </p:cNvPr>
            <p:cNvSpPr/>
            <p:nvPr/>
          </p:nvSpPr>
          <p:spPr>
            <a:xfrm>
              <a:off x="10485783" y="0"/>
              <a:ext cx="1706218" cy="1711284"/>
            </a:xfrm>
            <a:prstGeom prst="rect">
              <a:avLst/>
            </a:prstGeom>
            <a:solidFill>
              <a:srgbClr val="6ABF48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AutoShape 4">
              <a:extLst>
                <a:ext uri="{FF2B5EF4-FFF2-40B4-BE49-F238E27FC236}">
                  <a16:creationId xmlns:a16="http://schemas.microsoft.com/office/drawing/2014/main" id="{8CAFFE72-0C26-9BF9-4732-18ADD1719784}"/>
                </a:ext>
              </a:extLst>
            </p:cNvPr>
            <p:cNvSpPr/>
            <p:nvPr/>
          </p:nvSpPr>
          <p:spPr>
            <a:xfrm>
              <a:off x="8779566" y="1711283"/>
              <a:ext cx="1706218" cy="1711284"/>
            </a:xfrm>
            <a:prstGeom prst="rect">
              <a:avLst/>
            </a:prstGeom>
            <a:solidFill>
              <a:srgbClr val="2B4892"/>
            </a:solidFill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88207A-A9BA-D2B4-2927-0F006209BF45}"/>
                </a:ext>
              </a:extLst>
            </p:cNvPr>
            <p:cNvGrpSpPr/>
            <p:nvPr userDrawn="1"/>
          </p:nvGrpSpPr>
          <p:grpSpPr>
            <a:xfrm>
              <a:off x="5367131" y="5136632"/>
              <a:ext cx="5118653" cy="1711284"/>
              <a:chOff x="5367131" y="5133852"/>
              <a:chExt cx="5118653" cy="1711284"/>
            </a:xfrm>
          </p:grpSpPr>
          <p:sp>
            <p:nvSpPr>
              <p:cNvPr id="22" name="AutoShape 6">
                <a:extLst>
                  <a:ext uri="{FF2B5EF4-FFF2-40B4-BE49-F238E27FC236}">
                    <a16:creationId xmlns:a16="http://schemas.microsoft.com/office/drawing/2014/main" id="{576D8EEE-46EF-6543-6501-7EB0ABBCD8A7}"/>
                  </a:ext>
                </a:extLst>
              </p:cNvPr>
              <p:cNvSpPr/>
              <p:nvPr/>
            </p:nvSpPr>
            <p:spPr>
              <a:xfrm>
                <a:off x="5367131" y="5133852"/>
                <a:ext cx="1706218" cy="1711284"/>
              </a:xfrm>
              <a:prstGeom prst="rect">
                <a:avLst/>
              </a:prstGeom>
              <a:solidFill>
                <a:srgbClr val="2B4892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3" name="AutoShape 7">
                <a:extLst>
                  <a:ext uri="{FF2B5EF4-FFF2-40B4-BE49-F238E27FC236}">
                    <a16:creationId xmlns:a16="http://schemas.microsoft.com/office/drawing/2014/main" id="{B1D56D56-1BFA-2DF4-7978-7718FD7E5C61}"/>
                  </a:ext>
                </a:extLst>
              </p:cNvPr>
              <p:cNvSpPr/>
              <p:nvPr/>
            </p:nvSpPr>
            <p:spPr>
              <a:xfrm>
                <a:off x="8779566" y="5133852"/>
                <a:ext cx="1706218" cy="1711284"/>
              </a:xfrm>
              <a:prstGeom prst="rect">
                <a:avLst/>
              </a:prstGeom>
              <a:solidFill>
                <a:srgbClr val="2B4892"/>
              </a:solidFill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D66958E-F9F9-C789-4059-EF434184DE1C}"/>
                </a:ext>
              </a:extLst>
            </p:cNvPr>
            <p:cNvGrpSpPr/>
            <p:nvPr userDrawn="1"/>
          </p:nvGrpSpPr>
          <p:grpSpPr>
            <a:xfrm>
              <a:off x="7073349" y="3425254"/>
              <a:ext cx="5118652" cy="1711284"/>
              <a:chOff x="7073349" y="3425254"/>
              <a:chExt cx="5118652" cy="1711284"/>
            </a:xfrm>
          </p:grpSpPr>
          <p:sp>
            <p:nvSpPr>
              <p:cNvPr id="20" name="AutoShape 5">
                <a:extLst>
                  <a:ext uri="{FF2B5EF4-FFF2-40B4-BE49-F238E27FC236}">
                    <a16:creationId xmlns:a16="http://schemas.microsoft.com/office/drawing/2014/main" id="{9C91A8DE-07A1-D121-66BB-792E0BAC0BB8}"/>
                  </a:ext>
                </a:extLst>
              </p:cNvPr>
              <p:cNvSpPr/>
              <p:nvPr/>
            </p:nvSpPr>
            <p:spPr>
              <a:xfrm>
                <a:off x="7073349" y="3425254"/>
                <a:ext cx="1706218" cy="1711284"/>
              </a:xfrm>
              <a:prstGeom prst="rect">
                <a:avLst/>
              </a:prstGeom>
              <a:solidFill>
                <a:srgbClr val="6ABF48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" name="AutoShape 8">
                <a:extLst>
                  <a:ext uri="{FF2B5EF4-FFF2-40B4-BE49-F238E27FC236}">
                    <a16:creationId xmlns:a16="http://schemas.microsoft.com/office/drawing/2014/main" id="{12CFBF5E-3C56-76A6-71CE-C558F937AA1B}"/>
                  </a:ext>
                </a:extLst>
              </p:cNvPr>
              <p:cNvSpPr/>
              <p:nvPr/>
            </p:nvSpPr>
            <p:spPr>
              <a:xfrm>
                <a:off x="10485783" y="3425254"/>
                <a:ext cx="1706218" cy="1711284"/>
              </a:xfrm>
              <a:prstGeom prst="rect">
                <a:avLst/>
              </a:prstGeom>
              <a:solidFill>
                <a:srgbClr val="6ABF48"/>
              </a:solidFill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53B595E0-3C46-D0B5-2F0A-C3E703AB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5CF23B8-18BE-485D-BC2C-61110F510EA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A675AE-BDAD-B744-E74C-BEE77F9317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72800" y="5881922"/>
            <a:ext cx="1136924" cy="63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57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solidFill>
          <a:srgbClr val="1930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2108019-FEA5-2C8C-EDA4-D49C1EC8A075}"/>
              </a:ext>
            </a:extLst>
          </p:cNvPr>
          <p:cNvSpPr txBox="1"/>
          <p:nvPr userDrawn="1"/>
        </p:nvSpPr>
        <p:spPr>
          <a:xfrm>
            <a:off x="569775" y="2830505"/>
            <a:ext cx="63180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A4619-9AE6-755A-EEF2-E1207D8A4F1A}"/>
              </a:ext>
            </a:extLst>
          </p:cNvPr>
          <p:cNvSpPr txBox="1"/>
          <p:nvPr userDrawn="1"/>
        </p:nvSpPr>
        <p:spPr>
          <a:xfrm>
            <a:off x="589486" y="3750433"/>
            <a:ext cx="54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800" u="sng" dirty="0">
                <a:solidFill>
                  <a:schemeClr val="bg1"/>
                </a:solidFill>
                <a:latin typeface="Verdana Pro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www.UCIexpress.org</a:t>
            </a:r>
            <a:endParaRPr lang="en-US" u="sng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7FC3E1-5357-25DE-C91C-574E7E766162}"/>
              </a:ext>
            </a:extLst>
          </p:cNvPr>
          <p:cNvGrpSpPr/>
          <p:nvPr userDrawn="1"/>
        </p:nvGrpSpPr>
        <p:grpSpPr>
          <a:xfrm>
            <a:off x="6724067" y="1371215"/>
            <a:ext cx="5468318" cy="5486784"/>
            <a:chOff x="5367131" y="0"/>
            <a:chExt cx="6824870" cy="6847916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4A703B29-93DE-B7CF-A9BE-F69E211D06EA}"/>
                </a:ext>
              </a:extLst>
            </p:cNvPr>
            <p:cNvSpPr/>
            <p:nvPr/>
          </p:nvSpPr>
          <p:spPr>
            <a:xfrm>
              <a:off x="10485783" y="0"/>
              <a:ext cx="1706218" cy="1711284"/>
            </a:xfrm>
            <a:prstGeom prst="rect">
              <a:avLst/>
            </a:prstGeom>
            <a:solidFill>
              <a:srgbClr val="6ABF48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AutoShape 4">
              <a:extLst>
                <a:ext uri="{FF2B5EF4-FFF2-40B4-BE49-F238E27FC236}">
                  <a16:creationId xmlns:a16="http://schemas.microsoft.com/office/drawing/2014/main" id="{64C712F9-818E-BD5B-0713-FA99547D0594}"/>
                </a:ext>
              </a:extLst>
            </p:cNvPr>
            <p:cNvSpPr/>
            <p:nvPr/>
          </p:nvSpPr>
          <p:spPr>
            <a:xfrm>
              <a:off x="8779566" y="1711283"/>
              <a:ext cx="1706218" cy="1711284"/>
            </a:xfrm>
            <a:prstGeom prst="rect">
              <a:avLst/>
            </a:prstGeom>
            <a:solidFill>
              <a:srgbClr val="2B4892"/>
            </a:solidFill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4046A24-0525-B61A-196C-F3AB1B0216D5}"/>
                </a:ext>
              </a:extLst>
            </p:cNvPr>
            <p:cNvGrpSpPr/>
            <p:nvPr userDrawn="1"/>
          </p:nvGrpSpPr>
          <p:grpSpPr>
            <a:xfrm>
              <a:off x="5367131" y="5136632"/>
              <a:ext cx="5118653" cy="1711284"/>
              <a:chOff x="5367131" y="5133852"/>
              <a:chExt cx="5118653" cy="1711284"/>
            </a:xfrm>
          </p:grpSpPr>
          <p:sp>
            <p:nvSpPr>
              <p:cNvPr id="23" name="AutoShape 6">
                <a:extLst>
                  <a:ext uri="{FF2B5EF4-FFF2-40B4-BE49-F238E27FC236}">
                    <a16:creationId xmlns:a16="http://schemas.microsoft.com/office/drawing/2014/main" id="{7DB1AD43-F17D-9C11-CEB4-70BCB55B9C61}"/>
                  </a:ext>
                </a:extLst>
              </p:cNvPr>
              <p:cNvSpPr/>
              <p:nvPr/>
            </p:nvSpPr>
            <p:spPr>
              <a:xfrm>
                <a:off x="5367131" y="5133852"/>
                <a:ext cx="1706218" cy="1711284"/>
              </a:xfrm>
              <a:prstGeom prst="rect">
                <a:avLst/>
              </a:prstGeom>
              <a:solidFill>
                <a:srgbClr val="2B4892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" name="AutoShape 7">
                <a:extLst>
                  <a:ext uri="{FF2B5EF4-FFF2-40B4-BE49-F238E27FC236}">
                    <a16:creationId xmlns:a16="http://schemas.microsoft.com/office/drawing/2014/main" id="{171BBC7F-6D8D-D110-4F1E-BAE3D2A90879}"/>
                  </a:ext>
                </a:extLst>
              </p:cNvPr>
              <p:cNvSpPr/>
              <p:nvPr/>
            </p:nvSpPr>
            <p:spPr>
              <a:xfrm>
                <a:off x="8779566" y="5133852"/>
                <a:ext cx="1706218" cy="1711284"/>
              </a:xfrm>
              <a:prstGeom prst="rect">
                <a:avLst/>
              </a:prstGeom>
              <a:solidFill>
                <a:srgbClr val="2B4892"/>
              </a:solidFill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EC95E70-4C99-F57C-AA45-3AA6C02998FD}"/>
                </a:ext>
              </a:extLst>
            </p:cNvPr>
            <p:cNvGrpSpPr/>
            <p:nvPr userDrawn="1"/>
          </p:nvGrpSpPr>
          <p:grpSpPr>
            <a:xfrm>
              <a:off x="7073349" y="3425254"/>
              <a:ext cx="5118652" cy="1711284"/>
              <a:chOff x="7073349" y="3425254"/>
              <a:chExt cx="5118652" cy="1711284"/>
            </a:xfrm>
          </p:grpSpPr>
          <p:sp>
            <p:nvSpPr>
              <p:cNvPr id="21" name="AutoShape 5">
                <a:extLst>
                  <a:ext uri="{FF2B5EF4-FFF2-40B4-BE49-F238E27FC236}">
                    <a16:creationId xmlns:a16="http://schemas.microsoft.com/office/drawing/2014/main" id="{8E4F27B3-3463-1802-CD56-A10B3F2664D5}"/>
                  </a:ext>
                </a:extLst>
              </p:cNvPr>
              <p:cNvSpPr/>
              <p:nvPr/>
            </p:nvSpPr>
            <p:spPr>
              <a:xfrm>
                <a:off x="7073349" y="3425254"/>
                <a:ext cx="1706218" cy="1711284"/>
              </a:xfrm>
              <a:prstGeom prst="rect">
                <a:avLst/>
              </a:prstGeom>
              <a:solidFill>
                <a:srgbClr val="6ABF48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2" name="AutoShape 8">
                <a:extLst>
                  <a:ext uri="{FF2B5EF4-FFF2-40B4-BE49-F238E27FC236}">
                    <a16:creationId xmlns:a16="http://schemas.microsoft.com/office/drawing/2014/main" id="{D97C3593-441D-E393-75BE-018FCA57B3A1}"/>
                  </a:ext>
                </a:extLst>
              </p:cNvPr>
              <p:cNvSpPr/>
              <p:nvPr/>
            </p:nvSpPr>
            <p:spPr>
              <a:xfrm>
                <a:off x="10485783" y="3425254"/>
                <a:ext cx="1706218" cy="1711284"/>
              </a:xfrm>
              <a:prstGeom prst="rect">
                <a:avLst/>
              </a:prstGeom>
              <a:solidFill>
                <a:srgbClr val="6ABF48"/>
              </a:solidFill>
            </p:spPr>
            <p:txBody>
              <a:bodyPr/>
              <a:lstStyle/>
              <a:p>
                <a:endParaRPr lang="en-US" dirty="0"/>
              </a:p>
            </p:txBody>
          </p:sp>
        </p:grpSp>
      </p:grp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7EF525D5-F1CA-2A06-D8CD-217116A5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5CF23B8-18BE-485D-BC2C-61110F510EA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7" name="Rectangle 26">
            <a:hlinkClick r:id="rId2"/>
            <a:extLst>
              <a:ext uri="{FF2B5EF4-FFF2-40B4-BE49-F238E27FC236}">
                <a16:creationId xmlns:a16="http://schemas.microsoft.com/office/drawing/2014/main" id="{62BCAD85-75B1-A7B4-4534-A4CB714FE72A}"/>
              </a:ext>
            </a:extLst>
          </p:cNvPr>
          <p:cNvSpPr/>
          <p:nvPr userDrawn="1"/>
        </p:nvSpPr>
        <p:spPr>
          <a:xfrm>
            <a:off x="527840" y="3714553"/>
            <a:ext cx="2777770" cy="4410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A1FE11-44DA-37F9-F32F-D9DE1039B5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972800" y="5881922"/>
            <a:ext cx="1136924" cy="63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2872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3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C1DCF5E-DE1A-0864-1B11-8CFD2641EB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2" r="8232"/>
          <a:stretch/>
        </p:blipFill>
        <p:spPr>
          <a:xfrm rot="10800000" flipH="1">
            <a:off x="0" y="-219694"/>
            <a:ext cx="12192000" cy="72973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619601-80B6-4DDD-BA75-A838A5A2D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5420" y="2382088"/>
            <a:ext cx="10304253" cy="1327524"/>
          </a:xfrm>
        </p:spPr>
        <p:txBody>
          <a:bodyPr anchor="b" anchorCtr="0">
            <a:noAutofit/>
          </a:bodyPr>
          <a:lstStyle>
            <a:lvl1pPr algn="l">
              <a:defRPr sz="5400" b="0" i="0">
                <a:solidFill>
                  <a:srgbClr val="FFD200"/>
                </a:solidFill>
                <a:latin typeface="Franklin Gothic Medium Cond" panose="020B0606030402020204" pitchFamily="34" charset="0"/>
                <a:cs typeface="GOTHAMCONDENSED-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AC522-4D92-41CC-907E-E2E26059D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635" y="3634666"/>
            <a:ext cx="10304254" cy="515352"/>
          </a:xfr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rgbClr val="E9E9EC"/>
                </a:solidFill>
                <a:latin typeface="Franklin Gothic Medium Cond" panose="020B0606030402020204" pitchFamily="34" charset="0"/>
                <a:cs typeface="GOTHAMCONDENSED-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AB79E7-70D8-4719-AAA3-69FF8F153D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65331" y="4475771"/>
            <a:ext cx="5134641" cy="383680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rgbClr val="E9E9EC"/>
                </a:solidFill>
                <a:latin typeface="Franklin Gothic Medium Cond" panose="020B0606030402020204" pitchFamily="34" charset="0"/>
                <a:cs typeface="GOTHAMCONDENSED-MEDIUM" pitchFamily="2" charset="0"/>
              </a:defRPr>
            </a:lvl1pPr>
          </a:lstStyle>
          <a:p>
            <a:pPr lvl="0"/>
            <a:r>
              <a:rPr lang="en-US" dirty="0"/>
              <a:t>Click to edit slide date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87CAE68-1DEF-405B-864C-05B79D36E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  <a:prstGeom prst="rect">
            <a:avLst/>
          </a:prstGeom>
        </p:spPr>
        <p:txBody>
          <a:bodyPr/>
          <a:lstStyle>
            <a:lvl1pPr marL="115888" indent="0" algn="ctr">
              <a:defRPr sz="1000" b="0" i="0">
                <a:solidFill>
                  <a:schemeClr val="accent1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b="1" dirty="0">
                <a:latin typeface="Franklin Gothic Demi" panose="020B0603020102020204" pitchFamily="34" charset="0"/>
              </a:rPr>
              <a:t>Confidential</a:t>
            </a:r>
            <a:r>
              <a:rPr lang="en-US" dirty="0"/>
              <a:t>  |  Ultra Accelerator Link 2025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72C41B-8819-AE67-8477-C8191B7310C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6286" y="855024"/>
            <a:ext cx="3215860" cy="114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81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FB7C7C8-A633-4C50-747F-4EBC920D92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2" t="82181" r="8232" b="3010"/>
          <a:stretch/>
        </p:blipFill>
        <p:spPr>
          <a:xfrm rot="10800000" flipH="1">
            <a:off x="0" y="-1"/>
            <a:ext cx="12192000" cy="1080656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36FF1C3-2899-4D06-B7FC-AD4AAC163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86" y="1371599"/>
            <a:ext cx="11259113" cy="4679923"/>
          </a:xfrm>
        </p:spPr>
        <p:txBody>
          <a:bodyPr/>
          <a:lstStyle>
            <a:lvl1pPr>
              <a:buClr>
                <a:srgbClr val="0070C0"/>
              </a:buClr>
              <a:defRPr b="0" i="0">
                <a:solidFill>
                  <a:schemeClr val="bg2">
                    <a:lumMod val="10000"/>
                  </a:schemeClr>
                </a:solidFill>
                <a:latin typeface="Franklin Gothic Medium" panose="020B0603020102020204" pitchFamily="34" charset="0"/>
              </a:defRPr>
            </a:lvl1pPr>
            <a:lvl2pPr>
              <a:buClr>
                <a:srgbClr val="0070C0"/>
              </a:buClr>
              <a:defRPr b="0" i="0">
                <a:solidFill>
                  <a:schemeClr val="bg2">
                    <a:lumMod val="10000"/>
                  </a:schemeClr>
                </a:solidFill>
                <a:latin typeface="Franklin Gothic Medium" panose="020B0603020102020204" pitchFamily="34" charset="0"/>
              </a:defRPr>
            </a:lvl2pPr>
            <a:lvl3pPr>
              <a:buClr>
                <a:srgbClr val="0070C0"/>
              </a:buClr>
              <a:defRPr sz="2000" b="0" i="0">
                <a:solidFill>
                  <a:schemeClr val="bg2">
                    <a:lumMod val="10000"/>
                  </a:schemeClr>
                </a:solidFill>
                <a:latin typeface="Franklin Gothic Medium" panose="020B0603020102020204" pitchFamily="34" charset="0"/>
              </a:defRPr>
            </a:lvl3pPr>
            <a:lvl4pPr>
              <a:buClr>
                <a:srgbClr val="0070C0"/>
              </a:buClr>
              <a:defRPr sz="2000" b="0" i="0">
                <a:solidFill>
                  <a:schemeClr val="bg2">
                    <a:lumMod val="10000"/>
                  </a:schemeClr>
                </a:solidFill>
                <a:latin typeface="Franklin Gothic Medium" panose="020B0603020102020204" pitchFamily="34" charset="0"/>
              </a:defRPr>
            </a:lvl4pPr>
            <a:lvl5pPr>
              <a:buClr>
                <a:srgbClr val="0070C0"/>
              </a:buClr>
              <a:defRPr sz="2000" b="0" i="0">
                <a:solidFill>
                  <a:schemeClr val="bg2">
                    <a:lumMod val="10000"/>
                  </a:schemeClr>
                </a:solidFill>
                <a:latin typeface="Franklin Gothic Medium" panose="020B06030201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3C187FC-41BD-4FF9-9863-053612C1A6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633" y="358658"/>
            <a:ext cx="8599506" cy="781423"/>
          </a:xfrm>
        </p:spPr>
        <p:txBody>
          <a:bodyPr anchor="t" anchorCtr="0">
            <a:noAutofit/>
          </a:bodyPr>
          <a:lstStyle>
            <a:lvl1pPr>
              <a:defRPr sz="4000" b="0" i="0">
                <a:solidFill>
                  <a:srgbClr val="FFD200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F686A7E4-8D35-4AFB-8264-B6CAA6B6BF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5"/>
            <a:ext cx="2155776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D8FC9FDA-6F98-418B-9080-9D69614A1AAE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3BCC1864-5D15-4276-87FB-CA6CDEF83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42D6CF2F-E99A-4DCF-AFBF-E997E4DEA0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0E7FEE4C-7FA9-49B8-A96A-BA6646009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  <a:prstGeom prst="rect">
            <a:avLst/>
          </a:prstGeom>
        </p:spPr>
        <p:txBody>
          <a:bodyPr/>
          <a:lstStyle>
            <a:lvl1pPr marL="115888" indent="0" algn="ctr"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b="1" dirty="0">
                <a:latin typeface="Franklin Gothic Demi" panose="020B0603020102020204" pitchFamily="34" charset="0"/>
              </a:rPr>
              <a:t>Confidential</a:t>
            </a:r>
            <a:r>
              <a:rPr lang="en-US" dirty="0"/>
              <a:t>  |  Ultra Accelerator Link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8D988E-C6D6-D302-B6CB-E80EDE0A6B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14527" r="2962" b="82178"/>
          <a:stretch/>
        </p:blipFill>
        <p:spPr>
          <a:xfrm rot="10800000" flipH="1">
            <a:off x="0" y="0"/>
            <a:ext cx="12192000" cy="71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4AFC1F-6E6B-8117-D4C8-91BA8F59B0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14527" r="2962" b="82178"/>
          <a:stretch/>
        </p:blipFill>
        <p:spPr>
          <a:xfrm flipH="1">
            <a:off x="0" y="6436426"/>
            <a:ext cx="12192000" cy="593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B51FA1-7334-BE38-7639-25E177DFA8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14527" r="2962" b="82178"/>
          <a:stretch/>
        </p:blipFill>
        <p:spPr>
          <a:xfrm rot="10800000" flipH="1">
            <a:off x="0" y="1066800"/>
            <a:ext cx="12192000" cy="71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47E007D-A109-36B5-91CC-8DD0530C62E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9936480" y="230590"/>
            <a:ext cx="2072226" cy="73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6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928">
          <p15:clr>
            <a:srgbClr val="FBAE40"/>
          </p15:clr>
        </p15:guide>
        <p15:guide id="2" pos="7368">
          <p15:clr>
            <a:srgbClr val="FBAE40"/>
          </p15:clr>
        </p15:guide>
        <p15:guide id="3" pos="312">
          <p15:clr>
            <a:srgbClr val="FBAE40"/>
          </p15:clr>
        </p15:guide>
        <p15:guide id="4" orient="horz" pos="456">
          <p15:clr>
            <a:srgbClr val="FBAE40"/>
          </p15:clr>
        </p15:guide>
        <p15:guide id="5" orient="horz" pos="4152">
          <p15:clr>
            <a:srgbClr val="FBAE40"/>
          </p15:clr>
        </p15:guide>
        <p15:guide id="6" orient="horz" pos="180">
          <p15:clr>
            <a:srgbClr val="FBAE40"/>
          </p15:clr>
        </p15:guide>
        <p15:guide id="7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B9A9435-D0B4-C3C1-BF39-A3BE314565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2" t="82181" r="8232" b="3010"/>
          <a:stretch/>
        </p:blipFill>
        <p:spPr>
          <a:xfrm rot="10800000" flipH="1">
            <a:off x="0" y="-1"/>
            <a:ext cx="12192000" cy="108065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7174EFB-3FBF-A53C-1D94-F254FFF87B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633" y="358658"/>
            <a:ext cx="8599506" cy="781423"/>
          </a:xfrm>
        </p:spPr>
        <p:txBody>
          <a:bodyPr anchor="t" anchorCtr="0">
            <a:noAutofit/>
          </a:bodyPr>
          <a:lstStyle>
            <a:lvl1pPr>
              <a:defRPr sz="4000" b="0" i="0">
                <a:solidFill>
                  <a:srgbClr val="FFD200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DB3AE71-F214-4B3E-07EE-A4BF1B76C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  <a:prstGeom prst="rect">
            <a:avLst/>
          </a:prstGeom>
        </p:spPr>
        <p:txBody>
          <a:bodyPr/>
          <a:lstStyle>
            <a:lvl1pPr marL="115888" indent="0" algn="ctr"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b="1" dirty="0">
                <a:latin typeface="Franklin Gothic Demi" panose="020B0603020102020204" pitchFamily="34" charset="0"/>
              </a:rPr>
              <a:t>Confidential</a:t>
            </a:r>
            <a:r>
              <a:rPr lang="en-US" dirty="0"/>
              <a:t>  |  Ultra Accelerator Link 2025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136D3D-E91F-E5BB-EA79-2863C8E945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14527" r="2962" b="82178"/>
          <a:stretch/>
        </p:blipFill>
        <p:spPr>
          <a:xfrm rot="10800000" flipH="1">
            <a:off x="0" y="0"/>
            <a:ext cx="12192000" cy="712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A132C1-8110-53E9-E49D-E2E7B3DB99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14527" r="2962" b="82178"/>
          <a:stretch/>
        </p:blipFill>
        <p:spPr>
          <a:xfrm flipH="1">
            <a:off x="0" y="6436426"/>
            <a:ext cx="12192000" cy="593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F42EEA-9D55-B2E9-24A7-E41DF30AA0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14527" r="2962" b="82178"/>
          <a:stretch/>
        </p:blipFill>
        <p:spPr>
          <a:xfrm rot="10800000" flipH="1">
            <a:off x="0" y="1066800"/>
            <a:ext cx="12192000" cy="71250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49824F75-E3C2-FA13-A7DB-13D1134B26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5"/>
            <a:ext cx="2155776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D8FC9FDA-6F98-418B-9080-9D69614A1AAE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B657B6EA-C777-C4D3-A37B-C76AF436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42D6CF2F-E99A-4DCF-AFBF-E997E4DEA0F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7F8419-7DBE-E1FF-DA21-942D78F080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9936480" y="230590"/>
            <a:ext cx="2072226" cy="73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433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611ACA4-D806-4CED-6C29-944AD5055D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2" r="8232"/>
          <a:stretch/>
        </p:blipFill>
        <p:spPr>
          <a:xfrm rot="10800000" flipH="1">
            <a:off x="0" y="-219694"/>
            <a:ext cx="12192000" cy="72973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E88137-6F62-42CB-9A1D-EC3433AD736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267961" y="1459436"/>
            <a:ext cx="4256658" cy="3103039"/>
          </a:xfrm>
        </p:spPr>
        <p:txBody>
          <a:bodyPr anchor="b"/>
          <a:lstStyle>
            <a:lvl1pPr>
              <a:defRPr sz="4800" b="1" i="0">
                <a:solidFill>
                  <a:srgbClr val="FFD200"/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1636A-2F7F-43FF-AA49-03FFE1D99149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1267961" y="4589463"/>
            <a:ext cx="4256658" cy="1500187"/>
          </a:xfrm>
        </p:spPr>
        <p:txBody>
          <a:bodyPr/>
          <a:lstStyle>
            <a:lvl1pPr marL="0" indent="0">
              <a:buNone/>
              <a:defRPr sz="1800" b="1" i="0">
                <a:solidFill>
                  <a:schemeClr val="bg1"/>
                </a:solidFill>
                <a:latin typeface="Franklin Gothic Demi" panose="020B06030201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104DF667-4489-A165-DFD1-9650A1B1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35820"/>
            <a:ext cx="2155776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D8FC9FDA-6F98-418B-9080-9D69614A1AAE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EEE05004-B12D-8EC1-08AA-A2265214D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39762"/>
            <a:ext cx="614105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42D6CF2F-E99A-4DCF-AFBF-E997E4DEA0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5BAB0BFE-D5F4-A73F-F326-9CB7BA4CF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  <a:prstGeom prst="rect">
            <a:avLst/>
          </a:prstGeom>
        </p:spPr>
        <p:txBody>
          <a:bodyPr/>
          <a:lstStyle>
            <a:lvl1pPr marL="115888" indent="0"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b="1" dirty="0">
                <a:latin typeface="Franklin Gothic Demi" panose="020B0603020102020204" pitchFamily="34" charset="0"/>
              </a:rPr>
              <a:t>Confidential</a:t>
            </a:r>
            <a:r>
              <a:rPr lang="en-US" dirty="0"/>
              <a:t>  |  Ultra Accelerator Link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FAA88A-9D36-B26E-A65A-FF1E2065CFE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1839" y="863600"/>
            <a:ext cx="3267225" cy="115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583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1DB9F0-E55B-C569-680E-340A1529C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  <a:prstGeom prst="rect">
            <a:avLst/>
          </a:prstGeom>
        </p:spPr>
        <p:txBody>
          <a:bodyPr/>
          <a:lstStyle>
            <a:lvl1pPr marL="115888" indent="0" algn="ctr"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b="1" dirty="0">
                <a:latin typeface="Franklin Gothic Demi" panose="020B0603020102020204" pitchFamily="34" charset="0"/>
              </a:rPr>
              <a:t>Confidential</a:t>
            </a:r>
            <a:r>
              <a:rPr lang="en-US" dirty="0"/>
              <a:t>  |  Ultra Accelerator Link 2025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28FCBB-D8B1-AE44-9861-84EAB767C9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14527" r="2962" b="82178"/>
          <a:stretch/>
        </p:blipFill>
        <p:spPr>
          <a:xfrm flipH="1">
            <a:off x="0" y="6436426"/>
            <a:ext cx="12192000" cy="5937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06231C-39C5-6CD4-8D54-945D0F5780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2" t="82181" r="8232" b="3010"/>
          <a:stretch/>
        </p:blipFill>
        <p:spPr>
          <a:xfrm rot="10800000" flipH="1">
            <a:off x="0" y="-1"/>
            <a:ext cx="12192000" cy="1080656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CB8ACD82-7804-F861-E8DA-6B52A1A755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633" y="358658"/>
            <a:ext cx="8599506" cy="781423"/>
          </a:xfrm>
        </p:spPr>
        <p:txBody>
          <a:bodyPr anchor="t" anchorCtr="0">
            <a:noAutofit/>
          </a:bodyPr>
          <a:lstStyle>
            <a:lvl1pPr>
              <a:defRPr sz="4000" b="0" i="0">
                <a:solidFill>
                  <a:srgbClr val="FFD200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4A12AB8-1AF1-CA4B-964E-725F68685FB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14527" r="2962" b="82178"/>
          <a:stretch/>
        </p:blipFill>
        <p:spPr>
          <a:xfrm rot="10800000" flipH="1">
            <a:off x="0" y="0"/>
            <a:ext cx="12192000" cy="712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EF74237-A57B-0344-47F4-ACA70BE16B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14527" r="2962" b="82178"/>
          <a:stretch/>
        </p:blipFill>
        <p:spPr>
          <a:xfrm rot="10800000" flipH="1">
            <a:off x="0" y="1066800"/>
            <a:ext cx="12192000" cy="71250"/>
          </a:xfrm>
          <a:prstGeom prst="rect">
            <a:avLst/>
          </a:prstGeom>
        </p:spPr>
      </p:pic>
      <p:sp>
        <p:nvSpPr>
          <p:cNvPr id="24" name="Date Placeholder 3">
            <a:extLst>
              <a:ext uri="{FF2B5EF4-FFF2-40B4-BE49-F238E27FC236}">
                <a16:creationId xmlns:a16="http://schemas.microsoft.com/office/drawing/2014/main" id="{4A989A8C-DD19-5904-DB95-36EFFD2C23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5"/>
            <a:ext cx="2155776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D8FC9FDA-6F98-418B-9080-9D69614A1AAE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EEA9771F-4538-F314-2385-D27FF3B58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42D6CF2F-E99A-4DCF-AFBF-E997E4DEA0F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333606-B0C0-4E4F-D80E-19E8521C8A5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9936480" y="230590"/>
            <a:ext cx="2072226" cy="73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105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no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D20A2E5-F28C-DB54-D1C8-BE17D3F36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  <a:prstGeom prst="rect">
            <a:avLst/>
          </a:prstGeom>
        </p:spPr>
        <p:txBody>
          <a:bodyPr/>
          <a:lstStyle>
            <a:lvl1pPr marL="115888" indent="0" algn="ctr">
              <a:defRPr sz="1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b="1" dirty="0">
                <a:latin typeface="Franklin Gothic Demi" panose="020B0603020102020204" pitchFamily="34" charset="0"/>
              </a:rPr>
              <a:t>Confidential</a:t>
            </a:r>
            <a:r>
              <a:rPr lang="en-US" dirty="0"/>
              <a:t>  |  Ultra Accelerator Link 2025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F3D1D24-D682-2C6F-30E4-74BEFD6420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14527" r="2962" b="82178"/>
          <a:stretch/>
        </p:blipFill>
        <p:spPr>
          <a:xfrm flipH="1">
            <a:off x="0" y="6436426"/>
            <a:ext cx="12192000" cy="59377"/>
          </a:xfrm>
          <a:prstGeom prst="rect">
            <a:avLst/>
          </a:prstGeom>
        </p:spPr>
      </p:pic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66C9D794-7717-7B51-920B-78311299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5"/>
            <a:ext cx="2155776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D8FC9FDA-6F98-418B-9080-9D69614A1AAE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D86AC67-9A02-A345-2C6E-1687849B8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42D6CF2F-E99A-4DCF-AFBF-E997E4DEA0F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4721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8F31948-4553-BA53-43B4-2AC60DE45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2" r="8232"/>
          <a:stretch/>
        </p:blipFill>
        <p:spPr>
          <a:xfrm rot="10800000" flipH="1">
            <a:off x="0" y="-219694"/>
            <a:ext cx="12192000" cy="7297387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47672FA-8F52-9E80-795C-7D6EE72029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5"/>
            <a:ext cx="2155776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D8FC9FDA-6F98-418B-9080-9D69614A1AAE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4E230DA-E09F-EA61-1737-97C5E1273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42D6CF2F-E99A-4DCF-AFBF-E997E4DEA0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8FFB5D5-461F-0024-5EF1-8AD1B154C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  <a:prstGeom prst="rect">
            <a:avLst/>
          </a:prstGeom>
        </p:spPr>
        <p:txBody>
          <a:bodyPr/>
          <a:lstStyle>
            <a:lvl1pPr marL="115888" indent="0"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b="1" dirty="0">
                <a:latin typeface="Franklin Gothic Demi" panose="020B0603020102020204" pitchFamily="34" charset="0"/>
              </a:rPr>
              <a:t>Confidential</a:t>
            </a:r>
            <a:r>
              <a:rPr lang="en-US" dirty="0"/>
              <a:t>  |  Ultra Accelerator Link 2025</a:t>
            </a:r>
          </a:p>
        </p:txBody>
      </p:sp>
    </p:spTree>
    <p:extLst>
      <p:ext uri="{BB962C8B-B14F-4D97-AF65-F5344CB8AC3E}">
        <p14:creationId xmlns:p14="http://schemas.microsoft.com/office/powerpoint/2010/main" val="1477789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note with TItl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571828-4F04-A5A0-902D-274BA71367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39302" r="2962" b="42960"/>
          <a:stretch/>
        </p:blipFill>
        <p:spPr>
          <a:xfrm rot="10800000" flipH="1">
            <a:off x="0" y="6424551"/>
            <a:ext cx="12192000" cy="37605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6DE649E-0304-E81A-0CF1-48943E2545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14527" r="2962" b="82178"/>
          <a:stretch/>
        </p:blipFill>
        <p:spPr>
          <a:xfrm rot="10800000" flipH="1">
            <a:off x="0" y="6432470"/>
            <a:ext cx="12192000" cy="712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F19148-9D71-137B-AEF4-ADEE2D7E17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2" t="14527" r="2962" b="82178"/>
          <a:stretch/>
        </p:blipFill>
        <p:spPr>
          <a:xfrm rot="10800000" flipH="1">
            <a:off x="0" y="6786750"/>
            <a:ext cx="12192000" cy="7125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6B355C2C-291B-45FB-B7FD-9C7EC8EC3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8135"/>
            <a:ext cx="12192000" cy="957002"/>
          </a:xfrm>
        </p:spPr>
        <p:txBody>
          <a:bodyPr/>
          <a:lstStyle>
            <a:lvl1pPr algn="ctr">
              <a:defRPr b="1" i="0">
                <a:solidFill>
                  <a:srgbClr val="FFD200"/>
                </a:solidFill>
                <a:latin typeface="Franklin Gothic Demi Cond" panose="020B06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4653F1A-A507-646E-AE10-EA43C279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16625"/>
            <a:ext cx="1593160" cy="34137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fld id="{D8FC9FDA-6F98-418B-9080-9D69614A1AAE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D6BEE29-C055-CA45-958E-A07C511A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06253"/>
            <a:ext cx="6926556" cy="236484"/>
          </a:xfrm>
          <a:prstGeom prst="rect">
            <a:avLst/>
          </a:prstGeom>
        </p:spPr>
        <p:txBody>
          <a:bodyPr/>
          <a:lstStyle>
            <a:lvl1pPr marL="115888" indent="0" algn="ctr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b="1" dirty="0">
                <a:latin typeface="Franklin Gothic Demi" panose="020B0603020102020204" pitchFamily="34" charset="0"/>
              </a:rPr>
              <a:t>Confidential</a:t>
            </a:r>
            <a:r>
              <a:rPr lang="en-US" dirty="0"/>
              <a:t>  |  Ultra Accelerator Link 2025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3B95ED-A5BB-23B4-1C18-F6B29800BC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10240" y="6445882"/>
            <a:ext cx="1076545" cy="38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37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09F1C77-5B5B-0B84-E5A0-731331330F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2" r="8232"/>
          <a:stretch/>
        </p:blipFill>
        <p:spPr>
          <a:xfrm rot="10800000" flipH="1">
            <a:off x="0" y="-219694"/>
            <a:ext cx="12192000" cy="72973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DC1C63-3E22-4F00-9DA8-60F1AE606D8E}"/>
              </a:ext>
            </a:extLst>
          </p:cNvPr>
          <p:cNvSpPr txBox="1"/>
          <p:nvPr userDrawn="1"/>
        </p:nvSpPr>
        <p:spPr>
          <a:xfrm>
            <a:off x="2090058" y="2970975"/>
            <a:ext cx="6056244" cy="99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6000" b="1" i="0" dirty="0">
                <a:solidFill>
                  <a:srgbClr val="FFD200"/>
                </a:solidFill>
                <a:latin typeface="Franklin Gothic Demi" panose="020B0603020102020204" pitchFamily="34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43E9D5-0874-4305-8387-297AD95FF1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695440" y="3048000"/>
            <a:ext cx="2493408" cy="883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259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754DD-DD36-44F9-5F4D-0403DB2FBC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F23B8-18BE-485D-BC2C-61110F510EA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991A6BAB-EBC7-5505-72F6-76574F242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8D8CE07-D8E0-080C-78DA-32ECF8A28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079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4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807241-C6C8-4609-BEF1-E88CD93FE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53EBC-F2E8-4FF6-BC0E-FE94FCCD1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EE8E769-9855-C76F-DA65-88E55C5C0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4404" y="6547695"/>
            <a:ext cx="2155776" cy="365125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D8FC9FDA-6F98-418B-9080-9D69614A1AAE}" type="datetime1">
              <a:rPr lang="en-US" smtClean="0"/>
              <a:pPr/>
              <a:t>8/6/2026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3D69D16-F956-05C1-DF70-49D9A0447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84835" y="6551637"/>
            <a:ext cx="614105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fld id="{42D6CF2F-E99A-4DCF-AFBF-E997E4DEA0F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F476-BF9B-F42B-2DA1-ABD7E455A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62435" y="6541879"/>
            <a:ext cx="6926556" cy="236484"/>
          </a:xfrm>
          <a:prstGeom prst="rect">
            <a:avLst/>
          </a:prstGeom>
        </p:spPr>
        <p:txBody>
          <a:bodyPr/>
          <a:lstStyle>
            <a:lvl1pPr marL="115888" indent="0" algn="ctr">
              <a:defRPr sz="1000" b="0" i="0">
                <a:solidFill>
                  <a:schemeClr val="tx2"/>
                </a:solidFill>
                <a:latin typeface="Franklin Gothic Medium" panose="020B0603020102020204" pitchFamily="34" charset="0"/>
              </a:defRPr>
            </a:lvl1pPr>
          </a:lstStyle>
          <a:p>
            <a:r>
              <a:rPr lang="en-US" b="1" dirty="0">
                <a:latin typeface="Franklin Gothic Demi" panose="020B0603020102020204" pitchFamily="34" charset="0"/>
              </a:rPr>
              <a:t>Confidential</a:t>
            </a:r>
            <a:r>
              <a:rPr lang="en-US" dirty="0"/>
              <a:t>  |  Ultra Accelerator Link 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D5FE76-9113-EB40-B9A9-399E9895F47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54433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2">
              <a:lumMod val="10000"/>
            </a:schemeClr>
          </a:solidFill>
          <a:latin typeface="Franklin Gothic Demi Cond" panose="020B06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0C0"/>
        </a:buClr>
        <a:buFont typeface="Arial" panose="020B0604020202020204" pitchFamily="34" charset="0"/>
        <a:buChar char="•"/>
        <a:defRPr sz="2800" b="1" i="0" kern="1200">
          <a:solidFill>
            <a:schemeClr val="bg2">
              <a:lumMod val="10000"/>
            </a:schemeClr>
          </a:solidFill>
          <a:latin typeface="Franklin Gothic Demi Cond" panose="020B06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Arial" panose="020B0604020202020204" pitchFamily="34" charset="0"/>
        <a:buChar char="•"/>
        <a:defRPr sz="2400" b="1" i="0" kern="1200">
          <a:solidFill>
            <a:schemeClr val="bg2">
              <a:lumMod val="10000"/>
            </a:schemeClr>
          </a:solidFill>
          <a:latin typeface="Franklin Gothic Demi Cond" panose="020B06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Arial" panose="020B0604020202020204" pitchFamily="34" charset="0"/>
        <a:buChar char="•"/>
        <a:defRPr sz="2000" b="1" i="0" kern="1200">
          <a:solidFill>
            <a:schemeClr val="bg2">
              <a:lumMod val="10000"/>
            </a:schemeClr>
          </a:solidFill>
          <a:latin typeface="Franklin Gothic Demi Cond" panose="020B06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Arial" panose="020B0604020202020204" pitchFamily="34" charset="0"/>
        <a:buChar char="•"/>
        <a:defRPr sz="1800" b="1" i="0" kern="1200">
          <a:solidFill>
            <a:schemeClr val="bg2">
              <a:lumMod val="10000"/>
            </a:schemeClr>
          </a:solidFill>
          <a:latin typeface="Franklin Gothic Demi Cond" panose="020B06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0C0"/>
        </a:buClr>
        <a:buFont typeface="Arial" panose="020B0604020202020204" pitchFamily="34" charset="0"/>
        <a:buChar char="•"/>
        <a:defRPr sz="1800" b="1" i="0" kern="1200">
          <a:solidFill>
            <a:schemeClr val="bg2">
              <a:lumMod val="10000"/>
            </a:schemeClr>
          </a:solidFill>
          <a:latin typeface="Franklin Gothic Demi Cond" panose="020B06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7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hyperlink" Target="https://twitter.com/RyanSmithAT/status/1499019022490161153" TargetMode="External"/><Relationship Id="rId16" Type="http://schemas.openxmlformats.org/officeDocument/2006/relationships/image" Target="../media/image28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twitter.com/TiffanyTrader/status/1499108064514875393" TargetMode="External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hyperlink" Target="https://twitter.com/anandtech/status/1499018430627946500" TargetMode="External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2" Type="http://schemas.openxmlformats.org/officeDocument/2006/relationships/image" Target="../media/image36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38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6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://www.esda.org/" TargetMode="External"/><Relationship Id="rId5" Type="http://schemas.openxmlformats.org/officeDocument/2006/relationships/hyperlink" Target="http://www.esdindustrycouncil.org/ic/en" TargetMode="External"/><Relationship Id="rId4" Type="http://schemas.openxmlformats.org/officeDocument/2006/relationships/hyperlink" Target="http://www.jedec.org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2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62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1.png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2" Type="http://schemas.openxmlformats.org/officeDocument/2006/relationships/image" Target="../media/image5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0.png"/><Relationship Id="rId5" Type="http://schemas.openxmlformats.org/officeDocument/2006/relationships/image" Target="../media/image600.png"/><Relationship Id="rId4" Type="http://schemas.openxmlformats.org/officeDocument/2006/relationships/image" Target="../media/image59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3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4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2" Type="http://schemas.openxmlformats.org/officeDocument/2006/relationships/image" Target="../media/image96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8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4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emf"/><Relationship Id="rId2" Type="http://schemas.openxmlformats.org/officeDocument/2006/relationships/package" Target="../embeddings/Microsoft_Visio_Drawing.vsdx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9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emf"/><Relationship Id="rId2" Type="http://schemas.openxmlformats.org/officeDocument/2006/relationships/package" Target="../embeddings/Microsoft_Visio_Drawing1.vsdx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2.emf"/><Relationship Id="rId4" Type="http://schemas.openxmlformats.org/officeDocument/2006/relationships/package" Target="../embeddings/Microsoft_Visio_Drawing2.vsdx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emf"/><Relationship Id="rId2" Type="http://schemas.openxmlformats.org/officeDocument/2006/relationships/image" Target="../media/image113.emf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ualinkconsortium.org/specification/ualink-common-2-0-specification/" TargetMode="External"/><Relationship Id="rId7" Type="http://schemas.openxmlformats.org/officeDocument/2006/relationships/hyperlink" Target="https://ualinkconsortium.org/specification/ualink-chiplet-1-0-specification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ualinkconsortium.org/specification/ualink-manageability-1-0-specification/" TargetMode="External"/><Relationship Id="rId5" Type="http://schemas.openxmlformats.org/officeDocument/2006/relationships/hyperlink" Target="https://ualinkconsortium.org/specification/ualink-128g-data-link-and-physical-layers-1-0-specification/" TargetMode="External"/><Relationship Id="rId4" Type="http://schemas.openxmlformats.org/officeDocument/2006/relationships/hyperlink" Target="https://ualinkconsortium.org/specification/ualink-data-link-and-physical-layers-2-0-specification/" TargetMode="Externa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6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5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5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5.emf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0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9377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8DC63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JOINT TUTORIAL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1" descr="assets/ua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179576"/>
            <a:ext cx="2999232" cy="10607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" y="3035808"/>
            <a:ext cx="121889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UCIe Open Chiplet Ecosystem Standard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1200" cap="none" spc="0" normalizeH="0" baseline="0" noProof="0" dirty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UALink Scale-Up AI Fabric Chiplet Standard</a:t>
            </a:r>
            <a:endParaRPr kumimoji="0" lang="en-US" sz="3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2"/>
          <p:cNvSpPr/>
          <p:nvPr/>
        </p:nvSpPr>
        <p:spPr>
          <a:xfrm>
            <a:off x="594360" y="5797296"/>
            <a:ext cx="2322576" cy="45720"/>
          </a:xfrm>
          <a:prstGeom prst="rect">
            <a:avLst/>
          </a:prstGeom>
          <a:solidFill>
            <a:srgbClr val="3A567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3"/>
          <p:cNvSpPr/>
          <p:nvPr/>
        </p:nvSpPr>
        <p:spPr>
          <a:xfrm>
            <a:off x="594360" y="5907024"/>
            <a:ext cx="36484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2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Hot Interconnects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2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August 21, 2026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237786-9DD4-CD1A-A9D3-4A975B529E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9800" y="1179575"/>
            <a:ext cx="1906031" cy="1060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05491-33CF-A138-2458-160F0AE5E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03">
            <a:extLst>
              <a:ext uri="{FF2B5EF4-FFF2-40B4-BE49-F238E27FC236}">
                <a16:creationId xmlns:a16="http://schemas.microsoft.com/office/drawing/2014/main" id="{1F03BB95-0D06-E453-1810-8BCE093BB806}"/>
              </a:ext>
            </a:extLst>
          </p:cNvPr>
          <p:cNvSpPr/>
          <p:nvPr/>
        </p:nvSpPr>
        <p:spPr>
          <a:xfrm>
            <a:off x="-8084" y="964692"/>
            <a:ext cx="12200084" cy="5893308"/>
          </a:xfrm>
          <a:prstGeom prst="rect">
            <a:avLst/>
          </a:prstGeom>
          <a:solidFill>
            <a:srgbClr val="E4EA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FFF0552-3E76-A80F-9502-56B69A292123}"/>
              </a:ext>
            </a:extLst>
          </p:cNvPr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803EA63-4E46-C7C5-C0F6-D2E11CDE1CF5}"/>
              </a:ext>
            </a:extLst>
          </p:cNvPr>
          <p:cNvSpPr/>
          <p:nvPr/>
        </p:nvSpPr>
        <p:spPr>
          <a:xfrm>
            <a:off x="548640" y="128016"/>
            <a:ext cx="5486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 of Open Standards</a:t>
            </a:r>
            <a:endParaRPr lang="en-US" sz="3000" dirty="0"/>
          </a:p>
        </p:txBody>
      </p:sp>
      <p:pic>
        <p:nvPicPr>
          <p:cNvPr id="5" name="Image 1" descr="assets/ualink.png">
            <a:extLst>
              <a:ext uri="{FF2B5EF4-FFF2-40B4-BE49-F238E27FC236}">
                <a16:creationId xmlns:a16="http://schemas.microsoft.com/office/drawing/2014/main" id="{9F2F5022-AAA8-E613-5352-4BEAF4B40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7671" y="265176"/>
            <a:ext cx="1183293" cy="420624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EAA5B613-B2AD-4BC7-4126-0A65CD4B2E1B}"/>
              </a:ext>
            </a:extLst>
          </p:cNvPr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6" name="Shape 6">
            <a:extLst>
              <a:ext uri="{FF2B5EF4-FFF2-40B4-BE49-F238E27FC236}">
                <a16:creationId xmlns:a16="http://schemas.microsoft.com/office/drawing/2014/main" id="{142B30FD-7930-ECFE-C1B1-757E90C3C7A0}"/>
              </a:ext>
            </a:extLst>
          </p:cNvPr>
          <p:cNvSpPr/>
          <p:nvPr/>
        </p:nvSpPr>
        <p:spPr>
          <a:xfrm>
            <a:off x="470651" y="1773936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12294A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Shape 7">
            <a:extLst>
              <a:ext uri="{FF2B5EF4-FFF2-40B4-BE49-F238E27FC236}">
                <a16:creationId xmlns:a16="http://schemas.microsoft.com/office/drawing/2014/main" id="{1BF814CD-75F6-020B-D9C2-AEF8328F372C}"/>
              </a:ext>
            </a:extLst>
          </p:cNvPr>
          <p:cNvSpPr/>
          <p:nvPr/>
        </p:nvSpPr>
        <p:spPr>
          <a:xfrm>
            <a:off x="470651" y="1773936"/>
            <a:ext cx="82296" cy="1874520"/>
          </a:xfrm>
          <a:prstGeom prst="rect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8" name="Shape 8">
            <a:extLst>
              <a:ext uri="{FF2B5EF4-FFF2-40B4-BE49-F238E27FC236}">
                <a16:creationId xmlns:a16="http://schemas.microsoft.com/office/drawing/2014/main" id="{C276F9B5-CDE9-0C3E-447F-D4A22889B545}"/>
              </a:ext>
            </a:extLst>
          </p:cNvPr>
          <p:cNvSpPr/>
          <p:nvPr/>
        </p:nvSpPr>
        <p:spPr>
          <a:xfrm>
            <a:off x="744971" y="2029968"/>
            <a:ext cx="658368" cy="65836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69" name="Image 0">
            <a:extLst>
              <a:ext uri="{FF2B5EF4-FFF2-40B4-BE49-F238E27FC236}">
                <a16:creationId xmlns:a16="http://schemas.microsoft.com/office/drawing/2014/main" id="{E85A4DB0-F298-2B00-71D7-6F33DC611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563" y="2194560"/>
            <a:ext cx="329184" cy="329184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9FA2D8F9-4B36-FC0E-E750-651B9925F5E9}"/>
              </a:ext>
            </a:extLst>
          </p:cNvPr>
          <p:cNvSpPr/>
          <p:nvPr/>
        </p:nvSpPr>
        <p:spPr>
          <a:xfrm>
            <a:off x="744971" y="27432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6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72294B74-6AC7-451B-400F-E54A45480604}"/>
              </a:ext>
            </a:extLst>
          </p:cNvPr>
          <p:cNvSpPr/>
          <p:nvPr/>
        </p:nvSpPr>
        <p:spPr>
          <a:xfrm>
            <a:off x="744971" y="3108960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Chiplets and accelerators from different vendors work together as a true multi-vendor ecosystem.</a:t>
            </a:r>
            <a:endParaRPr lang="en-US" sz="1150" dirty="0"/>
          </a:p>
        </p:txBody>
      </p:sp>
      <p:sp>
        <p:nvSpPr>
          <p:cNvPr id="72" name="Shape 11">
            <a:extLst>
              <a:ext uri="{FF2B5EF4-FFF2-40B4-BE49-F238E27FC236}">
                <a16:creationId xmlns:a16="http://schemas.microsoft.com/office/drawing/2014/main" id="{10FBE68E-51E2-EAB6-02EE-FBB0A9F55B6F}"/>
              </a:ext>
            </a:extLst>
          </p:cNvPr>
          <p:cNvSpPr/>
          <p:nvPr/>
        </p:nvSpPr>
        <p:spPr>
          <a:xfrm>
            <a:off x="4274555" y="1773936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12294A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3" name="Shape 12">
            <a:extLst>
              <a:ext uri="{FF2B5EF4-FFF2-40B4-BE49-F238E27FC236}">
                <a16:creationId xmlns:a16="http://schemas.microsoft.com/office/drawing/2014/main" id="{8E997C34-E688-2B22-44CA-24EAB5EAF6FF}"/>
              </a:ext>
            </a:extLst>
          </p:cNvPr>
          <p:cNvSpPr/>
          <p:nvPr/>
        </p:nvSpPr>
        <p:spPr>
          <a:xfrm>
            <a:off x="4274555" y="1773936"/>
            <a:ext cx="82296" cy="1874520"/>
          </a:xfrm>
          <a:prstGeom prst="rect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4" name="Shape 13">
            <a:extLst>
              <a:ext uri="{FF2B5EF4-FFF2-40B4-BE49-F238E27FC236}">
                <a16:creationId xmlns:a16="http://schemas.microsoft.com/office/drawing/2014/main" id="{B12AE633-A48F-3F76-3DAD-60F12952C148}"/>
              </a:ext>
            </a:extLst>
          </p:cNvPr>
          <p:cNvSpPr/>
          <p:nvPr/>
        </p:nvSpPr>
        <p:spPr>
          <a:xfrm>
            <a:off x="4548875" y="2029968"/>
            <a:ext cx="658368" cy="65836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75" name="Image 1">
            <a:extLst>
              <a:ext uri="{FF2B5EF4-FFF2-40B4-BE49-F238E27FC236}">
                <a16:creationId xmlns:a16="http://schemas.microsoft.com/office/drawing/2014/main" id="{66934F58-C92A-AF3E-6384-DA52068C81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467" y="2194560"/>
            <a:ext cx="329184" cy="329184"/>
          </a:xfrm>
          <a:prstGeom prst="rect">
            <a:avLst/>
          </a:prstGeom>
        </p:spPr>
      </p:pic>
      <p:sp>
        <p:nvSpPr>
          <p:cNvPr id="76" name="Text 14">
            <a:extLst>
              <a:ext uri="{FF2B5EF4-FFF2-40B4-BE49-F238E27FC236}">
                <a16:creationId xmlns:a16="http://schemas.microsoft.com/office/drawing/2014/main" id="{87337C40-E621-B746-EE98-BA91151686B6}"/>
              </a:ext>
            </a:extLst>
          </p:cNvPr>
          <p:cNvSpPr/>
          <p:nvPr/>
        </p:nvSpPr>
        <p:spPr>
          <a:xfrm>
            <a:off x="4548875" y="27432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Lock-In</a:t>
            </a:r>
            <a:endParaRPr lang="en-US" sz="1600" dirty="0"/>
          </a:p>
        </p:txBody>
      </p:sp>
      <p:sp>
        <p:nvSpPr>
          <p:cNvPr id="77" name="Text 15">
            <a:extLst>
              <a:ext uri="{FF2B5EF4-FFF2-40B4-BE49-F238E27FC236}">
                <a16:creationId xmlns:a16="http://schemas.microsoft.com/office/drawing/2014/main" id="{9A4EFB90-C378-2A3D-46C6-0D80EC604D02}"/>
              </a:ext>
            </a:extLst>
          </p:cNvPr>
          <p:cNvSpPr/>
          <p:nvPr/>
        </p:nvSpPr>
        <p:spPr>
          <a:xfrm>
            <a:off x="4548875" y="3108960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governance and a competitive, multi-vendor supply chain give designers deployment flexibility.</a:t>
            </a:r>
            <a:endParaRPr lang="en-US" sz="1150" dirty="0"/>
          </a:p>
        </p:txBody>
      </p:sp>
      <p:sp>
        <p:nvSpPr>
          <p:cNvPr id="78" name="Shape 16">
            <a:extLst>
              <a:ext uri="{FF2B5EF4-FFF2-40B4-BE49-F238E27FC236}">
                <a16:creationId xmlns:a16="http://schemas.microsoft.com/office/drawing/2014/main" id="{15729333-F20D-6EA7-CAF6-DBCE418E663C}"/>
              </a:ext>
            </a:extLst>
          </p:cNvPr>
          <p:cNvSpPr/>
          <p:nvPr/>
        </p:nvSpPr>
        <p:spPr>
          <a:xfrm>
            <a:off x="8078459" y="1773936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12294A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9" name="Shape 17">
            <a:extLst>
              <a:ext uri="{FF2B5EF4-FFF2-40B4-BE49-F238E27FC236}">
                <a16:creationId xmlns:a16="http://schemas.microsoft.com/office/drawing/2014/main" id="{25C2C3EB-C92C-0FD8-EBCB-9EBBD11FE1B1}"/>
              </a:ext>
            </a:extLst>
          </p:cNvPr>
          <p:cNvSpPr/>
          <p:nvPr/>
        </p:nvSpPr>
        <p:spPr>
          <a:xfrm>
            <a:off x="8078459" y="1773936"/>
            <a:ext cx="82296" cy="1874520"/>
          </a:xfrm>
          <a:prstGeom prst="rect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0" name="Shape 18">
            <a:extLst>
              <a:ext uri="{FF2B5EF4-FFF2-40B4-BE49-F238E27FC236}">
                <a16:creationId xmlns:a16="http://schemas.microsoft.com/office/drawing/2014/main" id="{A680C906-BD9E-C1B1-B0E9-0B158FD88CC7}"/>
              </a:ext>
            </a:extLst>
          </p:cNvPr>
          <p:cNvSpPr/>
          <p:nvPr/>
        </p:nvSpPr>
        <p:spPr>
          <a:xfrm>
            <a:off x="8352779" y="2029968"/>
            <a:ext cx="658368" cy="65836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81" name="Image 2">
            <a:extLst>
              <a:ext uri="{FF2B5EF4-FFF2-40B4-BE49-F238E27FC236}">
                <a16:creationId xmlns:a16="http://schemas.microsoft.com/office/drawing/2014/main" id="{49B2226F-52BF-A0F3-72AE-DC4255B2F6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371" y="2194560"/>
            <a:ext cx="329184" cy="329184"/>
          </a:xfrm>
          <a:prstGeom prst="rect">
            <a:avLst/>
          </a:prstGeom>
        </p:spPr>
      </p:pic>
      <p:sp>
        <p:nvSpPr>
          <p:cNvPr id="82" name="Text 19">
            <a:extLst>
              <a:ext uri="{FF2B5EF4-FFF2-40B4-BE49-F238E27FC236}">
                <a16:creationId xmlns:a16="http://schemas.microsoft.com/office/drawing/2014/main" id="{CA9E7136-3704-4B5F-2FD4-BC760A33C35E}"/>
              </a:ext>
            </a:extLst>
          </p:cNvPr>
          <p:cNvSpPr/>
          <p:nvPr/>
        </p:nvSpPr>
        <p:spPr>
          <a:xfrm>
            <a:off x="8352779" y="274320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Reuse</a:t>
            </a:r>
            <a:endParaRPr lang="en-US" sz="1600" dirty="0"/>
          </a:p>
        </p:txBody>
      </p:sp>
      <p:sp>
        <p:nvSpPr>
          <p:cNvPr id="83" name="Text 20">
            <a:extLst>
              <a:ext uri="{FF2B5EF4-FFF2-40B4-BE49-F238E27FC236}">
                <a16:creationId xmlns:a16="http://schemas.microsoft.com/office/drawing/2014/main" id="{4BD55356-79EB-D050-EDA6-B7ECED43910F}"/>
              </a:ext>
            </a:extLst>
          </p:cNvPr>
          <p:cNvSpPr/>
          <p:nvPr/>
        </p:nvSpPr>
        <p:spPr>
          <a:xfrm>
            <a:off x="8352779" y="3108960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standard-based IP building blocks are reused across products, amortizing design investment.</a:t>
            </a:r>
            <a:endParaRPr lang="en-US" sz="1150" dirty="0"/>
          </a:p>
        </p:txBody>
      </p:sp>
      <p:sp>
        <p:nvSpPr>
          <p:cNvPr id="84" name="Shape 21">
            <a:extLst>
              <a:ext uri="{FF2B5EF4-FFF2-40B4-BE49-F238E27FC236}">
                <a16:creationId xmlns:a16="http://schemas.microsoft.com/office/drawing/2014/main" id="{F1BADA67-39E0-9ED5-F644-86D52222D653}"/>
              </a:ext>
            </a:extLst>
          </p:cNvPr>
          <p:cNvSpPr/>
          <p:nvPr/>
        </p:nvSpPr>
        <p:spPr>
          <a:xfrm>
            <a:off x="470651" y="3968496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12294A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5" name="Shape 22">
            <a:extLst>
              <a:ext uri="{FF2B5EF4-FFF2-40B4-BE49-F238E27FC236}">
                <a16:creationId xmlns:a16="http://schemas.microsoft.com/office/drawing/2014/main" id="{C6370502-6969-4E74-9FCE-B4DA9BF885A2}"/>
              </a:ext>
            </a:extLst>
          </p:cNvPr>
          <p:cNvSpPr/>
          <p:nvPr/>
        </p:nvSpPr>
        <p:spPr>
          <a:xfrm>
            <a:off x="470651" y="3968496"/>
            <a:ext cx="82296" cy="1874520"/>
          </a:xfrm>
          <a:prstGeom prst="rect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6" name="Shape 23">
            <a:extLst>
              <a:ext uri="{FF2B5EF4-FFF2-40B4-BE49-F238E27FC236}">
                <a16:creationId xmlns:a16="http://schemas.microsoft.com/office/drawing/2014/main" id="{2391D913-96FB-EDA9-A1E4-E45720403660}"/>
              </a:ext>
            </a:extLst>
          </p:cNvPr>
          <p:cNvSpPr/>
          <p:nvPr/>
        </p:nvSpPr>
        <p:spPr>
          <a:xfrm>
            <a:off x="744971" y="4224528"/>
            <a:ext cx="658368" cy="65836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87" name="Image 3">
            <a:extLst>
              <a:ext uri="{FF2B5EF4-FFF2-40B4-BE49-F238E27FC236}">
                <a16:creationId xmlns:a16="http://schemas.microsoft.com/office/drawing/2014/main" id="{8B23EC82-F2F4-7688-CC46-346733116D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563" y="4389120"/>
            <a:ext cx="329184" cy="329184"/>
          </a:xfrm>
          <a:prstGeom prst="rect">
            <a:avLst/>
          </a:prstGeom>
        </p:spPr>
      </p:pic>
      <p:sp>
        <p:nvSpPr>
          <p:cNvPr id="88" name="Text 24">
            <a:extLst>
              <a:ext uri="{FF2B5EF4-FFF2-40B4-BE49-F238E27FC236}">
                <a16:creationId xmlns:a16="http://schemas.microsoft.com/office/drawing/2014/main" id="{2ECA758C-D885-DE4D-605A-96F3673D859E}"/>
              </a:ext>
            </a:extLst>
          </p:cNvPr>
          <p:cNvSpPr/>
          <p:nvPr/>
        </p:nvSpPr>
        <p:spPr>
          <a:xfrm>
            <a:off x="744970" y="4937760"/>
            <a:ext cx="30650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600" dirty="0"/>
          </a:p>
        </p:txBody>
      </p:sp>
      <p:sp>
        <p:nvSpPr>
          <p:cNvPr id="89" name="Text 25">
            <a:extLst>
              <a:ext uri="{FF2B5EF4-FFF2-40B4-BE49-F238E27FC236}">
                <a16:creationId xmlns:a16="http://schemas.microsoft.com/office/drawing/2014/main" id="{83D68B8F-C5EF-896C-6E5E-8340812A69C7}"/>
              </a:ext>
            </a:extLst>
          </p:cNvPr>
          <p:cNvSpPr/>
          <p:nvPr/>
        </p:nvSpPr>
        <p:spPr>
          <a:xfrm>
            <a:off x="744971" y="5303520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participate without owning every specialized layer, allowing each to focus on what they do best.</a:t>
            </a:r>
            <a:endParaRPr lang="en-US" sz="1150" dirty="0"/>
          </a:p>
        </p:txBody>
      </p:sp>
      <p:sp>
        <p:nvSpPr>
          <p:cNvPr id="90" name="Shape 26">
            <a:extLst>
              <a:ext uri="{FF2B5EF4-FFF2-40B4-BE49-F238E27FC236}">
                <a16:creationId xmlns:a16="http://schemas.microsoft.com/office/drawing/2014/main" id="{E9EB82C4-C399-E57D-E720-4374E4EA7E6B}"/>
              </a:ext>
            </a:extLst>
          </p:cNvPr>
          <p:cNvSpPr/>
          <p:nvPr/>
        </p:nvSpPr>
        <p:spPr>
          <a:xfrm>
            <a:off x="4274555" y="3968496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12294A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1" name="Shape 27">
            <a:extLst>
              <a:ext uri="{FF2B5EF4-FFF2-40B4-BE49-F238E27FC236}">
                <a16:creationId xmlns:a16="http://schemas.microsoft.com/office/drawing/2014/main" id="{62BFD858-235B-C576-C547-CBB94D911636}"/>
              </a:ext>
            </a:extLst>
          </p:cNvPr>
          <p:cNvSpPr/>
          <p:nvPr/>
        </p:nvSpPr>
        <p:spPr>
          <a:xfrm>
            <a:off x="4274555" y="3968496"/>
            <a:ext cx="82296" cy="1874520"/>
          </a:xfrm>
          <a:prstGeom prst="rect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2" name="Shape 28">
            <a:extLst>
              <a:ext uri="{FF2B5EF4-FFF2-40B4-BE49-F238E27FC236}">
                <a16:creationId xmlns:a16="http://schemas.microsoft.com/office/drawing/2014/main" id="{7C75CF8F-CFF3-0C8E-59F5-DDD1BE60EC05}"/>
              </a:ext>
            </a:extLst>
          </p:cNvPr>
          <p:cNvSpPr/>
          <p:nvPr/>
        </p:nvSpPr>
        <p:spPr>
          <a:xfrm>
            <a:off x="4548875" y="4224528"/>
            <a:ext cx="658368" cy="65836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93" name="Image 4">
            <a:extLst>
              <a:ext uri="{FF2B5EF4-FFF2-40B4-BE49-F238E27FC236}">
                <a16:creationId xmlns:a16="http://schemas.microsoft.com/office/drawing/2014/main" id="{88946D8F-E520-0AE2-02B4-62BF665CB9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3467" y="4389120"/>
            <a:ext cx="329184" cy="329184"/>
          </a:xfrm>
          <a:prstGeom prst="rect">
            <a:avLst/>
          </a:prstGeom>
        </p:spPr>
      </p:pic>
      <p:sp>
        <p:nvSpPr>
          <p:cNvPr id="94" name="Text 29">
            <a:extLst>
              <a:ext uri="{FF2B5EF4-FFF2-40B4-BE49-F238E27FC236}">
                <a16:creationId xmlns:a16="http://schemas.microsoft.com/office/drawing/2014/main" id="{12A4DE84-9D78-C70E-87DF-CDF6DD44F9D2}"/>
              </a:ext>
            </a:extLst>
          </p:cNvPr>
          <p:cNvSpPr/>
          <p:nvPr/>
        </p:nvSpPr>
        <p:spPr>
          <a:xfrm>
            <a:off x="4548875" y="493776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Time-to-Market</a:t>
            </a:r>
            <a:endParaRPr lang="en-US" sz="1600" dirty="0"/>
          </a:p>
        </p:txBody>
      </p:sp>
      <p:sp>
        <p:nvSpPr>
          <p:cNvPr id="95" name="Text 30">
            <a:extLst>
              <a:ext uri="{FF2B5EF4-FFF2-40B4-BE49-F238E27FC236}">
                <a16:creationId xmlns:a16="http://schemas.microsoft.com/office/drawing/2014/main" id="{A57648C6-109F-3DFB-D1CD-A1BCBEF9E12D}"/>
              </a:ext>
            </a:extLst>
          </p:cNvPr>
          <p:cNvSpPr/>
          <p:nvPr/>
        </p:nvSpPr>
        <p:spPr>
          <a:xfrm>
            <a:off x="4548875" y="5303520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 and a plug-and-play model reduce portfolio cost and shorten time-to-solution.</a:t>
            </a:r>
            <a:endParaRPr lang="en-US" sz="1150" dirty="0"/>
          </a:p>
        </p:txBody>
      </p:sp>
      <p:sp>
        <p:nvSpPr>
          <p:cNvPr id="96" name="Shape 31">
            <a:extLst>
              <a:ext uri="{FF2B5EF4-FFF2-40B4-BE49-F238E27FC236}">
                <a16:creationId xmlns:a16="http://schemas.microsoft.com/office/drawing/2014/main" id="{2B13D528-B030-46B4-E872-BC09F10E23B6}"/>
              </a:ext>
            </a:extLst>
          </p:cNvPr>
          <p:cNvSpPr/>
          <p:nvPr/>
        </p:nvSpPr>
        <p:spPr>
          <a:xfrm>
            <a:off x="8078459" y="3968496"/>
            <a:ext cx="3483864" cy="1874520"/>
          </a:xfrm>
          <a:prstGeom prst="roundRect">
            <a:avLst>
              <a:gd name="adj" fmla="val 3902"/>
            </a:avLst>
          </a:prstGeom>
          <a:solidFill>
            <a:srgbClr val="12294A"/>
          </a:solidFill>
          <a:ln w="1270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7" name="Shape 32">
            <a:extLst>
              <a:ext uri="{FF2B5EF4-FFF2-40B4-BE49-F238E27FC236}">
                <a16:creationId xmlns:a16="http://schemas.microsoft.com/office/drawing/2014/main" id="{E7413714-1850-6A97-0936-21A12612782B}"/>
              </a:ext>
            </a:extLst>
          </p:cNvPr>
          <p:cNvSpPr/>
          <p:nvPr/>
        </p:nvSpPr>
        <p:spPr>
          <a:xfrm>
            <a:off x="8078459" y="3968496"/>
            <a:ext cx="82296" cy="1874520"/>
          </a:xfrm>
          <a:prstGeom prst="rect">
            <a:avLst/>
          </a:prstGeom>
          <a:solidFill>
            <a:srgbClr val="F2C14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8" name="Shape 33">
            <a:extLst>
              <a:ext uri="{FF2B5EF4-FFF2-40B4-BE49-F238E27FC236}">
                <a16:creationId xmlns:a16="http://schemas.microsoft.com/office/drawing/2014/main" id="{1306256C-C492-1BEB-5737-4F9543DCE84B}"/>
              </a:ext>
            </a:extLst>
          </p:cNvPr>
          <p:cNvSpPr/>
          <p:nvPr/>
        </p:nvSpPr>
        <p:spPr>
          <a:xfrm>
            <a:off x="8352779" y="4224528"/>
            <a:ext cx="658368" cy="658368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99" name="Image 5">
            <a:extLst>
              <a:ext uri="{FF2B5EF4-FFF2-40B4-BE49-F238E27FC236}">
                <a16:creationId xmlns:a16="http://schemas.microsoft.com/office/drawing/2014/main" id="{EC858B74-8F86-6248-DF39-E884B6B7AA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7371" y="4389120"/>
            <a:ext cx="329184" cy="329184"/>
          </a:xfrm>
          <a:prstGeom prst="rect">
            <a:avLst/>
          </a:prstGeom>
        </p:spPr>
      </p:pic>
      <p:sp>
        <p:nvSpPr>
          <p:cNvPr id="100" name="Text 34">
            <a:extLst>
              <a:ext uri="{FF2B5EF4-FFF2-40B4-BE49-F238E27FC236}">
                <a16:creationId xmlns:a16="http://schemas.microsoft.com/office/drawing/2014/main" id="{39709237-63D3-1FA6-C72E-5880966EC371}"/>
              </a:ext>
            </a:extLst>
          </p:cNvPr>
          <p:cNvSpPr/>
          <p:nvPr/>
        </p:nvSpPr>
        <p:spPr>
          <a:xfrm>
            <a:off x="8352779" y="4937760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600" b="1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Innovation</a:t>
            </a:r>
            <a:endParaRPr lang="en-US" sz="1600" dirty="0"/>
          </a:p>
        </p:txBody>
      </p:sp>
      <p:sp>
        <p:nvSpPr>
          <p:cNvPr id="101" name="Text 35">
            <a:extLst>
              <a:ext uri="{FF2B5EF4-FFF2-40B4-BE49-F238E27FC236}">
                <a16:creationId xmlns:a16="http://schemas.microsoft.com/office/drawing/2014/main" id="{81924180-0F95-33C7-0EAC-CF940D6CA911}"/>
              </a:ext>
            </a:extLst>
          </p:cNvPr>
          <p:cNvSpPr/>
          <p:nvPr/>
        </p:nvSpPr>
        <p:spPr>
          <a:xfrm>
            <a:off x="8352779" y="5303520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15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pools R&amp;D on shared hard problems (e.g., compliance, security, manageability) instead of solving each alone.</a:t>
            </a:r>
            <a:endParaRPr lang="en-US" sz="1150" dirty="0"/>
          </a:p>
        </p:txBody>
      </p:sp>
      <p:sp>
        <p:nvSpPr>
          <p:cNvPr id="106" name="Text 36">
            <a:extLst>
              <a:ext uri="{FF2B5EF4-FFF2-40B4-BE49-F238E27FC236}">
                <a16:creationId xmlns:a16="http://schemas.microsoft.com/office/drawing/2014/main" id="{0E86C5D6-FC04-1710-55AA-AEDCA6E9A6F6}"/>
              </a:ext>
            </a:extLst>
          </p:cNvPr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r>
              <a:rPr lang="en-US" sz="2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standards increase the pace of innovation and lower costs</a:t>
            </a:r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1DB624-D8D3-B563-AE33-AE07120568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3510" y="256032"/>
            <a:ext cx="753640" cy="4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607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A5FDE-4A7C-F987-FB5C-71E9D901C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3">
            <a:extLst>
              <a:ext uri="{FF2B5EF4-FFF2-40B4-BE49-F238E27FC236}">
                <a16:creationId xmlns:a16="http://schemas.microsoft.com/office/drawing/2014/main" id="{85EF2392-0658-D97B-98EB-B614155B70E5}"/>
              </a:ext>
            </a:extLst>
          </p:cNvPr>
          <p:cNvSpPr/>
          <p:nvPr/>
        </p:nvSpPr>
        <p:spPr>
          <a:xfrm>
            <a:off x="6210299" y="2362200"/>
            <a:ext cx="5511089" cy="419934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EBFB9480-5FBC-F41B-A77C-4DBD29A19A57}"/>
              </a:ext>
            </a:extLst>
          </p:cNvPr>
          <p:cNvSpPr/>
          <p:nvPr/>
        </p:nvSpPr>
        <p:spPr>
          <a:xfrm>
            <a:off x="6219749" y="2362199"/>
            <a:ext cx="91440" cy="4199341"/>
          </a:xfrm>
          <a:prstGeom prst="rect">
            <a:avLst/>
          </a:prstGeom>
          <a:solidFill>
            <a:srgbClr val="FEBA1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D3CA973D-DA98-5B8E-44F1-0FC15C3911FC}"/>
              </a:ext>
            </a:extLst>
          </p:cNvPr>
          <p:cNvSpPr/>
          <p:nvPr/>
        </p:nvSpPr>
        <p:spPr>
          <a:xfrm>
            <a:off x="523950" y="2366052"/>
            <a:ext cx="5511089" cy="4199340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73DE4D3-2141-5733-A681-26C76547B2AC}"/>
              </a:ext>
            </a:extLst>
          </p:cNvPr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0E23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1CEF1D-B5A8-0D80-88CB-5191F68F6799}"/>
              </a:ext>
            </a:extLst>
          </p:cNvPr>
          <p:cNvSpPr/>
          <p:nvPr/>
        </p:nvSpPr>
        <p:spPr>
          <a:xfrm>
            <a:off x="548640" y="128016"/>
            <a:ext cx="5486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Tutorial Agenda</a:t>
            </a:r>
            <a:endParaRPr lang="en-US" sz="3000" dirty="0"/>
          </a:p>
        </p:txBody>
      </p:sp>
      <p:pic>
        <p:nvPicPr>
          <p:cNvPr id="5" name="Image 1" descr="assets/ualink.png">
            <a:extLst>
              <a:ext uri="{FF2B5EF4-FFF2-40B4-BE49-F238E27FC236}">
                <a16:creationId xmlns:a16="http://schemas.microsoft.com/office/drawing/2014/main" id="{896A21D1-670C-6134-DDE0-CA2326833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7671" y="265176"/>
            <a:ext cx="1183293" cy="420624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1FFFA330-7C9F-BB50-C0CD-918A0C3505DE}"/>
              </a:ext>
            </a:extLst>
          </p:cNvPr>
          <p:cNvSpPr/>
          <p:nvPr/>
        </p:nvSpPr>
        <p:spPr>
          <a:xfrm>
            <a:off x="0" y="932688"/>
            <a:ext cx="12191695" cy="32004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C96F67D-3B0C-8C1D-03D7-8AF2C3DD49E0}"/>
              </a:ext>
            </a:extLst>
          </p:cNvPr>
          <p:cNvSpPr/>
          <p:nvPr/>
        </p:nvSpPr>
        <p:spPr>
          <a:xfrm>
            <a:off x="548640" y="1164082"/>
            <a:ext cx="11109960" cy="841248"/>
          </a:xfrm>
          <a:prstGeom prst="rect">
            <a:avLst/>
          </a:prstGeom>
          <a:solidFill>
            <a:srgbClr val="F4F7F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B4C5BCA5-A8F0-249F-A367-04CC410C908E}"/>
              </a:ext>
            </a:extLst>
          </p:cNvPr>
          <p:cNvSpPr/>
          <p:nvPr/>
        </p:nvSpPr>
        <p:spPr>
          <a:xfrm>
            <a:off x="548640" y="1170432"/>
            <a:ext cx="91440" cy="841248"/>
          </a:xfrm>
          <a:prstGeom prst="rect">
            <a:avLst/>
          </a:prstGeom>
          <a:solidFill>
            <a:srgbClr val="2E58B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FBCBC8B-BE9A-74F6-5E76-F7B171E4642F}"/>
              </a:ext>
            </a:extLst>
          </p:cNvPr>
          <p:cNvSpPr/>
          <p:nvPr/>
        </p:nvSpPr>
        <p:spPr>
          <a:xfrm>
            <a:off x="777240" y="1280160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8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>
              <a:solidFill>
                <a:srgbClr val="2E58B2"/>
              </a:solidFill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F632A02-CBEA-8DD1-FE14-67FB6B6CAC7A}"/>
              </a:ext>
            </a:extLst>
          </p:cNvPr>
          <p:cNvSpPr/>
          <p:nvPr/>
        </p:nvSpPr>
        <p:spPr>
          <a:xfrm>
            <a:off x="1737360" y="1335024"/>
            <a:ext cx="25603" cy="512064"/>
          </a:xfrm>
          <a:prstGeom prst="rect">
            <a:avLst/>
          </a:prstGeom>
          <a:solidFill>
            <a:srgbClr val="DCE4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467471FA-56A2-0EDB-91CB-4F257883B5FA}"/>
              </a:ext>
            </a:extLst>
          </p:cNvPr>
          <p:cNvSpPr/>
          <p:nvPr/>
        </p:nvSpPr>
        <p:spPr>
          <a:xfrm>
            <a:off x="1938528" y="12710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7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A4F3B967-3594-C5FE-0EEE-F7547F3CE897}"/>
              </a:ext>
            </a:extLst>
          </p:cNvPr>
          <p:cNvSpPr/>
          <p:nvPr/>
        </p:nvSpPr>
        <p:spPr>
          <a:xfrm>
            <a:off x="1984248" y="1719072"/>
            <a:ext cx="155448" cy="32918"/>
          </a:xfrm>
          <a:prstGeom prst="rect">
            <a:avLst/>
          </a:prstGeom>
          <a:solidFill>
            <a:srgbClr val="2B4C9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03A490E-93B4-7BEA-EFEB-7307C0A47426}"/>
              </a:ext>
            </a:extLst>
          </p:cNvPr>
          <p:cNvSpPr/>
          <p:nvPr/>
        </p:nvSpPr>
        <p:spPr>
          <a:xfrm>
            <a:off x="2212848" y="1636776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37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Onufryk, Intel</a:t>
            </a:r>
            <a:r>
              <a:rPr lang="en-US" sz="11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UALink President &amp; UCIe Security and Manageability Workgroup Co-Chair</a:t>
            </a:r>
            <a:endParaRPr lang="en-US" sz="11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FCCF38E6-5032-480C-6760-3B444A2EEF3A}"/>
              </a:ext>
            </a:extLst>
          </p:cNvPr>
          <p:cNvSpPr/>
          <p:nvPr/>
        </p:nvSpPr>
        <p:spPr>
          <a:xfrm>
            <a:off x="777240" y="2450592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DC6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5B86E07-6701-9D98-3516-093295089696}"/>
              </a:ext>
            </a:extLst>
          </p:cNvPr>
          <p:cNvSpPr/>
          <p:nvPr/>
        </p:nvSpPr>
        <p:spPr>
          <a:xfrm>
            <a:off x="1737360" y="2414016"/>
            <a:ext cx="25603" cy="603504"/>
          </a:xfrm>
          <a:prstGeom prst="rect">
            <a:avLst/>
          </a:prstGeom>
          <a:solidFill>
            <a:srgbClr val="DCE4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4EBF90AC-72B8-A31B-0132-3BA61D2386DD}"/>
              </a:ext>
            </a:extLst>
          </p:cNvPr>
          <p:cNvSpPr/>
          <p:nvPr/>
        </p:nvSpPr>
        <p:spPr>
          <a:xfrm>
            <a:off x="1920240" y="23774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UCIe Open Chiplet Ecosystem Standard</a:t>
            </a:r>
            <a:endParaRPr lang="en-US" sz="155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E6E31AB7-05EB-406F-D146-3223CF56BC9B}"/>
              </a:ext>
            </a:extLst>
          </p:cNvPr>
          <p:cNvSpPr/>
          <p:nvPr/>
        </p:nvSpPr>
        <p:spPr>
          <a:xfrm>
            <a:off x="1371600" y="3177540"/>
            <a:ext cx="155448" cy="32918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F0EE4CD-2365-0199-05C5-EC90D0F5ED5D}"/>
              </a:ext>
            </a:extLst>
          </p:cNvPr>
          <p:cNvSpPr/>
          <p:nvPr/>
        </p:nvSpPr>
        <p:spPr>
          <a:xfrm>
            <a:off x="1627632" y="309067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62220EA-10F8-6657-6F33-5CD2C65ACCDE}"/>
              </a:ext>
            </a:extLst>
          </p:cNvPr>
          <p:cNvSpPr/>
          <p:nvPr/>
        </p:nvSpPr>
        <p:spPr>
          <a:xfrm>
            <a:off x="1627632" y="3346704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37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Onufryk, Intel</a:t>
            </a:r>
            <a:r>
              <a:rPr lang="en-US" sz="98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UCIe Security and Manageability Workgroup Co-Chair</a:t>
            </a:r>
            <a:endParaRPr lang="en-US" sz="98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1949E3D2-8AAD-05E8-7C85-8AF450703CFA}"/>
              </a:ext>
            </a:extLst>
          </p:cNvPr>
          <p:cNvSpPr/>
          <p:nvPr/>
        </p:nvSpPr>
        <p:spPr>
          <a:xfrm>
            <a:off x="1371600" y="3867912"/>
            <a:ext cx="155448" cy="32918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34A844BD-6B29-26E5-62E8-B0DE60D49DB7}"/>
              </a:ext>
            </a:extLst>
          </p:cNvPr>
          <p:cNvSpPr/>
          <p:nvPr/>
        </p:nvSpPr>
        <p:spPr>
          <a:xfrm>
            <a:off x="1627632" y="37810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Electrical &amp; Physical Layer</a:t>
            </a:r>
            <a:endParaRPr lang="en-US" sz="125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3357E6B-4E10-24FE-0A99-38B262E34992}"/>
              </a:ext>
            </a:extLst>
          </p:cNvPr>
          <p:cNvSpPr/>
          <p:nvPr/>
        </p:nvSpPr>
        <p:spPr>
          <a:xfrm>
            <a:off x="1627632" y="4037076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37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 Wu, Intel</a:t>
            </a:r>
            <a:r>
              <a:rPr lang="en-US" sz="98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UCIe Electrical Workgroup Co-Chair</a:t>
            </a:r>
            <a:endParaRPr lang="en-US" sz="98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DDAA3BF9-1905-485D-00E9-F6B6F420A64F}"/>
              </a:ext>
            </a:extLst>
          </p:cNvPr>
          <p:cNvSpPr/>
          <p:nvPr/>
        </p:nvSpPr>
        <p:spPr>
          <a:xfrm>
            <a:off x="1371600" y="4558284"/>
            <a:ext cx="155448" cy="32918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24099ED6-BDCD-AE65-13D6-DBCF1A4CD036}"/>
              </a:ext>
            </a:extLst>
          </p:cNvPr>
          <p:cNvSpPr/>
          <p:nvPr/>
        </p:nvSpPr>
        <p:spPr>
          <a:xfrm>
            <a:off x="1627632" y="44714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Protocol &amp; Logical Layer</a:t>
            </a:r>
            <a:endParaRPr lang="en-US" sz="125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B83D0C90-4C80-64AB-D073-A83ADBAB7029}"/>
              </a:ext>
            </a:extLst>
          </p:cNvPr>
          <p:cNvSpPr/>
          <p:nvPr/>
        </p:nvSpPr>
        <p:spPr>
          <a:xfrm>
            <a:off x="1627632" y="472744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8000"/>
              </a:lnSpc>
            </a:pPr>
            <a:r>
              <a:rPr lang="pl-PL" sz="980" b="1" dirty="0">
                <a:solidFill>
                  <a:srgbClr val="37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Swadesh Choudhary</a:t>
            </a:r>
            <a:r>
              <a:rPr lang="en-US" sz="980" b="1" dirty="0">
                <a:solidFill>
                  <a:srgbClr val="37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Intel</a:t>
            </a:r>
            <a:r>
              <a:rPr lang="en-US" sz="98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UCIe Protocol Workgroup Co-Chair</a:t>
            </a:r>
            <a:endParaRPr lang="en-US" sz="98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80AFE48D-B410-7AA1-11D9-1B84DEC21F62}"/>
              </a:ext>
            </a:extLst>
          </p:cNvPr>
          <p:cNvSpPr/>
          <p:nvPr/>
        </p:nvSpPr>
        <p:spPr>
          <a:xfrm>
            <a:off x="1371600" y="5248656"/>
            <a:ext cx="155448" cy="32918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E86ED4E2-EFB9-5170-CD7F-B4371B1E7978}"/>
              </a:ext>
            </a:extLst>
          </p:cNvPr>
          <p:cNvSpPr/>
          <p:nvPr/>
        </p:nvSpPr>
        <p:spPr>
          <a:xfrm>
            <a:off x="1627632" y="51617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 Factor &amp; Compliance</a:t>
            </a:r>
            <a:endParaRPr lang="en-US" sz="125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0A548A9C-1F40-7CB5-42BE-897094F86C84}"/>
              </a:ext>
            </a:extLst>
          </p:cNvPr>
          <p:cNvSpPr/>
          <p:nvPr/>
        </p:nvSpPr>
        <p:spPr>
          <a:xfrm>
            <a:off x="1627632" y="54178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37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Gerald Pasdast, Intel</a:t>
            </a:r>
            <a:r>
              <a:rPr lang="en-US" sz="98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UCIe Form Factor &amp; Compliance Workgroup Co-Chair</a:t>
            </a:r>
            <a:endParaRPr lang="en-US" sz="980" dirty="0"/>
          </a:p>
        </p:txBody>
      </p:sp>
      <p:sp>
        <p:nvSpPr>
          <p:cNvPr id="30" name="Shape 26">
            <a:extLst>
              <a:ext uri="{FF2B5EF4-FFF2-40B4-BE49-F238E27FC236}">
                <a16:creationId xmlns:a16="http://schemas.microsoft.com/office/drawing/2014/main" id="{E1227C9F-F337-0607-857F-C7CB71FD074F}"/>
              </a:ext>
            </a:extLst>
          </p:cNvPr>
          <p:cNvSpPr/>
          <p:nvPr/>
        </p:nvSpPr>
        <p:spPr>
          <a:xfrm>
            <a:off x="1371600" y="5939028"/>
            <a:ext cx="155448" cy="32918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35B229E4-829F-4290-0162-774EF78A2F62}"/>
              </a:ext>
            </a:extLst>
          </p:cNvPr>
          <p:cNvSpPr/>
          <p:nvPr/>
        </p:nvSpPr>
        <p:spPr>
          <a:xfrm>
            <a:off x="1627632" y="585216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Manageability &amp; Security</a:t>
            </a:r>
            <a:endParaRPr lang="en-US" sz="125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BD926711-5C96-CF07-AF98-15520F2EE473}"/>
              </a:ext>
            </a:extLst>
          </p:cNvPr>
          <p:cNvSpPr/>
          <p:nvPr/>
        </p:nvSpPr>
        <p:spPr>
          <a:xfrm>
            <a:off x="1627632" y="6108192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37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Onufryk, Intel</a:t>
            </a:r>
            <a:r>
              <a:rPr lang="en-US" sz="98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UCIe Security and Manageability Workgroup Co-Chair</a:t>
            </a:r>
            <a:endParaRPr lang="en-US" sz="98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7D73DCE3-EBF3-0F26-44D3-8325D85C0A03}"/>
              </a:ext>
            </a:extLst>
          </p:cNvPr>
          <p:cNvSpPr/>
          <p:nvPr/>
        </p:nvSpPr>
        <p:spPr>
          <a:xfrm>
            <a:off x="6355080" y="2395728"/>
            <a:ext cx="868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EBA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>
              <a:solidFill>
                <a:srgbClr val="FEBA17"/>
              </a:solidFill>
            </a:endParaRPr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4740E408-287E-36BD-94C7-BD488ADDD6F4}"/>
              </a:ext>
            </a:extLst>
          </p:cNvPr>
          <p:cNvSpPr/>
          <p:nvPr/>
        </p:nvSpPr>
        <p:spPr>
          <a:xfrm>
            <a:off x="7315200" y="2450592"/>
            <a:ext cx="25603" cy="457200"/>
          </a:xfrm>
          <a:prstGeom prst="rect">
            <a:avLst/>
          </a:prstGeom>
          <a:solidFill>
            <a:srgbClr val="DCE4E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B71C7524-154E-B483-56A0-5DE0C6AD3151}"/>
              </a:ext>
            </a:extLst>
          </p:cNvPr>
          <p:cNvSpPr/>
          <p:nvPr/>
        </p:nvSpPr>
        <p:spPr>
          <a:xfrm>
            <a:off x="7498080" y="23774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UALink Scale-Up AI Fabric Chiplet Standard</a:t>
            </a:r>
            <a:endParaRPr lang="en-US" sz="1550" dirty="0"/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80E8F871-02EA-EC4D-7643-DC2579A54FD6}"/>
              </a:ext>
            </a:extLst>
          </p:cNvPr>
          <p:cNvSpPr/>
          <p:nvPr/>
        </p:nvSpPr>
        <p:spPr>
          <a:xfrm>
            <a:off x="7498080" y="3177540"/>
            <a:ext cx="155448" cy="32918"/>
          </a:xfrm>
          <a:prstGeom prst="rect">
            <a:avLst/>
          </a:prstGeom>
          <a:solidFill>
            <a:srgbClr val="FEBA1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8357604C-5AC2-5ED9-BF74-B60791F15118}"/>
              </a:ext>
            </a:extLst>
          </p:cNvPr>
          <p:cNvSpPr/>
          <p:nvPr/>
        </p:nvSpPr>
        <p:spPr>
          <a:xfrm>
            <a:off x="7754112" y="30906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FFA30488-D95E-B0BF-4B4B-E783AE325CBE}"/>
              </a:ext>
            </a:extLst>
          </p:cNvPr>
          <p:cNvSpPr/>
          <p:nvPr/>
        </p:nvSpPr>
        <p:spPr>
          <a:xfrm>
            <a:off x="7754112" y="334670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37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Pelt, AMD</a:t>
            </a:r>
            <a:r>
              <a:rPr lang="en-US" sz="98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UALink Chiplet Workgroup Chair</a:t>
            </a:r>
            <a:endParaRPr lang="en-US" sz="980" dirty="0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B6811025-B1ED-EA4D-B177-97F4D59289EE}"/>
              </a:ext>
            </a:extLst>
          </p:cNvPr>
          <p:cNvSpPr/>
          <p:nvPr/>
        </p:nvSpPr>
        <p:spPr>
          <a:xfrm>
            <a:off x="7498080" y="3867912"/>
            <a:ext cx="155448" cy="32918"/>
          </a:xfrm>
          <a:prstGeom prst="rect">
            <a:avLst/>
          </a:prstGeom>
          <a:solidFill>
            <a:srgbClr val="FEBA1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4D4CAEC2-D3C5-77A9-211C-C1FAA1B03948}"/>
              </a:ext>
            </a:extLst>
          </p:cNvPr>
          <p:cNvSpPr/>
          <p:nvPr/>
        </p:nvSpPr>
        <p:spPr>
          <a:xfrm>
            <a:off x="7754112" y="37810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UALink Chiplet Architecture</a:t>
            </a:r>
            <a:endParaRPr lang="en-US" sz="1250" dirty="0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9B320FDB-3206-1E1C-911C-F7E8835FF033}"/>
              </a:ext>
            </a:extLst>
          </p:cNvPr>
          <p:cNvSpPr/>
          <p:nvPr/>
        </p:nvSpPr>
        <p:spPr>
          <a:xfrm>
            <a:off x="7754112" y="403707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37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Pelt, AMD</a:t>
            </a:r>
            <a:r>
              <a:rPr lang="en-US" sz="98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UALink Chiplet Workgroup Chair</a:t>
            </a:r>
            <a:endParaRPr lang="en-US" sz="980" dirty="0"/>
          </a:p>
        </p:txBody>
      </p:sp>
      <p:sp>
        <p:nvSpPr>
          <p:cNvPr id="42" name="Shape 38">
            <a:extLst>
              <a:ext uri="{FF2B5EF4-FFF2-40B4-BE49-F238E27FC236}">
                <a16:creationId xmlns:a16="http://schemas.microsoft.com/office/drawing/2014/main" id="{F74230D2-8A55-5D2B-0679-5097DD9A9680}"/>
              </a:ext>
            </a:extLst>
          </p:cNvPr>
          <p:cNvSpPr/>
          <p:nvPr/>
        </p:nvSpPr>
        <p:spPr>
          <a:xfrm>
            <a:off x="7498080" y="4558284"/>
            <a:ext cx="155448" cy="32918"/>
          </a:xfrm>
          <a:prstGeom prst="rect">
            <a:avLst/>
          </a:prstGeom>
          <a:solidFill>
            <a:srgbClr val="FEBA17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C4E82992-E7C5-B0F8-CB6A-58CBCADC427D}"/>
              </a:ext>
            </a:extLst>
          </p:cNvPr>
          <p:cNvSpPr/>
          <p:nvPr/>
        </p:nvSpPr>
        <p:spPr>
          <a:xfrm>
            <a:off x="7754112" y="44714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A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UALink Chiplet Form Factors</a:t>
            </a:r>
            <a:endParaRPr lang="en-US" sz="1250" dirty="0"/>
          </a:p>
        </p:txBody>
      </p:sp>
      <p:sp>
        <p:nvSpPr>
          <p:cNvPr id="44" name="Text 40">
            <a:extLst>
              <a:ext uri="{FF2B5EF4-FFF2-40B4-BE49-F238E27FC236}">
                <a16:creationId xmlns:a16="http://schemas.microsoft.com/office/drawing/2014/main" id="{97A715B0-26C1-6349-17BC-2D7B8FA7E22C}"/>
              </a:ext>
            </a:extLst>
          </p:cNvPr>
          <p:cNvSpPr/>
          <p:nvPr/>
        </p:nvSpPr>
        <p:spPr>
          <a:xfrm>
            <a:off x="7754112" y="472744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980" b="1" dirty="0">
                <a:solidFill>
                  <a:srgbClr val="374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Pelt, AMD</a:t>
            </a:r>
            <a:r>
              <a:rPr lang="en-US" sz="98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UALink Chiplet Workgroup Chair</a:t>
            </a:r>
            <a:endParaRPr lang="en-US" sz="980" dirty="0"/>
          </a:p>
        </p:txBody>
      </p:sp>
      <p:sp>
        <p:nvSpPr>
          <p:cNvPr id="53" name="Shape 4">
            <a:extLst>
              <a:ext uri="{FF2B5EF4-FFF2-40B4-BE49-F238E27FC236}">
                <a16:creationId xmlns:a16="http://schemas.microsoft.com/office/drawing/2014/main" id="{C7569791-2454-D15C-5478-E5F6DE5599EE}"/>
              </a:ext>
            </a:extLst>
          </p:cNvPr>
          <p:cNvSpPr/>
          <p:nvPr/>
        </p:nvSpPr>
        <p:spPr>
          <a:xfrm>
            <a:off x="533400" y="2366051"/>
            <a:ext cx="91440" cy="4199341"/>
          </a:xfrm>
          <a:prstGeom prst="rect">
            <a:avLst/>
          </a:prstGeom>
          <a:solidFill>
            <a:srgbClr val="8DC63F"/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44601E92-533A-713C-08E1-4AB25802E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510" y="256032"/>
            <a:ext cx="753640" cy="4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177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2285F-8496-2628-765C-958F81A3E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20849E9-49B7-061D-881D-27BB80C1FD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85" y="556996"/>
            <a:ext cx="8495215" cy="1940671"/>
          </a:xfrm>
        </p:spPr>
        <p:txBody>
          <a:bodyPr/>
          <a:lstStyle/>
          <a:p>
            <a:r>
              <a:rPr lang="en-US" dirty="0"/>
              <a:t>UCIe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714D7-994A-FCDD-BBEC-1C5FC3BD7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85" y="2997200"/>
            <a:ext cx="6488615" cy="2302479"/>
          </a:xfrm>
        </p:spPr>
        <p:txBody>
          <a:bodyPr/>
          <a:lstStyle/>
          <a:p>
            <a:r>
              <a:rPr lang="en-US" sz="2000" dirty="0"/>
              <a:t>Peter Onufryk, Intel</a:t>
            </a:r>
          </a:p>
          <a:p>
            <a:r>
              <a:rPr lang="en-US" sz="2000" dirty="0"/>
              <a:t>UCIe Security and Manageability Co-Chair</a:t>
            </a:r>
          </a:p>
          <a:p>
            <a:endParaRPr lang="en-US" sz="20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A798549-5132-C48D-2DBA-E27100E94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1570" y="6527074"/>
            <a:ext cx="1286210" cy="327136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9049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F73C-7A2F-E6D3-FFD6-0322F955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Chiplets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E84FC-B645-14E3-09E0-97AEBCDD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F23B8-18BE-485D-BC2C-61110F510EA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2723E3-EA76-1183-E571-21650325941B}"/>
              </a:ext>
            </a:extLst>
          </p:cNvPr>
          <p:cNvSpPr txBox="1">
            <a:spLocks/>
          </p:cNvSpPr>
          <p:nvPr/>
        </p:nvSpPr>
        <p:spPr>
          <a:xfrm>
            <a:off x="788152" y="1709616"/>
            <a:ext cx="4559523" cy="38207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 marL="228600" marR="0" indent="-228600" algn="l" defTabSz="609600" eaLnBrk="1" latinLnBrk="0" hangingPunct="1">
              <a:lnSpc>
                <a:spcPts val="28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2800" b="0" i="0" u="none" strike="noStrike" cap="none" spc="0" baseline="0">
                <a:solidFill>
                  <a:schemeClr val="bg2"/>
                </a:solidFill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1pPr>
            <a:lvl2pPr marL="431800" marR="0" indent="-203200" algn="l" defTabSz="60960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Intel Clear Light" panose="020B0404020203020204" pitchFamily="34" charset="0"/>
              <a:buChar char="‒"/>
              <a:tabLst/>
              <a:defRPr sz="2400" b="0" i="0" u="none" strike="noStrike" cap="none" spc="0" baseline="0">
                <a:solidFill>
                  <a:schemeClr val="bg2"/>
                </a:solidFill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2pPr>
            <a:lvl3pPr marL="686594" marR="0" indent="-197644" algn="l" defTabSz="60960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 sz="1800" b="0" i="0" u="none" strike="noStrike" cap="none" spc="0" baseline="0">
                <a:solidFill>
                  <a:schemeClr val="bg2"/>
                </a:solidFill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3pPr>
            <a:lvl4pPr marL="919957" marR="0" indent="-228600" algn="l" defTabSz="60960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chemeClr val="bg2"/>
                </a:solidFill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4pPr>
            <a:lvl5pPr marL="1148557" marR="0" indent="-228600" algn="l" defTabSz="60960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 b="0" i="0" u="none" strike="noStrike" cap="none" spc="0" baseline="0">
                <a:solidFill>
                  <a:schemeClr val="bg2"/>
                </a:solidFill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defRPr>
            </a:lvl5pPr>
            <a:lvl6pPr marL="0" marR="0" indent="57150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u="none" strike="noStrike" cap="none" spc="0" baseline="0">
                <a:solidFill>
                  <a:srgbClr val="5E5E5E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6pPr>
            <a:lvl7pPr marL="0" marR="0" indent="68580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u="none" strike="noStrike" cap="none" spc="0" baseline="0">
                <a:solidFill>
                  <a:srgbClr val="5E5E5E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7pPr>
            <a:lvl8pPr marL="0" marR="0" indent="80010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u="none" strike="noStrike" cap="none" spc="0" baseline="0">
                <a:solidFill>
                  <a:srgbClr val="5E5E5E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8pPr>
            <a:lvl9pPr marL="0" marR="0" indent="914400" algn="l" defTabSz="60960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 u="none" strike="noStrike" cap="none" spc="0" baseline="0">
                <a:solidFill>
                  <a:srgbClr val="5E5E5E"/>
                </a:solidFill>
                <a:uFillTx/>
                <a:latin typeface="Helvetica"/>
                <a:ea typeface="Helvetica"/>
                <a:cs typeface="Helvetica"/>
                <a:sym typeface="Helvetica"/>
              </a:defRPr>
            </a:lvl9pPr>
          </a:lstStyle>
          <a:p>
            <a:pPr marL="228600" marR="0" lvl="0" indent="-228600" algn="l" defTabSz="609600" eaLnBrk="1" fontAlgn="auto" latinLnBrk="0" hangingPunct="1">
              <a:lnSpc>
                <a:spcPts val="2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Intel Clear"/>
                <a:ea typeface="Intel Clear Light" panose="020B0404020203020204" pitchFamily="34" charset="0"/>
                <a:cs typeface="IntelOne Display HE Medium" panose="020B0703020203020204" pitchFamily="34" charset="-79"/>
                <a:sym typeface="Helvetica"/>
              </a:rPr>
              <a:t>Enables System-in-Package (SiP) devices that exceed max reticle size</a:t>
            </a:r>
          </a:p>
          <a:p>
            <a:pPr marL="228600" marR="0" lvl="0" indent="-228600" algn="l" defTabSz="609600" eaLnBrk="1" fontAlgn="auto" latinLnBrk="0" hangingPunct="1">
              <a:lnSpc>
                <a:spcPts val="2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Intel Clear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rPr>
              <a:t>Reduces time to solution</a:t>
            </a:r>
          </a:p>
          <a:p>
            <a:pPr marL="431800" marR="0" lvl="1" indent="-203200" algn="l" defTabSz="60960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Intel Clear Light" panose="020B0404020203020204" pitchFamily="34" charset="0"/>
              <a:buChar char="‒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Intel Clear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rPr>
              <a:t>Chiplet Reuse</a:t>
            </a:r>
          </a:p>
          <a:p>
            <a:pPr marL="228600" marR="0" lvl="0" indent="-228600" algn="l" defTabSz="609600" eaLnBrk="1" fontAlgn="auto" latinLnBrk="0" hangingPunct="1">
              <a:lnSpc>
                <a:spcPts val="2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Intel Clear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rPr>
              <a:t>Lowers Cost</a:t>
            </a:r>
          </a:p>
          <a:p>
            <a:pPr marL="431800" marR="0" lvl="1" indent="-203200" algn="l" defTabSz="60960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Intel Clear Light" panose="020B0404020203020204" pitchFamily="34" charset="0"/>
              <a:buChar char="‒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Intel Clear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rPr>
              <a:t>Use of optimal process technology</a:t>
            </a:r>
          </a:p>
          <a:p>
            <a:pPr marL="431800" marR="0" lvl="1" indent="-203200" algn="l" defTabSz="60960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Intel Clear Light" panose="020B0404020203020204" pitchFamily="34" charset="0"/>
              <a:buChar char="‒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Intel Clear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rPr>
              <a:t>Smaller die</a:t>
            </a:r>
          </a:p>
          <a:p>
            <a:pPr marL="431800" marR="0" lvl="1" indent="-203200" algn="l" defTabSz="60960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Intel Clear Light" panose="020B0404020203020204" pitchFamily="34" charset="0"/>
              <a:buChar char="‒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Intel Clear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rPr>
              <a:t>Chiplet reuse</a:t>
            </a:r>
          </a:p>
          <a:p>
            <a:pPr marL="228600" marR="0" lvl="0" indent="-228600" algn="l" defTabSz="609600" eaLnBrk="1" fontAlgn="auto" latinLnBrk="0" hangingPunct="1">
              <a:lnSpc>
                <a:spcPts val="2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Intel Clear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rPr>
              <a:t>Enables Specialization</a:t>
            </a:r>
          </a:p>
          <a:p>
            <a:pPr marL="228600" marR="0" lvl="0" indent="-228600" algn="l" defTabSz="609600" eaLnBrk="1" fontAlgn="auto" latinLnBrk="0" hangingPunct="1">
              <a:lnSpc>
                <a:spcPts val="2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Intel Clear"/>
                <a:ea typeface="Intel Clear Light" panose="020B0404020203020204" pitchFamily="34" charset="0"/>
                <a:cs typeface="Intel Clear Light" panose="020B0404020203020204" pitchFamily="34" charset="0"/>
                <a:sym typeface="Helvetica"/>
              </a:rPr>
              <a:t>Enables reuse of SW investment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A28866-F374-1FE8-4B00-91616427864F}"/>
              </a:ext>
            </a:extLst>
          </p:cNvPr>
          <p:cNvSpPr txBox="1"/>
          <p:nvPr/>
        </p:nvSpPr>
        <p:spPr>
          <a:xfrm>
            <a:off x="3193773" y="6126964"/>
            <a:ext cx="4884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dirty="0">
                <a:solidFill>
                  <a:srgbClr val="2893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“the package is the new motherboard”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A8A5AE-8915-5FC5-3630-9828AD40A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842" y="973392"/>
            <a:ext cx="4919672" cy="472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779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AutoShape 3">
            <a:extLst>
              <a:ext uri="{FF2B5EF4-FFF2-40B4-BE49-F238E27FC236}">
                <a16:creationId xmlns:a16="http://schemas.microsoft.com/office/drawing/2014/main" id="{DBB3F47D-5FC8-1FCE-EFA1-50B0D754E367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334000" y="2277776"/>
            <a:ext cx="5581650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BF6D45-E66B-C344-29B1-43E4EBDB0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Chiplet Ecosystem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7C039-F502-9EEE-B6C0-369266D4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F23B8-18BE-485D-BC2C-61110F510EA1}" type="slidenum">
              <a:rPr lang="en-US" smtClean="0"/>
              <a:pPr/>
              <a:t>6</a:t>
            </a:fld>
            <a:endParaRPr lang="en-US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51E3D79F-65FF-4934-1818-755F020D5DF7}"/>
              </a:ext>
            </a:extLst>
          </p:cNvPr>
          <p:cNvCxnSpPr>
            <a:cxnSpLocks/>
          </p:cNvCxnSpPr>
          <p:nvPr/>
        </p:nvCxnSpPr>
        <p:spPr>
          <a:xfrm flipH="1" flipV="1">
            <a:off x="8610600" y="4716494"/>
            <a:ext cx="457200" cy="457200"/>
          </a:xfrm>
          <a:prstGeom prst="line">
            <a:avLst/>
          </a:prstGeom>
          <a:noFill/>
          <a:ln w="25400" cap="flat">
            <a:solidFill>
              <a:srgbClr val="8BAE46">
                <a:lumMod val="75000"/>
              </a:srgbClr>
            </a:solidFill>
            <a:prstDash val="solid"/>
            <a:miter lim="400000"/>
          </a:ln>
          <a:effectLst/>
          <a:sp3d/>
        </p:spPr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56E7630D-2123-90D8-A438-CF798021EB7F}"/>
              </a:ext>
            </a:extLst>
          </p:cNvPr>
          <p:cNvCxnSpPr>
            <a:cxnSpLocks/>
          </p:cNvCxnSpPr>
          <p:nvPr/>
        </p:nvCxnSpPr>
        <p:spPr>
          <a:xfrm flipV="1">
            <a:off x="9067800" y="4640294"/>
            <a:ext cx="381000" cy="533400"/>
          </a:xfrm>
          <a:prstGeom prst="line">
            <a:avLst/>
          </a:prstGeom>
          <a:noFill/>
          <a:ln w="25400" cap="flat">
            <a:solidFill>
              <a:srgbClr val="8BAE46">
                <a:lumMod val="75000"/>
              </a:srgbClr>
            </a:solidFill>
            <a:prstDash val="solid"/>
            <a:miter lim="400000"/>
          </a:ln>
          <a:effectLst/>
          <a:sp3d/>
        </p:spPr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E456CABB-5A7F-9421-C756-445368E04E45}"/>
              </a:ext>
            </a:extLst>
          </p:cNvPr>
          <p:cNvCxnSpPr>
            <a:cxnSpLocks/>
          </p:cNvCxnSpPr>
          <p:nvPr/>
        </p:nvCxnSpPr>
        <p:spPr>
          <a:xfrm flipV="1">
            <a:off x="6896100" y="3725894"/>
            <a:ext cx="533400" cy="381000"/>
          </a:xfrm>
          <a:prstGeom prst="line">
            <a:avLst/>
          </a:prstGeom>
          <a:noFill/>
          <a:ln w="25400" cap="flat">
            <a:solidFill>
              <a:srgbClr val="8F5DA2">
                <a:lumMod val="75000"/>
              </a:srgbClr>
            </a:solidFill>
            <a:prstDash val="solid"/>
            <a:miter lim="400000"/>
          </a:ln>
          <a:effectLst/>
          <a:sp3d/>
        </p:spPr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BA7C261-E9B6-3307-13AF-EF20FD7DD286}"/>
              </a:ext>
            </a:extLst>
          </p:cNvPr>
          <p:cNvCxnSpPr>
            <a:cxnSpLocks/>
          </p:cNvCxnSpPr>
          <p:nvPr/>
        </p:nvCxnSpPr>
        <p:spPr>
          <a:xfrm>
            <a:off x="6553200" y="2963894"/>
            <a:ext cx="0" cy="533400"/>
          </a:xfrm>
          <a:prstGeom prst="line">
            <a:avLst/>
          </a:prstGeom>
          <a:noFill/>
          <a:ln w="25400" cap="flat">
            <a:solidFill>
              <a:srgbClr val="CB726B"/>
            </a:solidFill>
            <a:prstDash val="solid"/>
            <a:miter lim="400000"/>
          </a:ln>
          <a:effectLst/>
          <a:sp3d/>
        </p:spPr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8DF97B4-7CDC-BD62-57A7-00C55977E9EC}"/>
              </a:ext>
            </a:extLst>
          </p:cNvPr>
          <p:cNvCxnSpPr>
            <a:cxnSpLocks/>
          </p:cNvCxnSpPr>
          <p:nvPr/>
        </p:nvCxnSpPr>
        <p:spPr>
          <a:xfrm flipV="1">
            <a:off x="10668000" y="2811494"/>
            <a:ext cx="457200" cy="381000"/>
          </a:xfrm>
          <a:prstGeom prst="line">
            <a:avLst/>
          </a:prstGeom>
          <a:noFill/>
          <a:ln w="25400" cap="flat">
            <a:solidFill>
              <a:srgbClr val="F6CB4B">
                <a:lumMod val="75000"/>
              </a:srgbClr>
            </a:solidFill>
            <a:prstDash val="solid"/>
            <a:miter lim="400000"/>
          </a:ln>
          <a:effectLst/>
          <a:sp3d/>
        </p:spPr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30F4697-12F3-A15B-70DE-04B8C0BE7BD0}"/>
              </a:ext>
            </a:extLst>
          </p:cNvPr>
          <p:cNvCxnSpPr>
            <a:cxnSpLocks/>
          </p:cNvCxnSpPr>
          <p:nvPr/>
        </p:nvCxnSpPr>
        <p:spPr>
          <a:xfrm flipV="1">
            <a:off x="10896600" y="2811494"/>
            <a:ext cx="228600" cy="914400"/>
          </a:xfrm>
          <a:prstGeom prst="line">
            <a:avLst/>
          </a:prstGeom>
          <a:noFill/>
          <a:ln w="25400" cap="flat">
            <a:solidFill>
              <a:srgbClr val="F6CB4B">
                <a:lumMod val="75000"/>
              </a:srgbClr>
            </a:solidFill>
            <a:prstDash val="solid"/>
            <a:miter lim="400000"/>
          </a:ln>
          <a:effectLst/>
          <a:sp3d/>
        </p:spPr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DC12564B-6E9A-2349-E9DC-3DF752F2D88D}"/>
              </a:ext>
            </a:extLst>
          </p:cNvPr>
          <p:cNvCxnSpPr/>
          <p:nvPr/>
        </p:nvCxnSpPr>
        <p:spPr>
          <a:xfrm>
            <a:off x="7543800" y="1897094"/>
            <a:ext cx="152400" cy="533400"/>
          </a:xfrm>
          <a:prstGeom prst="line">
            <a:avLst/>
          </a:prstGeom>
          <a:noFill/>
          <a:ln w="25400" cap="flat">
            <a:solidFill>
              <a:srgbClr val="004A86">
                <a:lumMod val="40000"/>
                <a:lumOff val="60000"/>
              </a:srgbClr>
            </a:solidFill>
            <a:prstDash val="solid"/>
            <a:miter lim="400000"/>
          </a:ln>
          <a:effectLst/>
          <a:sp3d/>
        </p:spPr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517FE32-B29D-B034-815F-229F93304B70}"/>
              </a:ext>
            </a:extLst>
          </p:cNvPr>
          <p:cNvCxnSpPr>
            <a:cxnSpLocks/>
          </p:cNvCxnSpPr>
          <p:nvPr/>
        </p:nvCxnSpPr>
        <p:spPr>
          <a:xfrm>
            <a:off x="7543800" y="1897094"/>
            <a:ext cx="1066800" cy="457200"/>
          </a:xfrm>
          <a:prstGeom prst="line">
            <a:avLst/>
          </a:prstGeom>
          <a:noFill/>
          <a:ln w="25400" cap="flat">
            <a:solidFill>
              <a:srgbClr val="004A86">
                <a:lumMod val="40000"/>
                <a:lumOff val="60000"/>
              </a:srgbClr>
            </a:solidFill>
            <a:prstDash val="solid"/>
            <a:miter lim="400000"/>
          </a:ln>
          <a:effectLst/>
          <a:sp3d/>
        </p:spPr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40EB587-D8C7-E4CA-B39A-53B5EFCA1B7E}"/>
              </a:ext>
            </a:extLst>
          </p:cNvPr>
          <p:cNvCxnSpPr>
            <a:cxnSpLocks/>
          </p:cNvCxnSpPr>
          <p:nvPr/>
        </p:nvCxnSpPr>
        <p:spPr>
          <a:xfrm>
            <a:off x="7543800" y="1897094"/>
            <a:ext cx="2133600" cy="533400"/>
          </a:xfrm>
          <a:prstGeom prst="line">
            <a:avLst/>
          </a:prstGeom>
          <a:noFill/>
          <a:ln w="25400" cap="flat">
            <a:solidFill>
              <a:srgbClr val="004A86">
                <a:lumMod val="40000"/>
                <a:lumOff val="60000"/>
              </a:srgbClr>
            </a:solidFill>
            <a:prstDash val="solid"/>
            <a:miter lim="400000"/>
          </a:ln>
          <a:effectLst/>
          <a:sp3d/>
        </p:spPr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2193708A-B550-BB9E-2B8E-BDAB5E7C40D8}"/>
              </a:ext>
            </a:extLst>
          </p:cNvPr>
          <p:cNvSpPr txBox="1"/>
          <p:nvPr/>
        </p:nvSpPr>
        <p:spPr>
          <a:xfrm>
            <a:off x="7162800" y="1668494"/>
            <a:ext cx="727250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Vendor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C7FD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A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8A58F2B8-ADCF-2C56-1D97-149A25CA7498}"/>
              </a:ext>
            </a:extLst>
          </p:cNvPr>
          <p:cNvSpPr txBox="1"/>
          <p:nvPr/>
        </p:nvSpPr>
        <p:spPr>
          <a:xfrm>
            <a:off x="10668000" y="2582894"/>
            <a:ext cx="737125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6CB4B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Vendor B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A327F32-161A-57D8-B0A2-F3A7201F4E9E}"/>
              </a:ext>
            </a:extLst>
          </p:cNvPr>
          <p:cNvSpPr txBox="1"/>
          <p:nvPr/>
        </p:nvSpPr>
        <p:spPr>
          <a:xfrm>
            <a:off x="6172200" y="2735294"/>
            <a:ext cx="865188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CB726B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Vendor C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AA8CA33-60F8-B850-C329-456F15F05413}"/>
              </a:ext>
            </a:extLst>
          </p:cNvPr>
          <p:cNvSpPr txBox="1"/>
          <p:nvPr/>
        </p:nvSpPr>
        <p:spPr>
          <a:xfrm>
            <a:off x="6096000" y="4030694"/>
            <a:ext cx="746743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8F5DA2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Vendor D</a:t>
            </a:r>
          </a:p>
        </p:txBody>
      </p: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6BA41FB-55E9-D529-8B31-FED2393244AE}"/>
              </a:ext>
            </a:extLst>
          </p:cNvPr>
          <p:cNvCxnSpPr>
            <a:cxnSpLocks/>
          </p:cNvCxnSpPr>
          <p:nvPr/>
        </p:nvCxnSpPr>
        <p:spPr>
          <a:xfrm flipV="1">
            <a:off x="6858000" y="4716494"/>
            <a:ext cx="381000" cy="152400"/>
          </a:xfrm>
          <a:prstGeom prst="line">
            <a:avLst/>
          </a:prstGeom>
          <a:noFill/>
          <a:ln w="25400" cap="flat">
            <a:solidFill>
              <a:srgbClr val="004A86">
                <a:lumMod val="40000"/>
                <a:lumOff val="60000"/>
              </a:srgbClr>
            </a:solidFill>
            <a:prstDash val="solid"/>
            <a:miter lim="400000"/>
          </a:ln>
          <a:effectLst/>
          <a:sp3d/>
        </p:spPr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C5FFC96E-AE5A-B856-D086-16B1FE4F6A6F}"/>
              </a:ext>
            </a:extLst>
          </p:cNvPr>
          <p:cNvSpPr txBox="1"/>
          <p:nvPr/>
        </p:nvSpPr>
        <p:spPr>
          <a:xfrm>
            <a:off x="6096000" y="4792694"/>
            <a:ext cx="727250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Vendor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C7FD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A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7A7AF7C-13E3-AF97-96D2-FC80C7EA4C7F}"/>
              </a:ext>
            </a:extLst>
          </p:cNvPr>
          <p:cNvSpPr txBox="1"/>
          <p:nvPr/>
        </p:nvSpPr>
        <p:spPr>
          <a:xfrm>
            <a:off x="8305800" y="5249894"/>
            <a:ext cx="1522853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8BAE46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Custom Developed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5AA2BE5-26B1-276D-9D53-F9C076CD9042}"/>
              </a:ext>
            </a:extLst>
          </p:cNvPr>
          <p:cNvCxnSpPr>
            <a:cxnSpLocks/>
          </p:cNvCxnSpPr>
          <p:nvPr/>
        </p:nvCxnSpPr>
        <p:spPr>
          <a:xfrm>
            <a:off x="5181600" y="1592294"/>
            <a:ext cx="0" cy="4038600"/>
          </a:xfrm>
          <a:prstGeom prst="line">
            <a:avLst/>
          </a:prstGeom>
          <a:noFill/>
          <a:ln w="25400" cap="flat">
            <a:solidFill>
              <a:srgbClr val="FFFFFF">
                <a:lumMod val="75000"/>
              </a:srgbClr>
            </a:solidFill>
            <a:prstDash val="sysDash"/>
            <a:miter lim="400000"/>
          </a:ln>
          <a:effectLst/>
          <a:sp3d/>
        </p:spPr>
      </p:cxnSp>
      <p:pic>
        <p:nvPicPr>
          <p:cNvPr id="111" name="Picture 110">
            <a:extLst>
              <a:ext uri="{FF2B5EF4-FFF2-40B4-BE49-F238E27FC236}">
                <a16:creationId xmlns:a16="http://schemas.microsoft.com/office/drawing/2014/main" id="{2B81FF10-6CEE-3441-BAF0-247FE043E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73294"/>
            <a:ext cx="1081513" cy="1235230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25C49A78-1252-9454-015C-149BC7175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1973294"/>
            <a:ext cx="2003818" cy="1377968"/>
          </a:xfrm>
          <a:prstGeom prst="rect">
            <a:avLst/>
          </a:prstGeom>
        </p:spPr>
      </p:pic>
      <p:pic>
        <p:nvPicPr>
          <p:cNvPr id="113" name="Picture 112">
            <a:extLst>
              <a:ext uri="{FF2B5EF4-FFF2-40B4-BE49-F238E27FC236}">
                <a16:creationId xmlns:a16="http://schemas.microsoft.com/office/drawing/2014/main" id="{1B359F54-CEF5-CF26-D72F-D366642C3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1" y="3954494"/>
            <a:ext cx="1905000" cy="1377968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32FCEA31-123C-44A6-59D5-99C2537D4339}"/>
              </a:ext>
            </a:extLst>
          </p:cNvPr>
          <p:cNvSpPr txBox="1"/>
          <p:nvPr/>
        </p:nvSpPr>
        <p:spPr>
          <a:xfrm>
            <a:off x="838200" y="3268694"/>
            <a:ext cx="795089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Apple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M2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DC9C21A-DCDD-4C09-3355-84189767707F}"/>
              </a:ext>
            </a:extLst>
          </p:cNvPr>
          <p:cNvSpPr txBox="1"/>
          <p:nvPr/>
        </p:nvSpPr>
        <p:spPr>
          <a:xfrm>
            <a:off x="2743200" y="3421094"/>
            <a:ext cx="165269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Intel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Xeon Max CPU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EA52E060-0DF4-1555-86E7-4446C4CBAE6C}"/>
              </a:ext>
            </a:extLst>
          </p:cNvPr>
          <p:cNvSpPr txBox="1"/>
          <p:nvPr/>
        </p:nvSpPr>
        <p:spPr>
          <a:xfrm>
            <a:off x="1676400" y="5402294"/>
            <a:ext cx="1513235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Nvidia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 H-100 GPU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1AE25EC-A78F-3421-D550-869B49D03286}"/>
              </a:ext>
            </a:extLst>
          </p:cNvPr>
          <p:cNvSpPr txBox="1"/>
          <p:nvPr/>
        </p:nvSpPr>
        <p:spPr>
          <a:xfrm>
            <a:off x="886406" y="1086597"/>
            <a:ext cx="3375924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Closed Single Vendor</a:t>
            </a:r>
          </a:p>
          <a:p>
            <a:pPr marL="0" marR="0" lvl="0" indent="0" algn="ctr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System in Package (SiP) Solutions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A491E21-7089-D293-7836-85270C66DBA5}"/>
              </a:ext>
            </a:extLst>
          </p:cNvPr>
          <p:cNvSpPr txBox="1"/>
          <p:nvPr/>
        </p:nvSpPr>
        <p:spPr>
          <a:xfrm>
            <a:off x="6652875" y="1086597"/>
            <a:ext cx="3730187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ctr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Open Multi-Vendor Chiplet Ecosystem</a:t>
            </a:r>
          </a:p>
          <a:p>
            <a:pPr marL="0" marR="0" lvl="0" indent="0" algn="ctr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Neue"/>
              </a:rPr>
              <a:t>System in Package (SiP) Solutions</a:t>
            </a:r>
          </a:p>
        </p:txBody>
      </p:sp>
      <p:sp>
        <p:nvSpPr>
          <p:cNvPr id="122" name="Line 5">
            <a:extLst>
              <a:ext uri="{FF2B5EF4-FFF2-40B4-BE49-F238E27FC236}">
                <a16:creationId xmlns:a16="http://schemas.microsoft.com/office/drawing/2014/main" id="{70F76860-29C1-E744-6B22-FAD9568A7BAA}"/>
              </a:ext>
            </a:extLst>
          </p:cNvPr>
          <p:cNvSpPr>
            <a:spLocks noChangeShapeType="1"/>
          </p:cNvSpPr>
          <p:nvPr/>
        </p:nvSpPr>
        <p:spPr bwMode="auto">
          <a:xfrm>
            <a:off x="9928225" y="3779551"/>
            <a:ext cx="257175" cy="0"/>
          </a:xfrm>
          <a:prstGeom prst="line">
            <a:avLst/>
          </a:prstGeom>
          <a:noFill/>
          <a:ln w="762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3" name="Line 6">
            <a:extLst>
              <a:ext uri="{FF2B5EF4-FFF2-40B4-BE49-F238E27FC236}">
                <a16:creationId xmlns:a16="http://schemas.microsoft.com/office/drawing/2014/main" id="{8EE0F60A-D911-0673-5663-DF35EBFD8E5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28225" y="3331876"/>
            <a:ext cx="257175" cy="0"/>
          </a:xfrm>
          <a:prstGeom prst="line">
            <a:avLst/>
          </a:prstGeom>
          <a:noFill/>
          <a:ln w="762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4" name="Line 7">
            <a:extLst>
              <a:ext uri="{FF2B5EF4-FFF2-40B4-BE49-F238E27FC236}">
                <a16:creationId xmlns:a16="http://schemas.microsoft.com/office/drawing/2014/main" id="{6D33CB28-7319-A4FC-8B1D-8591DB32151B}"/>
              </a:ext>
            </a:extLst>
          </p:cNvPr>
          <p:cNvSpPr>
            <a:spLocks noChangeShapeType="1"/>
          </p:cNvSpPr>
          <p:nvPr/>
        </p:nvSpPr>
        <p:spPr bwMode="auto">
          <a:xfrm>
            <a:off x="9555163" y="3904964"/>
            <a:ext cx="0" cy="230188"/>
          </a:xfrm>
          <a:prstGeom prst="line">
            <a:avLst/>
          </a:prstGeom>
          <a:noFill/>
          <a:ln w="762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5" name="Line 8">
            <a:extLst>
              <a:ext uri="{FF2B5EF4-FFF2-40B4-BE49-F238E27FC236}">
                <a16:creationId xmlns:a16="http://schemas.microsoft.com/office/drawing/2014/main" id="{90C2E689-CECD-AB70-BE7C-66F971DAD5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2025" y="3904964"/>
            <a:ext cx="0" cy="230188"/>
          </a:xfrm>
          <a:prstGeom prst="line">
            <a:avLst/>
          </a:prstGeom>
          <a:noFill/>
          <a:ln w="762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6" name="Line 9">
            <a:extLst>
              <a:ext uri="{FF2B5EF4-FFF2-40B4-BE49-F238E27FC236}">
                <a16:creationId xmlns:a16="http://schemas.microsoft.com/office/drawing/2014/main" id="{FACBE9CE-AA90-5D26-D5D1-EEFE6EA9F8B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8888" y="3904964"/>
            <a:ext cx="0" cy="230188"/>
          </a:xfrm>
          <a:prstGeom prst="line">
            <a:avLst/>
          </a:prstGeom>
          <a:noFill/>
          <a:ln w="762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7" name="Line 10">
            <a:extLst>
              <a:ext uri="{FF2B5EF4-FFF2-40B4-BE49-F238E27FC236}">
                <a16:creationId xmlns:a16="http://schemas.microsoft.com/office/drawing/2014/main" id="{AC2A128B-C097-0DC5-15D2-4D170A88FD7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55163" y="2935001"/>
            <a:ext cx="0" cy="230188"/>
          </a:xfrm>
          <a:prstGeom prst="line">
            <a:avLst/>
          </a:prstGeom>
          <a:noFill/>
          <a:ln w="762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8" name="Rectangle 11">
            <a:extLst>
              <a:ext uri="{FF2B5EF4-FFF2-40B4-BE49-F238E27FC236}">
                <a16:creationId xmlns:a16="http://schemas.microsoft.com/office/drawing/2014/main" id="{3B93850C-3444-12EF-6989-53769F77E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7963" y="2304764"/>
            <a:ext cx="915988" cy="744538"/>
          </a:xfrm>
          <a:prstGeom prst="rect">
            <a:avLst/>
          </a:prstGeom>
          <a:solidFill>
            <a:srgbClr val="DBEE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9" name="Rectangle 12">
            <a:extLst>
              <a:ext uri="{FF2B5EF4-FFF2-40B4-BE49-F238E27FC236}">
                <a16:creationId xmlns:a16="http://schemas.microsoft.com/office/drawing/2014/main" id="{35F36410-9050-1D20-F1B1-995C47531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7963" y="2304764"/>
            <a:ext cx="915988" cy="744538"/>
          </a:xfrm>
          <a:prstGeom prst="rect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0" name="Rectangle 13">
            <a:extLst>
              <a:ext uri="{FF2B5EF4-FFF2-40B4-BE49-F238E27FC236}">
                <a16:creationId xmlns:a16="http://schemas.microsoft.com/office/drawing/2014/main" id="{B53D9C3A-1C0F-8FFB-C9E3-441FFBE3D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113" y="2361914"/>
            <a:ext cx="228600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1" name="Rectangle 14">
            <a:extLst>
              <a:ext uri="{FF2B5EF4-FFF2-40B4-BE49-F238E27FC236}">
                <a16:creationId xmlns:a16="http://schemas.microsoft.com/office/drawing/2014/main" id="{8D38FF61-A2AF-B179-C5A5-478FF9819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0863" y="2361914"/>
            <a:ext cx="228600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2" name="Rectangle 15">
            <a:extLst>
              <a:ext uri="{FF2B5EF4-FFF2-40B4-BE49-F238E27FC236}">
                <a16:creationId xmlns:a16="http://schemas.microsoft.com/office/drawing/2014/main" id="{B622110C-63BF-1DE0-4CBB-91549CC0E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2369851"/>
            <a:ext cx="228600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3" name="Rectangle 16">
            <a:extLst>
              <a:ext uri="{FF2B5EF4-FFF2-40B4-BE49-F238E27FC236}">
                <a16:creationId xmlns:a16="http://schemas.microsoft.com/office/drawing/2014/main" id="{A496F20E-F462-6E61-80B4-A295846E1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113" y="2590514"/>
            <a:ext cx="228600" cy="165100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4" name="Rectangle 17">
            <a:extLst>
              <a:ext uri="{FF2B5EF4-FFF2-40B4-BE49-F238E27FC236}">
                <a16:creationId xmlns:a16="http://schemas.microsoft.com/office/drawing/2014/main" id="{7652631B-8E7F-34E8-5010-89F27CBBB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0863" y="2590514"/>
            <a:ext cx="228600" cy="165100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5" name="Rectangle 18">
            <a:extLst>
              <a:ext uri="{FF2B5EF4-FFF2-40B4-BE49-F238E27FC236}">
                <a16:creationId xmlns:a16="http://schemas.microsoft.com/office/drawing/2014/main" id="{89E47817-39CF-51A2-EBF9-B3C10390B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2600039"/>
            <a:ext cx="228600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6" name="Rectangle 19">
            <a:extLst>
              <a:ext uri="{FF2B5EF4-FFF2-40B4-BE49-F238E27FC236}">
                <a16:creationId xmlns:a16="http://schemas.microsoft.com/office/drawing/2014/main" id="{26F39A3F-D30D-E89D-ACDC-AC6BE13D4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113" y="2820701"/>
            <a:ext cx="228600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7" name="Rectangle 20">
            <a:extLst>
              <a:ext uri="{FF2B5EF4-FFF2-40B4-BE49-F238E27FC236}">
                <a16:creationId xmlns:a16="http://schemas.microsoft.com/office/drawing/2014/main" id="{FEF9CAD1-3CDF-4DEB-1A3C-2DA268580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0863" y="2820701"/>
            <a:ext cx="228600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8" name="Rectangle 21">
            <a:extLst>
              <a:ext uri="{FF2B5EF4-FFF2-40B4-BE49-F238E27FC236}">
                <a16:creationId xmlns:a16="http://schemas.microsoft.com/office/drawing/2014/main" id="{C298BF49-2A70-04B3-EB27-8AF6C38AE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8200" y="2830226"/>
            <a:ext cx="228600" cy="161925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39" name="Rectangle 22">
            <a:extLst>
              <a:ext uri="{FF2B5EF4-FFF2-40B4-BE49-F238E27FC236}">
                <a16:creationId xmlns:a16="http://schemas.microsoft.com/office/drawing/2014/main" id="{9805910B-0E3F-E10C-A10F-662523BB1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15463" y="2490501"/>
            <a:ext cx="371475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0" name="Rectangle 23">
            <a:extLst>
              <a:ext uri="{FF2B5EF4-FFF2-40B4-BE49-F238E27FC236}">
                <a16:creationId xmlns:a16="http://schemas.microsoft.com/office/drawing/2014/main" id="{B85EB14C-C525-1ACE-D9E1-970899D2F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0850" y="2674651"/>
            <a:ext cx="515938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Chiplet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1" name="Line 24">
            <a:extLst>
              <a:ext uri="{FF2B5EF4-FFF2-40B4-BE49-F238E27FC236}">
                <a16:creationId xmlns:a16="http://schemas.microsoft.com/office/drawing/2014/main" id="{E792E1FC-517C-1527-7917-D283C67E3298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2025" y="2930239"/>
            <a:ext cx="0" cy="228600"/>
          </a:xfrm>
          <a:prstGeom prst="line">
            <a:avLst/>
          </a:prstGeom>
          <a:noFill/>
          <a:ln w="762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2" name="Rectangle 25">
            <a:extLst>
              <a:ext uri="{FF2B5EF4-FFF2-40B4-BE49-F238E27FC236}">
                <a16:creationId xmlns:a16="http://schemas.microsoft.com/office/drawing/2014/main" id="{59BAD4C1-E219-A7AD-19E8-7C430C5CB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4825" y="2298414"/>
            <a:ext cx="915988" cy="746125"/>
          </a:xfrm>
          <a:prstGeom prst="rect">
            <a:avLst/>
          </a:prstGeom>
          <a:solidFill>
            <a:srgbClr val="DBEE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3" name="Rectangle 26">
            <a:extLst>
              <a:ext uri="{FF2B5EF4-FFF2-40B4-BE49-F238E27FC236}">
                <a16:creationId xmlns:a16="http://schemas.microsoft.com/office/drawing/2014/main" id="{831BF672-D8CD-64BE-EE87-06E57A7F7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4825" y="2298414"/>
            <a:ext cx="915988" cy="746125"/>
          </a:xfrm>
          <a:prstGeom prst="rect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4" name="Rectangle 27">
            <a:extLst>
              <a:ext uri="{FF2B5EF4-FFF2-40B4-BE49-F238E27FC236}">
                <a16:creationId xmlns:a16="http://schemas.microsoft.com/office/drawing/2014/main" id="{5145FA2A-5055-8C55-AB47-14BD431B0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1975" y="2355564"/>
            <a:ext cx="228600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5" name="Rectangle 28">
            <a:extLst>
              <a:ext uri="{FF2B5EF4-FFF2-40B4-BE49-F238E27FC236}">
                <a16:creationId xmlns:a16="http://schemas.microsoft.com/office/drawing/2014/main" id="{FEEB41AB-3B13-8ED8-BD71-B8A7048FB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7725" y="2355564"/>
            <a:ext cx="228600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6" name="Rectangle 29">
            <a:extLst>
              <a:ext uri="{FF2B5EF4-FFF2-40B4-BE49-F238E27FC236}">
                <a16:creationId xmlns:a16="http://schemas.microsoft.com/office/drawing/2014/main" id="{A47B27F4-8B38-FA91-370D-B2AA6A211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3475" y="2365089"/>
            <a:ext cx="230188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7" name="Rectangle 30">
            <a:extLst>
              <a:ext uri="{FF2B5EF4-FFF2-40B4-BE49-F238E27FC236}">
                <a16:creationId xmlns:a16="http://schemas.microsoft.com/office/drawing/2014/main" id="{7A902DF9-021E-BEA2-8553-DB3BA22CE0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1975" y="2585751"/>
            <a:ext cx="228600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8" name="Rectangle 31">
            <a:extLst>
              <a:ext uri="{FF2B5EF4-FFF2-40B4-BE49-F238E27FC236}">
                <a16:creationId xmlns:a16="http://schemas.microsoft.com/office/drawing/2014/main" id="{FC5B1E0C-3A9F-0D51-AA55-9435EC080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7725" y="2585751"/>
            <a:ext cx="228600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49" name="Rectangle 32">
            <a:extLst>
              <a:ext uri="{FF2B5EF4-FFF2-40B4-BE49-F238E27FC236}">
                <a16:creationId xmlns:a16="http://schemas.microsoft.com/office/drawing/2014/main" id="{C7001F69-53BD-C50D-0DFE-78D77C3EF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3475" y="2595276"/>
            <a:ext cx="230188" cy="161925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0" name="Rectangle 33">
            <a:extLst>
              <a:ext uri="{FF2B5EF4-FFF2-40B4-BE49-F238E27FC236}">
                <a16:creationId xmlns:a16="http://schemas.microsoft.com/office/drawing/2014/main" id="{AF84FB47-3D72-3A4A-6198-E1C1798CD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1975" y="2815939"/>
            <a:ext cx="228600" cy="161925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1" name="Rectangle 34">
            <a:extLst>
              <a:ext uri="{FF2B5EF4-FFF2-40B4-BE49-F238E27FC236}">
                <a16:creationId xmlns:a16="http://schemas.microsoft.com/office/drawing/2014/main" id="{39242847-A317-6D9B-B927-56BA4C695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7725" y="2815939"/>
            <a:ext cx="228600" cy="161925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2" name="Rectangle 35">
            <a:extLst>
              <a:ext uri="{FF2B5EF4-FFF2-40B4-BE49-F238E27FC236}">
                <a16:creationId xmlns:a16="http://schemas.microsoft.com/office/drawing/2014/main" id="{7B612B40-7660-2223-52B0-B2AE1B300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3475" y="2823876"/>
            <a:ext cx="230188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3" name="Rectangle 36">
            <a:extLst>
              <a:ext uri="{FF2B5EF4-FFF2-40B4-BE49-F238E27FC236}">
                <a16:creationId xmlns:a16="http://schemas.microsoft.com/office/drawing/2014/main" id="{0B487E44-A687-5914-DCB1-B6F65DA43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2325" y="2482564"/>
            <a:ext cx="390525" cy="24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4" name="Rectangle 37">
            <a:extLst>
              <a:ext uri="{FF2B5EF4-FFF2-40B4-BE49-F238E27FC236}">
                <a16:creationId xmlns:a16="http://schemas.microsoft.com/office/drawing/2014/main" id="{1F54F246-C4C1-F303-D3B2-349470928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7713" y="2668301"/>
            <a:ext cx="51435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Chiplet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5" name="Line 38">
            <a:extLst>
              <a:ext uri="{FF2B5EF4-FFF2-40B4-BE49-F238E27FC236}">
                <a16:creationId xmlns:a16="http://schemas.microsoft.com/office/drawing/2014/main" id="{0DC9C98D-F170-21EF-6C38-95A5ECBAD7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08888" y="2930239"/>
            <a:ext cx="0" cy="228600"/>
          </a:xfrm>
          <a:prstGeom prst="line">
            <a:avLst/>
          </a:prstGeom>
          <a:noFill/>
          <a:ln w="762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6" name="Line 39">
            <a:extLst>
              <a:ext uri="{FF2B5EF4-FFF2-40B4-BE49-F238E27FC236}">
                <a16:creationId xmlns:a16="http://schemas.microsoft.com/office/drawing/2014/main" id="{ADDAC372-2146-998B-F308-FB3FB0D2B42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2925" y="3331876"/>
            <a:ext cx="258763" cy="0"/>
          </a:xfrm>
          <a:prstGeom prst="line">
            <a:avLst/>
          </a:prstGeom>
          <a:noFill/>
          <a:ln w="762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7" name="Rectangle 40">
            <a:extLst>
              <a:ext uri="{FF2B5EF4-FFF2-40B4-BE49-F238E27FC236}">
                <a16:creationId xmlns:a16="http://schemas.microsoft.com/office/drawing/2014/main" id="{09183502-E537-3898-AF01-536D70F84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688" y="3158839"/>
            <a:ext cx="2862263" cy="803275"/>
          </a:xfrm>
          <a:prstGeom prst="rect">
            <a:avLst/>
          </a:prstGeom>
          <a:solidFill>
            <a:srgbClr val="EEEA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8" name="Rectangle 41">
            <a:extLst>
              <a:ext uri="{FF2B5EF4-FFF2-40B4-BE49-F238E27FC236}">
                <a16:creationId xmlns:a16="http://schemas.microsoft.com/office/drawing/2014/main" id="{E37F93DD-9B4F-1977-5E82-DC769F271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688" y="3158839"/>
            <a:ext cx="2862263" cy="803275"/>
          </a:xfrm>
          <a:prstGeom prst="rect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59" name="Rectangle 42">
            <a:extLst>
              <a:ext uri="{FF2B5EF4-FFF2-40B4-BE49-F238E27FC236}">
                <a16:creationId xmlns:a16="http://schemas.microsoft.com/office/drawing/2014/main" id="{6043E251-F455-B709-A44F-1FDDA992C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3374739"/>
            <a:ext cx="896938" cy="24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Hub and I/O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0" name="Rectangle 43">
            <a:extLst>
              <a:ext uri="{FF2B5EF4-FFF2-40B4-BE49-F238E27FC236}">
                <a16:creationId xmlns:a16="http://schemas.microsoft.com/office/drawing/2014/main" id="{9A18C9F6-FD73-BF48-CBE9-4D295DED0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7713" y="3560476"/>
            <a:ext cx="5143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Chiplet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1" name="Rectangle 44">
            <a:extLst>
              <a:ext uri="{FF2B5EF4-FFF2-40B4-BE49-F238E27FC236}">
                <a16:creationId xmlns:a16="http://schemas.microsoft.com/office/drawing/2014/main" id="{9A59EF48-C223-DEBB-5191-66A2016BE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3158839"/>
            <a:ext cx="1049338" cy="355600"/>
          </a:xfrm>
          <a:prstGeom prst="rect">
            <a:avLst/>
          </a:prstGeom>
          <a:solidFill>
            <a:srgbClr val="F2DCD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2" name="Rectangle 45">
            <a:extLst>
              <a:ext uri="{FF2B5EF4-FFF2-40B4-BE49-F238E27FC236}">
                <a16:creationId xmlns:a16="http://schemas.microsoft.com/office/drawing/2014/main" id="{2F035F53-C749-3AF5-9D6A-2546BE2A8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050" y="3158839"/>
            <a:ext cx="1049338" cy="355600"/>
          </a:xfrm>
          <a:prstGeom prst="rect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3" name="Rectangle 46">
            <a:extLst>
              <a:ext uri="{FF2B5EF4-FFF2-40B4-BE49-F238E27FC236}">
                <a16:creationId xmlns:a16="http://schemas.microsoft.com/office/drawing/2014/main" id="{A95EA72D-7F5D-4F43-47EA-0223E3444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725" y="3244564"/>
            <a:ext cx="752475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I/O Chiplet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4" name="Rectangle 47">
            <a:extLst>
              <a:ext uri="{FF2B5EF4-FFF2-40B4-BE49-F238E27FC236}">
                <a16:creationId xmlns:a16="http://schemas.microsoft.com/office/drawing/2014/main" id="{1743F6F0-03D5-EAB0-9B9F-668A55F6C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688" y="2298414"/>
            <a:ext cx="915988" cy="746125"/>
          </a:xfrm>
          <a:prstGeom prst="rect">
            <a:avLst/>
          </a:prstGeom>
          <a:solidFill>
            <a:srgbClr val="DBEE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5" name="Rectangle 48">
            <a:extLst>
              <a:ext uri="{FF2B5EF4-FFF2-40B4-BE49-F238E27FC236}">
                <a16:creationId xmlns:a16="http://schemas.microsoft.com/office/drawing/2014/main" id="{12D10EA1-7798-6810-2FE8-1C88E3644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688" y="2298414"/>
            <a:ext cx="915988" cy="746125"/>
          </a:xfrm>
          <a:prstGeom prst="rect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6" name="Rectangle 49">
            <a:extLst>
              <a:ext uri="{FF2B5EF4-FFF2-40B4-BE49-F238E27FC236}">
                <a16:creationId xmlns:a16="http://schemas.microsoft.com/office/drawing/2014/main" id="{A851B703-D314-D738-5981-E56415449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8838" y="2355564"/>
            <a:ext cx="228600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7" name="Rectangle 50">
            <a:extLst>
              <a:ext uri="{FF2B5EF4-FFF2-40B4-BE49-F238E27FC236}">
                <a16:creationId xmlns:a16="http://schemas.microsoft.com/office/drawing/2014/main" id="{3CA8D3D3-535A-4B66-B9EC-82220657C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588" y="2355564"/>
            <a:ext cx="228600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8" name="Rectangle 51">
            <a:extLst>
              <a:ext uri="{FF2B5EF4-FFF2-40B4-BE49-F238E27FC236}">
                <a16:creationId xmlns:a16="http://schemas.microsoft.com/office/drawing/2014/main" id="{B8F6A607-C1EE-92B3-65E0-4C12B021D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0338" y="2365089"/>
            <a:ext cx="230188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69" name="Rectangle 52">
            <a:extLst>
              <a:ext uri="{FF2B5EF4-FFF2-40B4-BE49-F238E27FC236}">
                <a16:creationId xmlns:a16="http://schemas.microsoft.com/office/drawing/2014/main" id="{AF2985D0-93C2-474C-3AA5-64434E94F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8838" y="2585751"/>
            <a:ext cx="228600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0" name="Rectangle 53">
            <a:extLst>
              <a:ext uri="{FF2B5EF4-FFF2-40B4-BE49-F238E27FC236}">
                <a16:creationId xmlns:a16="http://schemas.microsoft.com/office/drawing/2014/main" id="{66C06BA3-B512-B2C2-9F68-FC77E16703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588" y="2585751"/>
            <a:ext cx="228600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1" name="Rectangle 54">
            <a:extLst>
              <a:ext uri="{FF2B5EF4-FFF2-40B4-BE49-F238E27FC236}">
                <a16:creationId xmlns:a16="http://schemas.microsoft.com/office/drawing/2014/main" id="{698D4E0E-5B77-3AA2-230C-789D3038D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0338" y="2595276"/>
            <a:ext cx="230188" cy="161925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2" name="Rectangle 55">
            <a:extLst>
              <a:ext uri="{FF2B5EF4-FFF2-40B4-BE49-F238E27FC236}">
                <a16:creationId xmlns:a16="http://schemas.microsoft.com/office/drawing/2014/main" id="{30C5E837-BB3B-6D75-6CBD-E38BFADC1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8838" y="2815939"/>
            <a:ext cx="228600" cy="161925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3" name="Rectangle 56">
            <a:extLst>
              <a:ext uri="{FF2B5EF4-FFF2-40B4-BE49-F238E27FC236}">
                <a16:creationId xmlns:a16="http://schemas.microsoft.com/office/drawing/2014/main" id="{50EAE139-EF9C-0DF7-D6D5-A12900215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4588" y="2815939"/>
            <a:ext cx="228600" cy="161925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4" name="Rectangle 57">
            <a:extLst>
              <a:ext uri="{FF2B5EF4-FFF2-40B4-BE49-F238E27FC236}">
                <a16:creationId xmlns:a16="http://schemas.microsoft.com/office/drawing/2014/main" id="{21A65AA3-663E-50A7-BDE0-9247F8CB3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0338" y="2823876"/>
            <a:ext cx="230188" cy="163513"/>
          </a:xfrm>
          <a:prstGeom prst="rect">
            <a:avLst/>
          </a:prstGeom>
          <a:solidFill>
            <a:srgbClr val="D8D8D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5" name="Rectangle 58">
            <a:extLst>
              <a:ext uri="{FF2B5EF4-FFF2-40B4-BE49-F238E27FC236}">
                <a16:creationId xmlns:a16="http://schemas.microsoft.com/office/drawing/2014/main" id="{598BCF96-7C82-560C-52F0-B642B6CFB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482564"/>
            <a:ext cx="392113" cy="24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Core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6" name="Rectangle 59">
            <a:extLst>
              <a:ext uri="{FF2B5EF4-FFF2-40B4-BE49-F238E27FC236}">
                <a16:creationId xmlns:a16="http://schemas.microsoft.com/office/drawing/2014/main" id="{E4E3DB48-0467-9CFB-C262-11DD8DCB2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4575" y="2668301"/>
            <a:ext cx="51435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Chiplet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7" name="Rectangle 60">
            <a:extLst>
              <a:ext uri="{FF2B5EF4-FFF2-40B4-BE49-F238E27FC236}">
                <a16:creationId xmlns:a16="http://schemas.microsoft.com/office/drawing/2014/main" id="{795E3ECE-45E1-D1DD-C96C-689755A71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4825" y="4076414"/>
            <a:ext cx="915988" cy="746125"/>
          </a:xfrm>
          <a:prstGeom prst="rect">
            <a:avLst/>
          </a:prstGeom>
          <a:solidFill>
            <a:srgbClr val="D7E3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8" name="Rectangle 61">
            <a:extLst>
              <a:ext uri="{FF2B5EF4-FFF2-40B4-BE49-F238E27FC236}">
                <a16:creationId xmlns:a16="http://schemas.microsoft.com/office/drawing/2014/main" id="{3716D3DB-279F-CE7A-C35A-96826AF49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4825" y="4076414"/>
            <a:ext cx="915988" cy="746125"/>
          </a:xfrm>
          <a:prstGeom prst="rect">
            <a:avLst/>
          </a:prstGeom>
          <a:noFill/>
          <a:ln w="127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79" name="Rectangle 62">
            <a:extLst>
              <a:ext uri="{FF2B5EF4-FFF2-40B4-BE49-F238E27FC236}">
                <a16:creationId xmlns:a16="http://schemas.microsoft.com/office/drawing/2014/main" id="{128AD19F-DBC8-7708-B08E-B7A12F4C9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4263739"/>
            <a:ext cx="792163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Accelerator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0" name="Rectangle 63">
            <a:extLst>
              <a:ext uri="{FF2B5EF4-FFF2-40B4-BE49-F238E27FC236}">
                <a16:creationId xmlns:a16="http://schemas.microsoft.com/office/drawing/2014/main" id="{79208915-1ECD-DB91-3D4D-7136719E1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7713" y="4444714"/>
            <a:ext cx="554038" cy="24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Chiplet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1" name="Rectangle 64">
            <a:extLst>
              <a:ext uri="{FF2B5EF4-FFF2-40B4-BE49-F238E27FC236}">
                <a16:creationId xmlns:a16="http://schemas.microsoft.com/office/drawing/2014/main" id="{680C4BA7-E0A5-EC4A-CFEF-704D34CBA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7963" y="4076414"/>
            <a:ext cx="915988" cy="746125"/>
          </a:xfrm>
          <a:prstGeom prst="rect">
            <a:avLst/>
          </a:prstGeom>
          <a:solidFill>
            <a:srgbClr val="F2F2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2" name="Rectangle 65">
            <a:extLst>
              <a:ext uri="{FF2B5EF4-FFF2-40B4-BE49-F238E27FC236}">
                <a16:creationId xmlns:a16="http://schemas.microsoft.com/office/drawing/2014/main" id="{F68F1D70-52F0-812D-0F45-25BA862F2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7963" y="4076414"/>
            <a:ext cx="915988" cy="746125"/>
          </a:xfrm>
          <a:prstGeom prst="rect">
            <a:avLst/>
          </a:prstGeom>
          <a:noFill/>
          <a:ln w="127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3" name="Rectangle 66">
            <a:extLst>
              <a:ext uri="{FF2B5EF4-FFF2-40B4-BE49-F238E27FC236}">
                <a16:creationId xmlns:a16="http://schemas.microsoft.com/office/drawing/2014/main" id="{434E4109-0E46-CB52-4115-23678D448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7963" y="4071651"/>
            <a:ext cx="915988" cy="750888"/>
          </a:xfrm>
          <a:prstGeom prst="rect">
            <a:avLst/>
          </a:prstGeom>
          <a:solidFill>
            <a:srgbClr val="D7E3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4" name="Rectangle 67">
            <a:extLst>
              <a:ext uri="{FF2B5EF4-FFF2-40B4-BE49-F238E27FC236}">
                <a16:creationId xmlns:a16="http://schemas.microsoft.com/office/drawing/2014/main" id="{7BEEF4CA-E822-1B65-822A-A192DC351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7963" y="4071651"/>
            <a:ext cx="915988" cy="750888"/>
          </a:xfrm>
          <a:prstGeom prst="rect">
            <a:avLst/>
          </a:prstGeom>
          <a:noFill/>
          <a:ln w="127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5" name="Rectangle 68">
            <a:extLst>
              <a:ext uri="{FF2B5EF4-FFF2-40B4-BE49-F238E27FC236}">
                <a16:creationId xmlns:a16="http://schemas.microsoft.com/office/drawing/2014/main" id="{9FCBD17F-5168-B31C-CAEC-637C60A40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02738" y="4263739"/>
            <a:ext cx="792163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Accelerator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6" name="Rectangle 69">
            <a:extLst>
              <a:ext uri="{FF2B5EF4-FFF2-40B4-BE49-F238E27FC236}">
                <a16:creationId xmlns:a16="http://schemas.microsoft.com/office/drawing/2014/main" id="{C043050E-3514-B819-6234-2ABE37148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0850" y="4444714"/>
            <a:ext cx="554038" cy="24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Chiplet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7" name="Rectangle 70">
            <a:extLst>
              <a:ext uri="{FF2B5EF4-FFF2-40B4-BE49-F238E27FC236}">
                <a16:creationId xmlns:a16="http://schemas.microsoft.com/office/drawing/2014/main" id="{F49E0076-323F-421F-E493-D4F22BBF5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688" y="4082764"/>
            <a:ext cx="915988" cy="746125"/>
          </a:xfrm>
          <a:prstGeom prst="rect">
            <a:avLst/>
          </a:prstGeom>
          <a:solidFill>
            <a:srgbClr val="DBEE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8" name="Rectangle 71">
            <a:extLst>
              <a:ext uri="{FF2B5EF4-FFF2-40B4-BE49-F238E27FC236}">
                <a16:creationId xmlns:a16="http://schemas.microsoft.com/office/drawing/2014/main" id="{E26AD9AA-AE53-CB83-F163-F51862B24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1688" y="4082764"/>
            <a:ext cx="915988" cy="746125"/>
          </a:xfrm>
          <a:prstGeom prst="rect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89" name="Rectangle 72">
            <a:extLst>
              <a:ext uri="{FF2B5EF4-FFF2-40B4-BE49-F238E27FC236}">
                <a16:creationId xmlns:a16="http://schemas.microsoft.com/office/drawing/2014/main" id="{5D113A29-DD75-C3E0-FDBE-9B9153E5A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6463" y="4268501"/>
            <a:ext cx="792163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Accelerator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0" name="Rectangle 73">
            <a:extLst>
              <a:ext uri="{FF2B5EF4-FFF2-40B4-BE49-F238E27FC236}">
                <a16:creationId xmlns:a16="http://schemas.microsoft.com/office/drawing/2014/main" id="{2EEC9D48-56AF-A4A0-9F0D-6E087081F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4575" y="4452651"/>
            <a:ext cx="5143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Chiplet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1" name="Line 74">
            <a:extLst>
              <a:ext uri="{FF2B5EF4-FFF2-40B4-BE49-F238E27FC236}">
                <a16:creationId xmlns:a16="http://schemas.microsoft.com/office/drawing/2014/main" id="{C0D5CCE9-010B-BD28-2802-756041ED47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0075" y="3676364"/>
            <a:ext cx="115888" cy="0"/>
          </a:xfrm>
          <a:prstGeom prst="line">
            <a:avLst/>
          </a:prstGeom>
          <a:noFill/>
          <a:ln w="127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2" name="Freeform 75">
            <a:extLst>
              <a:ext uri="{FF2B5EF4-FFF2-40B4-BE49-F238E27FC236}">
                <a16:creationId xmlns:a16="http://schemas.microsoft.com/office/drawing/2014/main" id="{9443C1FA-3560-51EC-0245-9553B5EE2524}"/>
              </a:ext>
            </a:extLst>
          </p:cNvPr>
          <p:cNvSpPr>
            <a:spLocks/>
          </p:cNvSpPr>
          <p:nvPr/>
        </p:nvSpPr>
        <p:spPr bwMode="auto">
          <a:xfrm>
            <a:off x="6864350" y="3644614"/>
            <a:ext cx="93663" cy="61913"/>
          </a:xfrm>
          <a:custGeom>
            <a:avLst/>
            <a:gdLst>
              <a:gd name="T0" fmla="*/ 59 w 59"/>
              <a:gd name="T1" fmla="*/ 39 h 39"/>
              <a:gd name="T2" fmla="*/ 0 w 59"/>
              <a:gd name="T3" fmla="*/ 20 h 39"/>
              <a:gd name="T4" fmla="*/ 59 w 59"/>
              <a:gd name="T5" fmla="*/ 0 h 39"/>
              <a:gd name="T6" fmla="*/ 59 w 59"/>
              <a:gd name="T7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9" h="39">
                <a:moveTo>
                  <a:pt x="59" y="39"/>
                </a:moveTo>
                <a:lnTo>
                  <a:pt x="0" y="20"/>
                </a:lnTo>
                <a:lnTo>
                  <a:pt x="59" y="0"/>
                </a:lnTo>
                <a:lnTo>
                  <a:pt x="59" y="39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3" name="Freeform 76">
            <a:extLst>
              <a:ext uri="{FF2B5EF4-FFF2-40B4-BE49-F238E27FC236}">
                <a16:creationId xmlns:a16="http://schemas.microsoft.com/office/drawing/2014/main" id="{6D261FFE-CD97-F218-7B6A-1FA7169965AE}"/>
              </a:ext>
            </a:extLst>
          </p:cNvPr>
          <p:cNvSpPr>
            <a:spLocks/>
          </p:cNvSpPr>
          <p:nvPr/>
        </p:nvSpPr>
        <p:spPr bwMode="auto">
          <a:xfrm>
            <a:off x="7058025" y="3644614"/>
            <a:ext cx="93663" cy="61913"/>
          </a:xfrm>
          <a:custGeom>
            <a:avLst/>
            <a:gdLst>
              <a:gd name="T0" fmla="*/ 0 w 59"/>
              <a:gd name="T1" fmla="*/ 0 h 39"/>
              <a:gd name="T2" fmla="*/ 59 w 59"/>
              <a:gd name="T3" fmla="*/ 20 h 39"/>
              <a:gd name="T4" fmla="*/ 0 w 59"/>
              <a:gd name="T5" fmla="*/ 39 h 39"/>
              <a:gd name="T6" fmla="*/ 0 w 59"/>
              <a:gd name="T7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9" h="39">
                <a:moveTo>
                  <a:pt x="0" y="0"/>
                </a:moveTo>
                <a:lnTo>
                  <a:pt x="59" y="20"/>
                </a:lnTo>
                <a:lnTo>
                  <a:pt x="0" y="39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4" name="Line 77">
            <a:extLst>
              <a:ext uri="{FF2B5EF4-FFF2-40B4-BE49-F238E27FC236}">
                <a16:creationId xmlns:a16="http://schemas.microsoft.com/office/drawing/2014/main" id="{5B2D4886-1EDF-2923-910F-A93B3CC7E0E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0075" y="3762089"/>
            <a:ext cx="115888" cy="0"/>
          </a:xfrm>
          <a:prstGeom prst="line">
            <a:avLst/>
          </a:prstGeom>
          <a:noFill/>
          <a:ln w="127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5" name="Freeform 78">
            <a:extLst>
              <a:ext uri="{FF2B5EF4-FFF2-40B4-BE49-F238E27FC236}">
                <a16:creationId xmlns:a16="http://schemas.microsoft.com/office/drawing/2014/main" id="{1313FDA6-E268-9709-5F5B-62773DDE1AFD}"/>
              </a:ext>
            </a:extLst>
          </p:cNvPr>
          <p:cNvSpPr>
            <a:spLocks/>
          </p:cNvSpPr>
          <p:nvPr/>
        </p:nvSpPr>
        <p:spPr bwMode="auto">
          <a:xfrm>
            <a:off x="6864350" y="3730339"/>
            <a:ext cx="93663" cy="61913"/>
          </a:xfrm>
          <a:custGeom>
            <a:avLst/>
            <a:gdLst>
              <a:gd name="T0" fmla="*/ 59 w 59"/>
              <a:gd name="T1" fmla="*/ 39 h 39"/>
              <a:gd name="T2" fmla="*/ 0 w 59"/>
              <a:gd name="T3" fmla="*/ 20 h 39"/>
              <a:gd name="T4" fmla="*/ 59 w 59"/>
              <a:gd name="T5" fmla="*/ 0 h 39"/>
              <a:gd name="T6" fmla="*/ 59 w 59"/>
              <a:gd name="T7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9" h="39">
                <a:moveTo>
                  <a:pt x="59" y="39"/>
                </a:moveTo>
                <a:lnTo>
                  <a:pt x="0" y="20"/>
                </a:lnTo>
                <a:lnTo>
                  <a:pt x="59" y="0"/>
                </a:lnTo>
                <a:lnTo>
                  <a:pt x="59" y="39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6" name="Freeform 79">
            <a:extLst>
              <a:ext uri="{FF2B5EF4-FFF2-40B4-BE49-F238E27FC236}">
                <a16:creationId xmlns:a16="http://schemas.microsoft.com/office/drawing/2014/main" id="{51417469-33D2-2B7A-71A9-FB6DF2C98EE1}"/>
              </a:ext>
            </a:extLst>
          </p:cNvPr>
          <p:cNvSpPr>
            <a:spLocks/>
          </p:cNvSpPr>
          <p:nvPr/>
        </p:nvSpPr>
        <p:spPr bwMode="auto">
          <a:xfrm>
            <a:off x="7058025" y="3730339"/>
            <a:ext cx="93663" cy="61913"/>
          </a:xfrm>
          <a:custGeom>
            <a:avLst/>
            <a:gdLst>
              <a:gd name="T0" fmla="*/ 0 w 59"/>
              <a:gd name="T1" fmla="*/ 0 h 39"/>
              <a:gd name="T2" fmla="*/ 59 w 59"/>
              <a:gd name="T3" fmla="*/ 20 h 39"/>
              <a:gd name="T4" fmla="*/ 0 w 59"/>
              <a:gd name="T5" fmla="*/ 39 h 39"/>
              <a:gd name="T6" fmla="*/ 0 w 59"/>
              <a:gd name="T7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9" h="39">
                <a:moveTo>
                  <a:pt x="0" y="0"/>
                </a:moveTo>
                <a:lnTo>
                  <a:pt x="59" y="20"/>
                </a:lnTo>
                <a:lnTo>
                  <a:pt x="0" y="39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7" name="Line 80">
            <a:extLst>
              <a:ext uri="{FF2B5EF4-FFF2-40B4-BE49-F238E27FC236}">
                <a16:creationId xmlns:a16="http://schemas.microsoft.com/office/drawing/2014/main" id="{A1874D9B-DE22-F2F8-A1B6-27FF45A1EE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0075" y="3847814"/>
            <a:ext cx="115888" cy="0"/>
          </a:xfrm>
          <a:prstGeom prst="line">
            <a:avLst/>
          </a:prstGeom>
          <a:noFill/>
          <a:ln w="127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8" name="Freeform 81">
            <a:extLst>
              <a:ext uri="{FF2B5EF4-FFF2-40B4-BE49-F238E27FC236}">
                <a16:creationId xmlns:a16="http://schemas.microsoft.com/office/drawing/2014/main" id="{565B9E5B-681D-4989-73EF-88D3B757BE00}"/>
              </a:ext>
            </a:extLst>
          </p:cNvPr>
          <p:cNvSpPr>
            <a:spLocks/>
          </p:cNvSpPr>
          <p:nvPr/>
        </p:nvSpPr>
        <p:spPr bwMode="auto">
          <a:xfrm>
            <a:off x="6864350" y="3816064"/>
            <a:ext cx="93663" cy="63500"/>
          </a:xfrm>
          <a:custGeom>
            <a:avLst/>
            <a:gdLst>
              <a:gd name="T0" fmla="*/ 59 w 59"/>
              <a:gd name="T1" fmla="*/ 40 h 40"/>
              <a:gd name="T2" fmla="*/ 0 w 59"/>
              <a:gd name="T3" fmla="*/ 20 h 40"/>
              <a:gd name="T4" fmla="*/ 59 w 59"/>
              <a:gd name="T5" fmla="*/ 0 h 40"/>
              <a:gd name="T6" fmla="*/ 59 w 59"/>
              <a:gd name="T7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9" h="40">
                <a:moveTo>
                  <a:pt x="59" y="40"/>
                </a:moveTo>
                <a:lnTo>
                  <a:pt x="0" y="20"/>
                </a:lnTo>
                <a:lnTo>
                  <a:pt x="59" y="0"/>
                </a:lnTo>
                <a:lnTo>
                  <a:pt x="59" y="4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99" name="Freeform 82">
            <a:extLst>
              <a:ext uri="{FF2B5EF4-FFF2-40B4-BE49-F238E27FC236}">
                <a16:creationId xmlns:a16="http://schemas.microsoft.com/office/drawing/2014/main" id="{60ACCA89-2E2C-3DB5-FB58-D15D66D78B31}"/>
              </a:ext>
            </a:extLst>
          </p:cNvPr>
          <p:cNvSpPr>
            <a:spLocks/>
          </p:cNvSpPr>
          <p:nvPr/>
        </p:nvSpPr>
        <p:spPr bwMode="auto">
          <a:xfrm>
            <a:off x="7058025" y="3816064"/>
            <a:ext cx="93663" cy="63500"/>
          </a:xfrm>
          <a:custGeom>
            <a:avLst/>
            <a:gdLst>
              <a:gd name="T0" fmla="*/ 0 w 59"/>
              <a:gd name="T1" fmla="*/ 0 h 40"/>
              <a:gd name="T2" fmla="*/ 59 w 59"/>
              <a:gd name="T3" fmla="*/ 20 h 40"/>
              <a:gd name="T4" fmla="*/ 0 w 59"/>
              <a:gd name="T5" fmla="*/ 40 h 40"/>
              <a:gd name="T6" fmla="*/ 0 w 59"/>
              <a:gd name="T7" fmla="*/ 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9" h="40">
                <a:moveTo>
                  <a:pt x="0" y="0"/>
                </a:moveTo>
                <a:lnTo>
                  <a:pt x="59" y="20"/>
                </a:lnTo>
                <a:lnTo>
                  <a:pt x="0" y="40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0" name="Rectangle 83">
            <a:extLst>
              <a:ext uri="{FF2B5EF4-FFF2-40B4-BE49-F238E27FC236}">
                <a16:creationId xmlns:a16="http://schemas.microsoft.com/office/drawing/2014/main" id="{49228E55-9F7B-55DE-7054-BAB71016D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250" y="3158839"/>
            <a:ext cx="773113" cy="355600"/>
          </a:xfrm>
          <a:prstGeom prst="rect">
            <a:avLst/>
          </a:prstGeom>
          <a:solidFill>
            <a:srgbClr val="FFF2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1" name="Rectangle 84">
            <a:extLst>
              <a:ext uri="{FF2B5EF4-FFF2-40B4-BE49-F238E27FC236}">
                <a16:creationId xmlns:a16="http://schemas.microsoft.com/office/drawing/2014/main" id="{B8796237-4E5E-C97F-0153-E77800E02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250" y="3158839"/>
            <a:ext cx="773113" cy="355600"/>
          </a:xfrm>
          <a:prstGeom prst="rect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2" name="Rectangle 85">
            <a:extLst>
              <a:ext uri="{FF2B5EF4-FFF2-40B4-BE49-F238E27FC236}">
                <a16:creationId xmlns:a16="http://schemas.microsoft.com/office/drawing/2014/main" id="{490D042F-336B-DFDA-7498-DB1B880DA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5263" y="3150901"/>
            <a:ext cx="466725" cy="24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Mem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3" name="Rectangle 86">
            <a:extLst>
              <a:ext uri="{FF2B5EF4-FFF2-40B4-BE49-F238E27FC236}">
                <a16:creationId xmlns:a16="http://schemas.microsoft.com/office/drawing/2014/main" id="{642AF9EF-E787-99CA-5F36-0646DB228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9700" y="3336639"/>
            <a:ext cx="515938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Chiplet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4" name="Rectangle 87">
            <a:extLst>
              <a:ext uri="{FF2B5EF4-FFF2-40B4-BE49-F238E27FC236}">
                <a16:creationId xmlns:a16="http://schemas.microsoft.com/office/drawing/2014/main" id="{CD07634F-9D19-B628-1F20-B5A300C38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250" y="3606514"/>
            <a:ext cx="773113" cy="355600"/>
          </a:xfrm>
          <a:prstGeom prst="rect">
            <a:avLst/>
          </a:prstGeom>
          <a:solidFill>
            <a:srgbClr val="FFF2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5" name="Rectangle 88">
            <a:extLst>
              <a:ext uri="{FF2B5EF4-FFF2-40B4-BE49-F238E27FC236}">
                <a16:creationId xmlns:a16="http://schemas.microsoft.com/office/drawing/2014/main" id="{E33021C2-652A-30F5-CEF1-91860505F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8250" y="3606514"/>
            <a:ext cx="773113" cy="355600"/>
          </a:xfrm>
          <a:prstGeom prst="rect">
            <a:avLst/>
          </a:prstGeom>
          <a:noFill/>
          <a:ln w="12700" cap="rnd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06" name="Rectangle 89">
            <a:extLst>
              <a:ext uri="{FF2B5EF4-FFF2-40B4-BE49-F238E27FC236}">
                <a16:creationId xmlns:a16="http://schemas.microsoft.com/office/drawing/2014/main" id="{017CF6AF-2EA5-5905-64B0-75937276D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5263" y="3598576"/>
            <a:ext cx="466725" cy="249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Mem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7" name="Rectangle 90">
            <a:extLst>
              <a:ext uri="{FF2B5EF4-FFF2-40B4-BE49-F238E27FC236}">
                <a16:creationId xmlns:a16="http://schemas.microsoft.com/office/drawing/2014/main" id="{71106409-65DF-54EC-E7C5-70C14F800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99700" y="3784314"/>
            <a:ext cx="515938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Chiplet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8" name="Rectangle 91">
            <a:extLst>
              <a:ext uri="{FF2B5EF4-FFF2-40B4-BE49-F238E27FC236}">
                <a16:creationId xmlns:a16="http://schemas.microsoft.com/office/drawing/2014/main" id="{4542BEF9-898C-8B2A-0624-394FA612A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0" y="3692239"/>
            <a:ext cx="304800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I/O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9" name="Line 92">
            <a:extLst>
              <a:ext uri="{FF2B5EF4-FFF2-40B4-BE49-F238E27FC236}">
                <a16:creationId xmlns:a16="http://schemas.microsoft.com/office/drawing/2014/main" id="{CF361FB3-110A-5AFC-FC8F-7703CB78F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6913" y="3246151"/>
            <a:ext cx="115888" cy="0"/>
          </a:xfrm>
          <a:prstGeom prst="line">
            <a:avLst/>
          </a:prstGeom>
          <a:noFill/>
          <a:ln w="127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0" name="Freeform 93">
            <a:extLst>
              <a:ext uri="{FF2B5EF4-FFF2-40B4-BE49-F238E27FC236}">
                <a16:creationId xmlns:a16="http://schemas.microsoft.com/office/drawing/2014/main" id="{A1637662-C92C-F1BB-DA86-BA166BD5F019}"/>
              </a:ext>
            </a:extLst>
          </p:cNvPr>
          <p:cNvSpPr>
            <a:spLocks/>
          </p:cNvSpPr>
          <p:nvPr/>
        </p:nvSpPr>
        <p:spPr bwMode="auto">
          <a:xfrm>
            <a:off x="5691188" y="3214401"/>
            <a:ext cx="93663" cy="61913"/>
          </a:xfrm>
          <a:custGeom>
            <a:avLst/>
            <a:gdLst>
              <a:gd name="T0" fmla="*/ 59 w 59"/>
              <a:gd name="T1" fmla="*/ 39 h 39"/>
              <a:gd name="T2" fmla="*/ 0 w 59"/>
              <a:gd name="T3" fmla="*/ 20 h 39"/>
              <a:gd name="T4" fmla="*/ 59 w 59"/>
              <a:gd name="T5" fmla="*/ 0 h 39"/>
              <a:gd name="T6" fmla="*/ 59 w 59"/>
              <a:gd name="T7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9" h="39">
                <a:moveTo>
                  <a:pt x="59" y="39"/>
                </a:moveTo>
                <a:lnTo>
                  <a:pt x="0" y="20"/>
                </a:lnTo>
                <a:lnTo>
                  <a:pt x="59" y="0"/>
                </a:lnTo>
                <a:lnTo>
                  <a:pt x="59" y="39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1" name="Freeform 94">
            <a:extLst>
              <a:ext uri="{FF2B5EF4-FFF2-40B4-BE49-F238E27FC236}">
                <a16:creationId xmlns:a16="http://schemas.microsoft.com/office/drawing/2014/main" id="{D0302BA4-3EDC-CB2F-9570-76F7EF4E6EE4}"/>
              </a:ext>
            </a:extLst>
          </p:cNvPr>
          <p:cNvSpPr>
            <a:spLocks/>
          </p:cNvSpPr>
          <p:nvPr/>
        </p:nvSpPr>
        <p:spPr bwMode="auto">
          <a:xfrm>
            <a:off x="5884863" y="3214401"/>
            <a:ext cx="92075" cy="61913"/>
          </a:xfrm>
          <a:custGeom>
            <a:avLst/>
            <a:gdLst>
              <a:gd name="T0" fmla="*/ 0 w 58"/>
              <a:gd name="T1" fmla="*/ 0 h 39"/>
              <a:gd name="T2" fmla="*/ 58 w 58"/>
              <a:gd name="T3" fmla="*/ 20 h 39"/>
              <a:gd name="T4" fmla="*/ 0 w 58"/>
              <a:gd name="T5" fmla="*/ 39 h 39"/>
              <a:gd name="T6" fmla="*/ 0 w 58"/>
              <a:gd name="T7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" h="39">
                <a:moveTo>
                  <a:pt x="0" y="0"/>
                </a:moveTo>
                <a:lnTo>
                  <a:pt x="58" y="20"/>
                </a:lnTo>
                <a:lnTo>
                  <a:pt x="0" y="39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2" name="Line 95">
            <a:extLst>
              <a:ext uri="{FF2B5EF4-FFF2-40B4-BE49-F238E27FC236}">
                <a16:creationId xmlns:a16="http://schemas.microsoft.com/office/drawing/2014/main" id="{30EAEA6F-03A3-8D30-1737-28A0AC2D4C1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6913" y="3331876"/>
            <a:ext cx="115888" cy="0"/>
          </a:xfrm>
          <a:prstGeom prst="line">
            <a:avLst/>
          </a:prstGeom>
          <a:noFill/>
          <a:ln w="127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3" name="Freeform 96">
            <a:extLst>
              <a:ext uri="{FF2B5EF4-FFF2-40B4-BE49-F238E27FC236}">
                <a16:creationId xmlns:a16="http://schemas.microsoft.com/office/drawing/2014/main" id="{496DDF7C-129C-9B13-172E-22DC3465B537}"/>
              </a:ext>
            </a:extLst>
          </p:cNvPr>
          <p:cNvSpPr>
            <a:spLocks/>
          </p:cNvSpPr>
          <p:nvPr/>
        </p:nvSpPr>
        <p:spPr bwMode="auto">
          <a:xfrm>
            <a:off x="5691188" y="3300126"/>
            <a:ext cx="93663" cy="61913"/>
          </a:xfrm>
          <a:custGeom>
            <a:avLst/>
            <a:gdLst>
              <a:gd name="T0" fmla="*/ 59 w 59"/>
              <a:gd name="T1" fmla="*/ 39 h 39"/>
              <a:gd name="T2" fmla="*/ 0 w 59"/>
              <a:gd name="T3" fmla="*/ 20 h 39"/>
              <a:gd name="T4" fmla="*/ 59 w 59"/>
              <a:gd name="T5" fmla="*/ 0 h 39"/>
              <a:gd name="T6" fmla="*/ 59 w 59"/>
              <a:gd name="T7" fmla="*/ 3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9" h="39">
                <a:moveTo>
                  <a:pt x="59" y="39"/>
                </a:moveTo>
                <a:lnTo>
                  <a:pt x="0" y="20"/>
                </a:lnTo>
                <a:lnTo>
                  <a:pt x="59" y="0"/>
                </a:lnTo>
                <a:lnTo>
                  <a:pt x="59" y="39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Freeform 97">
            <a:extLst>
              <a:ext uri="{FF2B5EF4-FFF2-40B4-BE49-F238E27FC236}">
                <a16:creationId xmlns:a16="http://schemas.microsoft.com/office/drawing/2014/main" id="{3EEEC98A-A54E-672B-3733-43CCC016171D}"/>
              </a:ext>
            </a:extLst>
          </p:cNvPr>
          <p:cNvSpPr>
            <a:spLocks/>
          </p:cNvSpPr>
          <p:nvPr/>
        </p:nvSpPr>
        <p:spPr bwMode="auto">
          <a:xfrm>
            <a:off x="5884863" y="3300126"/>
            <a:ext cx="92075" cy="61913"/>
          </a:xfrm>
          <a:custGeom>
            <a:avLst/>
            <a:gdLst>
              <a:gd name="T0" fmla="*/ 0 w 58"/>
              <a:gd name="T1" fmla="*/ 0 h 39"/>
              <a:gd name="T2" fmla="*/ 58 w 58"/>
              <a:gd name="T3" fmla="*/ 20 h 39"/>
              <a:gd name="T4" fmla="*/ 0 w 58"/>
              <a:gd name="T5" fmla="*/ 39 h 39"/>
              <a:gd name="T6" fmla="*/ 0 w 58"/>
              <a:gd name="T7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" h="39">
                <a:moveTo>
                  <a:pt x="0" y="0"/>
                </a:moveTo>
                <a:lnTo>
                  <a:pt x="58" y="20"/>
                </a:lnTo>
                <a:lnTo>
                  <a:pt x="0" y="39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Line 98">
            <a:extLst>
              <a:ext uri="{FF2B5EF4-FFF2-40B4-BE49-F238E27FC236}">
                <a16:creationId xmlns:a16="http://schemas.microsoft.com/office/drawing/2014/main" id="{504742EC-D92D-C618-DB4F-29AF1FEEC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6913" y="3417601"/>
            <a:ext cx="115888" cy="0"/>
          </a:xfrm>
          <a:prstGeom prst="line">
            <a:avLst/>
          </a:prstGeom>
          <a:noFill/>
          <a:ln w="12700" cap="rnd">
            <a:solidFill>
              <a:srgbClr val="3F3F3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6" name="Freeform 99">
            <a:extLst>
              <a:ext uri="{FF2B5EF4-FFF2-40B4-BE49-F238E27FC236}">
                <a16:creationId xmlns:a16="http://schemas.microsoft.com/office/drawing/2014/main" id="{650C795C-6C8B-8693-9890-07B3E2A5EA55}"/>
              </a:ext>
            </a:extLst>
          </p:cNvPr>
          <p:cNvSpPr>
            <a:spLocks/>
          </p:cNvSpPr>
          <p:nvPr/>
        </p:nvSpPr>
        <p:spPr bwMode="auto">
          <a:xfrm>
            <a:off x="5691188" y="3385851"/>
            <a:ext cx="93663" cy="63500"/>
          </a:xfrm>
          <a:custGeom>
            <a:avLst/>
            <a:gdLst>
              <a:gd name="T0" fmla="*/ 59 w 59"/>
              <a:gd name="T1" fmla="*/ 40 h 40"/>
              <a:gd name="T2" fmla="*/ 0 w 59"/>
              <a:gd name="T3" fmla="*/ 20 h 40"/>
              <a:gd name="T4" fmla="*/ 59 w 59"/>
              <a:gd name="T5" fmla="*/ 0 h 40"/>
              <a:gd name="T6" fmla="*/ 59 w 59"/>
              <a:gd name="T7" fmla="*/ 4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9" h="40">
                <a:moveTo>
                  <a:pt x="59" y="40"/>
                </a:moveTo>
                <a:lnTo>
                  <a:pt x="0" y="20"/>
                </a:lnTo>
                <a:lnTo>
                  <a:pt x="59" y="0"/>
                </a:lnTo>
                <a:lnTo>
                  <a:pt x="59" y="4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7" name="Freeform 100">
            <a:extLst>
              <a:ext uri="{FF2B5EF4-FFF2-40B4-BE49-F238E27FC236}">
                <a16:creationId xmlns:a16="http://schemas.microsoft.com/office/drawing/2014/main" id="{3EBEF327-E0B9-BD6C-46FA-3E08D1EFA9F8}"/>
              </a:ext>
            </a:extLst>
          </p:cNvPr>
          <p:cNvSpPr>
            <a:spLocks/>
          </p:cNvSpPr>
          <p:nvPr/>
        </p:nvSpPr>
        <p:spPr bwMode="auto">
          <a:xfrm>
            <a:off x="5884863" y="3385851"/>
            <a:ext cx="92075" cy="63500"/>
          </a:xfrm>
          <a:custGeom>
            <a:avLst/>
            <a:gdLst>
              <a:gd name="T0" fmla="*/ 0 w 58"/>
              <a:gd name="T1" fmla="*/ 0 h 40"/>
              <a:gd name="T2" fmla="*/ 58 w 58"/>
              <a:gd name="T3" fmla="*/ 20 h 40"/>
              <a:gd name="T4" fmla="*/ 0 w 58"/>
              <a:gd name="T5" fmla="*/ 40 h 40"/>
              <a:gd name="T6" fmla="*/ 0 w 58"/>
              <a:gd name="T7" fmla="*/ 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8" h="40">
                <a:moveTo>
                  <a:pt x="0" y="0"/>
                </a:moveTo>
                <a:lnTo>
                  <a:pt x="58" y="20"/>
                </a:lnTo>
                <a:lnTo>
                  <a:pt x="0" y="40"/>
                </a:lnTo>
                <a:lnTo>
                  <a:pt x="0" y="0"/>
                </a:lnTo>
                <a:close/>
              </a:path>
            </a:pathLst>
          </a:custGeom>
          <a:solidFill>
            <a:srgbClr val="3F3F3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8" name="Rectangle 101">
            <a:extLst>
              <a:ext uri="{FF2B5EF4-FFF2-40B4-BE49-F238E27FC236}">
                <a16:creationId xmlns:a16="http://schemas.microsoft.com/office/drawing/2014/main" id="{34D11A4E-E83E-7110-3353-7A27FC3BB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3262026"/>
            <a:ext cx="306388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I/O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F9FC2C4E-1D5F-C465-8169-60BC3F95CD38}"/>
              </a:ext>
            </a:extLst>
          </p:cNvPr>
          <p:cNvSpPr txBox="1"/>
          <p:nvPr/>
        </p:nvSpPr>
        <p:spPr>
          <a:xfrm>
            <a:off x="579994" y="5793692"/>
            <a:ext cx="9803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893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Open Chiplet Ecosystem Requires Interoperability at Many Levels</a:t>
            </a:r>
          </a:p>
          <a:p>
            <a:pPr marL="628650" lvl="1" indent="-171450">
              <a:buFont typeface="Arial" panose="020B0604020202020204" pitchFamily="34" charset="0"/>
              <a:buChar char="‒"/>
            </a:pPr>
            <a:r>
              <a:rPr lang="en-US" sz="1100" dirty="0">
                <a:solidFill>
                  <a:srgbClr val="2893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Vendor, Foundry, OSAT, IP Provider, Processor ISA, and System Architecture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2893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Open Chiplet Ecosystem Requires Open Standards with Open Access and Open Governance</a:t>
            </a:r>
          </a:p>
        </p:txBody>
      </p:sp>
    </p:spTree>
    <p:extLst>
      <p:ext uri="{BB962C8B-B14F-4D97-AF65-F5344CB8AC3E}">
        <p14:creationId xmlns:p14="http://schemas.microsoft.com/office/powerpoint/2010/main" val="2029339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DDFE-79A1-F120-E268-6772A18B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UCIe Consortium Announced </a:t>
            </a:r>
            <a:r>
              <a:rPr lang="en-US" sz="2000" dirty="0"/>
              <a:t>(March 2</a:t>
            </a:r>
            <a:r>
              <a:rPr lang="en-US" sz="2000" baseline="30000" dirty="0"/>
              <a:t>nd</a:t>
            </a:r>
            <a:r>
              <a:rPr lang="en-US" sz="2000" dirty="0"/>
              <a:t> 2022)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F7E53-0911-D588-AF15-6FB9CC69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F23B8-18BE-485D-BC2C-61110F510EA1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5">
            <a:hlinkClick r:id="rId2"/>
            <a:extLst>
              <a:ext uri="{FF2B5EF4-FFF2-40B4-BE49-F238E27FC236}">
                <a16:creationId xmlns:a16="http://schemas.microsoft.com/office/drawing/2014/main" id="{041CCC62-4B64-56AB-A508-2B79CB40F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640" y="1472797"/>
            <a:ext cx="2196423" cy="3086740"/>
          </a:xfrm>
          <a:prstGeom prst="rect">
            <a:avLst/>
          </a:prstGeom>
          <a:noFill/>
          <a:ln>
            <a:solidFill>
              <a:srgbClr val="000000">
                <a:lumMod val="75000"/>
                <a:lumOff val="2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hlinkClick r:id="rId4"/>
            <a:extLst>
              <a:ext uri="{FF2B5EF4-FFF2-40B4-BE49-F238E27FC236}">
                <a16:creationId xmlns:a16="http://schemas.microsoft.com/office/drawing/2014/main" id="{F98B26EC-0BAB-AFAA-5E7F-F7AFE1BCD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835" y="1217023"/>
            <a:ext cx="2800948" cy="2329316"/>
          </a:xfrm>
          <a:prstGeom prst="rect">
            <a:avLst/>
          </a:prstGeom>
          <a:noFill/>
          <a:ln>
            <a:solidFill>
              <a:srgbClr val="000000">
                <a:lumMod val="75000"/>
                <a:lumOff val="2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>
            <a:hlinkClick r:id="rId6"/>
            <a:extLst>
              <a:ext uri="{FF2B5EF4-FFF2-40B4-BE49-F238E27FC236}">
                <a16:creationId xmlns:a16="http://schemas.microsoft.com/office/drawing/2014/main" id="{E96FD1B9-38D4-5F96-0CE9-CCAB99685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225" y="1129894"/>
            <a:ext cx="2895600" cy="2416445"/>
          </a:xfrm>
          <a:prstGeom prst="rect">
            <a:avLst/>
          </a:prstGeom>
          <a:noFill/>
          <a:ln>
            <a:solidFill>
              <a:srgbClr val="000000">
                <a:lumMod val="75000"/>
                <a:lumOff val="2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C284250-D148-7297-ACC9-91A799389E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064" y="4805265"/>
            <a:ext cx="4932105" cy="1189762"/>
          </a:xfrm>
          <a:prstGeom prst="rect">
            <a:avLst/>
          </a:prstGeom>
          <a:ln>
            <a:solidFill>
              <a:srgbClr val="000000">
                <a:lumMod val="75000"/>
                <a:lumOff val="2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935A6E-E96B-4A57-8021-902F72B200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7391" y="1791734"/>
            <a:ext cx="2548349" cy="1981372"/>
          </a:xfrm>
          <a:prstGeom prst="rect">
            <a:avLst/>
          </a:prstGeom>
          <a:ln>
            <a:solidFill>
              <a:srgbClr val="000000">
                <a:lumMod val="75000"/>
                <a:lumOff val="25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E515D5-6F86-E63C-7328-E59AFA111C57}"/>
              </a:ext>
            </a:extLst>
          </p:cNvPr>
          <p:cNvSpPr/>
          <p:nvPr/>
        </p:nvSpPr>
        <p:spPr>
          <a:xfrm>
            <a:off x="5225740" y="3676229"/>
            <a:ext cx="6468651" cy="2649017"/>
          </a:xfrm>
          <a:prstGeom prst="roundRect">
            <a:avLst/>
          </a:prstGeom>
          <a:solidFill>
            <a:srgbClr val="EFF5E3"/>
          </a:solidFill>
          <a:ln w="381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91440" tIns="91440" rIns="91440" bIns="91440" numCol="1" spcCol="38100" rtlCol="0" anchor="ctr">
            <a:spAutoFit/>
          </a:bodyPr>
          <a:lstStyle/>
          <a:p>
            <a:pPr marL="0" marR="0" lvl="0" indent="0" algn="ctr" defTabSz="8255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One Display Medium" panose="020B0703020203020204" pitchFamily="34" charset="0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1" name="Google Shape;754;p8" descr="Logo&#10;&#10;Description automatically generated">
            <a:extLst>
              <a:ext uri="{FF2B5EF4-FFF2-40B4-BE49-F238E27FC236}">
                <a16:creationId xmlns:a16="http://schemas.microsoft.com/office/drawing/2014/main" id="{7A228C3F-2FF5-8CE1-55D3-069613668EE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tretch/>
        </p:blipFill>
        <p:spPr>
          <a:xfrm>
            <a:off x="7542245" y="5004604"/>
            <a:ext cx="652780" cy="652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59;p8" descr="Text&#10;&#10;Description automatically generated">
            <a:extLst>
              <a:ext uri="{FF2B5EF4-FFF2-40B4-BE49-F238E27FC236}">
                <a16:creationId xmlns:a16="http://schemas.microsoft.com/office/drawing/2014/main" id="{7CD2CE0A-5C5C-E8DB-1E45-F77450036ABF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tretch/>
        </p:blipFill>
        <p:spPr>
          <a:xfrm>
            <a:off x="9724264" y="4442613"/>
            <a:ext cx="1487952" cy="433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752;p8">
            <a:extLst>
              <a:ext uri="{FF2B5EF4-FFF2-40B4-BE49-F238E27FC236}">
                <a16:creationId xmlns:a16="http://schemas.microsoft.com/office/drawing/2014/main" id="{187D89E2-2A8E-5258-71FC-308A8FDBB70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tretch/>
        </p:blipFill>
        <p:spPr>
          <a:xfrm>
            <a:off x="8707964" y="5771019"/>
            <a:ext cx="1102108" cy="292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4A26398D-42E7-352F-49F4-416F4AF8B9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99670" y="5114878"/>
            <a:ext cx="1468602" cy="260065"/>
          </a:xfrm>
          <a:prstGeom prst="rect">
            <a:avLst/>
          </a:prstGeom>
        </p:spPr>
      </p:pic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47A5ED6F-C04C-0FF7-8610-32E71D48C7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594" y="4545751"/>
            <a:ext cx="1588753" cy="202326"/>
          </a:xfrm>
          <a:prstGeom prst="rect">
            <a:avLst/>
          </a:prstGeom>
        </p:spPr>
      </p:pic>
      <p:pic>
        <p:nvPicPr>
          <p:cNvPr id="16" name="Picture 15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F4BE842B-7181-EB3F-66F8-F1024D21434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482" y="4083707"/>
            <a:ext cx="1238825" cy="1238825"/>
          </a:xfrm>
          <a:prstGeom prst="rect">
            <a:avLst/>
          </a:prstGeom>
        </p:spPr>
      </p:pic>
      <p:pic>
        <p:nvPicPr>
          <p:cNvPr id="17" name="Picture 16" descr="Logo&#10;&#10;Description automatically generated">
            <a:extLst>
              <a:ext uri="{FF2B5EF4-FFF2-40B4-BE49-F238E27FC236}">
                <a16:creationId xmlns:a16="http://schemas.microsoft.com/office/drawing/2014/main" id="{C395ADB4-CEA0-9B2A-5CF4-64223774AFB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18" y="4948311"/>
            <a:ext cx="1219319" cy="685867"/>
          </a:xfrm>
          <a:prstGeom prst="rect">
            <a:avLst/>
          </a:prstGeom>
        </p:spPr>
      </p:pic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53F2AE9C-AC15-A1EE-63FB-82C7D330CB3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6305" y="4948311"/>
            <a:ext cx="1864563" cy="685867"/>
          </a:xfrm>
          <a:prstGeom prst="rect">
            <a:avLst/>
          </a:prstGeom>
        </p:spPr>
      </p:pic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24500986-BC1B-DD09-26C9-B2BFF288C27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162" y="5526415"/>
            <a:ext cx="1025618" cy="760086"/>
          </a:xfrm>
          <a:prstGeom prst="rect">
            <a:avLst/>
          </a:prstGeom>
        </p:spPr>
      </p:pic>
      <p:pic>
        <p:nvPicPr>
          <p:cNvPr id="20" name="Picture 19" descr="Shape&#10;&#10;Description automatically generated with medium confidence">
            <a:extLst>
              <a:ext uri="{FF2B5EF4-FFF2-40B4-BE49-F238E27FC236}">
                <a16:creationId xmlns:a16="http://schemas.microsoft.com/office/drawing/2014/main" id="{02C7DF7C-363F-C42F-EA88-BC79C12409E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852" y="5830667"/>
            <a:ext cx="1526784" cy="321296"/>
          </a:xfrm>
          <a:prstGeom prst="rect">
            <a:avLst/>
          </a:prstGeom>
        </p:spPr>
      </p:pic>
      <p:pic>
        <p:nvPicPr>
          <p:cNvPr id="21" name="Picture 20" descr="A picture containing shoji, building, silhouette&#10;&#10;Description automatically generated">
            <a:extLst>
              <a:ext uri="{FF2B5EF4-FFF2-40B4-BE49-F238E27FC236}">
                <a16:creationId xmlns:a16="http://schemas.microsoft.com/office/drawing/2014/main" id="{DC226A43-C9D1-D49A-6486-760E13B0574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627" y="5484426"/>
            <a:ext cx="1228940" cy="773062"/>
          </a:xfrm>
          <a:prstGeom prst="rect">
            <a:avLst/>
          </a:prstGeom>
        </p:spPr>
      </p:pic>
      <p:pic>
        <p:nvPicPr>
          <p:cNvPr id="22" name="Picture 21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53226948-DCB8-6B6E-A01D-05B1AA98B6A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6636" y="4537439"/>
            <a:ext cx="1009011" cy="30843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C9C388D-B34F-3771-4115-934835233375}"/>
              </a:ext>
            </a:extLst>
          </p:cNvPr>
          <p:cNvSpPr txBox="1"/>
          <p:nvPr/>
        </p:nvSpPr>
        <p:spPr>
          <a:xfrm>
            <a:off x="5917132" y="3722187"/>
            <a:ext cx="5060681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defTabSz="2438338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4A86"/>
                </a:solidFill>
                <a:effectLst/>
                <a:uLnTx/>
                <a:uFillTx/>
                <a:latin typeface="Intel Clear"/>
                <a:sym typeface="Helvetica Neue"/>
              </a:rPr>
              <a:t>UCIe Board of Directors</a:t>
            </a:r>
          </a:p>
        </p:txBody>
      </p:sp>
    </p:spTree>
    <p:extLst>
      <p:ext uri="{BB962C8B-B14F-4D97-AF65-F5344CB8AC3E}">
        <p14:creationId xmlns:p14="http://schemas.microsoft.com/office/powerpoint/2010/main" val="1867598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54F64-21BC-9662-740C-D25E6149E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355291"/>
            <a:ext cx="11058832" cy="1786124"/>
          </a:xfrm>
        </p:spPr>
        <p:txBody>
          <a:bodyPr anchor="t"/>
          <a:lstStyle/>
          <a:p>
            <a:r>
              <a:rPr lang="en-US" dirty="0"/>
              <a:t>Member Driven Evolution</a:t>
            </a:r>
            <a:br>
              <a:rPr lang="en-US" dirty="0"/>
            </a:br>
            <a:r>
              <a:rPr lang="en-US" sz="2000" b="1" dirty="0">
                <a:solidFill>
                  <a:srgbClr val="2B4892"/>
                </a:solidFill>
              </a:rPr>
              <a:t>with Open Access and Open Governance</a:t>
            </a:r>
            <a:endParaRPr lang="en-US" b="1" dirty="0">
              <a:solidFill>
                <a:srgbClr val="2B489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274C0-E58E-574E-C67F-7380E93B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F23B8-18BE-485D-BC2C-61110F510EA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DCD6673-8969-473E-22A0-7931E16FBEE6}"/>
              </a:ext>
            </a:extLst>
          </p:cNvPr>
          <p:cNvSpPr/>
          <p:nvPr/>
        </p:nvSpPr>
        <p:spPr>
          <a:xfrm>
            <a:off x="523568" y="2263625"/>
            <a:ext cx="11302707" cy="618101"/>
          </a:xfrm>
          <a:prstGeom prst="rightArrow">
            <a:avLst/>
          </a:prstGeom>
          <a:ln>
            <a:solidFill>
              <a:srgbClr val="6ABF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3FC181-FC3E-068B-3951-0E96E107AC5D}"/>
              </a:ext>
            </a:extLst>
          </p:cNvPr>
          <p:cNvCxnSpPr/>
          <p:nvPr/>
        </p:nvCxnSpPr>
        <p:spPr>
          <a:xfrm>
            <a:off x="1175964" y="2492929"/>
            <a:ext cx="0" cy="1447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D1F131B-61B2-9AAE-7237-F63F3DB7E5B3}"/>
              </a:ext>
            </a:extLst>
          </p:cNvPr>
          <p:cNvSpPr txBox="1"/>
          <p:nvPr/>
        </p:nvSpPr>
        <p:spPr>
          <a:xfrm>
            <a:off x="422536" y="1801044"/>
            <a:ext cx="1506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Verdana Pro" panose="020B0604030504040204" pitchFamily="34" charset="0"/>
              </a:rPr>
              <a:t>March </a:t>
            </a:r>
          </a:p>
          <a:p>
            <a:pPr algn="ctr"/>
            <a:r>
              <a:rPr lang="en-US" sz="1600" dirty="0">
                <a:latin typeface="Verdana Pro" panose="020B0604030504040204" pitchFamily="34" charset="0"/>
              </a:rPr>
              <a:t>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9FCCD-088F-0C34-3DD2-EF5A09E65F6D}"/>
              </a:ext>
            </a:extLst>
          </p:cNvPr>
          <p:cNvSpPr txBox="1"/>
          <p:nvPr/>
        </p:nvSpPr>
        <p:spPr>
          <a:xfrm>
            <a:off x="164759" y="3940729"/>
            <a:ext cx="199377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Verdana Pro" panose="020B0604030504040204" pitchFamily="34" charset="0"/>
              </a:rPr>
              <a:t>UCIe Consortium </a:t>
            </a:r>
          </a:p>
          <a:p>
            <a:pPr algn="ctr"/>
            <a:r>
              <a:rPr lang="en-US" sz="1600" dirty="0">
                <a:latin typeface="Verdana Pro" panose="020B0604030504040204" pitchFamily="34" charset="0"/>
              </a:rPr>
              <a:t>formed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237A4F-02B9-5837-061A-C9708F13EC02}"/>
              </a:ext>
            </a:extLst>
          </p:cNvPr>
          <p:cNvCxnSpPr>
            <a:cxnSpLocks/>
          </p:cNvCxnSpPr>
          <p:nvPr/>
        </p:nvCxnSpPr>
        <p:spPr>
          <a:xfrm>
            <a:off x="1164154" y="4525504"/>
            <a:ext cx="0" cy="208465"/>
          </a:xfrm>
          <a:prstGeom prst="line">
            <a:avLst/>
          </a:prstGeo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B78A4E0-E1CF-1CC8-5EBD-9FCDF0505A59}"/>
              </a:ext>
            </a:extLst>
          </p:cNvPr>
          <p:cNvSpPr txBox="1"/>
          <p:nvPr/>
        </p:nvSpPr>
        <p:spPr>
          <a:xfrm>
            <a:off x="2517345" y="1801044"/>
            <a:ext cx="1506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Verdana Pro" panose="020B0604030504040204" pitchFamily="34" charset="0"/>
              </a:rPr>
              <a:t>June </a:t>
            </a:r>
          </a:p>
          <a:p>
            <a:pPr algn="ctr"/>
            <a:r>
              <a:rPr lang="en-US" sz="1600" dirty="0">
                <a:latin typeface="Verdana Pro" panose="020B0604030504040204" pitchFamily="34" charset="0"/>
              </a:rPr>
              <a:t>2022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DBC602-28F8-3941-8B07-1E859CB810BB}"/>
              </a:ext>
            </a:extLst>
          </p:cNvPr>
          <p:cNvSpPr txBox="1"/>
          <p:nvPr/>
        </p:nvSpPr>
        <p:spPr>
          <a:xfrm>
            <a:off x="179075" y="4733969"/>
            <a:ext cx="199377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Verdana Pro" panose="020B0604030504040204" pitchFamily="34" charset="0"/>
              </a:rPr>
              <a:t>UCIe 1.0 Specification Released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E4771F-E826-1526-1C66-EA74DA644F10}"/>
              </a:ext>
            </a:extLst>
          </p:cNvPr>
          <p:cNvSpPr txBox="1"/>
          <p:nvPr/>
        </p:nvSpPr>
        <p:spPr>
          <a:xfrm>
            <a:off x="2273883" y="3103045"/>
            <a:ext cx="1993777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Verdana Pro" panose="020B0604030504040204" pitchFamily="34" charset="0"/>
              </a:rPr>
              <a:t>UCIe Consortium </a:t>
            </a:r>
          </a:p>
          <a:p>
            <a:pPr algn="ctr"/>
            <a:r>
              <a:rPr lang="en-US" sz="1600" dirty="0">
                <a:latin typeface="Verdana Pro" panose="020B0604030504040204" pitchFamily="34" charset="0"/>
              </a:rPr>
              <a:t>Incorporated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FAC106-E3A8-AD9E-D184-F59A23671630}"/>
              </a:ext>
            </a:extLst>
          </p:cNvPr>
          <p:cNvCxnSpPr/>
          <p:nvPr/>
        </p:nvCxnSpPr>
        <p:spPr>
          <a:xfrm>
            <a:off x="5896182" y="2492929"/>
            <a:ext cx="0" cy="1447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EC266EE-E259-6E34-1203-0574386B5A2A}"/>
              </a:ext>
            </a:extLst>
          </p:cNvPr>
          <p:cNvSpPr txBox="1"/>
          <p:nvPr/>
        </p:nvSpPr>
        <p:spPr>
          <a:xfrm>
            <a:off x="5128437" y="1801044"/>
            <a:ext cx="1506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Verdana Pro" panose="020B0604030504040204" pitchFamily="34" charset="0"/>
              </a:rPr>
              <a:t>August</a:t>
            </a:r>
          </a:p>
          <a:p>
            <a:pPr algn="ctr"/>
            <a:r>
              <a:rPr lang="en-US" sz="1600" dirty="0">
                <a:latin typeface="Verdana Pro" panose="020B0604030504040204" pitchFamily="34" charset="0"/>
              </a:rPr>
              <a:t>2023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C77284-503D-EDF4-3E71-454380707C1A}"/>
              </a:ext>
            </a:extLst>
          </p:cNvPr>
          <p:cNvSpPr txBox="1"/>
          <p:nvPr/>
        </p:nvSpPr>
        <p:spPr>
          <a:xfrm>
            <a:off x="4884977" y="3940729"/>
            <a:ext cx="199377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Verdana Pro" panose="020B0604030504040204" pitchFamily="34" charset="0"/>
              </a:rPr>
              <a:t>UCIe 1.1 Specification Released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80FD76-656A-B846-E939-AE7792521565}"/>
              </a:ext>
            </a:extLst>
          </p:cNvPr>
          <p:cNvCxnSpPr/>
          <p:nvPr/>
        </p:nvCxnSpPr>
        <p:spPr>
          <a:xfrm>
            <a:off x="8295506" y="2492929"/>
            <a:ext cx="0" cy="1447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D3CFC21-ADAA-A1EA-8A08-6C9873C8D7F4}"/>
              </a:ext>
            </a:extLst>
          </p:cNvPr>
          <p:cNvSpPr txBox="1"/>
          <p:nvPr/>
        </p:nvSpPr>
        <p:spPr>
          <a:xfrm>
            <a:off x="7527761" y="1801044"/>
            <a:ext cx="1506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Verdana Pro" panose="020B0604030504040204" pitchFamily="34" charset="0"/>
              </a:rPr>
              <a:t>August</a:t>
            </a:r>
          </a:p>
          <a:p>
            <a:pPr algn="ctr"/>
            <a:r>
              <a:rPr lang="en-US" sz="1600" dirty="0">
                <a:latin typeface="Verdana Pro" panose="020B0604030504040204" pitchFamily="34" charset="0"/>
              </a:rPr>
              <a:t>2024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75140E-3DE4-ABC6-A39F-C2F86CCCF8B5}"/>
              </a:ext>
            </a:extLst>
          </p:cNvPr>
          <p:cNvSpPr txBox="1"/>
          <p:nvPr/>
        </p:nvSpPr>
        <p:spPr>
          <a:xfrm>
            <a:off x="7284301" y="3940729"/>
            <a:ext cx="199377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Verdana Pro" panose="020B0604030504040204" pitchFamily="34" charset="0"/>
              </a:rPr>
              <a:t>UCIe 2.0 Specification Released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9DC4E8-0A01-8EEB-6B3B-55EF462BDB51}"/>
              </a:ext>
            </a:extLst>
          </p:cNvPr>
          <p:cNvCxnSpPr/>
          <p:nvPr/>
        </p:nvCxnSpPr>
        <p:spPr>
          <a:xfrm>
            <a:off x="10694830" y="2492929"/>
            <a:ext cx="0" cy="1447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8EC200D-93A4-B7E3-6A44-7E4E75F35F01}"/>
              </a:ext>
            </a:extLst>
          </p:cNvPr>
          <p:cNvSpPr txBox="1"/>
          <p:nvPr/>
        </p:nvSpPr>
        <p:spPr>
          <a:xfrm>
            <a:off x="9927085" y="1801044"/>
            <a:ext cx="1506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Verdana Pro" panose="020B0604030504040204" pitchFamily="34" charset="0"/>
              </a:rPr>
              <a:t>August</a:t>
            </a:r>
          </a:p>
          <a:p>
            <a:pPr algn="ctr"/>
            <a:r>
              <a:rPr lang="en-US" sz="1600" dirty="0">
                <a:latin typeface="Verdana Pro" panose="020B0604030504040204" pitchFamily="34" charset="0"/>
              </a:rPr>
              <a:t>2025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CABE98-1271-70F7-A493-D55FE28E0343}"/>
              </a:ext>
            </a:extLst>
          </p:cNvPr>
          <p:cNvSpPr txBox="1"/>
          <p:nvPr/>
        </p:nvSpPr>
        <p:spPr>
          <a:xfrm>
            <a:off x="9683625" y="3940729"/>
            <a:ext cx="1993777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Verdana Pro" panose="020B0604030504040204" pitchFamily="34" charset="0"/>
              </a:rPr>
              <a:t>UCIe 3.0 Specification Released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994F237-3D50-E773-CBDB-35A18E9AA1D8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3270772" y="2562269"/>
            <a:ext cx="5211" cy="54077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B96EDEC-46EF-B23D-8A95-B9DE955585C3}"/>
              </a:ext>
            </a:extLst>
          </p:cNvPr>
          <p:cNvSpPr/>
          <p:nvPr/>
        </p:nvSpPr>
        <p:spPr>
          <a:xfrm>
            <a:off x="2872349" y="5779702"/>
            <a:ext cx="6675901" cy="530638"/>
          </a:xfrm>
          <a:prstGeom prst="roundRect">
            <a:avLst/>
          </a:prstGeom>
          <a:solidFill>
            <a:srgbClr val="2B48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140+ Member Companies…and growing!</a:t>
            </a:r>
          </a:p>
        </p:txBody>
      </p:sp>
    </p:spTree>
    <p:extLst>
      <p:ext uri="{BB962C8B-B14F-4D97-AF65-F5344CB8AC3E}">
        <p14:creationId xmlns:p14="http://schemas.microsoft.com/office/powerpoint/2010/main" val="3951975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320B5-DDF6-B264-DACD-6C2B2A926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UCIe 2D and 2.5D Technology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6DB12C-9E5D-F472-02ED-FE64C59CC68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3400" y="1524000"/>
            <a:ext cx="10828338" cy="4664075"/>
            <a:chOff x="336" y="960"/>
            <a:chExt cx="6821" cy="2938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39FE6F79-0FED-4149-743A-EB792B7EACA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36" y="960"/>
              <a:ext cx="6796" cy="2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7" name="Group 205">
              <a:extLst>
                <a:ext uri="{FF2B5EF4-FFF2-40B4-BE49-F238E27FC236}">
                  <a16:creationId xmlns:a16="http://schemas.microsoft.com/office/drawing/2014/main" id="{403BCBD4-998A-59C1-3495-278922B626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" y="1017"/>
              <a:ext cx="5631" cy="2580"/>
              <a:chOff x="344" y="1017"/>
              <a:chExt cx="5631" cy="2580"/>
            </a:xfrm>
          </p:grpSpPr>
          <p:sp>
            <p:nvSpPr>
              <p:cNvPr id="198" name="Rectangle 5">
                <a:extLst>
                  <a:ext uri="{FF2B5EF4-FFF2-40B4-BE49-F238E27FC236}">
                    <a16:creationId xmlns:a16="http://schemas.microsoft.com/office/drawing/2014/main" id="{C05E64C5-041D-A1CD-9731-24EF845E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2" y="2861"/>
                <a:ext cx="2380" cy="145"/>
              </a:xfrm>
              <a:prstGeom prst="rect">
                <a:avLst/>
              </a:prstGeom>
              <a:solidFill>
                <a:srgbClr val="92CD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199" name="Rectangle 6">
                <a:extLst>
                  <a:ext uri="{FF2B5EF4-FFF2-40B4-BE49-F238E27FC236}">
                    <a16:creationId xmlns:a16="http://schemas.microsoft.com/office/drawing/2014/main" id="{6754E69C-71ED-7019-7DBC-A3B3F1481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2" y="2861"/>
                <a:ext cx="2380" cy="145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0" name="Rectangle 7">
                <a:extLst>
                  <a:ext uri="{FF2B5EF4-FFF2-40B4-BE49-F238E27FC236}">
                    <a16:creationId xmlns:a16="http://schemas.microsoft.com/office/drawing/2014/main" id="{1B6DB0D4-9DF7-9E36-0EF8-5083CDB1B1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9" y="2196"/>
                <a:ext cx="2686" cy="245"/>
              </a:xfrm>
              <a:prstGeom prst="rect">
                <a:avLst/>
              </a:prstGeom>
              <a:solidFill>
                <a:srgbClr val="EBF1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1" name="Rectangle 8">
                <a:extLst>
                  <a:ext uri="{FF2B5EF4-FFF2-40B4-BE49-F238E27FC236}">
                    <a16:creationId xmlns:a16="http://schemas.microsoft.com/office/drawing/2014/main" id="{FB6DC386-E90C-D32A-AFAC-59237A11C8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9" y="2196"/>
                <a:ext cx="2686" cy="245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2" name="Rectangle 9">
                <a:extLst>
                  <a:ext uri="{FF2B5EF4-FFF2-40B4-BE49-F238E27FC236}">
                    <a16:creationId xmlns:a16="http://schemas.microsoft.com/office/drawing/2014/main" id="{DD3C7FF4-60A6-C8D4-2D3E-F51D1FF982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3" y="2196"/>
                <a:ext cx="672" cy="122"/>
              </a:xfrm>
              <a:prstGeom prst="rect">
                <a:avLst/>
              </a:prstGeom>
              <a:solidFill>
                <a:srgbClr val="92CD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3" name="Rectangle 10">
                <a:extLst>
                  <a:ext uri="{FF2B5EF4-FFF2-40B4-BE49-F238E27FC236}">
                    <a16:creationId xmlns:a16="http://schemas.microsoft.com/office/drawing/2014/main" id="{30765C4B-1548-D562-012B-8A4078EE5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" y="1020"/>
                <a:ext cx="2503" cy="2169"/>
              </a:xfrm>
              <a:prstGeom prst="rect">
                <a:avLst/>
              </a:prstGeom>
              <a:solidFill>
                <a:srgbClr val="D8D8D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4" name="Freeform 11">
                <a:extLst>
                  <a:ext uri="{FF2B5EF4-FFF2-40B4-BE49-F238E27FC236}">
                    <a16:creationId xmlns:a16="http://schemas.microsoft.com/office/drawing/2014/main" id="{7A80D417-A384-D432-E249-3CC9167CBC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44" y="1017"/>
                <a:ext cx="2508" cy="2175"/>
              </a:xfrm>
              <a:custGeom>
                <a:avLst/>
                <a:gdLst>
                  <a:gd name="T0" fmla="*/ 16 w 7888"/>
                  <a:gd name="T1" fmla="*/ 648 h 6832"/>
                  <a:gd name="T2" fmla="*/ 0 w 7888"/>
                  <a:gd name="T3" fmla="*/ 1032 h 6832"/>
                  <a:gd name="T4" fmla="*/ 8 w 7888"/>
                  <a:gd name="T5" fmla="*/ 1168 h 6832"/>
                  <a:gd name="T6" fmla="*/ 16 w 7888"/>
                  <a:gd name="T7" fmla="*/ 1944 h 6832"/>
                  <a:gd name="T8" fmla="*/ 8 w 7888"/>
                  <a:gd name="T9" fmla="*/ 2576 h 6832"/>
                  <a:gd name="T10" fmla="*/ 0 w 7888"/>
                  <a:gd name="T11" fmla="*/ 2712 h 6832"/>
                  <a:gd name="T12" fmla="*/ 16 w 7888"/>
                  <a:gd name="T13" fmla="*/ 3096 h 6832"/>
                  <a:gd name="T14" fmla="*/ 16 w 7888"/>
                  <a:gd name="T15" fmla="*/ 4104 h 6832"/>
                  <a:gd name="T16" fmla="*/ 0 w 7888"/>
                  <a:gd name="T17" fmla="*/ 4488 h 6832"/>
                  <a:gd name="T18" fmla="*/ 8 w 7888"/>
                  <a:gd name="T19" fmla="*/ 4624 h 6832"/>
                  <a:gd name="T20" fmla="*/ 16 w 7888"/>
                  <a:gd name="T21" fmla="*/ 5400 h 6832"/>
                  <a:gd name="T22" fmla="*/ 8 w 7888"/>
                  <a:gd name="T23" fmla="*/ 6032 h 6832"/>
                  <a:gd name="T24" fmla="*/ 0 w 7888"/>
                  <a:gd name="T25" fmla="*/ 6168 h 6832"/>
                  <a:gd name="T26" fmla="*/ 16 w 7888"/>
                  <a:gd name="T27" fmla="*/ 6552 h 6832"/>
                  <a:gd name="T28" fmla="*/ 744 w 7888"/>
                  <a:gd name="T29" fmla="*/ 6816 h 6832"/>
                  <a:gd name="T30" fmla="*/ 1128 w 7888"/>
                  <a:gd name="T31" fmla="*/ 6832 h 6832"/>
                  <a:gd name="T32" fmla="*/ 1264 w 7888"/>
                  <a:gd name="T33" fmla="*/ 6824 h 6832"/>
                  <a:gd name="T34" fmla="*/ 2040 w 7888"/>
                  <a:gd name="T35" fmla="*/ 6816 h 6832"/>
                  <a:gd name="T36" fmla="*/ 2672 w 7888"/>
                  <a:gd name="T37" fmla="*/ 6824 h 6832"/>
                  <a:gd name="T38" fmla="*/ 2808 w 7888"/>
                  <a:gd name="T39" fmla="*/ 6832 h 6832"/>
                  <a:gd name="T40" fmla="*/ 3192 w 7888"/>
                  <a:gd name="T41" fmla="*/ 6816 h 6832"/>
                  <a:gd name="T42" fmla="*/ 4200 w 7888"/>
                  <a:gd name="T43" fmla="*/ 6816 h 6832"/>
                  <a:gd name="T44" fmla="*/ 4584 w 7888"/>
                  <a:gd name="T45" fmla="*/ 6832 h 6832"/>
                  <a:gd name="T46" fmla="*/ 4720 w 7888"/>
                  <a:gd name="T47" fmla="*/ 6824 h 6832"/>
                  <a:gd name="T48" fmla="*/ 5496 w 7888"/>
                  <a:gd name="T49" fmla="*/ 6816 h 6832"/>
                  <a:gd name="T50" fmla="*/ 6128 w 7888"/>
                  <a:gd name="T51" fmla="*/ 6824 h 6832"/>
                  <a:gd name="T52" fmla="*/ 6264 w 7888"/>
                  <a:gd name="T53" fmla="*/ 6832 h 6832"/>
                  <a:gd name="T54" fmla="*/ 6648 w 7888"/>
                  <a:gd name="T55" fmla="*/ 6816 h 6832"/>
                  <a:gd name="T56" fmla="*/ 7656 w 7888"/>
                  <a:gd name="T57" fmla="*/ 6816 h 6832"/>
                  <a:gd name="T58" fmla="*/ 7872 w 7888"/>
                  <a:gd name="T59" fmla="*/ 6664 h 6832"/>
                  <a:gd name="T60" fmla="*/ 7872 w 7888"/>
                  <a:gd name="T61" fmla="*/ 6280 h 6832"/>
                  <a:gd name="T62" fmla="*/ 7888 w 7888"/>
                  <a:gd name="T63" fmla="*/ 5896 h 6832"/>
                  <a:gd name="T64" fmla="*/ 7880 w 7888"/>
                  <a:gd name="T65" fmla="*/ 5760 h 6832"/>
                  <a:gd name="T66" fmla="*/ 7872 w 7888"/>
                  <a:gd name="T67" fmla="*/ 4984 h 6832"/>
                  <a:gd name="T68" fmla="*/ 7880 w 7888"/>
                  <a:gd name="T69" fmla="*/ 4352 h 6832"/>
                  <a:gd name="T70" fmla="*/ 7888 w 7888"/>
                  <a:gd name="T71" fmla="*/ 4216 h 6832"/>
                  <a:gd name="T72" fmla="*/ 7872 w 7888"/>
                  <a:gd name="T73" fmla="*/ 3832 h 6832"/>
                  <a:gd name="T74" fmla="*/ 7872 w 7888"/>
                  <a:gd name="T75" fmla="*/ 2824 h 6832"/>
                  <a:gd name="T76" fmla="*/ 7888 w 7888"/>
                  <a:gd name="T77" fmla="*/ 2440 h 6832"/>
                  <a:gd name="T78" fmla="*/ 7880 w 7888"/>
                  <a:gd name="T79" fmla="*/ 2304 h 6832"/>
                  <a:gd name="T80" fmla="*/ 7872 w 7888"/>
                  <a:gd name="T81" fmla="*/ 1528 h 6832"/>
                  <a:gd name="T82" fmla="*/ 7880 w 7888"/>
                  <a:gd name="T83" fmla="*/ 896 h 6832"/>
                  <a:gd name="T84" fmla="*/ 7888 w 7888"/>
                  <a:gd name="T85" fmla="*/ 760 h 6832"/>
                  <a:gd name="T86" fmla="*/ 7872 w 7888"/>
                  <a:gd name="T87" fmla="*/ 376 h 6832"/>
                  <a:gd name="T88" fmla="*/ 7240 w 7888"/>
                  <a:gd name="T89" fmla="*/ 16 h 6832"/>
                  <a:gd name="T90" fmla="*/ 6856 w 7888"/>
                  <a:gd name="T91" fmla="*/ 0 h 6832"/>
                  <a:gd name="T92" fmla="*/ 6720 w 7888"/>
                  <a:gd name="T93" fmla="*/ 8 h 6832"/>
                  <a:gd name="T94" fmla="*/ 5944 w 7888"/>
                  <a:gd name="T95" fmla="*/ 16 h 6832"/>
                  <a:gd name="T96" fmla="*/ 5312 w 7888"/>
                  <a:gd name="T97" fmla="*/ 8 h 6832"/>
                  <a:gd name="T98" fmla="*/ 5176 w 7888"/>
                  <a:gd name="T99" fmla="*/ 0 h 6832"/>
                  <a:gd name="T100" fmla="*/ 4792 w 7888"/>
                  <a:gd name="T101" fmla="*/ 16 h 6832"/>
                  <a:gd name="T102" fmla="*/ 3784 w 7888"/>
                  <a:gd name="T103" fmla="*/ 16 h 6832"/>
                  <a:gd name="T104" fmla="*/ 3400 w 7888"/>
                  <a:gd name="T105" fmla="*/ 0 h 6832"/>
                  <a:gd name="T106" fmla="*/ 3264 w 7888"/>
                  <a:gd name="T107" fmla="*/ 8 h 6832"/>
                  <a:gd name="T108" fmla="*/ 2488 w 7888"/>
                  <a:gd name="T109" fmla="*/ 16 h 6832"/>
                  <a:gd name="T110" fmla="*/ 1856 w 7888"/>
                  <a:gd name="T111" fmla="*/ 8 h 6832"/>
                  <a:gd name="T112" fmla="*/ 1720 w 7888"/>
                  <a:gd name="T113" fmla="*/ 0 h 6832"/>
                  <a:gd name="T114" fmla="*/ 1336 w 7888"/>
                  <a:gd name="T115" fmla="*/ 16 h 6832"/>
                  <a:gd name="T116" fmla="*/ 328 w 7888"/>
                  <a:gd name="T117" fmla="*/ 16 h 6832"/>
                  <a:gd name="T118" fmla="*/ 8 w 7888"/>
                  <a:gd name="T119" fmla="*/ 0 h 68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888" h="6832">
                    <a:moveTo>
                      <a:pt x="16" y="24"/>
                    </a:moveTo>
                    <a:lnTo>
                      <a:pt x="16" y="264"/>
                    </a:lnTo>
                    <a:cubicBezTo>
                      <a:pt x="16" y="269"/>
                      <a:pt x="13" y="272"/>
                      <a:pt x="8" y="272"/>
                    </a:cubicBezTo>
                    <a:cubicBezTo>
                      <a:pt x="4" y="272"/>
                      <a:pt x="0" y="269"/>
                      <a:pt x="0" y="264"/>
                    </a:cubicBezTo>
                    <a:lnTo>
                      <a:pt x="0" y="24"/>
                    </a:lnTo>
                    <a:cubicBezTo>
                      <a:pt x="0" y="20"/>
                      <a:pt x="4" y="16"/>
                      <a:pt x="8" y="16"/>
                    </a:cubicBezTo>
                    <a:cubicBezTo>
                      <a:pt x="13" y="16"/>
                      <a:pt x="16" y="20"/>
                      <a:pt x="16" y="24"/>
                    </a:cubicBezTo>
                    <a:close/>
                    <a:moveTo>
                      <a:pt x="16" y="408"/>
                    </a:moveTo>
                    <a:lnTo>
                      <a:pt x="16" y="648"/>
                    </a:lnTo>
                    <a:cubicBezTo>
                      <a:pt x="16" y="653"/>
                      <a:pt x="13" y="656"/>
                      <a:pt x="8" y="656"/>
                    </a:cubicBezTo>
                    <a:cubicBezTo>
                      <a:pt x="4" y="656"/>
                      <a:pt x="0" y="653"/>
                      <a:pt x="0" y="648"/>
                    </a:cubicBezTo>
                    <a:lnTo>
                      <a:pt x="0" y="408"/>
                    </a:lnTo>
                    <a:cubicBezTo>
                      <a:pt x="0" y="404"/>
                      <a:pt x="4" y="400"/>
                      <a:pt x="8" y="400"/>
                    </a:cubicBezTo>
                    <a:cubicBezTo>
                      <a:pt x="13" y="400"/>
                      <a:pt x="16" y="404"/>
                      <a:pt x="16" y="408"/>
                    </a:cubicBezTo>
                    <a:close/>
                    <a:moveTo>
                      <a:pt x="16" y="792"/>
                    </a:moveTo>
                    <a:lnTo>
                      <a:pt x="16" y="1032"/>
                    </a:lnTo>
                    <a:cubicBezTo>
                      <a:pt x="16" y="1037"/>
                      <a:pt x="13" y="1040"/>
                      <a:pt x="8" y="1040"/>
                    </a:cubicBezTo>
                    <a:cubicBezTo>
                      <a:pt x="4" y="1040"/>
                      <a:pt x="0" y="1037"/>
                      <a:pt x="0" y="1032"/>
                    </a:cubicBezTo>
                    <a:lnTo>
                      <a:pt x="0" y="792"/>
                    </a:lnTo>
                    <a:cubicBezTo>
                      <a:pt x="0" y="788"/>
                      <a:pt x="4" y="784"/>
                      <a:pt x="8" y="784"/>
                    </a:cubicBezTo>
                    <a:cubicBezTo>
                      <a:pt x="13" y="784"/>
                      <a:pt x="16" y="788"/>
                      <a:pt x="16" y="792"/>
                    </a:cubicBezTo>
                    <a:close/>
                    <a:moveTo>
                      <a:pt x="16" y="1176"/>
                    </a:moveTo>
                    <a:lnTo>
                      <a:pt x="16" y="1416"/>
                    </a:lnTo>
                    <a:cubicBezTo>
                      <a:pt x="16" y="1421"/>
                      <a:pt x="13" y="1424"/>
                      <a:pt x="8" y="1424"/>
                    </a:cubicBezTo>
                    <a:cubicBezTo>
                      <a:pt x="4" y="1424"/>
                      <a:pt x="0" y="1421"/>
                      <a:pt x="0" y="1416"/>
                    </a:cubicBezTo>
                    <a:lnTo>
                      <a:pt x="0" y="1176"/>
                    </a:lnTo>
                    <a:cubicBezTo>
                      <a:pt x="0" y="1172"/>
                      <a:pt x="4" y="1168"/>
                      <a:pt x="8" y="1168"/>
                    </a:cubicBezTo>
                    <a:cubicBezTo>
                      <a:pt x="13" y="1168"/>
                      <a:pt x="16" y="1172"/>
                      <a:pt x="16" y="1176"/>
                    </a:cubicBezTo>
                    <a:close/>
                    <a:moveTo>
                      <a:pt x="16" y="1560"/>
                    </a:moveTo>
                    <a:lnTo>
                      <a:pt x="16" y="1800"/>
                    </a:lnTo>
                    <a:cubicBezTo>
                      <a:pt x="16" y="1805"/>
                      <a:pt x="13" y="1808"/>
                      <a:pt x="8" y="1808"/>
                    </a:cubicBezTo>
                    <a:cubicBezTo>
                      <a:pt x="4" y="1808"/>
                      <a:pt x="0" y="1805"/>
                      <a:pt x="0" y="1800"/>
                    </a:cubicBezTo>
                    <a:lnTo>
                      <a:pt x="0" y="1560"/>
                    </a:lnTo>
                    <a:cubicBezTo>
                      <a:pt x="0" y="1556"/>
                      <a:pt x="4" y="1552"/>
                      <a:pt x="8" y="1552"/>
                    </a:cubicBezTo>
                    <a:cubicBezTo>
                      <a:pt x="13" y="1552"/>
                      <a:pt x="16" y="1556"/>
                      <a:pt x="16" y="1560"/>
                    </a:cubicBezTo>
                    <a:close/>
                    <a:moveTo>
                      <a:pt x="16" y="1944"/>
                    </a:moveTo>
                    <a:lnTo>
                      <a:pt x="16" y="2184"/>
                    </a:lnTo>
                    <a:cubicBezTo>
                      <a:pt x="16" y="2189"/>
                      <a:pt x="13" y="2192"/>
                      <a:pt x="8" y="2192"/>
                    </a:cubicBezTo>
                    <a:cubicBezTo>
                      <a:pt x="4" y="2192"/>
                      <a:pt x="0" y="2189"/>
                      <a:pt x="0" y="2184"/>
                    </a:cubicBezTo>
                    <a:lnTo>
                      <a:pt x="0" y="1944"/>
                    </a:lnTo>
                    <a:cubicBezTo>
                      <a:pt x="0" y="1940"/>
                      <a:pt x="4" y="1936"/>
                      <a:pt x="8" y="1936"/>
                    </a:cubicBezTo>
                    <a:cubicBezTo>
                      <a:pt x="13" y="1936"/>
                      <a:pt x="16" y="1940"/>
                      <a:pt x="16" y="1944"/>
                    </a:cubicBezTo>
                    <a:close/>
                    <a:moveTo>
                      <a:pt x="16" y="2328"/>
                    </a:moveTo>
                    <a:lnTo>
                      <a:pt x="16" y="2568"/>
                    </a:lnTo>
                    <a:cubicBezTo>
                      <a:pt x="16" y="2573"/>
                      <a:pt x="13" y="2576"/>
                      <a:pt x="8" y="2576"/>
                    </a:cubicBezTo>
                    <a:cubicBezTo>
                      <a:pt x="4" y="2576"/>
                      <a:pt x="0" y="2573"/>
                      <a:pt x="0" y="2568"/>
                    </a:cubicBezTo>
                    <a:lnTo>
                      <a:pt x="0" y="2328"/>
                    </a:lnTo>
                    <a:cubicBezTo>
                      <a:pt x="0" y="2324"/>
                      <a:pt x="4" y="2320"/>
                      <a:pt x="8" y="2320"/>
                    </a:cubicBezTo>
                    <a:cubicBezTo>
                      <a:pt x="13" y="2320"/>
                      <a:pt x="16" y="2324"/>
                      <a:pt x="16" y="2328"/>
                    </a:cubicBezTo>
                    <a:close/>
                    <a:moveTo>
                      <a:pt x="16" y="2712"/>
                    </a:moveTo>
                    <a:lnTo>
                      <a:pt x="16" y="2952"/>
                    </a:lnTo>
                    <a:cubicBezTo>
                      <a:pt x="16" y="2957"/>
                      <a:pt x="13" y="2960"/>
                      <a:pt x="8" y="2960"/>
                    </a:cubicBezTo>
                    <a:cubicBezTo>
                      <a:pt x="4" y="2960"/>
                      <a:pt x="0" y="2957"/>
                      <a:pt x="0" y="2952"/>
                    </a:cubicBezTo>
                    <a:lnTo>
                      <a:pt x="0" y="2712"/>
                    </a:lnTo>
                    <a:cubicBezTo>
                      <a:pt x="0" y="2708"/>
                      <a:pt x="4" y="2704"/>
                      <a:pt x="8" y="2704"/>
                    </a:cubicBezTo>
                    <a:cubicBezTo>
                      <a:pt x="13" y="2704"/>
                      <a:pt x="16" y="2708"/>
                      <a:pt x="16" y="2712"/>
                    </a:cubicBezTo>
                    <a:close/>
                    <a:moveTo>
                      <a:pt x="16" y="3096"/>
                    </a:moveTo>
                    <a:lnTo>
                      <a:pt x="16" y="3336"/>
                    </a:lnTo>
                    <a:cubicBezTo>
                      <a:pt x="16" y="3341"/>
                      <a:pt x="13" y="3344"/>
                      <a:pt x="8" y="3344"/>
                    </a:cubicBezTo>
                    <a:cubicBezTo>
                      <a:pt x="4" y="3344"/>
                      <a:pt x="0" y="3341"/>
                      <a:pt x="0" y="3336"/>
                    </a:cubicBezTo>
                    <a:lnTo>
                      <a:pt x="0" y="3096"/>
                    </a:lnTo>
                    <a:cubicBezTo>
                      <a:pt x="0" y="3092"/>
                      <a:pt x="4" y="3088"/>
                      <a:pt x="8" y="3088"/>
                    </a:cubicBezTo>
                    <a:cubicBezTo>
                      <a:pt x="13" y="3088"/>
                      <a:pt x="16" y="3092"/>
                      <a:pt x="16" y="3096"/>
                    </a:cubicBezTo>
                    <a:close/>
                    <a:moveTo>
                      <a:pt x="16" y="3480"/>
                    </a:moveTo>
                    <a:lnTo>
                      <a:pt x="16" y="3720"/>
                    </a:lnTo>
                    <a:cubicBezTo>
                      <a:pt x="16" y="3725"/>
                      <a:pt x="13" y="3728"/>
                      <a:pt x="8" y="3728"/>
                    </a:cubicBezTo>
                    <a:cubicBezTo>
                      <a:pt x="4" y="3728"/>
                      <a:pt x="0" y="3725"/>
                      <a:pt x="0" y="3720"/>
                    </a:cubicBezTo>
                    <a:lnTo>
                      <a:pt x="0" y="3480"/>
                    </a:lnTo>
                    <a:cubicBezTo>
                      <a:pt x="0" y="3476"/>
                      <a:pt x="4" y="3472"/>
                      <a:pt x="8" y="3472"/>
                    </a:cubicBezTo>
                    <a:cubicBezTo>
                      <a:pt x="13" y="3472"/>
                      <a:pt x="16" y="3476"/>
                      <a:pt x="16" y="3480"/>
                    </a:cubicBezTo>
                    <a:close/>
                    <a:moveTo>
                      <a:pt x="16" y="3864"/>
                    </a:moveTo>
                    <a:lnTo>
                      <a:pt x="16" y="4104"/>
                    </a:lnTo>
                    <a:cubicBezTo>
                      <a:pt x="16" y="4109"/>
                      <a:pt x="13" y="4112"/>
                      <a:pt x="8" y="4112"/>
                    </a:cubicBezTo>
                    <a:cubicBezTo>
                      <a:pt x="4" y="4112"/>
                      <a:pt x="0" y="4109"/>
                      <a:pt x="0" y="4104"/>
                    </a:cubicBezTo>
                    <a:lnTo>
                      <a:pt x="0" y="3864"/>
                    </a:lnTo>
                    <a:cubicBezTo>
                      <a:pt x="0" y="3860"/>
                      <a:pt x="4" y="3856"/>
                      <a:pt x="8" y="3856"/>
                    </a:cubicBezTo>
                    <a:cubicBezTo>
                      <a:pt x="13" y="3856"/>
                      <a:pt x="16" y="3860"/>
                      <a:pt x="16" y="3864"/>
                    </a:cubicBezTo>
                    <a:close/>
                    <a:moveTo>
                      <a:pt x="16" y="4248"/>
                    </a:moveTo>
                    <a:lnTo>
                      <a:pt x="16" y="4488"/>
                    </a:lnTo>
                    <a:cubicBezTo>
                      <a:pt x="16" y="4493"/>
                      <a:pt x="13" y="4496"/>
                      <a:pt x="8" y="4496"/>
                    </a:cubicBezTo>
                    <a:cubicBezTo>
                      <a:pt x="4" y="4496"/>
                      <a:pt x="0" y="4493"/>
                      <a:pt x="0" y="4488"/>
                    </a:cubicBezTo>
                    <a:lnTo>
                      <a:pt x="0" y="4248"/>
                    </a:lnTo>
                    <a:cubicBezTo>
                      <a:pt x="0" y="4244"/>
                      <a:pt x="4" y="4240"/>
                      <a:pt x="8" y="4240"/>
                    </a:cubicBezTo>
                    <a:cubicBezTo>
                      <a:pt x="13" y="4240"/>
                      <a:pt x="16" y="4244"/>
                      <a:pt x="16" y="4248"/>
                    </a:cubicBezTo>
                    <a:close/>
                    <a:moveTo>
                      <a:pt x="16" y="4632"/>
                    </a:moveTo>
                    <a:lnTo>
                      <a:pt x="16" y="4872"/>
                    </a:lnTo>
                    <a:cubicBezTo>
                      <a:pt x="16" y="4877"/>
                      <a:pt x="13" y="4880"/>
                      <a:pt x="8" y="4880"/>
                    </a:cubicBezTo>
                    <a:cubicBezTo>
                      <a:pt x="4" y="4880"/>
                      <a:pt x="0" y="4877"/>
                      <a:pt x="0" y="4872"/>
                    </a:cubicBezTo>
                    <a:lnTo>
                      <a:pt x="0" y="4632"/>
                    </a:lnTo>
                    <a:cubicBezTo>
                      <a:pt x="0" y="4628"/>
                      <a:pt x="4" y="4624"/>
                      <a:pt x="8" y="4624"/>
                    </a:cubicBezTo>
                    <a:cubicBezTo>
                      <a:pt x="13" y="4624"/>
                      <a:pt x="16" y="4628"/>
                      <a:pt x="16" y="4632"/>
                    </a:cubicBezTo>
                    <a:close/>
                    <a:moveTo>
                      <a:pt x="16" y="5016"/>
                    </a:moveTo>
                    <a:lnTo>
                      <a:pt x="16" y="5256"/>
                    </a:lnTo>
                    <a:cubicBezTo>
                      <a:pt x="16" y="5261"/>
                      <a:pt x="13" y="5264"/>
                      <a:pt x="8" y="5264"/>
                    </a:cubicBezTo>
                    <a:cubicBezTo>
                      <a:pt x="4" y="5264"/>
                      <a:pt x="0" y="5261"/>
                      <a:pt x="0" y="5256"/>
                    </a:cubicBezTo>
                    <a:lnTo>
                      <a:pt x="0" y="5016"/>
                    </a:lnTo>
                    <a:cubicBezTo>
                      <a:pt x="0" y="5012"/>
                      <a:pt x="4" y="5008"/>
                      <a:pt x="8" y="5008"/>
                    </a:cubicBezTo>
                    <a:cubicBezTo>
                      <a:pt x="13" y="5008"/>
                      <a:pt x="16" y="5012"/>
                      <a:pt x="16" y="5016"/>
                    </a:cubicBezTo>
                    <a:close/>
                    <a:moveTo>
                      <a:pt x="16" y="5400"/>
                    </a:moveTo>
                    <a:lnTo>
                      <a:pt x="16" y="5640"/>
                    </a:lnTo>
                    <a:cubicBezTo>
                      <a:pt x="16" y="5645"/>
                      <a:pt x="13" y="5648"/>
                      <a:pt x="8" y="5648"/>
                    </a:cubicBezTo>
                    <a:cubicBezTo>
                      <a:pt x="4" y="5648"/>
                      <a:pt x="0" y="5645"/>
                      <a:pt x="0" y="5640"/>
                    </a:cubicBezTo>
                    <a:lnTo>
                      <a:pt x="0" y="5400"/>
                    </a:lnTo>
                    <a:cubicBezTo>
                      <a:pt x="0" y="5396"/>
                      <a:pt x="4" y="5392"/>
                      <a:pt x="8" y="5392"/>
                    </a:cubicBezTo>
                    <a:cubicBezTo>
                      <a:pt x="13" y="5392"/>
                      <a:pt x="16" y="5396"/>
                      <a:pt x="16" y="5400"/>
                    </a:cubicBezTo>
                    <a:close/>
                    <a:moveTo>
                      <a:pt x="16" y="5784"/>
                    </a:moveTo>
                    <a:lnTo>
                      <a:pt x="16" y="6024"/>
                    </a:lnTo>
                    <a:cubicBezTo>
                      <a:pt x="16" y="6029"/>
                      <a:pt x="13" y="6032"/>
                      <a:pt x="8" y="6032"/>
                    </a:cubicBezTo>
                    <a:cubicBezTo>
                      <a:pt x="4" y="6032"/>
                      <a:pt x="0" y="6029"/>
                      <a:pt x="0" y="6024"/>
                    </a:cubicBezTo>
                    <a:lnTo>
                      <a:pt x="0" y="5784"/>
                    </a:lnTo>
                    <a:cubicBezTo>
                      <a:pt x="0" y="5780"/>
                      <a:pt x="4" y="5776"/>
                      <a:pt x="8" y="5776"/>
                    </a:cubicBezTo>
                    <a:cubicBezTo>
                      <a:pt x="13" y="5776"/>
                      <a:pt x="16" y="5780"/>
                      <a:pt x="16" y="5784"/>
                    </a:cubicBezTo>
                    <a:close/>
                    <a:moveTo>
                      <a:pt x="16" y="6168"/>
                    </a:moveTo>
                    <a:lnTo>
                      <a:pt x="16" y="6408"/>
                    </a:lnTo>
                    <a:cubicBezTo>
                      <a:pt x="16" y="6413"/>
                      <a:pt x="13" y="6416"/>
                      <a:pt x="8" y="6416"/>
                    </a:cubicBezTo>
                    <a:cubicBezTo>
                      <a:pt x="4" y="6416"/>
                      <a:pt x="0" y="6413"/>
                      <a:pt x="0" y="6408"/>
                    </a:cubicBezTo>
                    <a:lnTo>
                      <a:pt x="0" y="6168"/>
                    </a:lnTo>
                    <a:cubicBezTo>
                      <a:pt x="0" y="6164"/>
                      <a:pt x="4" y="6160"/>
                      <a:pt x="8" y="6160"/>
                    </a:cubicBezTo>
                    <a:cubicBezTo>
                      <a:pt x="13" y="6160"/>
                      <a:pt x="16" y="6164"/>
                      <a:pt x="16" y="6168"/>
                    </a:cubicBezTo>
                    <a:close/>
                    <a:moveTo>
                      <a:pt x="16" y="6552"/>
                    </a:moveTo>
                    <a:lnTo>
                      <a:pt x="16" y="6792"/>
                    </a:lnTo>
                    <a:cubicBezTo>
                      <a:pt x="16" y="6797"/>
                      <a:pt x="13" y="6800"/>
                      <a:pt x="8" y="6800"/>
                    </a:cubicBezTo>
                    <a:cubicBezTo>
                      <a:pt x="4" y="6800"/>
                      <a:pt x="0" y="6797"/>
                      <a:pt x="0" y="6792"/>
                    </a:cubicBezTo>
                    <a:lnTo>
                      <a:pt x="0" y="6552"/>
                    </a:lnTo>
                    <a:cubicBezTo>
                      <a:pt x="0" y="6548"/>
                      <a:pt x="4" y="6544"/>
                      <a:pt x="8" y="6544"/>
                    </a:cubicBezTo>
                    <a:cubicBezTo>
                      <a:pt x="13" y="6544"/>
                      <a:pt x="16" y="6548"/>
                      <a:pt x="16" y="6552"/>
                    </a:cubicBezTo>
                    <a:close/>
                    <a:moveTo>
                      <a:pt x="120" y="6816"/>
                    </a:moveTo>
                    <a:lnTo>
                      <a:pt x="360" y="6816"/>
                    </a:lnTo>
                    <a:cubicBezTo>
                      <a:pt x="365" y="6816"/>
                      <a:pt x="368" y="6820"/>
                      <a:pt x="368" y="6824"/>
                    </a:cubicBezTo>
                    <a:cubicBezTo>
                      <a:pt x="368" y="6829"/>
                      <a:pt x="365" y="6832"/>
                      <a:pt x="360" y="6832"/>
                    </a:cubicBezTo>
                    <a:lnTo>
                      <a:pt x="120" y="6832"/>
                    </a:lnTo>
                    <a:cubicBezTo>
                      <a:pt x="116" y="6832"/>
                      <a:pt x="112" y="6829"/>
                      <a:pt x="112" y="6824"/>
                    </a:cubicBezTo>
                    <a:cubicBezTo>
                      <a:pt x="112" y="6820"/>
                      <a:pt x="116" y="6816"/>
                      <a:pt x="120" y="6816"/>
                    </a:cubicBezTo>
                    <a:close/>
                    <a:moveTo>
                      <a:pt x="504" y="6816"/>
                    </a:moveTo>
                    <a:lnTo>
                      <a:pt x="744" y="6816"/>
                    </a:lnTo>
                    <a:cubicBezTo>
                      <a:pt x="749" y="6816"/>
                      <a:pt x="752" y="6820"/>
                      <a:pt x="752" y="6824"/>
                    </a:cubicBezTo>
                    <a:cubicBezTo>
                      <a:pt x="752" y="6829"/>
                      <a:pt x="749" y="6832"/>
                      <a:pt x="744" y="6832"/>
                    </a:cubicBezTo>
                    <a:lnTo>
                      <a:pt x="504" y="6832"/>
                    </a:lnTo>
                    <a:cubicBezTo>
                      <a:pt x="500" y="6832"/>
                      <a:pt x="496" y="6829"/>
                      <a:pt x="496" y="6824"/>
                    </a:cubicBezTo>
                    <a:cubicBezTo>
                      <a:pt x="496" y="6820"/>
                      <a:pt x="500" y="6816"/>
                      <a:pt x="504" y="6816"/>
                    </a:cubicBezTo>
                    <a:close/>
                    <a:moveTo>
                      <a:pt x="888" y="6816"/>
                    </a:moveTo>
                    <a:lnTo>
                      <a:pt x="1128" y="6816"/>
                    </a:lnTo>
                    <a:cubicBezTo>
                      <a:pt x="1133" y="6816"/>
                      <a:pt x="1136" y="6820"/>
                      <a:pt x="1136" y="6824"/>
                    </a:cubicBezTo>
                    <a:cubicBezTo>
                      <a:pt x="1136" y="6829"/>
                      <a:pt x="1133" y="6832"/>
                      <a:pt x="1128" y="6832"/>
                    </a:cubicBezTo>
                    <a:lnTo>
                      <a:pt x="888" y="6832"/>
                    </a:lnTo>
                    <a:cubicBezTo>
                      <a:pt x="884" y="6832"/>
                      <a:pt x="880" y="6829"/>
                      <a:pt x="880" y="6824"/>
                    </a:cubicBezTo>
                    <a:cubicBezTo>
                      <a:pt x="880" y="6820"/>
                      <a:pt x="884" y="6816"/>
                      <a:pt x="888" y="6816"/>
                    </a:cubicBezTo>
                    <a:close/>
                    <a:moveTo>
                      <a:pt x="1272" y="6816"/>
                    </a:moveTo>
                    <a:lnTo>
                      <a:pt x="1512" y="6816"/>
                    </a:lnTo>
                    <a:cubicBezTo>
                      <a:pt x="1517" y="6816"/>
                      <a:pt x="1520" y="6820"/>
                      <a:pt x="1520" y="6824"/>
                    </a:cubicBezTo>
                    <a:cubicBezTo>
                      <a:pt x="1520" y="6829"/>
                      <a:pt x="1517" y="6832"/>
                      <a:pt x="1512" y="6832"/>
                    </a:cubicBezTo>
                    <a:lnTo>
                      <a:pt x="1272" y="6832"/>
                    </a:lnTo>
                    <a:cubicBezTo>
                      <a:pt x="1268" y="6832"/>
                      <a:pt x="1264" y="6829"/>
                      <a:pt x="1264" y="6824"/>
                    </a:cubicBezTo>
                    <a:cubicBezTo>
                      <a:pt x="1264" y="6820"/>
                      <a:pt x="1268" y="6816"/>
                      <a:pt x="1272" y="6816"/>
                    </a:cubicBezTo>
                    <a:close/>
                    <a:moveTo>
                      <a:pt x="1656" y="6816"/>
                    </a:moveTo>
                    <a:lnTo>
                      <a:pt x="1896" y="6816"/>
                    </a:lnTo>
                    <a:cubicBezTo>
                      <a:pt x="1901" y="6816"/>
                      <a:pt x="1904" y="6820"/>
                      <a:pt x="1904" y="6824"/>
                    </a:cubicBezTo>
                    <a:cubicBezTo>
                      <a:pt x="1904" y="6829"/>
                      <a:pt x="1901" y="6832"/>
                      <a:pt x="1896" y="6832"/>
                    </a:cubicBezTo>
                    <a:lnTo>
                      <a:pt x="1656" y="6832"/>
                    </a:lnTo>
                    <a:cubicBezTo>
                      <a:pt x="1652" y="6832"/>
                      <a:pt x="1648" y="6829"/>
                      <a:pt x="1648" y="6824"/>
                    </a:cubicBezTo>
                    <a:cubicBezTo>
                      <a:pt x="1648" y="6820"/>
                      <a:pt x="1652" y="6816"/>
                      <a:pt x="1656" y="6816"/>
                    </a:cubicBezTo>
                    <a:close/>
                    <a:moveTo>
                      <a:pt x="2040" y="6816"/>
                    </a:moveTo>
                    <a:lnTo>
                      <a:pt x="2280" y="6816"/>
                    </a:lnTo>
                    <a:cubicBezTo>
                      <a:pt x="2285" y="6816"/>
                      <a:pt x="2288" y="6820"/>
                      <a:pt x="2288" y="6824"/>
                    </a:cubicBezTo>
                    <a:cubicBezTo>
                      <a:pt x="2288" y="6829"/>
                      <a:pt x="2285" y="6832"/>
                      <a:pt x="2280" y="6832"/>
                    </a:cubicBezTo>
                    <a:lnTo>
                      <a:pt x="2040" y="6832"/>
                    </a:lnTo>
                    <a:cubicBezTo>
                      <a:pt x="2036" y="6832"/>
                      <a:pt x="2032" y="6829"/>
                      <a:pt x="2032" y="6824"/>
                    </a:cubicBezTo>
                    <a:cubicBezTo>
                      <a:pt x="2032" y="6820"/>
                      <a:pt x="2036" y="6816"/>
                      <a:pt x="2040" y="6816"/>
                    </a:cubicBezTo>
                    <a:close/>
                    <a:moveTo>
                      <a:pt x="2424" y="6816"/>
                    </a:moveTo>
                    <a:lnTo>
                      <a:pt x="2664" y="6816"/>
                    </a:lnTo>
                    <a:cubicBezTo>
                      <a:pt x="2669" y="6816"/>
                      <a:pt x="2672" y="6820"/>
                      <a:pt x="2672" y="6824"/>
                    </a:cubicBezTo>
                    <a:cubicBezTo>
                      <a:pt x="2672" y="6829"/>
                      <a:pt x="2669" y="6832"/>
                      <a:pt x="2664" y="6832"/>
                    </a:cubicBezTo>
                    <a:lnTo>
                      <a:pt x="2424" y="6832"/>
                    </a:lnTo>
                    <a:cubicBezTo>
                      <a:pt x="2420" y="6832"/>
                      <a:pt x="2416" y="6829"/>
                      <a:pt x="2416" y="6824"/>
                    </a:cubicBezTo>
                    <a:cubicBezTo>
                      <a:pt x="2416" y="6820"/>
                      <a:pt x="2420" y="6816"/>
                      <a:pt x="2424" y="6816"/>
                    </a:cubicBezTo>
                    <a:close/>
                    <a:moveTo>
                      <a:pt x="2808" y="6816"/>
                    </a:moveTo>
                    <a:lnTo>
                      <a:pt x="3048" y="6816"/>
                    </a:lnTo>
                    <a:cubicBezTo>
                      <a:pt x="3053" y="6816"/>
                      <a:pt x="3056" y="6820"/>
                      <a:pt x="3056" y="6824"/>
                    </a:cubicBezTo>
                    <a:cubicBezTo>
                      <a:pt x="3056" y="6829"/>
                      <a:pt x="3053" y="6832"/>
                      <a:pt x="3048" y="6832"/>
                    </a:cubicBezTo>
                    <a:lnTo>
                      <a:pt x="2808" y="6832"/>
                    </a:lnTo>
                    <a:cubicBezTo>
                      <a:pt x="2804" y="6832"/>
                      <a:pt x="2800" y="6829"/>
                      <a:pt x="2800" y="6824"/>
                    </a:cubicBezTo>
                    <a:cubicBezTo>
                      <a:pt x="2800" y="6820"/>
                      <a:pt x="2804" y="6816"/>
                      <a:pt x="2808" y="6816"/>
                    </a:cubicBezTo>
                    <a:close/>
                    <a:moveTo>
                      <a:pt x="3192" y="6816"/>
                    </a:moveTo>
                    <a:lnTo>
                      <a:pt x="3432" y="6816"/>
                    </a:lnTo>
                    <a:cubicBezTo>
                      <a:pt x="3437" y="6816"/>
                      <a:pt x="3440" y="6820"/>
                      <a:pt x="3440" y="6824"/>
                    </a:cubicBezTo>
                    <a:cubicBezTo>
                      <a:pt x="3440" y="6829"/>
                      <a:pt x="3437" y="6832"/>
                      <a:pt x="3432" y="6832"/>
                    </a:cubicBezTo>
                    <a:lnTo>
                      <a:pt x="3192" y="6832"/>
                    </a:lnTo>
                    <a:cubicBezTo>
                      <a:pt x="3188" y="6832"/>
                      <a:pt x="3184" y="6829"/>
                      <a:pt x="3184" y="6824"/>
                    </a:cubicBezTo>
                    <a:cubicBezTo>
                      <a:pt x="3184" y="6820"/>
                      <a:pt x="3188" y="6816"/>
                      <a:pt x="3192" y="6816"/>
                    </a:cubicBezTo>
                    <a:close/>
                    <a:moveTo>
                      <a:pt x="3576" y="6816"/>
                    </a:moveTo>
                    <a:lnTo>
                      <a:pt x="3816" y="6816"/>
                    </a:lnTo>
                    <a:cubicBezTo>
                      <a:pt x="3821" y="6816"/>
                      <a:pt x="3824" y="6820"/>
                      <a:pt x="3824" y="6824"/>
                    </a:cubicBezTo>
                    <a:cubicBezTo>
                      <a:pt x="3824" y="6829"/>
                      <a:pt x="3821" y="6832"/>
                      <a:pt x="3816" y="6832"/>
                    </a:cubicBezTo>
                    <a:lnTo>
                      <a:pt x="3576" y="6832"/>
                    </a:lnTo>
                    <a:cubicBezTo>
                      <a:pt x="3572" y="6832"/>
                      <a:pt x="3568" y="6829"/>
                      <a:pt x="3568" y="6824"/>
                    </a:cubicBezTo>
                    <a:cubicBezTo>
                      <a:pt x="3568" y="6820"/>
                      <a:pt x="3572" y="6816"/>
                      <a:pt x="3576" y="6816"/>
                    </a:cubicBezTo>
                    <a:close/>
                    <a:moveTo>
                      <a:pt x="3960" y="6816"/>
                    </a:moveTo>
                    <a:lnTo>
                      <a:pt x="4200" y="6816"/>
                    </a:lnTo>
                    <a:cubicBezTo>
                      <a:pt x="4205" y="6816"/>
                      <a:pt x="4208" y="6820"/>
                      <a:pt x="4208" y="6824"/>
                    </a:cubicBezTo>
                    <a:cubicBezTo>
                      <a:pt x="4208" y="6829"/>
                      <a:pt x="4205" y="6832"/>
                      <a:pt x="4200" y="6832"/>
                    </a:cubicBezTo>
                    <a:lnTo>
                      <a:pt x="3960" y="6832"/>
                    </a:lnTo>
                    <a:cubicBezTo>
                      <a:pt x="3956" y="6832"/>
                      <a:pt x="3952" y="6829"/>
                      <a:pt x="3952" y="6824"/>
                    </a:cubicBezTo>
                    <a:cubicBezTo>
                      <a:pt x="3952" y="6820"/>
                      <a:pt x="3956" y="6816"/>
                      <a:pt x="3960" y="6816"/>
                    </a:cubicBezTo>
                    <a:close/>
                    <a:moveTo>
                      <a:pt x="4344" y="6816"/>
                    </a:moveTo>
                    <a:lnTo>
                      <a:pt x="4584" y="6816"/>
                    </a:lnTo>
                    <a:cubicBezTo>
                      <a:pt x="4589" y="6816"/>
                      <a:pt x="4592" y="6820"/>
                      <a:pt x="4592" y="6824"/>
                    </a:cubicBezTo>
                    <a:cubicBezTo>
                      <a:pt x="4592" y="6829"/>
                      <a:pt x="4589" y="6832"/>
                      <a:pt x="4584" y="6832"/>
                    </a:cubicBezTo>
                    <a:lnTo>
                      <a:pt x="4344" y="6832"/>
                    </a:lnTo>
                    <a:cubicBezTo>
                      <a:pt x="4340" y="6832"/>
                      <a:pt x="4336" y="6829"/>
                      <a:pt x="4336" y="6824"/>
                    </a:cubicBezTo>
                    <a:cubicBezTo>
                      <a:pt x="4336" y="6820"/>
                      <a:pt x="4340" y="6816"/>
                      <a:pt x="4344" y="6816"/>
                    </a:cubicBezTo>
                    <a:close/>
                    <a:moveTo>
                      <a:pt x="4728" y="6816"/>
                    </a:moveTo>
                    <a:lnTo>
                      <a:pt x="4968" y="6816"/>
                    </a:lnTo>
                    <a:cubicBezTo>
                      <a:pt x="4973" y="6816"/>
                      <a:pt x="4976" y="6820"/>
                      <a:pt x="4976" y="6824"/>
                    </a:cubicBezTo>
                    <a:cubicBezTo>
                      <a:pt x="4976" y="6829"/>
                      <a:pt x="4973" y="6832"/>
                      <a:pt x="4968" y="6832"/>
                    </a:cubicBezTo>
                    <a:lnTo>
                      <a:pt x="4728" y="6832"/>
                    </a:lnTo>
                    <a:cubicBezTo>
                      <a:pt x="4724" y="6832"/>
                      <a:pt x="4720" y="6829"/>
                      <a:pt x="4720" y="6824"/>
                    </a:cubicBezTo>
                    <a:cubicBezTo>
                      <a:pt x="4720" y="6820"/>
                      <a:pt x="4724" y="6816"/>
                      <a:pt x="4728" y="6816"/>
                    </a:cubicBezTo>
                    <a:close/>
                    <a:moveTo>
                      <a:pt x="5112" y="6816"/>
                    </a:moveTo>
                    <a:lnTo>
                      <a:pt x="5352" y="6816"/>
                    </a:lnTo>
                    <a:cubicBezTo>
                      <a:pt x="5357" y="6816"/>
                      <a:pt x="5360" y="6820"/>
                      <a:pt x="5360" y="6824"/>
                    </a:cubicBezTo>
                    <a:cubicBezTo>
                      <a:pt x="5360" y="6829"/>
                      <a:pt x="5357" y="6832"/>
                      <a:pt x="5352" y="6832"/>
                    </a:cubicBezTo>
                    <a:lnTo>
                      <a:pt x="5112" y="6832"/>
                    </a:lnTo>
                    <a:cubicBezTo>
                      <a:pt x="5108" y="6832"/>
                      <a:pt x="5104" y="6829"/>
                      <a:pt x="5104" y="6824"/>
                    </a:cubicBezTo>
                    <a:cubicBezTo>
                      <a:pt x="5104" y="6820"/>
                      <a:pt x="5108" y="6816"/>
                      <a:pt x="5112" y="6816"/>
                    </a:cubicBezTo>
                    <a:close/>
                    <a:moveTo>
                      <a:pt x="5496" y="6816"/>
                    </a:moveTo>
                    <a:lnTo>
                      <a:pt x="5736" y="6816"/>
                    </a:lnTo>
                    <a:cubicBezTo>
                      <a:pt x="5741" y="6816"/>
                      <a:pt x="5744" y="6820"/>
                      <a:pt x="5744" y="6824"/>
                    </a:cubicBezTo>
                    <a:cubicBezTo>
                      <a:pt x="5744" y="6829"/>
                      <a:pt x="5741" y="6832"/>
                      <a:pt x="5736" y="6832"/>
                    </a:cubicBezTo>
                    <a:lnTo>
                      <a:pt x="5496" y="6832"/>
                    </a:lnTo>
                    <a:cubicBezTo>
                      <a:pt x="5492" y="6832"/>
                      <a:pt x="5488" y="6829"/>
                      <a:pt x="5488" y="6824"/>
                    </a:cubicBezTo>
                    <a:cubicBezTo>
                      <a:pt x="5488" y="6820"/>
                      <a:pt x="5492" y="6816"/>
                      <a:pt x="5496" y="6816"/>
                    </a:cubicBezTo>
                    <a:close/>
                    <a:moveTo>
                      <a:pt x="5880" y="6816"/>
                    </a:moveTo>
                    <a:lnTo>
                      <a:pt x="6120" y="6816"/>
                    </a:lnTo>
                    <a:cubicBezTo>
                      <a:pt x="6125" y="6816"/>
                      <a:pt x="6128" y="6820"/>
                      <a:pt x="6128" y="6824"/>
                    </a:cubicBezTo>
                    <a:cubicBezTo>
                      <a:pt x="6128" y="6829"/>
                      <a:pt x="6125" y="6832"/>
                      <a:pt x="6120" y="6832"/>
                    </a:cubicBezTo>
                    <a:lnTo>
                      <a:pt x="5880" y="6832"/>
                    </a:lnTo>
                    <a:cubicBezTo>
                      <a:pt x="5876" y="6832"/>
                      <a:pt x="5872" y="6829"/>
                      <a:pt x="5872" y="6824"/>
                    </a:cubicBezTo>
                    <a:cubicBezTo>
                      <a:pt x="5872" y="6820"/>
                      <a:pt x="5876" y="6816"/>
                      <a:pt x="5880" y="6816"/>
                    </a:cubicBezTo>
                    <a:close/>
                    <a:moveTo>
                      <a:pt x="6264" y="6816"/>
                    </a:moveTo>
                    <a:lnTo>
                      <a:pt x="6504" y="6816"/>
                    </a:lnTo>
                    <a:cubicBezTo>
                      <a:pt x="6509" y="6816"/>
                      <a:pt x="6512" y="6820"/>
                      <a:pt x="6512" y="6824"/>
                    </a:cubicBezTo>
                    <a:cubicBezTo>
                      <a:pt x="6512" y="6829"/>
                      <a:pt x="6509" y="6832"/>
                      <a:pt x="6504" y="6832"/>
                    </a:cubicBezTo>
                    <a:lnTo>
                      <a:pt x="6264" y="6832"/>
                    </a:lnTo>
                    <a:cubicBezTo>
                      <a:pt x="6260" y="6832"/>
                      <a:pt x="6256" y="6829"/>
                      <a:pt x="6256" y="6824"/>
                    </a:cubicBezTo>
                    <a:cubicBezTo>
                      <a:pt x="6256" y="6820"/>
                      <a:pt x="6260" y="6816"/>
                      <a:pt x="6264" y="6816"/>
                    </a:cubicBezTo>
                    <a:close/>
                    <a:moveTo>
                      <a:pt x="6648" y="6816"/>
                    </a:moveTo>
                    <a:lnTo>
                      <a:pt x="6888" y="6816"/>
                    </a:lnTo>
                    <a:cubicBezTo>
                      <a:pt x="6893" y="6816"/>
                      <a:pt x="6896" y="6820"/>
                      <a:pt x="6896" y="6824"/>
                    </a:cubicBezTo>
                    <a:cubicBezTo>
                      <a:pt x="6896" y="6829"/>
                      <a:pt x="6893" y="6832"/>
                      <a:pt x="6888" y="6832"/>
                    </a:cubicBezTo>
                    <a:lnTo>
                      <a:pt x="6648" y="6832"/>
                    </a:lnTo>
                    <a:cubicBezTo>
                      <a:pt x="6644" y="6832"/>
                      <a:pt x="6640" y="6829"/>
                      <a:pt x="6640" y="6824"/>
                    </a:cubicBezTo>
                    <a:cubicBezTo>
                      <a:pt x="6640" y="6820"/>
                      <a:pt x="6644" y="6816"/>
                      <a:pt x="6648" y="6816"/>
                    </a:cubicBezTo>
                    <a:close/>
                    <a:moveTo>
                      <a:pt x="7032" y="6816"/>
                    </a:moveTo>
                    <a:lnTo>
                      <a:pt x="7272" y="6816"/>
                    </a:lnTo>
                    <a:cubicBezTo>
                      <a:pt x="7277" y="6816"/>
                      <a:pt x="7280" y="6820"/>
                      <a:pt x="7280" y="6824"/>
                    </a:cubicBezTo>
                    <a:cubicBezTo>
                      <a:pt x="7280" y="6829"/>
                      <a:pt x="7277" y="6832"/>
                      <a:pt x="7272" y="6832"/>
                    </a:cubicBezTo>
                    <a:lnTo>
                      <a:pt x="7032" y="6832"/>
                    </a:lnTo>
                    <a:cubicBezTo>
                      <a:pt x="7028" y="6832"/>
                      <a:pt x="7024" y="6829"/>
                      <a:pt x="7024" y="6824"/>
                    </a:cubicBezTo>
                    <a:cubicBezTo>
                      <a:pt x="7024" y="6820"/>
                      <a:pt x="7028" y="6816"/>
                      <a:pt x="7032" y="6816"/>
                    </a:cubicBezTo>
                    <a:close/>
                    <a:moveTo>
                      <a:pt x="7416" y="6816"/>
                    </a:moveTo>
                    <a:lnTo>
                      <a:pt x="7656" y="6816"/>
                    </a:lnTo>
                    <a:cubicBezTo>
                      <a:pt x="7661" y="6816"/>
                      <a:pt x="7664" y="6820"/>
                      <a:pt x="7664" y="6824"/>
                    </a:cubicBezTo>
                    <a:cubicBezTo>
                      <a:pt x="7664" y="6829"/>
                      <a:pt x="7661" y="6832"/>
                      <a:pt x="7656" y="6832"/>
                    </a:cubicBezTo>
                    <a:lnTo>
                      <a:pt x="7416" y="6832"/>
                    </a:lnTo>
                    <a:cubicBezTo>
                      <a:pt x="7412" y="6832"/>
                      <a:pt x="7408" y="6829"/>
                      <a:pt x="7408" y="6824"/>
                    </a:cubicBezTo>
                    <a:cubicBezTo>
                      <a:pt x="7408" y="6820"/>
                      <a:pt x="7412" y="6816"/>
                      <a:pt x="7416" y="6816"/>
                    </a:cubicBezTo>
                    <a:close/>
                    <a:moveTo>
                      <a:pt x="7800" y="6816"/>
                    </a:moveTo>
                    <a:lnTo>
                      <a:pt x="7880" y="6816"/>
                    </a:lnTo>
                    <a:lnTo>
                      <a:pt x="7872" y="6824"/>
                    </a:lnTo>
                    <a:lnTo>
                      <a:pt x="7872" y="6664"/>
                    </a:lnTo>
                    <a:cubicBezTo>
                      <a:pt x="7872" y="6660"/>
                      <a:pt x="7876" y="6656"/>
                      <a:pt x="7880" y="6656"/>
                    </a:cubicBezTo>
                    <a:cubicBezTo>
                      <a:pt x="7885" y="6656"/>
                      <a:pt x="7888" y="6660"/>
                      <a:pt x="7888" y="6664"/>
                    </a:cubicBezTo>
                    <a:lnTo>
                      <a:pt x="7888" y="6824"/>
                    </a:lnTo>
                    <a:cubicBezTo>
                      <a:pt x="7888" y="6829"/>
                      <a:pt x="7885" y="6832"/>
                      <a:pt x="7880" y="6832"/>
                    </a:cubicBezTo>
                    <a:lnTo>
                      <a:pt x="7800" y="6832"/>
                    </a:lnTo>
                    <a:cubicBezTo>
                      <a:pt x="7796" y="6832"/>
                      <a:pt x="7792" y="6829"/>
                      <a:pt x="7792" y="6824"/>
                    </a:cubicBezTo>
                    <a:cubicBezTo>
                      <a:pt x="7792" y="6820"/>
                      <a:pt x="7796" y="6816"/>
                      <a:pt x="7800" y="6816"/>
                    </a:cubicBezTo>
                    <a:close/>
                    <a:moveTo>
                      <a:pt x="7872" y="6520"/>
                    </a:moveTo>
                    <a:lnTo>
                      <a:pt x="7872" y="6280"/>
                    </a:lnTo>
                    <a:cubicBezTo>
                      <a:pt x="7872" y="6276"/>
                      <a:pt x="7876" y="6272"/>
                      <a:pt x="7880" y="6272"/>
                    </a:cubicBezTo>
                    <a:cubicBezTo>
                      <a:pt x="7885" y="6272"/>
                      <a:pt x="7888" y="6276"/>
                      <a:pt x="7888" y="6280"/>
                    </a:cubicBezTo>
                    <a:lnTo>
                      <a:pt x="7888" y="6520"/>
                    </a:lnTo>
                    <a:cubicBezTo>
                      <a:pt x="7888" y="6525"/>
                      <a:pt x="7885" y="6528"/>
                      <a:pt x="7880" y="6528"/>
                    </a:cubicBezTo>
                    <a:cubicBezTo>
                      <a:pt x="7876" y="6528"/>
                      <a:pt x="7872" y="6525"/>
                      <a:pt x="7872" y="6520"/>
                    </a:cubicBezTo>
                    <a:close/>
                    <a:moveTo>
                      <a:pt x="7872" y="6136"/>
                    </a:moveTo>
                    <a:lnTo>
                      <a:pt x="7872" y="5896"/>
                    </a:lnTo>
                    <a:cubicBezTo>
                      <a:pt x="7872" y="5892"/>
                      <a:pt x="7876" y="5888"/>
                      <a:pt x="7880" y="5888"/>
                    </a:cubicBezTo>
                    <a:cubicBezTo>
                      <a:pt x="7885" y="5888"/>
                      <a:pt x="7888" y="5892"/>
                      <a:pt x="7888" y="5896"/>
                    </a:cubicBezTo>
                    <a:lnTo>
                      <a:pt x="7888" y="6136"/>
                    </a:lnTo>
                    <a:cubicBezTo>
                      <a:pt x="7888" y="6141"/>
                      <a:pt x="7885" y="6144"/>
                      <a:pt x="7880" y="6144"/>
                    </a:cubicBezTo>
                    <a:cubicBezTo>
                      <a:pt x="7876" y="6144"/>
                      <a:pt x="7872" y="6141"/>
                      <a:pt x="7872" y="6136"/>
                    </a:cubicBezTo>
                    <a:close/>
                    <a:moveTo>
                      <a:pt x="7872" y="5752"/>
                    </a:moveTo>
                    <a:lnTo>
                      <a:pt x="7872" y="5512"/>
                    </a:lnTo>
                    <a:cubicBezTo>
                      <a:pt x="7872" y="5508"/>
                      <a:pt x="7876" y="5504"/>
                      <a:pt x="7880" y="5504"/>
                    </a:cubicBezTo>
                    <a:cubicBezTo>
                      <a:pt x="7885" y="5504"/>
                      <a:pt x="7888" y="5508"/>
                      <a:pt x="7888" y="5512"/>
                    </a:cubicBezTo>
                    <a:lnTo>
                      <a:pt x="7888" y="5752"/>
                    </a:lnTo>
                    <a:cubicBezTo>
                      <a:pt x="7888" y="5757"/>
                      <a:pt x="7885" y="5760"/>
                      <a:pt x="7880" y="5760"/>
                    </a:cubicBezTo>
                    <a:cubicBezTo>
                      <a:pt x="7876" y="5760"/>
                      <a:pt x="7872" y="5757"/>
                      <a:pt x="7872" y="5752"/>
                    </a:cubicBezTo>
                    <a:close/>
                    <a:moveTo>
                      <a:pt x="7872" y="5368"/>
                    </a:moveTo>
                    <a:lnTo>
                      <a:pt x="7872" y="5128"/>
                    </a:lnTo>
                    <a:cubicBezTo>
                      <a:pt x="7872" y="5124"/>
                      <a:pt x="7876" y="5120"/>
                      <a:pt x="7880" y="5120"/>
                    </a:cubicBezTo>
                    <a:cubicBezTo>
                      <a:pt x="7885" y="5120"/>
                      <a:pt x="7888" y="5124"/>
                      <a:pt x="7888" y="5128"/>
                    </a:cubicBezTo>
                    <a:lnTo>
                      <a:pt x="7888" y="5368"/>
                    </a:lnTo>
                    <a:cubicBezTo>
                      <a:pt x="7888" y="5373"/>
                      <a:pt x="7885" y="5376"/>
                      <a:pt x="7880" y="5376"/>
                    </a:cubicBezTo>
                    <a:cubicBezTo>
                      <a:pt x="7876" y="5376"/>
                      <a:pt x="7872" y="5373"/>
                      <a:pt x="7872" y="5368"/>
                    </a:cubicBezTo>
                    <a:close/>
                    <a:moveTo>
                      <a:pt x="7872" y="4984"/>
                    </a:moveTo>
                    <a:lnTo>
                      <a:pt x="7872" y="4744"/>
                    </a:lnTo>
                    <a:cubicBezTo>
                      <a:pt x="7872" y="4740"/>
                      <a:pt x="7876" y="4736"/>
                      <a:pt x="7880" y="4736"/>
                    </a:cubicBezTo>
                    <a:cubicBezTo>
                      <a:pt x="7885" y="4736"/>
                      <a:pt x="7888" y="4740"/>
                      <a:pt x="7888" y="4744"/>
                    </a:cubicBezTo>
                    <a:lnTo>
                      <a:pt x="7888" y="4984"/>
                    </a:lnTo>
                    <a:cubicBezTo>
                      <a:pt x="7888" y="4989"/>
                      <a:pt x="7885" y="4992"/>
                      <a:pt x="7880" y="4992"/>
                    </a:cubicBezTo>
                    <a:cubicBezTo>
                      <a:pt x="7876" y="4992"/>
                      <a:pt x="7872" y="4989"/>
                      <a:pt x="7872" y="4984"/>
                    </a:cubicBezTo>
                    <a:close/>
                    <a:moveTo>
                      <a:pt x="7872" y="4600"/>
                    </a:moveTo>
                    <a:lnTo>
                      <a:pt x="7872" y="4360"/>
                    </a:lnTo>
                    <a:cubicBezTo>
                      <a:pt x="7872" y="4356"/>
                      <a:pt x="7876" y="4352"/>
                      <a:pt x="7880" y="4352"/>
                    </a:cubicBezTo>
                    <a:cubicBezTo>
                      <a:pt x="7885" y="4352"/>
                      <a:pt x="7888" y="4356"/>
                      <a:pt x="7888" y="4360"/>
                    </a:cubicBezTo>
                    <a:lnTo>
                      <a:pt x="7888" y="4600"/>
                    </a:lnTo>
                    <a:cubicBezTo>
                      <a:pt x="7888" y="4605"/>
                      <a:pt x="7885" y="4608"/>
                      <a:pt x="7880" y="4608"/>
                    </a:cubicBezTo>
                    <a:cubicBezTo>
                      <a:pt x="7876" y="4608"/>
                      <a:pt x="7872" y="4605"/>
                      <a:pt x="7872" y="4600"/>
                    </a:cubicBezTo>
                    <a:close/>
                    <a:moveTo>
                      <a:pt x="7872" y="4216"/>
                    </a:moveTo>
                    <a:lnTo>
                      <a:pt x="7872" y="3976"/>
                    </a:lnTo>
                    <a:cubicBezTo>
                      <a:pt x="7872" y="3972"/>
                      <a:pt x="7876" y="3968"/>
                      <a:pt x="7880" y="3968"/>
                    </a:cubicBezTo>
                    <a:cubicBezTo>
                      <a:pt x="7885" y="3968"/>
                      <a:pt x="7888" y="3972"/>
                      <a:pt x="7888" y="3976"/>
                    </a:cubicBezTo>
                    <a:lnTo>
                      <a:pt x="7888" y="4216"/>
                    </a:lnTo>
                    <a:cubicBezTo>
                      <a:pt x="7888" y="4221"/>
                      <a:pt x="7885" y="4224"/>
                      <a:pt x="7880" y="4224"/>
                    </a:cubicBezTo>
                    <a:cubicBezTo>
                      <a:pt x="7876" y="4224"/>
                      <a:pt x="7872" y="4221"/>
                      <a:pt x="7872" y="4216"/>
                    </a:cubicBezTo>
                    <a:close/>
                    <a:moveTo>
                      <a:pt x="7872" y="3832"/>
                    </a:moveTo>
                    <a:lnTo>
                      <a:pt x="7872" y="3592"/>
                    </a:lnTo>
                    <a:cubicBezTo>
                      <a:pt x="7872" y="3588"/>
                      <a:pt x="7876" y="3584"/>
                      <a:pt x="7880" y="3584"/>
                    </a:cubicBezTo>
                    <a:cubicBezTo>
                      <a:pt x="7885" y="3584"/>
                      <a:pt x="7888" y="3588"/>
                      <a:pt x="7888" y="3592"/>
                    </a:cubicBezTo>
                    <a:lnTo>
                      <a:pt x="7888" y="3832"/>
                    </a:lnTo>
                    <a:cubicBezTo>
                      <a:pt x="7888" y="3837"/>
                      <a:pt x="7885" y="3840"/>
                      <a:pt x="7880" y="3840"/>
                    </a:cubicBezTo>
                    <a:cubicBezTo>
                      <a:pt x="7876" y="3840"/>
                      <a:pt x="7872" y="3837"/>
                      <a:pt x="7872" y="3832"/>
                    </a:cubicBezTo>
                    <a:close/>
                    <a:moveTo>
                      <a:pt x="7872" y="3448"/>
                    </a:moveTo>
                    <a:lnTo>
                      <a:pt x="7872" y="3208"/>
                    </a:lnTo>
                    <a:cubicBezTo>
                      <a:pt x="7872" y="3204"/>
                      <a:pt x="7876" y="3200"/>
                      <a:pt x="7880" y="3200"/>
                    </a:cubicBezTo>
                    <a:cubicBezTo>
                      <a:pt x="7885" y="3200"/>
                      <a:pt x="7888" y="3204"/>
                      <a:pt x="7888" y="3208"/>
                    </a:cubicBezTo>
                    <a:lnTo>
                      <a:pt x="7888" y="3448"/>
                    </a:lnTo>
                    <a:cubicBezTo>
                      <a:pt x="7888" y="3453"/>
                      <a:pt x="7885" y="3456"/>
                      <a:pt x="7880" y="3456"/>
                    </a:cubicBezTo>
                    <a:cubicBezTo>
                      <a:pt x="7876" y="3456"/>
                      <a:pt x="7872" y="3453"/>
                      <a:pt x="7872" y="3448"/>
                    </a:cubicBezTo>
                    <a:close/>
                    <a:moveTo>
                      <a:pt x="7872" y="3064"/>
                    </a:moveTo>
                    <a:lnTo>
                      <a:pt x="7872" y="2824"/>
                    </a:lnTo>
                    <a:cubicBezTo>
                      <a:pt x="7872" y="2820"/>
                      <a:pt x="7876" y="2816"/>
                      <a:pt x="7880" y="2816"/>
                    </a:cubicBezTo>
                    <a:cubicBezTo>
                      <a:pt x="7885" y="2816"/>
                      <a:pt x="7888" y="2820"/>
                      <a:pt x="7888" y="2824"/>
                    </a:cubicBezTo>
                    <a:lnTo>
                      <a:pt x="7888" y="3064"/>
                    </a:lnTo>
                    <a:cubicBezTo>
                      <a:pt x="7888" y="3069"/>
                      <a:pt x="7885" y="3072"/>
                      <a:pt x="7880" y="3072"/>
                    </a:cubicBezTo>
                    <a:cubicBezTo>
                      <a:pt x="7876" y="3072"/>
                      <a:pt x="7872" y="3069"/>
                      <a:pt x="7872" y="3064"/>
                    </a:cubicBezTo>
                    <a:close/>
                    <a:moveTo>
                      <a:pt x="7872" y="2680"/>
                    </a:moveTo>
                    <a:lnTo>
                      <a:pt x="7872" y="2440"/>
                    </a:lnTo>
                    <a:cubicBezTo>
                      <a:pt x="7872" y="2436"/>
                      <a:pt x="7876" y="2432"/>
                      <a:pt x="7880" y="2432"/>
                    </a:cubicBezTo>
                    <a:cubicBezTo>
                      <a:pt x="7885" y="2432"/>
                      <a:pt x="7888" y="2436"/>
                      <a:pt x="7888" y="2440"/>
                    </a:cubicBezTo>
                    <a:lnTo>
                      <a:pt x="7888" y="2680"/>
                    </a:lnTo>
                    <a:cubicBezTo>
                      <a:pt x="7888" y="2685"/>
                      <a:pt x="7885" y="2688"/>
                      <a:pt x="7880" y="2688"/>
                    </a:cubicBezTo>
                    <a:cubicBezTo>
                      <a:pt x="7876" y="2688"/>
                      <a:pt x="7872" y="2685"/>
                      <a:pt x="7872" y="2680"/>
                    </a:cubicBezTo>
                    <a:close/>
                    <a:moveTo>
                      <a:pt x="7872" y="2296"/>
                    </a:moveTo>
                    <a:lnTo>
                      <a:pt x="7872" y="2056"/>
                    </a:lnTo>
                    <a:cubicBezTo>
                      <a:pt x="7872" y="2052"/>
                      <a:pt x="7876" y="2048"/>
                      <a:pt x="7880" y="2048"/>
                    </a:cubicBezTo>
                    <a:cubicBezTo>
                      <a:pt x="7885" y="2048"/>
                      <a:pt x="7888" y="2052"/>
                      <a:pt x="7888" y="2056"/>
                    </a:cubicBezTo>
                    <a:lnTo>
                      <a:pt x="7888" y="2296"/>
                    </a:lnTo>
                    <a:cubicBezTo>
                      <a:pt x="7888" y="2301"/>
                      <a:pt x="7885" y="2304"/>
                      <a:pt x="7880" y="2304"/>
                    </a:cubicBezTo>
                    <a:cubicBezTo>
                      <a:pt x="7876" y="2304"/>
                      <a:pt x="7872" y="2301"/>
                      <a:pt x="7872" y="2296"/>
                    </a:cubicBezTo>
                    <a:close/>
                    <a:moveTo>
                      <a:pt x="7872" y="1912"/>
                    </a:moveTo>
                    <a:lnTo>
                      <a:pt x="7872" y="1672"/>
                    </a:lnTo>
                    <a:cubicBezTo>
                      <a:pt x="7872" y="1668"/>
                      <a:pt x="7876" y="1664"/>
                      <a:pt x="7880" y="1664"/>
                    </a:cubicBezTo>
                    <a:cubicBezTo>
                      <a:pt x="7885" y="1664"/>
                      <a:pt x="7888" y="1668"/>
                      <a:pt x="7888" y="1672"/>
                    </a:cubicBezTo>
                    <a:lnTo>
                      <a:pt x="7888" y="1912"/>
                    </a:lnTo>
                    <a:cubicBezTo>
                      <a:pt x="7888" y="1917"/>
                      <a:pt x="7885" y="1920"/>
                      <a:pt x="7880" y="1920"/>
                    </a:cubicBezTo>
                    <a:cubicBezTo>
                      <a:pt x="7876" y="1920"/>
                      <a:pt x="7872" y="1917"/>
                      <a:pt x="7872" y="1912"/>
                    </a:cubicBezTo>
                    <a:close/>
                    <a:moveTo>
                      <a:pt x="7872" y="1528"/>
                    </a:moveTo>
                    <a:lnTo>
                      <a:pt x="7872" y="1288"/>
                    </a:lnTo>
                    <a:cubicBezTo>
                      <a:pt x="7872" y="1284"/>
                      <a:pt x="7876" y="1280"/>
                      <a:pt x="7880" y="1280"/>
                    </a:cubicBezTo>
                    <a:cubicBezTo>
                      <a:pt x="7885" y="1280"/>
                      <a:pt x="7888" y="1284"/>
                      <a:pt x="7888" y="1288"/>
                    </a:cubicBezTo>
                    <a:lnTo>
                      <a:pt x="7888" y="1528"/>
                    </a:lnTo>
                    <a:cubicBezTo>
                      <a:pt x="7888" y="1533"/>
                      <a:pt x="7885" y="1536"/>
                      <a:pt x="7880" y="1536"/>
                    </a:cubicBezTo>
                    <a:cubicBezTo>
                      <a:pt x="7876" y="1536"/>
                      <a:pt x="7872" y="1533"/>
                      <a:pt x="7872" y="1528"/>
                    </a:cubicBezTo>
                    <a:close/>
                    <a:moveTo>
                      <a:pt x="7872" y="1144"/>
                    </a:moveTo>
                    <a:lnTo>
                      <a:pt x="7872" y="904"/>
                    </a:lnTo>
                    <a:cubicBezTo>
                      <a:pt x="7872" y="900"/>
                      <a:pt x="7876" y="896"/>
                      <a:pt x="7880" y="896"/>
                    </a:cubicBezTo>
                    <a:cubicBezTo>
                      <a:pt x="7885" y="896"/>
                      <a:pt x="7888" y="900"/>
                      <a:pt x="7888" y="904"/>
                    </a:cubicBezTo>
                    <a:lnTo>
                      <a:pt x="7888" y="1144"/>
                    </a:lnTo>
                    <a:cubicBezTo>
                      <a:pt x="7888" y="1149"/>
                      <a:pt x="7885" y="1152"/>
                      <a:pt x="7880" y="1152"/>
                    </a:cubicBezTo>
                    <a:cubicBezTo>
                      <a:pt x="7876" y="1152"/>
                      <a:pt x="7872" y="1149"/>
                      <a:pt x="7872" y="1144"/>
                    </a:cubicBezTo>
                    <a:close/>
                    <a:moveTo>
                      <a:pt x="7872" y="760"/>
                    </a:moveTo>
                    <a:lnTo>
                      <a:pt x="7872" y="520"/>
                    </a:lnTo>
                    <a:cubicBezTo>
                      <a:pt x="7872" y="516"/>
                      <a:pt x="7876" y="512"/>
                      <a:pt x="7880" y="512"/>
                    </a:cubicBezTo>
                    <a:cubicBezTo>
                      <a:pt x="7885" y="512"/>
                      <a:pt x="7888" y="516"/>
                      <a:pt x="7888" y="520"/>
                    </a:cubicBezTo>
                    <a:lnTo>
                      <a:pt x="7888" y="760"/>
                    </a:lnTo>
                    <a:cubicBezTo>
                      <a:pt x="7888" y="765"/>
                      <a:pt x="7885" y="768"/>
                      <a:pt x="7880" y="768"/>
                    </a:cubicBezTo>
                    <a:cubicBezTo>
                      <a:pt x="7876" y="768"/>
                      <a:pt x="7872" y="765"/>
                      <a:pt x="7872" y="760"/>
                    </a:cubicBezTo>
                    <a:close/>
                    <a:moveTo>
                      <a:pt x="7872" y="376"/>
                    </a:moveTo>
                    <a:lnTo>
                      <a:pt x="7872" y="136"/>
                    </a:lnTo>
                    <a:cubicBezTo>
                      <a:pt x="7872" y="132"/>
                      <a:pt x="7876" y="128"/>
                      <a:pt x="7880" y="128"/>
                    </a:cubicBezTo>
                    <a:cubicBezTo>
                      <a:pt x="7885" y="128"/>
                      <a:pt x="7888" y="132"/>
                      <a:pt x="7888" y="136"/>
                    </a:cubicBezTo>
                    <a:lnTo>
                      <a:pt x="7888" y="376"/>
                    </a:lnTo>
                    <a:cubicBezTo>
                      <a:pt x="7888" y="381"/>
                      <a:pt x="7885" y="384"/>
                      <a:pt x="7880" y="384"/>
                    </a:cubicBezTo>
                    <a:cubicBezTo>
                      <a:pt x="7876" y="384"/>
                      <a:pt x="7872" y="381"/>
                      <a:pt x="7872" y="376"/>
                    </a:cubicBezTo>
                    <a:close/>
                    <a:moveTo>
                      <a:pt x="7864" y="16"/>
                    </a:moveTo>
                    <a:lnTo>
                      <a:pt x="7624" y="16"/>
                    </a:lnTo>
                    <a:cubicBezTo>
                      <a:pt x="7620" y="16"/>
                      <a:pt x="7616" y="13"/>
                      <a:pt x="7616" y="8"/>
                    </a:cubicBezTo>
                    <a:cubicBezTo>
                      <a:pt x="7616" y="4"/>
                      <a:pt x="7620" y="0"/>
                      <a:pt x="7624" y="0"/>
                    </a:cubicBezTo>
                    <a:lnTo>
                      <a:pt x="7864" y="0"/>
                    </a:lnTo>
                    <a:cubicBezTo>
                      <a:pt x="7869" y="0"/>
                      <a:pt x="7872" y="4"/>
                      <a:pt x="7872" y="8"/>
                    </a:cubicBezTo>
                    <a:cubicBezTo>
                      <a:pt x="7872" y="13"/>
                      <a:pt x="7869" y="16"/>
                      <a:pt x="7864" y="16"/>
                    </a:cubicBezTo>
                    <a:close/>
                    <a:moveTo>
                      <a:pt x="7480" y="16"/>
                    </a:moveTo>
                    <a:lnTo>
                      <a:pt x="7240" y="16"/>
                    </a:lnTo>
                    <a:cubicBezTo>
                      <a:pt x="7236" y="16"/>
                      <a:pt x="7232" y="13"/>
                      <a:pt x="7232" y="8"/>
                    </a:cubicBezTo>
                    <a:cubicBezTo>
                      <a:pt x="7232" y="4"/>
                      <a:pt x="7236" y="0"/>
                      <a:pt x="7240" y="0"/>
                    </a:cubicBezTo>
                    <a:lnTo>
                      <a:pt x="7480" y="0"/>
                    </a:lnTo>
                    <a:cubicBezTo>
                      <a:pt x="7485" y="0"/>
                      <a:pt x="7488" y="4"/>
                      <a:pt x="7488" y="8"/>
                    </a:cubicBezTo>
                    <a:cubicBezTo>
                      <a:pt x="7488" y="13"/>
                      <a:pt x="7485" y="16"/>
                      <a:pt x="7480" y="16"/>
                    </a:cubicBezTo>
                    <a:close/>
                    <a:moveTo>
                      <a:pt x="7096" y="16"/>
                    </a:moveTo>
                    <a:lnTo>
                      <a:pt x="6856" y="16"/>
                    </a:lnTo>
                    <a:cubicBezTo>
                      <a:pt x="6852" y="16"/>
                      <a:pt x="6848" y="13"/>
                      <a:pt x="6848" y="8"/>
                    </a:cubicBezTo>
                    <a:cubicBezTo>
                      <a:pt x="6848" y="4"/>
                      <a:pt x="6852" y="0"/>
                      <a:pt x="6856" y="0"/>
                    </a:cubicBezTo>
                    <a:lnTo>
                      <a:pt x="7096" y="0"/>
                    </a:lnTo>
                    <a:cubicBezTo>
                      <a:pt x="7101" y="0"/>
                      <a:pt x="7104" y="4"/>
                      <a:pt x="7104" y="8"/>
                    </a:cubicBezTo>
                    <a:cubicBezTo>
                      <a:pt x="7104" y="13"/>
                      <a:pt x="7101" y="16"/>
                      <a:pt x="7096" y="16"/>
                    </a:cubicBezTo>
                    <a:close/>
                    <a:moveTo>
                      <a:pt x="6712" y="16"/>
                    </a:moveTo>
                    <a:lnTo>
                      <a:pt x="6472" y="16"/>
                    </a:lnTo>
                    <a:cubicBezTo>
                      <a:pt x="6468" y="16"/>
                      <a:pt x="6464" y="13"/>
                      <a:pt x="6464" y="8"/>
                    </a:cubicBezTo>
                    <a:cubicBezTo>
                      <a:pt x="6464" y="4"/>
                      <a:pt x="6468" y="0"/>
                      <a:pt x="6472" y="0"/>
                    </a:cubicBezTo>
                    <a:lnTo>
                      <a:pt x="6712" y="0"/>
                    </a:lnTo>
                    <a:cubicBezTo>
                      <a:pt x="6717" y="0"/>
                      <a:pt x="6720" y="4"/>
                      <a:pt x="6720" y="8"/>
                    </a:cubicBezTo>
                    <a:cubicBezTo>
                      <a:pt x="6720" y="13"/>
                      <a:pt x="6717" y="16"/>
                      <a:pt x="6712" y="16"/>
                    </a:cubicBezTo>
                    <a:close/>
                    <a:moveTo>
                      <a:pt x="6328" y="16"/>
                    </a:moveTo>
                    <a:lnTo>
                      <a:pt x="6088" y="16"/>
                    </a:lnTo>
                    <a:cubicBezTo>
                      <a:pt x="6084" y="16"/>
                      <a:pt x="6080" y="13"/>
                      <a:pt x="6080" y="8"/>
                    </a:cubicBezTo>
                    <a:cubicBezTo>
                      <a:pt x="6080" y="4"/>
                      <a:pt x="6084" y="0"/>
                      <a:pt x="6088" y="0"/>
                    </a:cubicBezTo>
                    <a:lnTo>
                      <a:pt x="6328" y="0"/>
                    </a:lnTo>
                    <a:cubicBezTo>
                      <a:pt x="6333" y="0"/>
                      <a:pt x="6336" y="4"/>
                      <a:pt x="6336" y="8"/>
                    </a:cubicBezTo>
                    <a:cubicBezTo>
                      <a:pt x="6336" y="13"/>
                      <a:pt x="6333" y="16"/>
                      <a:pt x="6328" y="16"/>
                    </a:cubicBezTo>
                    <a:close/>
                    <a:moveTo>
                      <a:pt x="5944" y="16"/>
                    </a:moveTo>
                    <a:lnTo>
                      <a:pt x="5704" y="16"/>
                    </a:lnTo>
                    <a:cubicBezTo>
                      <a:pt x="5700" y="16"/>
                      <a:pt x="5696" y="13"/>
                      <a:pt x="5696" y="8"/>
                    </a:cubicBezTo>
                    <a:cubicBezTo>
                      <a:pt x="5696" y="4"/>
                      <a:pt x="5700" y="0"/>
                      <a:pt x="5704" y="0"/>
                    </a:cubicBezTo>
                    <a:lnTo>
                      <a:pt x="5944" y="0"/>
                    </a:lnTo>
                    <a:cubicBezTo>
                      <a:pt x="5949" y="0"/>
                      <a:pt x="5952" y="4"/>
                      <a:pt x="5952" y="8"/>
                    </a:cubicBezTo>
                    <a:cubicBezTo>
                      <a:pt x="5952" y="13"/>
                      <a:pt x="5949" y="16"/>
                      <a:pt x="5944" y="16"/>
                    </a:cubicBezTo>
                    <a:close/>
                    <a:moveTo>
                      <a:pt x="5560" y="16"/>
                    </a:moveTo>
                    <a:lnTo>
                      <a:pt x="5320" y="16"/>
                    </a:lnTo>
                    <a:cubicBezTo>
                      <a:pt x="5316" y="16"/>
                      <a:pt x="5312" y="13"/>
                      <a:pt x="5312" y="8"/>
                    </a:cubicBezTo>
                    <a:cubicBezTo>
                      <a:pt x="5312" y="4"/>
                      <a:pt x="5316" y="0"/>
                      <a:pt x="5320" y="0"/>
                    </a:cubicBezTo>
                    <a:lnTo>
                      <a:pt x="5560" y="0"/>
                    </a:lnTo>
                    <a:cubicBezTo>
                      <a:pt x="5565" y="0"/>
                      <a:pt x="5568" y="4"/>
                      <a:pt x="5568" y="8"/>
                    </a:cubicBezTo>
                    <a:cubicBezTo>
                      <a:pt x="5568" y="13"/>
                      <a:pt x="5565" y="16"/>
                      <a:pt x="5560" y="16"/>
                    </a:cubicBezTo>
                    <a:close/>
                    <a:moveTo>
                      <a:pt x="5176" y="16"/>
                    </a:moveTo>
                    <a:lnTo>
                      <a:pt x="4936" y="16"/>
                    </a:lnTo>
                    <a:cubicBezTo>
                      <a:pt x="4932" y="16"/>
                      <a:pt x="4928" y="13"/>
                      <a:pt x="4928" y="8"/>
                    </a:cubicBezTo>
                    <a:cubicBezTo>
                      <a:pt x="4928" y="4"/>
                      <a:pt x="4932" y="0"/>
                      <a:pt x="4936" y="0"/>
                    </a:cubicBezTo>
                    <a:lnTo>
                      <a:pt x="5176" y="0"/>
                    </a:lnTo>
                    <a:cubicBezTo>
                      <a:pt x="5181" y="0"/>
                      <a:pt x="5184" y="4"/>
                      <a:pt x="5184" y="8"/>
                    </a:cubicBezTo>
                    <a:cubicBezTo>
                      <a:pt x="5184" y="13"/>
                      <a:pt x="5181" y="16"/>
                      <a:pt x="5176" y="16"/>
                    </a:cubicBezTo>
                    <a:close/>
                    <a:moveTo>
                      <a:pt x="4792" y="16"/>
                    </a:moveTo>
                    <a:lnTo>
                      <a:pt x="4552" y="16"/>
                    </a:lnTo>
                    <a:cubicBezTo>
                      <a:pt x="4548" y="16"/>
                      <a:pt x="4544" y="13"/>
                      <a:pt x="4544" y="8"/>
                    </a:cubicBezTo>
                    <a:cubicBezTo>
                      <a:pt x="4544" y="4"/>
                      <a:pt x="4548" y="0"/>
                      <a:pt x="4552" y="0"/>
                    </a:cubicBezTo>
                    <a:lnTo>
                      <a:pt x="4792" y="0"/>
                    </a:lnTo>
                    <a:cubicBezTo>
                      <a:pt x="4797" y="0"/>
                      <a:pt x="4800" y="4"/>
                      <a:pt x="4800" y="8"/>
                    </a:cubicBezTo>
                    <a:cubicBezTo>
                      <a:pt x="4800" y="13"/>
                      <a:pt x="4797" y="16"/>
                      <a:pt x="4792" y="16"/>
                    </a:cubicBezTo>
                    <a:close/>
                    <a:moveTo>
                      <a:pt x="4408" y="16"/>
                    </a:moveTo>
                    <a:lnTo>
                      <a:pt x="4168" y="16"/>
                    </a:lnTo>
                    <a:cubicBezTo>
                      <a:pt x="4164" y="16"/>
                      <a:pt x="4160" y="13"/>
                      <a:pt x="4160" y="8"/>
                    </a:cubicBezTo>
                    <a:cubicBezTo>
                      <a:pt x="4160" y="4"/>
                      <a:pt x="4164" y="0"/>
                      <a:pt x="4168" y="0"/>
                    </a:cubicBezTo>
                    <a:lnTo>
                      <a:pt x="4408" y="0"/>
                    </a:lnTo>
                    <a:cubicBezTo>
                      <a:pt x="4413" y="0"/>
                      <a:pt x="4416" y="4"/>
                      <a:pt x="4416" y="8"/>
                    </a:cubicBezTo>
                    <a:cubicBezTo>
                      <a:pt x="4416" y="13"/>
                      <a:pt x="4413" y="16"/>
                      <a:pt x="4408" y="16"/>
                    </a:cubicBezTo>
                    <a:close/>
                    <a:moveTo>
                      <a:pt x="4024" y="16"/>
                    </a:moveTo>
                    <a:lnTo>
                      <a:pt x="3784" y="16"/>
                    </a:lnTo>
                    <a:cubicBezTo>
                      <a:pt x="3780" y="16"/>
                      <a:pt x="3776" y="13"/>
                      <a:pt x="3776" y="8"/>
                    </a:cubicBezTo>
                    <a:cubicBezTo>
                      <a:pt x="3776" y="4"/>
                      <a:pt x="3780" y="0"/>
                      <a:pt x="3784" y="0"/>
                    </a:cubicBezTo>
                    <a:lnTo>
                      <a:pt x="4024" y="0"/>
                    </a:lnTo>
                    <a:cubicBezTo>
                      <a:pt x="4029" y="0"/>
                      <a:pt x="4032" y="4"/>
                      <a:pt x="4032" y="8"/>
                    </a:cubicBezTo>
                    <a:cubicBezTo>
                      <a:pt x="4032" y="13"/>
                      <a:pt x="4029" y="16"/>
                      <a:pt x="4024" y="16"/>
                    </a:cubicBezTo>
                    <a:close/>
                    <a:moveTo>
                      <a:pt x="3640" y="16"/>
                    </a:moveTo>
                    <a:lnTo>
                      <a:pt x="3400" y="16"/>
                    </a:lnTo>
                    <a:cubicBezTo>
                      <a:pt x="3396" y="16"/>
                      <a:pt x="3392" y="13"/>
                      <a:pt x="3392" y="8"/>
                    </a:cubicBezTo>
                    <a:cubicBezTo>
                      <a:pt x="3392" y="4"/>
                      <a:pt x="3396" y="0"/>
                      <a:pt x="3400" y="0"/>
                    </a:cubicBezTo>
                    <a:lnTo>
                      <a:pt x="3640" y="0"/>
                    </a:lnTo>
                    <a:cubicBezTo>
                      <a:pt x="3645" y="0"/>
                      <a:pt x="3648" y="4"/>
                      <a:pt x="3648" y="8"/>
                    </a:cubicBezTo>
                    <a:cubicBezTo>
                      <a:pt x="3648" y="13"/>
                      <a:pt x="3645" y="16"/>
                      <a:pt x="3640" y="16"/>
                    </a:cubicBezTo>
                    <a:close/>
                    <a:moveTo>
                      <a:pt x="3256" y="16"/>
                    </a:moveTo>
                    <a:lnTo>
                      <a:pt x="3016" y="16"/>
                    </a:lnTo>
                    <a:cubicBezTo>
                      <a:pt x="3012" y="16"/>
                      <a:pt x="3008" y="13"/>
                      <a:pt x="3008" y="8"/>
                    </a:cubicBezTo>
                    <a:cubicBezTo>
                      <a:pt x="3008" y="4"/>
                      <a:pt x="3012" y="0"/>
                      <a:pt x="3016" y="0"/>
                    </a:cubicBezTo>
                    <a:lnTo>
                      <a:pt x="3256" y="0"/>
                    </a:lnTo>
                    <a:cubicBezTo>
                      <a:pt x="3261" y="0"/>
                      <a:pt x="3264" y="4"/>
                      <a:pt x="3264" y="8"/>
                    </a:cubicBezTo>
                    <a:cubicBezTo>
                      <a:pt x="3264" y="13"/>
                      <a:pt x="3261" y="16"/>
                      <a:pt x="3256" y="16"/>
                    </a:cubicBezTo>
                    <a:close/>
                    <a:moveTo>
                      <a:pt x="2872" y="16"/>
                    </a:moveTo>
                    <a:lnTo>
                      <a:pt x="2632" y="16"/>
                    </a:lnTo>
                    <a:cubicBezTo>
                      <a:pt x="2628" y="16"/>
                      <a:pt x="2624" y="13"/>
                      <a:pt x="2624" y="8"/>
                    </a:cubicBezTo>
                    <a:cubicBezTo>
                      <a:pt x="2624" y="4"/>
                      <a:pt x="2628" y="0"/>
                      <a:pt x="2632" y="0"/>
                    </a:cubicBezTo>
                    <a:lnTo>
                      <a:pt x="2872" y="0"/>
                    </a:lnTo>
                    <a:cubicBezTo>
                      <a:pt x="2877" y="0"/>
                      <a:pt x="2880" y="4"/>
                      <a:pt x="2880" y="8"/>
                    </a:cubicBezTo>
                    <a:cubicBezTo>
                      <a:pt x="2880" y="13"/>
                      <a:pt x="2877" y="16"/>
                      <a:pt x="2872" y="16"/>
                    </a:cubicBezTo>
                    <a:close/>
                    <a:moveTo>
                      <a:pt x="2488" y="16"/>
                    </a:moveTo>
                    <a:lnTo>
                      <a:pt x="2248" y="16"/>
                    </a:lnTo>
                    <a:cubicBezTo>
                      <a:pt x="2244" y="16"/>
                      <a:pt x="2240" y="13"/>
                      <a:pt x="2240" y="8"/>
                    </a:cubicBezTo>
                    <a:cubicBezTo>
                      <a:pt x="2240" y="4"/>
                      <a:pt x="2244" y="0"/>
                      <a:pt x="2248" y="0"/>
                    </a:cubicBezTo>
                    <a:lnTo>
                      <a:pt x="2488" y="0"/>
                    </a:lnTo>
                    <a:cubicBezTo>
                      <a:pt x="2493" y="0"/>
                      <a:pt x="2496" y="4"/>
                      <a:pt x="2496" y="8"/>
                    </a:cubicBezTo>
                    <a:cubicBezTo>
                      <a:pt x="2496" y="13"/>
                      <a:pt x="2493" y="16"/>
                      <a:pt x="2488" y="16"/>
                    </a:cubicBezTo>
                    <a:close/>
                    <a:moveTo>
                      <a:pt x="2104" y="16"/>
                    </a:moveTo>
                    <a:lnTo>
                      <a:pt x="1864" y="16"/>
                    </a:lnTo>
                    <a:cubicBezTo>
                      <a:pt x="1860" y="16"/>
                      <a:pt x="1856" y="13"/>
                      <a:pt x="1856" y="8"/>
                    </a:cubicBezTo>
                    <a:cubicBezTo>
                      <a:pt x="1856" y="4"/>
                      <a:pt x="1860" y="0"/>
                      <a:pt x="1864" y="0"/>
                    </a:cubicBezTo>
                    <a:lnTo>
                      <a:pt x="2104" y="0"/>
                    </a:lnTo>
                    <a:cubicBezTo>
                      <a:pt x="2109" y="0"/>
                      <a:pt x="2112" y="4"/>
                      <a:pt x="2112" y="8"/>
                    </a:cubicBezTo>
                    <a:cubicBezTo>
                      <a:pt x="2112" y="13"/>
                      <a:pt x="2109" y="16"/>
                      <a:pt x="2104" y="16"/>
                    </a:cubicBezTo>
                    <a:close/>
                    <a:moveTo>
                      <a:pt x="1720" y="16"/>
                    </a:moveTo>
                    <a:lnTo>
                      <a:pt x="1480" y="16"/>
                    </a:lnTo>
                    <a:cubicBezTo>
                      <a:pt x="1476" y="16"/>
                      <a:pt x="1472" y="13"/>
                      <a:pt x="1472" y="8"/>
                    </a:cubicBezTo>
                    <a:cubicBezTo>
                      <a:pt x="1472" y="4"/>
                      <a:pt x="1476" y="0"/>
                      <a:pt x="1480" y="0"/>
                    </a:cubicBezTo>
                    <a:lnTo>
                      <a:pt x="1720" y="0"/>
                    </a:lnTo>
                    <a:cubicBezTo>
                      <a:pt x="1725" y="0"/>
                      <a:pt x="1728" y="4"/>
                      <a:pt x="1728" y="8"/>
                    </a:cubicBezTo>
                    <a:cubicBezTo>
                      <a:pt x="1728" y="13"/>
                      <a:pt x="1725" y="16"/>
                      <a:pt x="1720" y="16"/>
                    </a:cubicBezTo>
                    <a:close/>
                    <a:moveTo>
                      <a:pt x="1336" y="16"/>
                    </a:moveTo>
                    <a:lnTo>
                      <a:pt x="1096" y="16"/>
                    </a:lnTo>
                    <a:cubicBezTo>
                      <a:pt x="1092" y="16"/>
                      <a:pt x="1088" y="13"/>
                      <a:pt x="1088" y="8"/>
                    </a:cubicBezTo>
                    <a:cubicBezTo>
                      <a:pt x="1088" y="4"/>
                      <a:pt x="1092" y="0"/>
                      <a:pt x="1096" y="0"/>
                    </a:cubicBezTo>
                    <a:lnTo>
                      <a:pt x="1336" y="0"/>
                    </a:lnTo>
                    <a:cubicBezTo>
                      <a:pt x="1341" y="0"/>
                      <a:pt x="1344" y="4"/>
                      <a:pt x="1344" y="8"/>
                    </a:cubicBezTo>
                    <a:cubicBezTo>
                      <a:pt x="1344" y="13"/>
                      <a:pt x="1341" y="16"/>
                      <a:pt x="1336" y="16"/>
                    </a:cubicBezTo>
                    <a:close/>
                    <a:moveTo>
                      <a:pt x="952" y="16"/>
                    </a:moveTo>
                    <a:lnTo>
                      <a:pt x="712" y="16"/>
                    </a:lnTo>
                    <a:cubicBezTo>
                      <a:pt x="708" y="16"/>
                      <a:pt x="704" y="13"/>
                      <a:pt x="704" y="8"/>
                    </a:cubicBezTo>
                    <a:cubicBezTo>
                      <a:pt x="704" y="4"/>
                      <a:pt x="708" y="0"/>
                      <a:pt x="712" y="0"/>
                    </a:cubicBezTo>
                    <a:lnTo>
                      <a:pt x="952" y="0"/>
                    </a:lnTo>
                    <a:cubicBezTo>
                      <a:pt x="957" y="0"/>
                      <a:pt x="960" y="4"/>
                      <a:pt x="960" y="8"/>
                    </a:cubicBezTo>
                    <a:cubicBezTo>
                      <a:pt x="960" y="13"/>
                      <a:pt x="957" y="16"/>
                      <a:pt x="952" y="16"/>
                    </a:cubicBezTo>
                    <a:close/>
                    <a:moveTo>
                      <a:pt x="568" y="16"/>
                    </a:moveTo>
                    <a:lnTo>
                      <a:pt x="328" y="16"/>
                    </a:lnTo>
                    <a:cubicBezTo>
                      <a:pt x="324" y="16"/>
                      <a:pt x="320" y="13"/>
                      <a:pt x="320" y="8"/>
                    </a:cubicBezTo>
                    <a:cubicBezTo>
                      <a:pt x="320" y="4"/>
                      <a:pt x="324" y="0"/>
                      <a:pt x="328" y="0"/>
                    </a:cubicBezTo>
                    <a:lnTo>
                      <a:pt x="568" y="0"/>
                    </a:lnTo>
                    <a:cubicBezTo>
                      <a:pt x="573" y="0"/>
                      <a:pt x="576" y="4"/>
                      <a:pt x="576" y="8"/>
                    </a:cubicBezTo>
                    <a:cubicBezTo>
                      <a:pt x="576" y="13"/>
                      <a:pt x="573" y="16"/>
                      <a:pt x="568" y="16"/>
                    </a:cubicBezTo>
                    <a:close/>
                    <a:moveTo>
                      <a:pt x="184" y="16"/>
                    </a:moveTo>
                    <a:lnTo>
                      <a:pt x="8" y="16"/>
                    </a:lnTo>
                    <a:cubicBezTo>
                      <a:pt x="4" y="16"/>
                      <a:pt x="0" y="13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lnTo>
                      <a:pt x="184" y="0"/>
                    </a:lnTo>
                    <a:cubicBezTo>
                      <a:pt x="189" y="0"/>
                      <a:pt x="192" y="4"/>
                      <a:pt x="192" y="8"/>
                    </a:cubicBezTo>
                    <a:cubicBezTo>
                      <a:pt x="192" y="13"/>
                      <a:pt x="189" y="16"/>
                      <a:pt x="184" y="16"/>
                    </a:cubicBezTo>
                    <a:close/>
                  </a:path>
                </a:pathLst>
              </a:custGeom>
              <a:solidFill>
                <a:srgbClr val="000000"/>
              </a:solidFill>
              <a:ln w="0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5" name="Rectangle 12">
                <a:extLst>
                  <a:ext uri="{FF2B5EF4-FFF2-40B4-BE49-F238E27FC236}">
                    <a16:creationId xmlns:a16="http://schemas.microsoft.com/office/drawing/2014/main" id="{AE67EBF6-EC60-28CB-2B83-36A624744F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" y="2376"/>
                <a:ext cx="2259" cy="767"/>
              </a:xfrm>
              <a:prstGeom prst="rect">
                <a:avLst/>
              </a:prstGeom>
              <a:solidFill>
                <a:srgbClr val="C4D6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6" name="Rectangle 13">
                <a:extLst>
                  <a:ext uri="{FF2B5EF4-FFF2-40B4-BE49-F238E27FC236}">
                    <a16:creationId xmlns:a16="http://schemas.microsoft.com/office/drawing/2014/main" id="{410BEFF1-C1BB-B28A-1716-280B9D6C27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" y="2376"/>
                <a:ext cx="2259" cy="767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7" name="Rectangle 14">
                <a:extLst>
                  <a:ext uri="{FF2B5EF4-FFF2-40B4-BE49-F238E27FC236}">
                    <a16:creationId xmlns:a16="http://schemas.microsoft.com/office/drawing/2014/main" id="{559D8124-2A81-58B0-8FE1-CD3615F76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234"/>
                <a:ext cx="2137" cy="351"/>
              </a:xfrm>
              <a:prstGeom prst="rect">
                <a:avLst/>
              </a:prstGeom>
              <a:solidFill>
                <a:srgbClr val="DBE4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8" name="Rectangle 15">
                <a:extLst>
                  <a:ext uri="{FF2B5EF4-FFF2-40B4-BE49-F238E27FC236}">
                    <a16:creationId xmlns:a16="http://schemas.microsoft.com/office/drawing/2014/main" id="{219665D9-1699-E1E5-4E6D-F22E47C22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234"/>
                <a:ext cx="2137" cy="351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09" name="Rectangle 16">
                <a:extLst>
                  <a:ext uri="{FF2B5EF4-FFF2-40B4-BE49-F238E27FC236}">
                    <a16:creationId xmlns:a16="http://schemas.microsoft.com/office/drawing/2014/main" id="{13056EB9-3D1B-69C8-DE14-A031C2D3C7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3" y="1280"/>
                <a:ext cx="951" cy="1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Protocol Layer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0" name="Rectangle 17">
                <a:extLst>
                  <a:ext uri="{FF2B5EF4-FFF2-40B4-BE49-F238E27FC236}">
                    <a16:creationId xmlns:a16="http://schemas.microsoft.com/office/drawing/2014/main" id="{83B143D0-04CB-650B-FF97-5D8AA849C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8" y="1301"/>
                <a:ext cx="71" cy="1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1" name="Rectangle 18">
                <a:extLst>
                  <a:ext uri="{FF2B5EF4-FFF2-40B4-BE49-F238E27FC236}">
                    <a16:creationId xmlns:a16="http://schemas.microsoft.com/office/drawing/2014/main" id="{73AFE550-AEBC-4A7C-362A-C966A9D0F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2" y="1428"/>
                <a:ext cx="687" cy="1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(PCIe or CXL)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2" name="Rectangle 19">
                <a:extLst>
                  <a:ext uri="{FF2B5EF4-FFF2-40B4-BE49-F238E27FC236}">
                    <a16:creationId xmlns:a16="http://schemas.microsoft.com/office/drawing/2014/main" id="{186CD635-4292-C1CF-3DB8-0C1B4C784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830"/>
                <a:ext cx="2137" cy="320"/>
              </a:xfrm>
              <a:prstGeom prst="rect">
                <a:avLst/>
              </a:prstGeom>
              <a:solidFill>
                <a:srgbClr val="EBF1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3" name="Rectangle 20">
                <a:extLst>
                  <a:ext uri="{FF2B5EF4-FFF2-40B4-BE49-F238E27FC236}">
                    <a16:creationId xmlns:a16="http://schemas.microsoft.com/office/drawing/2014/main" id="{8FB944B0-EBAF-CFD4-1151-F44343944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830"/>
                <a:ext cx="2137" cy="320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4" name="Rectangle 21">
                <a:extLst>
                  <a:ext uri="{FF2B5EF4-FFF2-40B4-BE49-F238E27FC236}">
                    <a16:creationId xmlns:a16="http://schemas.microsoft.com/office/drawing/2014/main" id="{CF2963B5-AE43-7DB6-8B6B-DEFAD3E3D2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0" y="1860"/>
                <a:ext cx="830" cy="1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D2D Adapter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5" name="Rectangle 22">
                <a:extLst>
                  <a:ext uri="{FF2B5EF4-FFF2-40B4-BE49-F238E27FC236}">
                    <a16:creationId xmlns:a16="http://schemas.microsoft.com/office/drawing/2014/main" id="{E20C8DBE-C6C5-B224-E523-B259206294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4" y="2007"/>
                <a:ext cx="1948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(ARB/MUX, CRC/Retry, Link State Mgmt.)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6" name="Rectangle 23">
                <a:extLst>
                  <a:ext uri="{FF2B5EF4-FFF2-40B4-BE49-F238E27FC236}">
                    <a16:creationId xmlns:a16="http://schemas.microsoft.com/office/drawing/2014/main" id="{33E190EE-0703-FB30-4F66-D12F025A6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8" y="2700"/>
                <a:ext cx="488" cy="374"/>
              </a:xfrm>
              <a:prstGeom prst="rect">
                <a:avLst/>
              </a:prstGeom>
              <a:solidFill>
                <a:srgbClr val="EBF1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7" name="Rectangle 24">
                <a:extLst>
                  <a:ext uri="{FF2B5EF4-FFF2-40B4-BE49-F238E27FC236}">
                    <a16:creationId xmlns:a16="http://schemas.microsoft.com/office/drawing/2014/main" id="{8C7207B1-E39A-5348-CEDF-6A82FA0431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8" y="2700"/>
                <a:ext cx="488" cy="374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18" name="Rectangle 25">
                <a:extLst>
                  <a:ext uri="{FF2B5EF4-FFF2-40B4-BE49-F238E27FC236}">
                    <a16:creationId xmlns:a16="http://schemas.microsoft.com/office/drawing/2014/main" id="{3F092AD9-EF9A-73DA-55A9-6B40F3403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7" y="2774"/>
                <a:ext cx="255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PHY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9" name="Rectangle 26">
                <a:extLst>
                  <a:ext uri="{FF2B5EF4-FFF2-40B4-BE49-F238E27FC236}">
                    <a16:creationId xmlns:a16="http://schemas.microsoft.com/office/drawing/2014/main" id="{C5D37A01-688F-E384-2A63-5267A0F5AA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" y="2888"/>
                <a:ext cx="382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Module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0" name="Line 27">
                <a:extLst>
                  <a:ext uri="{FF2B5EF4-FFF2-40B4-BE49-F238E27FC236}">
                    <a16:creationId xmlns:a16="http://schemas.microsoft.com/office/drawing/2014/main" id="{B96E0D59-019C-1881-B5E0-078DF1D56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3140"/>
                <a:ext cx="0" cy="213"/>
              </a:xfrm>
              <a:prstGeom prst="line">
                <a:avLst/>
              </a:prstGeom>
              <a:noFill/>
              <a:ln w="31750" cap="rnd">
                <a:solidFill>
                  <a:srgbClr val="00B05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1" name="Freeform 28">
                <a:extLst>
                  <a:ext uri="{FF2B5EF4-FFF2-40B4-BE49-F238E27FC236}">
                    <a16:creationId xmlns:a16="http://schemas.microsoft.com/office/drawing/2014/main" id="{8043AF8D-BBD1-3A7F-3287-EF098BE03A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5" y="3343"/>
                <a:ext cx="75" cy="75"/>
              </a:xfrm>
              <a:custGeom>
                <a:avLst/>
                <a:gdLst>
                  <a:gd name="T0" fmla="*/ 75 w 75"/>
                  <a:gd name="T1" fmla="*/ 0 h 75"/>
                  <a:gd name="T2" fmla="*/ 37 w 75"/>
                  <a:gd name="T3" fmla="*/ 75 h 75"/>
                  <a:gd name="T4" fmla="*/ 0 w 75"/>
                  <a:gd name="T5" fmla="*/ 0 h 75"/>
                  <a:gd name="T6" fmla="*/ 75 w 75"/>
                  <a:gd name="T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75">
                    <a:moveTo>
                      <a:pt x="75" y="0"/>
                    </a:moveTo>
                    <a:lnTo>
                      <a:pt x="37" y="75"/>
                    </a:lnTo>
                    <a:lnTo>
                      <a:pt x="0" y="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2" name="Freeform 29">
                <a:extLst>
                  <a:ext uri="{FF2B5EF4-FFF2-40B4-BE49-F238E27FC236}">
                    <a16:creationId xmlns:a16="http://schemas.microsoft.com/office/drawing/2014/main" id="{ADDD6324-50D2-3A9E-B816-617A49C030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5" y="3074"/>
                <a:ext cx="75" cy="76"/>
              </a:xfrm>
              <a:custGeom>
                <a:avLst/>
                <a:gdLst>
                  <a:gd name="T0" fmla="*/ 0 w 75"/>
                  <a:gd name="T1" fmla="*/ 76 h 76"/>
                  <a:gd name="T2" fmla="*/ 37 w 75"/>
                  <a:gd name="T3" fmla="*/ 0 h 76"/>
                  <a:gd name="T4" fmla="*/ 75 w 75"/>
                  <a:gd name="T5" fmla="*/ 76 h 76"/>
                  <a:gd name="T6" fmla="*/ 0 w 75"/>
                  <a:gd name="T7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76">
                    <a:moveTo>
                      <a:pt x="0" y="76"/>
                    </a:moveTo>
                    <a:lnTo>
                      <a:pt x="37" y="0"/>
                    </a:lnTo>
                    <a:lnTo>
                      <a:pt x="75" y="76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3" name="Rectangle 30">
                <a:extLst>
                  <a:ext uri="{FF2B5EF4-FFF2-40B4-BE49-F238E27FC236}">
                    <a16:creationId xmlns:a16="http://schemas.microsoft.com/office/drawing/2014/main" id="{9B0B4089-B2B3-B509-FBA6-0B0F13932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3" y="2201"/>
                <a:ext cx="951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Raw D2D Intf. (RDI)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4" name="Rectangle 31">
                <a:extLst>
                  <a:ext uri="{FF2B5EF4-FFF2-40B4-BE49-F238E27FC236}">
                    <a16:creationId xmlns:a16="http://schemas.microsoft.com/office/drawing/2014/main" id="{9C3B004E-6891-8846-7B65-E3FE6BDB04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" y="1039"/>
                <a:ext cx="52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SoC Die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" name="Rectangle 32">
                <a:extLst>
                  <a:ext uri="{FF2B5EF4-FFF2-40B4-BE49-F238E27FC236}">
                    <a16:creationId xmlns:a16="http://schemas.microsoft.com/office/drawing/2014/main" id="{7DD23C1A-44CA-88F9-990A-31DC6F2F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8" y="2700"/>
                <a:ext cx="488" cy="374"/>
              </a:xfrm>
              <a:prstGeom prst="rect">
                <a:avLst/>
              </a:prstGeom>
              <a:solidFill>
                <a:srgbClr val="EBF1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6" name="Rectangle 33">
                <a:extLst>
                  <a:ext uri="{FF2B5EF4-FFF2-40B4-BE49-F238E27FC236}">
                    <a16:creationId xmlns:a16="http://schemas.microsoft.com/office/drawing/2014/main" id="{FCCA6CE4-ADC5-3488-9D5D-41FB86F82E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8" y="2700"/>
                <a:ext cx="488" cy="374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27" name="Rectangle 34">
                <a:extLst>
                  <a:ext uri="{FF2B5EF4-FFF2-40B4-BE49-F238E27FC236}">
                    <a16:creationId xmlns:a16="http://schemas.microsoft.com/office/drawing/2014/main" id="{D14569EF-8D02-D22A-EA6B-F3C9EA49F6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7" y="2774"/>
                <a:ext cx="254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PHY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8" name="Rectangle 35">
                <a:extLst>
                  <a:ext uri="{FF2B5EF4-FFF2-40B4-BE49-F238E27FC236}">
                    <a16:creationId xmlns:a16="http://schemas.microsoft.com/office/drawing/2014/main" id="{6E553B3E-A62C-051D-5E53-F0D6662618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9" y="2888"/>
                <a:ext cx="381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Module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9" name="Line 36">
                <a:extLst>
                  <a:ext uri="{FF2B5EF4-FFF2-40B4-BE49-F238E27FC236}">
                    <a16:creationId xmlns:a16="http://schemas.microsoft.com/office/drawing/2014/main" id="{7841EBB6-C6E4-EE74-FBA5-F13CF26E4A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22" y="3140"/>
                <a:ext cx="0" cy="213"/>
              </a:xfrm>
              <a:prstGeom prst="line">
                <a:avLst/>
              </a:prstGeom>
              <a:noFill/>
              <a:ln w="31750" cap="rnd">
                <a:solidFill>
                  <a:srgbClr val="00B05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0" name="Freeform 37">
                <a:extLst>
                  <a:ext uri="{FF2B5EF4-FFF2-40B4-BE49-F238E27FC236}">
                    <a16:creationId xmlns:a16="http://schemas.microsoft.com/office/drawing/2014/main" id="{53EB47C6-8676-7587-A939-E51C0CB21F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4" y="3343"/>
                <a:ext cx="75" cy="75"/>
              </a:xfrm>
              <a:custGeom>
                <a:avLst/>
                <a:gdLst>
                  <a:gd name="T0" fmla="*/ 75 w 75"/>
                  <a:gd name="T1" fmla="*/ 0 h 75"/>
                  <a:gd name="T2" fmla="*/ 38 w 75"/>
                  <a:gd name="T3" fmla="*/ 75 h 75"/>
                  <a:gd name="T4" fmla="*/ 0 w 75"/>
                  <a:gd name="T5" fmla="*/ 0 h 75"/>
                  <a:gd name="T6" fmla="*/ 75 w 75"/>
                  <a:gd name="T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75">
                    <a:moveTo>
                      <a:pt x="75" y="0"/>
                    </a:moveTo>
                    <a:lnTo>
                      <a:pt x="38" y="75"/>
                    </a:lnTo>
                    <a:lnTo>
                      <a:pt x="0" y="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1" name="Freeform 38">
                <a:extLst>
                  <a:ext uri="{FF2B5EF4-FFF2-40B4-BE49-F238E27FC236}">
                    <a16:creationId xmlns:a16="http://schemas.microsoft.com/office/drawing/2014/main" id="{958331BC-B230-13F1-0C1E-A4C494C3E2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4" y="3074"/>
                <a:ext cx="75" cy="76"/>
              </a:xfrm>
              <a:custGeom>
                <a:avLst/>
                <a:gdLst>
                  <a:gd name="T0" fmla="*/ 0 w 75"/>
                  <a:gd name="T1" fmla="*/ 76 h 76"/>
                  <a:gd name="T2" fmla="*/ 38 w 75"/>
                  <a:gd name="T3" fmla="*/ 0 h 76"/>
                  <a:gd name="T4" fmla="*/ 75 w 75"/>
                  <a:gd name="T5" fmla="*/ 76 h 76"/>
                  <a:gd name="T6" fmla="*/ 0 w 75"/>
                  <a:gd name="T7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76">
                    <a:moveTo>
                      <a:pt x="0" y="76"/>
                    </a:moveTo>
                    <a:lnTo>
                      <a:pt x="38" y="0"/>
                    </a:lnTo>
                    <a:lnTo>
                      <a:pt x="75" y="76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2" name="Rectangle 39">
                <a:extLst>
                  <a:ext uri="{FF2B5EF4-FFF2-40B4-BE49-F238E27FC236}">
                    <a16:creationId xmlns:a16="http://schemas.microsoft.com/office/drawing/2014/main" id="{A165CBE1-8617-302B-2B4C-FEB795AD4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2700"/>
                <a:ext cx="489" cy="374"/>
              </a:xfrm>
              <a:prstGeom prst="rect">
                <a:avLst/>
              </a:prstGeom>
              <a:solidFill>
                <a:srgbClr val="EBF1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3" name="Rectangle 40">
                <a:extLst>
                  <a:ext uri="{FF2B5EF4-FFF2-40B4-BE49-F238E27FC236}">
                    <a16:creationId xmlns:a16="http://schemas.microsoft.com/office/drawing/2014/main" id="{5A875DAB-0995-AE82-58E1-07D785C4A1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2700"/>
                <a:ext cx="489" cy="374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4" name="Rectangle 41">
                <a:extLst>
                  <a:ext uri="{FF2B5EF4-FFF2-40B4-BE49-F238E27FC236}">
                    <a16:creationId xmlns:a16="http://schemas.microsoft.com/office/drawing/2014/main" id="{6130F39B-7705-AC19-B953-BB7C1190FF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8" y="2774"/>
                <a:ext cx="255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PHY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5" name="Rectangle 42">
                <a:extLst>
                  <a:ext uri="{FF2B5EF4-FFF2-40B4-BE49-F238E27FC236}">
                    <a16:creationId xmlns:a16="http://schemas.microsoft.com/office/drawing/2014/main" id="{DE9BD72E-6E2F-1B70-7DA3-85FD7790EC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0" y="2888"/>
                <a:ext cx="382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Module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Line 43">
                <a:extLst>
                  <a:ext uri="{FF2B5EF4-FFF2-40B4-BE49-F238E27FC236}">
                    <a16:creationId xmlns:a16="http://schemas.microsoft.com/office/drawing/2014/main" id="{21C79738-68F4-84ED-3663-342491A888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74" y="3140"/>
                <a:ext cx="0" cy="213"/>
              </a:xfrm>
              <a:prstGeom prst="line">
                <a:avLst/>
              </a:prstGeom>
              <a:noFill/>
              <a:ln w="31750" cap="rnd">
                <a:solidFill>
                  <a:srgbClr val="00B05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7" name="Freeform 44">
                <a:extLst>
                  <a:ext uri="{FF2B5EF4-FFF2-40B4-BE49-F238E27FC236}">
                    <a16:creationId xmlns:a16="http://schemas.microsoft.com/office/drawing/2014/main" id="{35B46533-3754-D4D1-3E6C-C1314F3CD5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" y="3343"/>
                <a:ext cx="75" cy="75"/>
              </a:xfrm>
              <a:custGeom>
                <a:avLst/>
                <a:gdLst>
                  <a:gd name="T0" fmla="*/ 75 w 75"/>
                  <a:gd name="T1" fmla="*/ 0 h 75"/>
                  <a:gd name="T2" fmla="*/ 38 w 75"/>
                  <a:gd name="T3" fmla="*/ 75 h 75"/>
                  <a:gd name="T4" fmla="*/ 0 w 75"/>
                  <a:gd name="T5" fmla="*/ 0 h 75"/>
                  <a:gd name="T6" fmla="*/ 75 w 75"/>
                  <a:gd name="T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75">
                    <a:moveTo>
                      <a:pt x="75" y="0"/>
                    </a:moveTo>
                    <a:lnTo>
                      <a:pt x="38" y="75"/>
                    </a:lnTo>
                    <a:lnTo>
                      <a:pt x="0" y="0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8" name="Freeform 45">
                <a:extLst>
                  <a:ext uri="{FF2B5EF4-FFF2-40B4-BE49-F238E27FC236}">
                    <a16:creationId xmlns:a16="http://schemas.microsoft.com/office/drawing/2014/main" id="{89BE8853-4776-677D-007C-7C78412D4F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" y="3074"/>
                <a:ext cx="75" cy="76"/>
              </a:xfrm>
              <a:custGeom>
                <a:avLst/>
                <a:gdLst>
                  <a:gd name="T0" fmla="*/ 0 w 75"/>
                  <a:gd name="T1" fmla="*/ 76 h 76"/>
                  <a:gd name="T2" fmla="*/ 38 w 75"/>
                  <a:gd name="T3" fmla="*/ 0 h 76"/>
                  <a:gd name="T4" fmla="*/ 75 w 75"/>
                  <a:gd name="T5" fmla="*/ 76 h 76"/>
                  <a:gd name="T6" fmla="*/ 0 w 75"/>
                  <a:gd name="T7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5" h="76">
                    <a:moveTo>
                      <a:pt x="0" y="76"/>
                    </a:moveTo>
                    <a:lnTo>
                      <a:pt x="38" y="0"/>
                    </a:lnTo>
                    <a:lnTo>
                      <a:pt x="75" y="76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39" name="Rectangle 46">
                <a:extLst>
                  <a:ext uri="{FF2B5EF4-FFF2-40B4-BE49-F238E27FC236}">
                    <a16:creationId xmlns:a16="http://schemas.microsoft.com/office/drawing/2014/main" id="{E61AC0C9-6C13-8F7E-A375-8723616C1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9" y="2700"/>
                <a:ext cx="488" cy="374"/>
              </a:xfrm>
              <a:prstGeom prst="rect">
                <a:avLst/>
              </a:prstGeom>
              <a:solidFill>
                <a:srgbClr val="EBF1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0" name="Rectangle 47">
                <a:extLst>
                  <a:ext uri="{FF2B5EF4-FFF2-40B4-BE49-F238E27FC236}">
                    <a16:creationId xmlns:a16="http://schemas.microsoft.com/office/drawing/2014/main" id="{CE6393E5-B445-667C-BD2D-49E9ACC45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9" y="2700"/>
                <a:ext cx="488" cy="374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1" name="Rectangle 48">
                <a:extLst>
                  <a:ext uri="{FF2B5EF4-FFF2-40B4-BE49-F238E27FC236}">
                    <a16:creationId xmlns:a16="http://schemas.microsoft.com/office/drawing/2014/main" id="{6E589634-7F06-8173-895B-CDF88C9DAF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8" y="2774"/>
                <a:ext cx="254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PHY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2" name="Rectangle 49">
                <a:extLst>
                  <a:ext uri="{FF2B5EF4-FFF2-40B4-BE49-F238E27FC236}">
                    <a16:creationId xmlns:a16="http://schemas.microsoft.com/office/drawing/2014/main" id="{CB871371-CFA9-020E-CB87-3DB1367C9D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0" y="2888"/>
                <a:ext cx="381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Module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3" name="Line 50">
                <a:extLst>
                  <a:ext uri="{FF2B5EF4-FFF2-40B4-BE49-F238E27FC236}">
                    <a16:creationId xmlns:a16="http://schemas.microsoft.com/office/drawing/2014/main" id="{3D8C974A-214A-DFF6-7759-0AF564A76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23" y="3140"/>
                <a:ext cx="0" cy="213"/>
              </a:xfrm>
              <a:prstGeom prst="line">
                <a:avLst/>
              </a:prstGeom>
              <a:noFill/>
              <a:ln w="31750" cap="rnd">
                <a:solidFill>
                  <a:srgbClr val="00B05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4" name="Freeform 51">
                <a:extLst>
                  <a:ext uri="{FF2B5EF4-FFF2-40B4-BE49-F238E27FC236}">
                    <a16:creationId xmlns:a16="http://schemas.microsoft.com/office/drawing/2014/main" id="{61AD31EF-A9BF-F904-FDB2-E5AC94D111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" y="3343"/>
                <a:ext cx="74" cy="75"/>
              </a:xfrm>
              <a:custGeom>
                <a:avLst/>
                <a:gdLst>
                  <a:gd name="T0" fmla="*/ 74 w 74"/>
                  <a:gd name="T1" fmla="*/ 0 h 75"/>
                  <a:gd name="T2" fmla="*/ 37 w 74"/>
                  <a:gd name="T3" fmla="*/ 75 h 75"/>
                  <a:gd name="T4" fmla="*/ 0 w 74"/>
                  <a:gd name="T5" fmla="*/ 0 h 75"/>
                  <a:gd name="T6" fmla="*/ 74 w 74"/>
                  <a:gd name="T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" h="75">
                    <a:moveTo>
                      <a:pt x="74" y="0"/>
                    </a:moveTo>
                    <a:lnTo>
                      <a:pt x="37" y="75"/>
                    </a:lnTo>
                    <a:lnTo>
                      <a:pt x="0" y="0"/>
                    </a:lnTo>
                    <a:lnTo>
                      <a:pt x="74" y="0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5" name="Freeform 52">
                <a:extLst>
                  <a:ext uri="{FF2B5EF4-FFF2-40B4-BE49-F238E27FC236}">
                    <a16:creationId xmlns:a16="http://schemas.microsoft.com/office/drawing/2014/main" id="{EB89B7A4-0C21-C417-B205-B700DDF22A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" y="3074"/>
                <a:ext cx="74" cy="76"/>
              </a:xfrm>
              <a:custGeom>
                <a:avLst/>
                <a:gdLst>
                  <a:gd name="T0" fmla="*/ 0 w 74"/>
                  <a:gd name="T1" fmla="*/ 76 h 76"/>
                  <a:gd name="T2" fmla="*/ 37 w 74"/>
                  <a:gd name="T3" fmla="*/ 0 h 76"/>
                  <a:gd name="T4" fmla="*/ 74 w 74"/>
                  <a:gd name="T5" fmla="*/ 76 h 76"/>
                  <a:gd name="T6" fmla="*/ 0 w 74"/>
                  <a:gd name="T7" fmla="*/ 76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" h="76">
                    <a:moveTo>
                      <a:pt x="0" y="76"/>
                    </a:moveTo>
                    <a:lnTo>
                      <a:pt x="37" y="0"/>
                    </a:lnTo>
                    <a:lnTo>
                      <a:pt x="74" y="76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6" name="Rectangle 53">
                <a:extLst>
                  <a:ext uri="{FF2B5EF4-FFF2-40B4-BE49-F238E27FC236}">
                    <a16:creationId xmlns:a16="http://schemas.microsoft.com/office/drawing/2014/main" id="{B136D385-F202-8430-FB41-2F71C6B16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9" y="1241"/>
                <a:ext cx="2686" cy="245"/>
              </a:xfrm>
              <a:prstGeom prst="rect">
                <a:avLst/>
              </a:prstGeom>
              <a:solidFill>
                <a:srgbClr val="EBF1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7" name="Rectangle 54">
                <a:extLst>
                  <a:ext uri="{FF2B5EF4-FFF2-40B4-BE49-F238E27FC236}">
                    <a16:creationId xmlns:a16="http://schemas.microsoft.com/office/drawing/2014/main" id="{FE057A77-905A-232B-AE20-775B8E2E6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9" y="1241"/>
                <a:ext cx="2686" cy="245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48" name="Rectangle 55">
                <a:extLst>
                  <a:ext uri="{FF2B5EF4-FFF2-40B4-BE49-F238E27FC236}">
                    <a16:creationId xmlns:a16="http://schemas.microsoft.com/office/drawing/2014/main" id="{58100C21-164F-1A2A-6E78-1347A523CE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8" y="3455"/>
                <a:ext cx="280" cy="1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UCIe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9" name="Rectangle 56">
                <a:extLst>
                  <a:ext uri="{FF2B5EF4-FFF2-40B4-BE49-F238E27FC236}">
                    <a16:creationId xmlns:a16="http://schemas.microsoft.com/office/drawing/2014/main" id="{935BBD92-721B-4132-52F8-78D68249EC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7" y="3455"/>
                <a:ext cx="280" cy="1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UCIe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0" name="Rectangle 57">
                <a:extLst>
                  <a:ext uri="{FF2B5EF4-FFF2-40B4-BE49-F238E27FC236}">
                    <a16:creationId xmlns:a16="http://schemas.microsoft.com/office/drawing/2014/main" id="{35E62200-1BCA-E576-981F-EDA57C2D50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7" y="3455"/>
                <a:ext cx="280" cy="1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UCIe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1" name="Rectangle 58">
                <a:extLst>
                  <a:ext uri="{FF2B5EF4-FFF2-40B4-BE49-F238E27FC236}">
                    <a16:creationId xmlns:a16="http://schemas.microsoft.com/office/drawing/2014/main" id="{D4FFE3C3-40A1-A60B-FB3A-6E90FF998C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7" y="3455"/>
                <a:ext cx="279" cy="1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UCIe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2" name="Line 59">
                <a:extLst>
                  <a:ext uri="{FF2B5EF4-FFF2-40B4-BE49-F238E27FC236}">
                    <a16:creationId xmlns:a16="http://schemas.microsoft.com/office/drawing/2014/main" id="{FD6E32FA-2463-5EA1-166C-BE25A0FFB7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8" y="2226"/>
                <a:ext cx="0" cy="78"/>
              </a:xfrm>
              <a:prstGeom prst="line">
                <a:avLst/>
              </a:prstGeom>
              <a:noFill/>
              <a:ln w="238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3" name="Freeform 60">
                <a:extLst>
                  <a:ext uri="{FF2B5EF4-FFF2-40B4-BE49-F238E27FC236}">
                    <a16:creationId xmlns:a16="http://schemas.microsoft.com/office/drawing/2014/main" id="{CAC5674B-E4B4-6689-0946-358E46A0C4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0" y="2297"/>
                <a:ext cx="55" cy="82"/>
              </a:xfrm>
              <a:custGeom>
                <a:avLst/>
                <a:gdLst>
                  <a:gd name="T0" fmla="*/ 55 w 55"/>
                  <a:gd name="T1" fmla="*/ 0 h 82"/>
                  <a:gd name="T2" fmla="*/ 28 w 55"/>
                  <a:gd name="T3" fmla="*/ 82 h 82"/>
                  <a:gd name="T4" fmla="*/ 0 w 55"/>
                  <a:gd name="T5" fmla="*/ 0 h 82"/>
                  <a:gd name="T6" fmla="*/ 55 w 55"/>
                  <a:gd name="T7" fmla="*/ 0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5" h="82">
                    <a:moveTo>
                      <a:pt x="55" y="0"/>
                    </a:moveTo>
                    <a:lnTo>
                      <a:pt x="28" y="82"/>
                    </a:lnTo>
                    <a:lnTo>
                      <a:pt x="0" y="0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4" name="Freeform 61">
                <a:extLst>
                  <a:ext uri="{FF2B5EF4-FFF2-40B4-BE49-F238E27FC236}">
                    <a16:creationId xmlns:a16="http://schemas.microsoft.com/office/drawing/2014/main" id="{C018E08E-EE1A-210A-E20A-395D18ED81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0" y="2150"/>
                <a:ext cx="55" cy="83"/>
              </a:xfrm>
              <a:custGeom>
                <a:avLst/>
                <a:gdLst>
                  <a:gd name="T0" fmla="*/ 0 w 55"/>
                  <a:gd name="T1" fmla="*/ 83 h 83"/>
                  <a:gd name="T2" fmla="*/ 28 w 55"/>
                  <a:gd name="T3" fmla="*/ 0 h 83"/>
                  <a:gd name="T4" fmla="*/ 55 w 55"/>
                  <a:gd name="T5" fmla="*/ 83 h 83"/>
                  <a:gd name="T6" fmla="*/ 0 w 55"/>
                  <a:gd name="T7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5" h="83">
                    <a:moveTo>
                      <a:pt x="0" y="83"/>
                    </a:moveTo>
                    <a:lnTo>
                      <a:pt x="28" y="0"/>
                    </a:lnTo>
                    <a:lnTo>
                      <a:pt x="55" y="83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5" name="Line 62">
                <a:extLst>
                  <a:ext uri="{FF2B5EF4-FFF2-40B4-BE49-F238E27FC236}">
                    <a16:creationId xmlns:a16="http://schemas.microsoft.com/office/drawing/2014/main" id="{BC58D57D-FC1E-D68B-F33F-272C500C25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98" y="1661"/>
                <a:ext cx="0" cy="93"/>
              </a:xfrm>
              <a:prstGeom prst="line">
                <a:avLst/>
              </a:prstGeom>
              <a:noFill/>
              <a:ln w="2381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6" name="Freeform 63">
                <a:extLst>
                  <a:ext uri="{FF2B5EF4-FFF2-40B4-BE49-F238E27FC236}">
                    <a16:creationId xmlns:a16="http://schemas.microsoft.com/office/drawing/2014/main" id="{0D210FBD-C6DE-5025-5629-581D6547F5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0" y="1747"/>
                <a:ext cx="55" cy="83"/>
              </a:xfrm>
              <a:custGeom>
                <a:avLst/>
                <a:gdLst>
                  <a:gd name="T0" fmla="*/ 55 w 55"/>
                  <a:gd name="T1" fmla="*/ 0 h 83"/>
                  <a:gd name="T2" fmla="*/ 28 w 55"/>
                  <a:gd name="T3" fmla="*/ 83 h 83"/>
                  <a:gd name="T4" fmla="*/ 0 w 55"/>
                  <a:gd name="T5" fmla="*/ 0 h 83"/>
                  <a:gd name="T6" fmla="*/ 55 w 55"/>
                  <a:gd name="T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5" h="83">
                    <a:moveTo>
                      <a:pt x="55" y="0"/>
                    </a:moveTo>
                    <a:lnTo>
                      <a:pt x="28" y="83"/>
                    </a:lnTo>
                    <a:lnTo>
                      <a:pt x="0" y="0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7" name="Freeform 64">
                <a:extLst>
                  <a:ext uri="{FF2B5EF4-FFF2-40B4-BE49-F238E27FC236}">
                    <a16:creationId xmlns:a16="http://schemas.microsoft.com/office/drawing/2014/main" id="{D5686EF6-D5C7-3937-A5DF-F98D5A6816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0" y="1585"/>
                <a:ext cx="55" cy="83"/>
              </a:xfrm>
              <a:custGeom>
                <a:avLst/>
                <a:gdLst>
                  <a:gd name="T0" fmla="*/ 0 w 55"/>
                  <a:gd name="T1" fmla="*/ 83 h 83"/>
                  <a:gd name="T2" fmla="*/ 28 w 55"/>
                  <a:gd name="T3" fmla="*/ 0 h 83"/>
                  <a:gd name="T4" fmla="*/ 55 w 55"/>
                  <a:gd name="T5" fmla="*/ 83 h 83"/>
                  <a:gd name="T6" fmla="*/ 0 w 55"/>
                  <a:gd name="T7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5" h="83">
                    <a:moveTo>
                      <a:pt x="0" y="83"/>
                    </a:moveTo>
                    <a:lnTo>
                      <a:pt x="28" y="0"/>
                    </a:lnTo>
                    <a:lnTo>
                      <a:pt x="55" y="83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58" name="Rectangle 65">
                <a:extLst>
                  <a:ext uri="{FF2B5EF4-FFF2-40B4-BE49-F238E27FC236}">
                    <a16:creationId xmlns:a16="http://schemas.microsoft.com/office/drawing/2014/main" id="{9630FBD5-2DF4-975D-750B-3A3919D2C5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3" y="1651"/>
                <a:ext cx="1185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262626"/>
                    </a:solidFill>
                    <a:effectLst/>
                    <a:latin typeface="Arial" panose="020B0604020202020204" pitchFamily="34" charset="0"/>
                  </a:rPr>
                  <a:t>Flit Aware D2D Intf. (FDI)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9" name="Rectangle 66">
                <a:extLst>
                  <a:ext uri="{FF2B5EF4-FFF2-40B4-BE49-F238E27FC236}">
                    <a16:creationId xmlns:a16="http://schemas.microsoft.com/office/drawing/2014/main" id="{49BA3A75-6AC1-9CED-EC38-5D29EA1EA5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3" y="2410"/>
                <a:ext cx="951" cy="1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Physical Layer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0" name="Rectangle 67">
                <a:extLst>
                  <a:ext uri="{FF2B5EF4-FFF2-40B4-BE49-F238E27FC236}">
                    <a16:creationId xmlns:a16="http://schemas.microsoft.com/office/drawing/2014/main" id="{7046AC3A-AC5F-5605-10CE-A278DB5ED1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" y="2557"/>
                <a:ext cx="2340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(Link Training, Repair, Lane Reversal, Scrambling)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1" name="Oval 68">
                <a:extLst>
                  <a:ext uri="{FF2B5EF4-FFF2-40B4-BE49-F238E27FC236}">
                    <a16:creationId xmlns:a16="http://schemas.microsoft.com/office/drawing/2014/main" id="{44B31AFD-0FB4-49CE-C6F5-5BD374BC1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9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62" name="Oval 69">
                <a:extLst>
                  <a:ext uri="{FF2B5EF4-FFF2-40B4-BE49-F238E27FC236}">
                    <a16:creationId xmlns:a16="http://schemas.microsoft.com/office/drawing/2014/main" id="{72837B2C-4011-BAFF-CAC5-387B022A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9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63" name="Oval 70">
                <a:extLst>
                  <a:ext uri="{FF2B5EF4-FFF2-40B4-BE49-F238E27FC236}">
                    <a16:creationId xmlns:a16="http://schemas.microsoft.com/office/drawing/2014/main" id="{6991F2AB-72F7-B673-FAE4-792CD4E424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0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64" name="Oval 71">
                <a:extLst>
                  <a:ext uri="{FF2B5EF4-FFF2-40B4-BE49-F238E27FC236}">
                    <a16:creationId xmlns:a16="http://schemas.microsoft.com/office/drawing/2014/main" id="{02CCE2D6-C84F-0323-3F6F-93508476E1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0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65" name="Oval 72">
                <a:extLst>
                  <a:ext uri="{FF2B5EF4-FFF2-40B4-BE49-F238E27FC236}">
                    <a16:creationId xmlns:a16="http://schemas.microsoft.com/office/drawing/2014/main" id="{5A2AC5F0-F575-8D21-BDF0-3B6AF74F3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1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66" name="Oval 73">
                <a:extLst>
                  <a:ext uri="{FF2B5EF4-FFF2-40B4-BE49-F238E27FC236}">
                    <a16:creationId xmlns:a16="http://schemas.microsoft.com/office/drawing/2014/main" id="{D271DF81-90AD-498C-891D-1B9657BF42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1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67" name="Oval 74">
                <a:extLst>
                  <a:ext uri="{FF2B5EF4-FFF2-40B4-BE49-F238E27FC236}">
                    <a16:creationId xmlns:a16="http://schemas.microsoft.com/office/drawing/2014/main" id="{5AB30C30-C13A-89B7-7F55-227BB28784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2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68" name="Oval 75">
                <a:extLst>
                  <a:ext uri="{FF2B5EF4-FFF2-40B4-BE49-F238E27FC236}">
                    <a16:creationId xmlns:a16="http://schemas.microsoft.com/office/drawing/2014/main" id="{D1DDE4AE-D481-7D68-CA0F-B9B4411CB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2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69" name="Oval 76">
                <a:extLst>
                  <a:ext uri="{FF2B5EF4-FFF2-40B4-BE49-F238E27FC236}">
                    <a16:creationId xmlns:a16="http://schemas.microsoft.com/office/drawing/2014/main" id="{6721CAA2-4263-18B3-8B90-71FDB98E3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3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0" name="Oval 77">
                <a:extLst>
                  <a:ext uri="{FF2B5EF4-FFF2-40B4-BE49-F238E27FC236}">
                    <a16:creationId xmlns:a16="http://schemas.microsoft.com/office/drawing/2014/main" id="{A8ED1A80-DE0B-34DB-C521-B1B9C78D28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3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1" name="Oval 78">
                <a:extLst>
                  <a:ext uri="{FF2B5EF4-FFF2-40B4-BE49-F238E27FC236}">
                    <a16:creationId xmlns:a16="http://schemas.microsoft.com/office/drawing/2014/main" id="{F86DAD8A-9E99-1CAD-6165-2B558971C0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2" name="Oval 79">
                <a:extLst>
                  <a:ext uri="{FF2B5EF4-FFF2-40B4-BE49-F238E27FC236}">
                    <a16:creationId xmlns:a16="http://schemas.microsoft.com/office/drawing/2014/main" id="{8CC93FB4-00B9-CDC0-6F3B-2FB5C2EE9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3" name="Oval 80">
                <a:extLst>
                  <a:ext uri="{FF2B5EF4-FFF2-40B4-BE49-F238E27FC236}">
                    <a16:creationId xmlns:a16="http://schemas.microsoft.com/office/drawing/2014/main" id="{192321C4-2173-8717-0446-080FFE426F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5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4" name="Oval 81">
                <a:extLst>
                  <a:ext uri="{FF2B5EF4-FFF2-40B4-BE49-F238E27FC236}">
                    <a16:creationId xmlns:a16="http://schemas.microsoft.com/office/drawing/2014/main" id="{5711846F-AF93-036F-ACAA-9D63013D20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5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5" name="Oval 82">
                <a:extLst>
                  <a:ext uri="{FF2B5EF4-FFF2-40B4-BE49-F238E27FC236}">
                    <a16:creationId xmlns:a16="http://schemas.microsoft.com/office/drawing/2014/main" id="{8D849611-6BA4-9074-601D-75D5104FDC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6" name="Oval 83">
                <a:extLst>
                  <a:ext uri="{FF2B5EF4-FFF2-40B4-BE49-F238E27FC236}">
                    <a16:creationId xmlns:a16="http://schemas.microsoft.com/office/drawing/2014/main" id="{C7419CB7-032E-3FCE-CD66-21BD7247D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7" name="Oval 84">
                <a:extLst>
                  <a:ext uri="{FF2B5EF4-FFF2-40B4-BE49-F238E27FC236}">
                    <a16:creationId xmlns:a16="http://schemas.microsoft.com/office/drawing/2014/main" id="{E61CCF9A-0ECC-DAF7-1B00-7DC43C1BCB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8" name="Oval 85">
                <a:extLst>
                  <a:ext uri="{FF2B5EF4-FFF2-40B4-BE49-F238E27FC236}">
                    <a16:creationId xmlns:a16="http://schemas.microsoft.com/office/drawing/2014/main" id="{7E635CCC-B987-6A45-9CEC-A753D258C8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9" name="Oval 86">
                <a:extLst>
                  <a:ext uri="{FF2B5EF4-FFF2-40B4-BE49-F238E27FC236}">
                    <a16:creationId xmlns:a16="http://schemas.microsoft.com/office/drawing/2014/main" id="{AB12E476-977A-08F2-241A-2EBE211F9F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1211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0" name="Oval 87">
                <a:extLst>
                  <a:ext uri="{FF2B5EF4-FFF2-40B4-BE49-F238E27FC236}">
                    <a16:creationId xmlns:a16="http://schemas.microsoft.com/office/drawing/2014/main" id="{E24FFB17-072E-C048-4CA4-617457105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1211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1" name="Oval 88">
                <a:extLst>
                  <a:ext uri="{FF2B5EF4-FFF2-40B4-BE49-F238E27FC236}">
                    <a16:creationId xmlns:a16="http://schemas.microsoft.com/office/drawing/2014/main" id="{F683999B-450F-594B-F216-C8896AC91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" y="1211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2" name="Oval 89">
                <a:extLst>
                  <a:ext uri="{FF2B5EF4-FFF2-40B4-BE49-F238E27FC236}">
                    <a16:creationId xmlns:a16="http://schemas.microsoft.com/office/drawing/2014/main" id="{82459306-74A5-D856-9DFF-EED22A49F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" y="1211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3" name="Oval 90">
                <a:extLst>
                  <a:ext uri="{FF2B5EF4-FFF2-40B4-BE49-F238E27FC236}">
                    <a16:creationId xmlns:a16="http://schemas.microsoft.com/office/drawing/2014/main" id="{F7B3E4A5-14E5-0F26-D52F-1E328B3A2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0" y="1211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4" name="Oval 91">
                <a:extLst>
                  <a:ext uri="{FF2B5EF4-FFF2-40B4-BE49-F238E27FC236}">
                    <a16:creationId xmlns:a16="http://schemas.microsoft.com/office/drawing/2014/main" id="{880B177A-FFB1-3B21-EBB6-2E3941A09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0" y="1211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5" name="Oval 92">
                <a:extLst>
                  <a:ext uri="{FF2B5EF4-FFF2-40B4-BE49-F238E27FC236}">
                    <a16:creationId xmlns:a16="http://schemas.microsoft.com/office/drawing/2014/main" id="{92FEA122-73C4-FB4B-4517-4B1D7786CA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1" y="1211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6" name="Oval 93">
                <a:extLst>
                  <a:ext uri="{FF2B5EF4-FFF2-40B4-BE49-F238E27FC236}">
                    <a16:creationId xmlns:a16="http://schemas.microsoft.com/office/drawing/2014/main" id="{94E06594-DBC3-A67F-9F98-4E9BA3F13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1" y="1211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7" name="Rectangle 94">
                <a:extLst>
                  <a:ext uri="{FF2B5EF4-FFF2-40B4-BE49-F238E27FC236}">
                    <a16:creationId xmlns:a16="http://schemas.microsoft.com/office/drawing/2014/main" id="{C75095BE-DACB-90D0-5426-F55951E99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3" y="1020"/>
                <a:ext cx="854" cy="191"/>
              </a:xfrm>
              <a:prstGeom prst="rect">
                <a:avLst/>
              </a:prstGeom>
              <a:solidFill>
                <a:srgbClr val="DBE4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8" name="Rectangle 95">
                <a:extLst>
                  <a:ext uri="{FF2B5EF4-FFF2-40B4-BE49-F238E27FC236}">
                    <a16:creationId xmlns:a16="http://schemas.microsoft.com/office/drawing/2014/main" id="{874471A2-95E6-0769-136B-8423978CA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3" y="1020"/>
                <a:ext cx="854" cy="191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89" name="Rectangle 96">
                <a:extLst>
                  <a:ext uri="{FF2B5EF4-FFF2-40B4-BE49-F238E27FC236}">
                    <a16:creationId xmlns:a16="http://schemas.microsoft.com/office/drawing/2014/main" id="{4EE2AA07-6090-7897-9320-5F835FA3A2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5" y="1059"/>
                <a:ext cx="341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Die #1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0" name="Oval 97">
                <a:extLst>
                  <a:ext uri="{FF2B5EF4-FFF2-40B4-BE49-F238E27FC236}">
                    <a16:creationId xmlns:a16="http://schemas.microsoft.com/office/drawing/2014/main" id="{4CD697E8-E700-8E1B-5256-06E03FF369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6" y="1211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1" name="Oval 98">
                <a:extLst>
                  <a:ext uri="{FF2B5EF4-FFF2-40B4-BE49-F238E27FC236}">
                    <a16:creationId xmlns:a16="http://schemas.microsoft.com/office/drawing/2014/main" id="{0338BE17-8084-180D-E3B5-FF1840B1D7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6" y="1211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2" name="Oval 99">
                <a:extLst>
                  <a:ext uri="{FF2B5EF4-FFF2-40B4-BE49-F238E27FC236}">
                    <a16:creationId xmlns:a16="http://schemas.microsoft.com/office/drawing/2014/main" id="{AA90A173-BAFD-4D4B-E3CF-3437ED2CE9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7" y="1211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3" name="Oval 100">
                <a:extLst>
                  <a:ext uri="{FF2B5EF4-FFF2-40B4-BE49-F238E27FC236}">
                    <a16:creationId xmlns:a16="http://schemas.microsoft.com/office/drawing/2014/main" id="{57707262-7596-6A3A-3E84-FF332E90F6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7" y="1211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4" name="Oval 101">
                <a:extLst>
                  <a:ext uri="{FF2B5EF4-FFF2-40B4-BE49-F238E27FC236}">
                    <a16:creationId xmlns:a16="http://schemas.microsoft.com/office/drawing/2014/main" id="{2C3088CC-A57E-70E1-7F0F-A9272A517B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8" y="1211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5" name="Oval 102">
                <a:extLst>
                  <a:ext uri="{FF2B5EF4-FFF2-40B4-BE49-F238E27FC236}">
                    <a16:creationId xmlns:a16="http://schemas.microsoft.com/office/drawing/2014/main" id="{BED2F9B8-C9D2-8A1D-A3EE-A838DD1F12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8" y="1211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6" name="Oval 103">
                <a:extLst>
                  <a:ext uri="{FF2B5EF4-FFF2-40B4-BE49-F238E27FC236}">
                    <a16:creationId xmlns:a16="http://schemas.microsoft.com/office/drawing/2014/main" id="{C2B1971F-8C67-4059-166F-123096DD13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9" y="1211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7" name="Oval 104">
                <a:extLst>
                  <a:ext uri="{FF2B5EF4-FFF2-40B4-BE49-F238E27FC236}">
                    <a16:creationId xmlns:a16="http://schemas.microsoft.com/office/drawing/2014/main" id="{6A3ED98E-BB06-A1D0-E550-2F81B9F60F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9" y="1211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8" name="Oval 105">
                <a:extLst>
                  <a:ext uri="{FF2B5EF4-FFF2-40B4-BE49-F238E27FC236}">
                    <a16:creationId xmlns:a16="http://schemas.microsoft.com/office/drawing/2014/main" id="{3BFD2C4E-AE78-D2E2-7A1D-2CC78F8DC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1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99" name="Oval 106">
                <a:extLst>
                  <a:ext uri="{FF2B5EF4-FFF2-40B4-BE49-F238E27FC236}">
                    <a16:creationId xmlns:a16="http://schemas.microsoft.com/office/drawing/2014/main" id="{ADC46553-008D-6CDA-1CA5-B049DECDC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1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00" name="Oval 107">
                <a:extLst>
                  <a:ext uri="{FF2B5EF4-FFF2-40B4-BE49-F238E27FC236}">
                    <a16:creationId xmlns:a16="http://schemas.microsoft.com/office/drawing/2014/main" id="{AFA04DE8-4879-4D62-1F72-C7116C2B91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2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01" name="Oval 108">
                <a:extLst>
                  <a:ext uri="{FF2B5EF4-FFF2-40B4-BE49-F238E27FC236}">
                    <a16:creationId xmlns:a16="http://schemas.microsoft.com/office/drawing/2014/main" id="{FC213071-6AAD-1FAE-BED3-F5EE415D9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2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02" name="Oval 109">
                <a:extLst>
                  <a:ext uri="{FF2B5EF4-FFF2-40B4-BE49-F238E27FC236}">
                    <a16:creationId xmlns:a16="http://schemas.microsoft.com/office/drawing/2014/main" id="{0CC1E0BC-3C2A-4C13-73D7-5ACE614D72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3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03" name="Oval 110">
                <a:extLst>
                  <a:ext uri="{FF2B5EF4-FFF2-40B4-BE49-F238E27FC236}">
                    <a16:creationId xmlns:a16="http://schemas.microsoft.com/office/drawing/2014/main" id="{8FC7EDA4-9154-8FA0-425E-B0838DA081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3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04" name="Oval 111">
                <a:extLst>
                  <a:ext uri="{FF2B5EF4-FFF2-40B4-BE49-F238E27FC236}">
                    <a16:creationId xmlns:a16="http://schemas.microsoft.com/office/drawing/2014/main" id="{B033DF09-1602-EFEA-B758-243415E11B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4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05" name="Oval 112">
                <a:extLst>
                  <a:ext uri="{FF2B5EF4-FFF2-40B4-BE49-F238E27FC236}">
                    <a16:creationId xmlns:a16="http://schemas.microsoft.com/office/drawing/2014/main" id="{6EE4E12B-734B-7A23-3F43-C6B4BB77C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4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06" name="Oval 113">
                <a:extLst>
                  <a:ext uri="{FF2B5EF4-FFF2-40B4-BE49-F238E27FC236}">
                    <a16:creationId xmlns:a16="http://schemas.microsoft.com/office/drawing/2014/main" id="{9E01B544-53EF-8722-82D0-38A956E40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5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07" name="Oval 114">
                <a:extLst>
                  <a:ext uri="{FF2B5EF4-FFF2-40B4-BE49-F238E27FC236}">
                    <a16:creationId xmlns:a16="http://schemas.microsoft.com/office/drawing/2014/main" id="{A2F1C627-77EC-ED37-356E-57FF3BFDD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5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08" name="Oval 115">
                <a:extLst>
                  <a:ext uri="{FF2B5EF4-FFF2-40B4-BE49-F238E27FC236}">
                    <a16:creationId xmlns:a16="http://schemas.microsoft.com/office/drawing/2014/main" id="{3661A78C-4618-31B4-6F7D-68255505F8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6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09" name="Oval 116">
                <a:extLst>
                  <a:ext uri="{FF2B5EF4-FFF2-40B4-BE49-F238E27FC236}">
                    <a16:creationId xmlns:a16="http://schemas.microsoft.com/office/drawing/2014/main" id="{F2435BE4-BBC7-CEBB-9A2D-190CF60EDD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6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0" name="Oval 117">
                <a:extLst>
                  <a:ext uri="{FF2B5EF4-FFF2-40B4-BE49-F238E27FC236}">
                    <a16:creationId xmlns:a16="http://schemas.microsoft.com/office/drawing/2014/main" id="{1A13A014-1844-B5F0-0BAE-FA70AAEE31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7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1" name="Oval 118">
                <a:extLst>
                  <a:ext uri="{FF2B5EF4-FFF2-40B4-BE49-F238E27FC236}">
                    <a16:creationId xmlns:a16="http://schemas.microsoft.com/office/drawing/2014/main" id="{BFD12189-7F09-63DB-36B8-546F2C62E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7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2" name="Oval 119">
                <a:extLst>
                  <a:ext uri="{FF2B5EF4-FFF2-40B4-BE49-F238E27FC236}">
                    <a16:creationId xmlns:a16="http://schemas.microsoft.com/office/drawing/2014/main" id="{B39B9B45-433D-FE23-E50A-5F6796CD4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8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3" name="Oval 120">
                <a:extLst>
                  <a:ext uri="{FF2B5EF4-FFF2-40B4-BE49-F238E27FC236}">
                    <a16:creationId xmlns:a16="http://schemas.microsoft.com/office/drawing/2014/main" id="{B80ED00A-14DA-BBA3-1C25-6E81F2F27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8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4" name="Oval 121">
                <a:extLst>
                  <a:ext uri="{FF2B5EF4-FFF2-40B4-BE49-F238E27FC236}">
                    <a16:creationId xmlns:a16="http://schemas.microsoft.com/office/drawing/2014/main" id="{85645C32-F902-9684-FC9B-9C2A6C4EC0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9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5" name="Oval 122">
                <a:extLst>
                  <a:ext uri="{FF2B5EF4-FFF2-40B4-BE49-F238E27FC236}">
                    <a16:creationId xmlns:a16="http://schemas.microsoft.com/office/drawing/2014/main" id="{6382505F-21F2-78DB-CB6E-8DACA3454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9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6" name="Oval 123">
                <a:extLst>
                  <a:ext uri="{FF2B5EF4-FFF2-40B4-BE49-F238E27FC236}">
                    <a16:creationId xmlns:a16="http://schemas.microsoft.com/office/drawing/2014/main" id="{46544AE7-8175-E2E1-C13E-2AA4601380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7" name="Oval 124">
                <a:extLst>
                  <a:ext uri="{FF2B5EF4-FFF2-40B4-BE49-F238E27FC236}">
                    <a16:creationId xmlns:a16="http://schemas.microsoft.com/office/drawing/2014/main" id="{231CA01B-21BF-A356-FE42-E8EE0BB8A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0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8" name="Oval 125">
                <a:extLst>
                  <a:ext uri="{FF2B5EF4-FFF2-40B4-BE49-F238E27FC236}">
                    <a16:creationId xmlns:a16="http://schemas.microsoft.com/office/drawing/2014/main" id="{9A534D54-39E5-4C96-548C-72B1989E56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1" y="1211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19" name="Oval 126">
                <a:extLst>
                  <a:ext uri="{FF2B5EF4-FFF2-40B4-BE49-F238E27FC236}">
                    <a16:creationId xmlns:a16="http://schemas.microsoft.com/office/drawing/2014/main" id="{7D27FC52-7DCA-E1A0-087F-312C77EDC3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71" y="1211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0" name="Oval 127">
                <a:extLst>
                  <a:ext uri="{FF2B5EF4-FFF2-40B4-BE49-F238E27FC236}">
                    <a16:creationId xmlns:a16="http://schemas.microsoft.com/office/drawing/2014/main" id="{1677521C-08E7-A48B-EB62-EA5920AE7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2" y="1211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1" name="Oval 128">
                <a:extLst>
                  <a:ext uri="{FF2B5EF4-FFF2-40B4-BE49-F238E27FC236}">
                    <a16:creationId xmlns:a16="http://schemas.microsoft.com/office/drawing/2014/main" id="{6BBD713A-B1F9-AC5A-944C-1AE1B2B23F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2" y="1211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2" name="Oval 129">
                <a:extLst>
                  <a:ext uri="{FF2B5EF4-FFF2-40B4-BE49-F238E27FC236}">
                    <a16:creationId xmlns:a16="http://schemas.microsoft.com/office/drawing/2014/main" id="{06D4442D-6D26-B589-7429-01C1C2D664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3" y="1211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3" name="Oval 130">
                <a:extLst>
                  <a:ext uri="{FF2B5EF4-FFF2-40B4-BE49-F238E27FC236}">
                    <a16:creationId xmlns:a16="http://schemas.microsoft.com/office/drawing/2014/main" id="{197B1ADA-0D60-0385-71D3-681E9BF0F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93" y="1211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4" name="Oval 131">
                <a:extLst>
                  <a:ext uri="{FF2B5EF4-FFF2-40B4-BE49-F238E27FC236}">
                    <a16:creationId xmlns:a16="http://schemas.microsoft.com/office/drawing/2014/main" id="{3D34C362-026F-AADD-41D8-500F5AEB31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54" y="1211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5" name="Oval 132">
                <a:extLst>
                  <a:ext uri="{FF2B5EF4-FFF2-40B4-BE49-F238E27FC236}">
                    <a16:creationId xmlns:a16="http://schemas.microsoft.com/office/drawing/2014/main" id="{37277B64-7DE4-8E43-FB4F-392D17C3D3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54" y="1211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6" name="Oval 133">
                <a:extLst>
                  <a:ext uri="{FF2B5EF4-FFF2-40B4-BE49-F238E27FC236}">
                    <a16:creationId xmlns:a16="http://schemas.microsoft.com/office/drawing/2014/main" id="{BF0DFA4F-1C0E-54D0-4058-0119B2EDD1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5" y="1211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7" name="Oval 134">
                <a:extLst>
                  <a:ext uri="{FF2B5EF4-FFF2-40B4-BE49-F238E27FC236}">
                    <a16:creationId xmlns:a16="http://schemas.microsoft.com/office/drawing/2014/main" id="{1C8F4AA3-A66F-F615-DB08-D32520D8FF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5" y="1211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8" name="Rectangle 135">
                <a:extLst>
                  <a:ext uri="{FF2B5EF4-FFF2-40B4-BE49-F238E27FC236}">
                    <a16:creationId xmlns:a16="http://schemas.microsoft.com/office/drawing/2014/main" id="{6BEF8F10-792C-DAC6-1002-394E7ED3B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1" y="1020"/>
                <a:ext cx="1220" cy="191"/>
              </a:xfrm>
              <a:prstGeom prst="rect">
                <a:avLst/>
              </a:prstGeom>
              <a:solidFill>
                <a:srgbClr val="DBE4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29" name="Rectangle 136">
                <a:extLst>
                  <a:ext uri="{FF2B5EF4-FFF2-40B4-BE49-F238E27FC236}">
                    <a16:creationId xmlns:a16="http://schemas.microsoft.com/office/drawing/2014/main" id="{0A59AA4F-8F2D-4E73-B38E-A0F15D36BE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1" y="1020"/>
                <a:ext cx="1220" cy="191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30" name="Rectangle 137">
                <a:extLst>
                  <a:ext uri="{FF2B5EF4-FFF2-40B4-BE49-F238E27FC236}">
                    <a16:creationId xmlns:a16="http://schemas.microsoft.com/office/drawing/2014/main" id="{38496C81-CBE8-118E-5043-B4C9CA14A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6" y="1059"/>
                <a:ext cx="341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Die #2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31" name="Rectangle 138">
                <a:extLst>
                  <a:ext uri="{FF2B5EF4-FFF2-40B4-BE49-F238E27FC236}">
                    <a16:creationId xmlns:a16="http://schemas.microsoft.com/office/drawing/2014/main" id="{B9290962-D870-8EAA-9B6E-3CDB14CABD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5" y="1309"/>
                <a:ext cx="865" cy="1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Package Substrate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32" name="Line 139">
                <a:extLst>
                  <a:ext uri="{FF2B5EF4-FFF2-40B4-BE49-F238E27FC236}">
                    <a16:creationId xmlns:a16="http://schemas.microsoft.com/office/drawing/2014/main" id="{2CB37B21-4192-B1C0-D4F0-F5E48C485E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5" y="1241"/>
                <a:ext cx="0" cy="46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33" name="Line 140">
                <a:extLst>
                  <a:ext uri="{FF2B5EF4-FFF2-40B4-BE49-F238E27FC236}">
                    <a16:creationId xmlns:a16="http://schemas.microsoft.com/office/drawing/2014/main" id="{1BD28D75-F722-6DEA-4EA7-2D43994AC0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0" y="1241"/>
                <a:ext cx="0" cy="46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34" name="Line 141">
                <a:extLst>
                  <a:ext uri="{FF2B5EF4-FFF2-40B4-BE49-F238E27FC236}">
                    <a16:creationId xmlns:a16="http://schemas.microsoft.com/office/drawing/2014/main" id="{0E4CBB67-C035-1C0F-ECA6-C781AE1AAC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5" y="1287"/>
                <a:ext cx="255" cy="0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35" name="Line 142">
                <a:extLst>
                  <a:ext uri="{FF2B5EF4-FFF2-40B4-BE49-F238E27FC236}">
                    <a16:creationId xmlns:a16="http://schemas.microsoft.com/office/drawing/2014/main" id="{96ACE076-C575-7F17-6AB3-776AEEA49D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9" y="1241"/>
                <a:ext cx="0" cy="6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36" name="Line 143">
                <a:extLst>
                  <a:ext uri="{FF2B5EF4-FFF2-40B4-BE49-F238E27FC236}">
                    <a16:creationId xmlns:a16="http://schemas.microsoft.com/office/drawing/2014/main" id="{373434E2-4108-40B6-9C79-95F7E788AC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55" y="1287"/>
                <a:ext cx="255" cy="0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37" name="Line 144">
                <a:extLst>
                  <a:ext uri="{FF2B5EF4-FFF2-40B4-BE49-F238E27FC236}">
                    <a16:creationId xmlns:a16="http://schemas.microsoft.com/office/drawing/2014/main" id="{87258AF0-7658-3C7C-D2A1-0ED892E32A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9" y="1302"/>
                <a:ext cx="287" cy="0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38" name="Line 145">
                <a:extLst>
                  <a:ext uri="{FF2B5EF4-FFF2-40B4-BE49-F238E27FC236}">
                    <a16:creationId xmlns:a16="http://schemas.microsoft.com/office/drawing/2014/main" id="{A1640E29-EE0A-1AA8-A88A-231DE8926A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6" y="1241"/>
                <a:ext cx="0" cy="6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39" name="Line 146">
                <a:extLst>
                  <a:ext uri="{FF2B5EF4-FFF2-40B4-BE49-F238E27FC236}">
                    <a16:creationId xmlns:a16="http://schemas.microsoft.com/office/drawing/2014/main" id="{DB659539-0ECA-B83F-46CA-0B225516B4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3" y="1241"/>
                <a:ext cx="0" cy="77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40" name="Line 147">
                <a:extLst>
                  <a:ext uri="{FF2B5EF4-FFF2-40B4-BE49-F238E27FC236}">
                    <a16:creationId xmlns:a16="http://schemas.microsoft.com/office/drawing/2014/main" id="{76C6168C-8025-59C4-C93F-6C7373229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7" y="1241"/>
                <a:ext cx="0" cy="92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41" name="Line 148">
                <a:extLst>
                  <a:ext uri="{FF2B5EF4-FFF2-40B4-BE49-F238E27FC236}">
                    <a16:creationId xmlns:a16="http://schemas.microsoft.com/office/drawing/2014/main" id="{9B1BC1C9-FFD4-D17C-61CD-E813D9A45F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42" y="1241"/>
                <a:ext cx="0" cy="77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42" name="Line 149">
                <a:extLst>
                  <a:ext uri="{FF2B5EF4-FFF2-40B4-BE49-F238E27FC236}">
                    <a16:creationId xmlns:a16="http://schemas.microsoft.com/office/drawing/2014/main" id="{2A49A111-04B6-B0D1-315B-60DBC8A17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8" y="1241"/>
                <a:ext cx="0" cy="92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43" name="Line 150">
                <a:extLst>
                  <a:ext uri="{FF2B5EF4-FFF2-40B4-BE49-F238E27FC236}">
                    <a16:creationId xmlns:a16="http://schemas.microsoft.com/office/drawing/2014/main" id="{EDD2C718-0236-BBB4-E0F1-F7CAC1BB52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3" y="1318"/>
                <a:ext cx="319" cy="0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44" name="Line 151">
                <a:extLst>
                  <a:ext uri="{FF2B5EF4-FFF2-40B4-BE49-F238E27FC236}">
                    <a16:creationId xmlns:a16="http://schemas.microsoft.com/office/drawing/2014/main" id="{779FC3C1-C8CE-75EB-277B-1C398521A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7" y="1333"/>
                <a:ext cx="351" cy="0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45" name="Oval 152">
                <a:extLst>
                  <a:ext uri="{FF2B5EF4-FFF2-40B4-BE49-F238E27FC236}">
                    <a16:creationId xmlns:a16="http://schemas.microsoft.com/office/drawing/2014/main" id="{B9CFBC57-8722-A5E7-1935-6D9946E9B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9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46" name="Oval 153">
                <a:extLst>
                  <a:ext uri="{FF2B5EF4-FFF2-40B4-BE49-F238E27FC236}">
                    <a16:creationId xmlns:a16="http://schemas.microsoft.com/office/drawing/2014/main" id="{B902AD78-131E-AB9E-64BD-06FBA7D64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9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47" name="Oval 154">
                <a:extLst>
                  <a:ext uri="{FF2B5EF4-FFF2-40B4-BE49-F238E27FC236}">
                    <a16:creationId xmlns:a16="http://schemas.microsoft.com/office/drawing/2014/main" id="{0FE4EE69-D236-7451-EB48-5A99F7E52A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0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48" name="Oval 155">
                <a:extLst>
                  <a:ext uri="{FF2B5EF4-FFF2-40B4-BE49-F238E27FC236}">
                    <a16:creationId xmlns:a16="http://schemas.microsoft.com/office/drawing/2014/main" id="{86C1E4D3-D8C9-C51B-0546-D99342E91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0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49" name="Oval 156">
                <a:extLst>
                  <a:ext uri="{FF2B5EF4-FFF2-40B4-BE49-F238E27FC236}">
                    <a16:creationId xmlns:a16="http://schemas.microsoft.com/office/drawing/2014/main" id="{DFE05BFE-74B2-F9A3-2CAA-B0808AB98B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1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0" name="Oval 157">
                <a:extLst>
                  <a:ext uri="{FF2B5EF4-FFF2-40B4-BE49-F238E27FC236}">
                    <a16:creationId xmlns:a16="http://schemas.microsoft.com/office/drawing/2014/main" id="{2FBA61C2-EB09-E51D-52CD-B00B85758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1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1" name="Oval 158">
                <a:extLst>
                  <a:ext uri="{FF2B5EF4-FFF2-40B4-BE49-F238E27FC236}">
                    <a16:creationId xmlns:a16="http://schemas.microsoft.com/office/drawing/2014/main" id="{5F34AF63-8562-086B-84A6-2D35EBA67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2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2" name="Oval 159">
                <a:extLst>
                  <a:ext uri="{FF2B5EF4-FFF2-40B4-BE49-F238E27FC236}">
                    <a16:creationId xmlns:a16="http://schemas.microsoft.com/office/drawing/2014/main" id="{DAC81916-BDBB-D386-7922-17436C0EB2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2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3" name="Oval 160">
                <a:extLst>
                  <a:ext uri="{FF2B5EF4-FFF2-40B4-BE49-F238E27FC236}">
                    <a16:creationId xmlns:a16="http://schemas.microsoft.com/office/drawing/2014/main" id="{043E4A3F-476B-D185-D89A-E573CE6CF7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3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4" name="Oval 161">
                <a:extLst>
                  <a:ext uri="{FF2B5EF4-FFF2-40B4-BE49-F238E27FC236}">
                    <a16:creationId xmlns:a16="http://schemas.microsoft.com/office/drawing/2014/main" id="{B33C1D74-6A9B-BAAC-2451-228E381F67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3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5" name="Oval 162">
                <a:extLst>
                  <a:ext uri="{FF2B5EF4-FFF2-40B4-BE49-F238E27FC236}">
                    <a16:creationId xmlns:a16="http://schemas.microsoft.com/office/drawing/2014/main" id="{15A8ED95-F770-7562-C7BF-BB7B4E419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6" name="Oval 163">
                <a:extLst>
                  <a:ext uri="{FF2B5EF4-FFF2-40B4-BE49-F238E27FC236}">
                    <a16:creationId xmlns:a16="http://schemas.microsoft.com/office/drawing/2014/main" id="{4F4282AA-0132-E0DE-F2F0-950A71E55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4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7" name="Oval 164">
                <a:extLst>
                  <a:ext uri="{FF2B5EF4-FFF2-40B4-BE49-F238E27FC236}">
                    <a16:creationId xmlns:a16="http://schemas.microsoft.com/office/drawing/2014/main" id="{8A4CC284-0DE4-8AAD-C9DE-A1A8E70B5C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5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8" name="Oval 165">
                <a:extLst>
                  <a:ext uri="{FF2B5EF4-FFF2-40B4-BE49-F238E27FC236}">
                    <a16:creationId xmlns:a16="http://schemas.microsoft.com/office/drawing/2014/main" id="{A367301B-9406-4A18-01BE-0A55056FC3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5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59" name="Oval 166">
                <a:extLst>
                  <a:ext uri="{FF2B5EF4-FFF2-40B4-BE49-F238E27FC236}">
                    <a16:creationId xmlns:a16="http://schemas.microsoft.com/office/drawing/2014/main" id="{FE789A8F-A8A0-2C8E-5ACB-079E9B51E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0" name="Oval 167">
                <a:extLst>
                  <a:ext uri="{FF2B5EF4-FFF2-40B4-BE49-F238E27FC236}">
                    <a16:creationId xmlns:a16="http://schemas.microsoft.com/office/drawing/2014/main" id="{CCA81D95-ED12-A858-96A9-4FAD36A39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6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1" name="Oval 168">
                <a:extLst>
                  <a:ext uri="{FF2B5EF4-FFF2-40B4-BE49-F238E27FC236}">
                    <a16:creationId xmlns:a16="http://schemas.microsoft.com/office/drawing/2014/main" id="{80305250-76C3-E34D-C49B-9FDE79BD2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2" name="Oval 169">
                <a:extLst>
                  <a:ext uri="{FF2B5EF4-FFF2-40B4-BE49-F238E27FC236}">
                    <a16:creationId xmlns:a16="http://schemas.microsoft.com/office/drawing/2014/main" id="{ADFABC74-DB3A-2115-FC1A-18F740166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3" name="Oval 170">
                <a:extLst>
                  <a:ext uri="{FF2B5EF4-FFF2-40B4-BE49-F238E27FC236}">
                    <a16:creationId xmlns:a16="http://schemas.microsoft.com/office/drawing/2014/main" id="{D5EE0189-32B0-2E24-CC84-1E75DD1455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2166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4" name="Oval 171">
                <a:extLst>
                  <a:ext uri="{FF2B5EF4-FFF2-40B4-BE49-F238E27FC236}">
                    <a16:creationId xmlns:a16="http://schemas.microsoft.com/office/drawing/2014/main" id="{3EBD6A24-742C-8DF6-4D15-D412DB392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2166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5" name="Oval 172">
                <a:extLst>
                  <a:ext uri="{FF2B5EF4-FFF2-40B4-BE49-F238E27FC236}">
                    <a16:creationId xmlns:a16="http://schemas.microsoft.com/office/drawing/2014/main" id="{DD336359-FE7B-AD00-E71D-0B494A1A59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" y="2166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6" name="Oval 173">
                <a:extLst>
                  <a:ext uri="{FF2B5EF4-FFF2-40B4-BE49-F238E27FC236}">
                    <a16:creationId xmlns:a16="http://schemas.microsoft.com/office/drawing/2014/main" id="{7D9FD498-D1A2-F43E-B25B-349515CA2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9" y="2166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7" name="Oval 174">
                <a:extLst>
                  <a:ext uri="{FF2B5EF4-FFF2-40B4-BE49-F238E27FC236}">
                    <a16:creationId xmlns:a16="http://schemas.microsoft.com/office/drawing/2014/main" id="{1CA5C187-CEC0-138E-7ED5-AACE4CBEF7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0" y="2166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8" name="Oval 175">
                <a:extLst>
                  <a:ext uri="{FF2B5EF4-FFF2-40B4-BE49-F238E27FC236}">
                    <a16:creationId xmlns:a16="http://schemas.microsoft.com/office/drawing/2014/main" id="{A0EF313F-BC6F-7E24-CDF5-739DE80E04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0" y="2166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69" name="Oval 176">
                <a:extLst>
                  <a:ext uri="{FF2B5EF4-FFF2-40B4-BE49-F238E27FC236}">
                    <a16:creationId xmlns:a16="http://schemas.microsoft.com/office/drawing/2014/main" id="{0B7FD646-DBDD-91C0-C234-B4ECA286D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1" y="2166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0" name="Oval 177">
                <a:extLst>
                  <a:ext uri="{FF2B5EF4-FFF2-40B4-BE49-F238E27FC236}">
                    <a16:creationId xmlns:a16="http://schemas.microsoft.com/office/drawing/2014/main" id="{DCC5558A-60F3-DBFB-59F4-40C9C7939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1" y="2166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1" name="Rectangle 178">
                <a:extLst>
                  <a:ext uri="{FF2B5EF4-FFF2-40B4-BE49-F238E27FC236}">
                    <a16:creationId xmlns:a16="http://schemas.microsoft.com/office/drawing/2014/main" id="{1B6FAFD9-8C28-B7DE-E528-9A5AA1839C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3" y="1975"/>
                <a:ext cx="854" cy="191"/>
              </a:xfrm>
              <a:prstGeom prst="rect">
                <a:avLst/>
              </a:prstGeom>
              <a:solidFill>
                <a:srgbClr val="DBE4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2" name="Rectangle 179">
                <a:extLst>
                  <a:ext uri="{FF2B5EF4-FFF2-40B4-BE49-F238E27FC236}">
                    <a16:creationId xmlns:a16="http://schemas.microsoft.com/office/drawing/2014/main" id="{C97C8BE4-271C-DA09-EB81-E72B859E89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3" y="1975"/>
                <a:ext cx="854" cy="191"/>
              </a:xfrm>
              <a:prstGeom prst="rect">
                <a:avLst/>
              </a:pr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3" name="Rectangle 180">
                <a:extLst>
                  <a:ext uri="{FF2B5EF4-FFF2-40B4-BE49-F238E27FC236}">
                    <a16:creationId xmlns:a16="http://schemas.microsoft.com/office/drawing/2014/main" id="{9CA50C4B-2BFA-D3B9-497A-E24D0070D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5" y="2014"/>
                <a:ext cx="341" cy="1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2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Die #1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74" name="Oval 181">
                <a:extLst>
                  <a:ext uri="{FF2B5EF4-FFF2-40B4-BE49-F238E27FC236}">
                    <a16:creationId xmlns:a16="http://schemas.microsoft.com/office/drawing/2014/main" id="{17EA109B-A1B6-D8F5-8E38-D10D58832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6" y="2166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5" name="Oval 182">
                <a:extLst>
                  <a:ext uri="{FF2B5EF4-FFF2-40B4-BE49-F238E27FC236}">
                    <a16:creationId xmlns:a16="http://schemas.microsoft.com/office/drawing/2014/main" id="{8B37490D-EEFF-D6CD-1E4A-71E2DDCAE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6" y="2166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6" name="Oval 183">
                <a:extLst>
                  <a:ext uri="{FF2B5EF4-FFF2-40B4-BE49-F238E27FC236}">
                    <a16:creationId xmlns:a16="http://schemas.microsoft.com/office/drawing/2014/main" id="{0AAB739D-A623-1A31-EEF9-B2BF4E6301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7" y="2166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7" name="Oval 184">
                <a:extLst>
                  <a:ext uri="{FF2B5EF4-FFF2-40B4-BE49-F238E27FC236}">
                    <a16:creationId xmlns:a16="http://schemas.microsoft.com/office/drawing/2014/main" id="{64928D32-B709-6F16-4C5F-658031DCE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7" y="2166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8" name="Oval 185">
                <a:extLst>
                  <a:ext uri="{FF2B5EF4-FFF2-40B4-BE49-F238E27FC236}">
                    <a16:creationId xmlns:a16="http://schemas.microsoft.com/office/drawing/2014/main" id="{423E6991-AA15-1F4B-84C0-A67B8D0CB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8" y="2166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79" name="Oval 186">
                <a:extLst>
                  <a:ext uri="{FF2B5EF4-FFF2-40B4-BE49-F238E27FC236}">
                    <a16:creationId xmlns:a16="http://schemas.microsoft.com/office/drawing/2014/main" id="{12C89458-336F-C964-ADD8-239033F268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8" y="2166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0" name="Oval 187">
                <a:extLst>
                  <a:ext uri="{FF2B5EF4-FFF2-40B4-BE49-F238E27FC236}">
                    <a16:creationId xmlns:a16="http://schemas.microsoft.com/office/drawing/2014/main" id="{1E55D05B-2111-1FB6-6399-02A359F64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9" y="2166"/>
                <a:ext cx="31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1" name="Oval 188">
                <a:extLst>
                  <a:ext uri="{FF2B5EF4-FFF2-40B4-BE49-F238E27FC236}">
                    <a16:creationId xmlns:a16="http://schemas.microsoft.com/office/drawing/2014/main" id="{23ADD349-7526-E6F8-9551-1FF63152F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9" y="2166"/>
                <a:ext cx="31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2" name="Oval 189">
                <a:extLst>
                  <a:ext uri="{FF2B5EF4-FFF2-40B4-BE49-F238E27FC236}">
                    <a16:creationId xmlns:a16="http://schemas.microsoft.com/office/drawing/2014/main" id="{85C1AB67-DA84-7053-6766-CB605FD3A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1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3" name="Oval 190">
                <a:extLst>
                  <a:ext uri="{FF2B5EF4-FFF2-40B4-BE49-F238E27FC236}">
                    <a16:creationId xmlns:a16="http://schemas.microsoft.com/office/drawing/2014/main" id="{297533A9-7612-4482-C50D-E94CF34FA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1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4" name="Oval 191">
                <a:extLst>
                  <a:ext uri="{FF2B5EF4-FFF2-40B4-BE49-F238E27FC236}">
                    <a16:creationId xmlns:a16="http://schemas.microsoft.com/office/drawing/2014/main" id="{DF39A5B7-1749-FE0B-3A70-AE0892FC8C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2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5" name="Oval 192">
                <a:extLst>
                  <a:ext uri="{FF2B5EF4-FFF2-40B4-BE49-F238E27FC236}">
                    <a16:creationId xmlns:a16="http://schemas.microsoft.com/office/drawing/2014/main" id="{CD617510-C4D6-D4D0-40B5-D2F408D7F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2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6" name="Oval 193">
                <a:extLst>
                  <a:ext uri="{FF2B5EF4-FFF2-40B4-BE49-F238E27FC236}">
                    <a16:creationId xmlns:a16="http://schemas.microsoft.com/office/drawing/2014/main" id="{5D103DAC-E6BF-2BF2-6AA5-D176D1567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3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7" name="Oval 194">
                <a:extLst>
                  <a:ext uri="{FF2B5EF4-FFF2-40B4-BE49-F238E27FC236}">
                    <a16:creationId xmlns:a16="http://schemas.microsoft.com/office/drawing/2014/main" id="{74303078-9F98-49A7-43BC-169E776DF1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3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8" name="Oval 195">
                <a:extLst>
                  <a:ext uri="{FF2B5EF4-FFF2-40B4-BE49-F238E27FC236}">
                    <a16:creationId xmlns:a16="http://schemas.microsoft.com/office/drawing/2014/main" id="{C0AC9B18-BFF6-B215-A6A3-76B652AB6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4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89" name="Oval 196">
                <a:extLst>
                  <a:ext uri="{FF2B5EF4-FFF2-40B4-BE49-F238E27FC236}">
                    <a16:creationId xmlns:a16="http://schemas.microsoft.com/office/drawing/2014/main" id="{B8A2B4F6-48AD-1C0F-C448-9E94297B5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4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0" name="Oval 197">
                <a:extLst>
                  <a:ext uri="{FF2B5EF4-FFF2-40B4-BE49-F238E27FC236}">
                    <a16:creationId xmlns:a16="http://schemas.microsoft.com/office/drawing/2014/main" id="{22A383C6-E48B-9B38-5981-ED04BA892F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5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1" name="Oval 198">
                <a:extLst>
                  <a:ext uri="{FF2B5EF4-FFF2-40B4-BE49-F238E27FC236}">
                    <a16:creationId xmlns:a16="http://schemas.microsoft.com/office/drawing/2014/main" id="{BECA51F5-0BD3-2EC6-264C-E58CE8C2C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05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2" name="Oval 199">
                <a:extLst>
                  <a:ext uri="{FF2B5EF4-FFF2-40B4-BE49-F238E27FC236}">
                    <a16:creationId xmlns:a16="http://schemas.microsoft.com/office/drawing/2014/main" id="{866BE696-FC36-5678-8D98-0EA73027C1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6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3" name="Oval 200">
                <a:extLst>
                  <a:ext uri="{FF2B5EF4-FFF2-40B4-BE49-F238E27FC236}">
                    <a16:creationId xmlns:a16="http://schemas.microsoft.com/office/drawing/2014/main" id="{F7F6E4E5-58EB-E84D-5EEF-2E89A46DF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66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4" name="Oval 201">
                <a:extLst>
                  <a:ext uri="{FF2B5EF4-FFF2-40B4-BE49-F238E27FC236}">
                    <a16:creationId xmlns:a16="http://schemas.microsoft.com/office/drawing/2014/main" id="{08F0B8AB-A3C7-C613-E4CC-42A7E7B852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7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5" name="Oval 202">
                <a:extLst>
                  <a:ext uri="{FF2B5EF4-FFF2-40B4-BE49-F238E27FC236}">
                    <a16:creationId xmlns:a16="http://schemas.microsoft.com/office/drawing/2014/main" id="{7F827413-1945-6172-FB49-9B8D948593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27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6" name="Oval 203">
                <a:extLst>
                  <a:ext uri="{FF2B5EF4-FFF2-40B4-BE49-F238E27FC236}">
                    <a16:creationId xmlns:a16="http://schemas.microsoft.com/office/drawing/2014/main" id="{BA88CE49-661B-A750-6DC0-D3FDD7B07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8" y="2166"/>
                <a:ext cx="30" cy="30"/>
              </a:xfrm>
              <a:prstGeom prst="ellipse">
                <a:avLst/>
              </a:prstGeom>
              <a:solidFill>
                <a:srgbClr val="D8D8D8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397" name="Oval 204">
                <a:extLst>
                  <a:ext uri="{FF2B5EF4-FFF2-40B4-BE49-F238E27FC236}">
                    <a16:creationId xmlns:a16="http://schemas.microsoft.com/office/drawing/2014/main" id="{7DC12574-14B9-DB03-5C4F-E1E7931857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8" y="2166"/>
                <a:ext cx="30" cy="30"/>
              </a:xfrm>
              <a:prstGeom prst="ellipse">
                <a:avLst/>
              </a:prstGeom>
              <a:noFill/>
              <a:ln w="158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8" name="Oval 206">
              <a:extLst>
                <a:ext uri="{FF2B5EF4-FFF2-40B4-BE49-F238E27FC236}">
                  <a16:creationId xmlns:a16="http://schemas.microsoft.com/office/drawing/2014/main" id="{08CE7D9D-296F-5D85-8B18-02A429E91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" y="2166"/>
              <a:ext cx="30" cy="30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Oval 207">
              <a:extLst>
                <a:ext uri="{FF2B5EF4-FFF2-40B4-BE49-F238E27FC236}">
                  <a16:creationId xmlns:a16="http://schemas.microsoft.com/office/drawing/2014/main" id="{FD9EF460-728A-4711-CAC4-6CABCA22C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" y="2166"/>
              <a:ext cx="30" cy="30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Oval 208">
              <a:extLst>
                <a:ext uri="{FF2B5EF4-FFF2-40B4-BE49-F238E27FC236}">
                  <a16:creationId xmlns:a16="http://schemas.microsoft.com/office/drawing/2014/main" id="{B8EE6879-B1C1-DE2C-7080-CD8651988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" y="2166"/>
              <a:ext cx="30" cy="30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Oval 209">
              <a:extLst>
                <a:ext uri="{FF2B5EF4-FFF2-40B4-BE49-F238E27FC236}">
                  <a16:creationId xmlns:a16="http://schemas.microsoft.com/office/drawing/2014/main" id="{DBBDA8BA-80AB-C1D9-5F7E-2581DC0DE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" y="2166"/>
              <a:ext cx="30" cy="30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Oval 210">
              <a:extLst>
                <a:ext uri="{FF2B5EF4-FFF2-40B4-BE49-F238E27FC236}">
                  <a16:creationId xmlns:a16="http://schemas.microsoft.com/office/drawing/2014/main" id="{55FE1E01-A12E-1AC7-A98C-C96D438AE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" y="2166"/>
              <a:ext cx="30" cy="30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Oval 211">
              <a:extLst>
                <a:ext uri="{FF2B5EF4-FFF2-40B4-BE49-F238E27FC236}">
                  <a16:creationId xmlns:a16="http://schemas.microsoft.com/office/drawing/2014/main" id="{D987BCAD-D800-1534-0763-CFDBF52B0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" y="2166"/>
              <a:ext cx="30" cy="30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Oval 212">
              <a:extLst>
                <a:ext uri="{FF2B5EF4-FFF2-40B4-BE49-F238E27FC236}">
                  <a16:creationId xmlns:a16="http://schemas.microsoft.com/office/drawing/2014/main" id="{CB6F4D3A-C0DC-20EF-F5A5-67168456B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2" y="2166"/>
              <a:ext cx="31" cy="30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Oval 213">
              <a:extLst>
                <a:ext uri="{FF2B5EF4-FFF2-40B4-BE49-F238E27FC236}">
                  <a16:creationId xmlns:a16="http://schemas.microsoft.com/office/drawing/2014/main" id="{F2E4722D-5177-4FE4-AB75-CF3EB9898E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2" y="2166"/>
              <a:ext cx="31" cy="30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Oval 214">
              <a:extLst>
                <a:ext uri="{FF2B5EF4-FFF2-40B4-BE49-F238E27FC236}">
                  <a16:creationId xmlns:a16="http://schemas.microsoft.com/office/drawing/2014/main" id="{08384841-D4C6-7435-F003-360DD78D9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3" y="2166"/>
              <a:ext cx="31" cy="30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Oval 215">
              <a:extLst>
                <a:ext uri="{FF2B5EF4-FFF2-40B4-BE49-F238E27FC236}">
                  <a16:creationId xmlns:a16="http://schemas.microsoft.com/office/drawing/2014/main" id="{04F3D043-05C8-E4F1-33C8-1BD3035B6D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3" y="2166"/>
              <a:ext cx="31" cy="30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Oval 216">
              <a:extLst>
                <a:ext uri="{FF2B5EF4-FFF2-40B4-BE49-F238E27FC236}">
                  <a16:creationId xmlns:a16="http://schemas.microsoft.com/office/drawing/2014/main" id="{893A558F-54C3-295A-4AFD-63C7F9105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4" y="2166"/>
              <a:ext cx="31" cy="30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Oval 217">
              <a:extLst>
                <a:ext uri="{FF2B5EF4-FFF2-40B4-BE49-F238E27FC236}">
                  <a16:creationId xmlns:a16="http://schemas.microsoft.com/office/drawing/2014/main" id="{6FC0CFAE-730C-AA59-A994-2F7B510A5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4" y="2166"/>
              <a:ext cx="31" cy="30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Oval 218">
              <a:extLst>
                <a:ext uri="{FF2B5EF4-FFF2-40B4-BE49-F238E27FC236}">
                  <a16:creationId xmlns:a16="http://schemas.microsoft.com/office/drawing/2014/main" id="{FE744E63-F5F2-07D2-7487-810A5E0F1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" y="2166"/>
              <a:ext cx="31" cy="30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Oval 219">
              <a:extLst>
                <a:ext uri="{FF2B5EF4-FFF2-40B4-BE49-F238E27FC236}">
                  <a16:creationId xmlns:a16="http://schemas.microsoft.com/office/drawing/2014/main" id="{E749463F-95C4-980B-A883-FDC850CD4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" y="2166"/>
              <a:ext cx="31" cy="30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Rectangle 220">
              <a:extLst>
                <a:ext uri="{FF2B5EF4-FFF2-40B4-BE49-F238E27FC236}">
                  <a16:creationId xmlns:a16="http://schemas.microsoft.com/office/drawing/2014/main" id="{DE66C6E1-72E3-EB0D-C699-226E6024FE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1" y="1975"/>
              <a:ext cx="1220" cy="191"/>
            </a:xfrm>
            <a:prstGeom prst="rect">
              <a:avLst/>
            </a:prstGeom>
            <a:solidFill>
              <a:srgbClr val="DBE4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Rectangle 221">
              <a:extLst>
                <a:ext uri="{FF2B5EF4-FFF2-40B4-BE49-F238E27FC236}">
                  <a16:creationId xmlns:a16="http://schemas.microsoft.com/office/drawing/2014/main" id="{AF48AD03-933A-AE3E-7496-07268788E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1" y="1975"/>
              <a:ext cx="1220" cy="191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Rectangle 222">
              <a:extLst>
                <a:ext uri="{FF2B5EF4-FFF2-40B4-BE49-F238E27FC236}">
                  <a16:creationId xmlns:a16="http://schemas.microsoft.com/office/drawing/2014/main" id="{4E70E80C-2030-72F1-4E9A-5556468889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6" y="2014"/>
              <a:ext cx="341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Die #2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223">
              <a:extLst>
                <a:ext uri="{FF2B5EF4-FFF2-40B4-BE49-F238E27FC236}">
                  <a16:creationId xmlns:a16="http://schemas.microsoft.com/office/drawing/2014/main" id="{B0AE3FAC-1E70-F903-FD0B-A79BFBFE2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3" y="2262"/>
              <a:ext cx="911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Package Substrate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Line 224">
              <a:extLst>
                <a:ext uri="{FF2B5EF4-FFF2-40B4-BE49-F238E27FC236}">
                  <a16:creationId xmlns:a16="http://schemas.microsoft.com/office/drawing/2014/main" id="{E5DEE6E8-D4A8-3ACD-44F9-F72B36269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5" y="2196"/>
              <a:ext cx="0" cy="46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Line 225">
              <a:extLst>
                <a:ext uri="{FF2B5EF4-FFF2-40B4-BE49-F238E27FC236}">
                  <a16:creationId xmlns:a16="http://schemas.microsoft.com/office/drawing/2014/main" id="{968ECE6F-8B71-2EAE-521F-28FEB5998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0" y="2196"/>
              <a:ext cx="0" cy="46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Line 226">
              <a:extLst>
                <a:ext uri="{FF2B5EF4-FFF2-40B4-BE49-F238E27FC236}">
                  <a16:creationId xmlns:a16="http://schemas.microsoft.com/office/drawing/2014/main" id="{DD35E953-88B1-1D7F-7B9E-9843C80317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5" y="2242"/>
              <a:ext cx="255" cy="0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0" name="Line 227">
              <a:extLst>
                <a:ext uri="{FF2B5EF4-FFF2-40B4-BE49-F238E27FC236}">
                  <a16:creationId xmlns:a16="http://schemas.microsoft.com/office/drawing/2014/main" id="{9F84D7CA-60FD-3E48-C3C7-AEC99231FA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9" y="2196"/>
              <a:ext cx="0" cy="6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1" name="Line 228">
              <a:extLst>
                <a:ext uri="{FF2B5EF4-FFF2-40B4-BE49-F238E27FC236}">
                  <a16:creationId xmlns:a16="http://schemas.microsoft.com/office/drawing/2014/main" id="{8E94B8EF-6387-7B96-481D-59D0D660F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5" y="2242"/>
              <a:ext cx="255" cy="0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Line 229">
              <a:extLst>
                <a:ext uri="{FF2B5EF4-FFF2-40B4-BE49-F238E27FC236}">
                  <a16:creationId xmlns:a16="http://schemas.microsoft.com/office/drawing/2014/main" id="{C945D7F4-1665-81AF-429E-E03267743F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9" y="2257"/>
              <a:ext cx="287" cy="0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3" name="Line 230">
              <a:extLst>
                <a:ext uri="{FF2B5EF4-FFF2-40B4-BE49-F238E27FC236}">
                  <a16:creationId xmlns:a16="http://schemas.microsoft.com/office/drawing/2014/main" id="{3B90D2B8-48E4-5B60-A8B0-077DF1CC63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6" y="2196"/>
              <a:ext cx="0" cy="6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4" name="Line 231">
              <a:extLst>
                <a:ext uri="{FF2B5EF4-FFF2-40B4-BE49-F238E27FC236}">
                  <a16:creationId xmlns:a16="http://schemas.microsoft.com/office/drawing/2014/main" id="{1B54ECB4-085F-14EF-3E19-38D151050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196"/>
              <a:ext cx="0" cy="77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Line 232">
              <a:extLst>
                <a:ext uri="{FF2B5EF4-FFF2-40B4-BE49-F238E27FC236}">
                  <a16:creationId xmlns:a16="http://schemas.microsoft.com/office/drawing/2014/main" id="{B0173630-0C13-C96C-1A53-D104E2E4C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7" y="2196"/>
              <a:ext cx="0" cy="92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Line 233">
              <a:extLst>
                <a:ext uri="{FF2B5EF4-FFF2-40B4-BE49-F238E27FC236}">
                  <a16:creationId xmlns:a16="http://schemas.microsoft.com/office/drawing/2014/main" id="{DA6EB110-7C68-7EBB-25A1-7658830E83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2" y="2196"/>
              <a:ext cx="0" cy="77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Line 234">
              <a:extLst>
                <a:ext uri="{FF2B5EF4-FFF2-40B4-BE49-F238E27FC236}">
                  <a16:creationId xmlns:a16="http://schemas.microsoft.com/office/drawing/2014/main" id="{7B8F3F7D-9774-CEAC-4A7F-94462E590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8" y="2196"/>
              <a:ext cx="0" cy="92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Line 235">
              <a:extLst>
                <a:ext uri="{FF2B5EF4-FFF2-40B4-BE49-F238E27FC236}">
                  <a16:creationId xmlns:a16="http://schemas.microsoft.com/office/drawing/2014/main" id="{241B4965-D353-C1EA-BAF4-F8E44A550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273"/>
              <a:ext cx="319" cy="0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Line 236">
              <a:extLst>
                <a:ext uri="{FF2B5EF4-FFF2-40B4-BE49-F238E27FC236}">
                  <a16:creationId xmlns:a16="http://schemas.microsoft.com/office/drawing/2014/main" id="{D5C2D883-5BF3-1DA2-7BEB-FA913F173C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7" y="2288"/>
              <a:ext cx="351" cy="0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Rectangle 237">
              <a:extLst>
                <a:ext uri="{FF2B5EF4-FFF2-40B4-BE49-F238E27FC236}">
                  <a16:creationId xmlns:a16="http://schemas.microsoft.com/office/drawing/2014/main" id="{4484C891-D8C9-42CF-9F50-E2B35A454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4" y="2341"/>
              <a:ext cx="844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Silicon Bridge (e.g. EMIB)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238">
              <a:extLst>
                <a:ext uri="{FF2B5EF4-FFF2-40B4-BE49-F238E27FC236}">
                  <a16:creationId xmlns:a16="http://schemas.microsoft.com/office/drawing/2014/main" id="{095F20C5-3D2E-DD00-ED7A-8EB209EA5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3067"/>
              <a:ext cx="2686" cy="244"/>
            </a:xfrm>
            <a:prstGeom prst="rect">
              <a:avLst/>
            </a:prstGeom>
            <a:solidFill>
              <a:srgbClr val="EBF1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Rectangle 239">
              <a:extLst>
                <a:ext uri="{FF2B5EF4-FFF2-40B4-BE49-F238E27FC236}">
                  <a16:creationId xmlns:a16="http://schemas.microsoft.com/office/drawing/2014/main" id="{ADAC1A65-5771-3475-ED90-44ACE5E020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3067"/>
              <a:ext cx="2686" cy="244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Oval 240">
              <a:extLst>
                <a:ext uri="{FF2B5EF4-FFF2-40B4-BE49-F238E27FC236}">
                  <a16:creationId xmlns:a16="http://schemas.microsoft.com/office/drawing/2014/main" id="{BEFB421F-52CD-347E-1244-3147FBB2F9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9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Oval 241">
              <a:extLst>
                <a:ext uri="{FF2B5EF4-FFF2-40B4-BE49-F238E27FC236}">
                  <a16:creationId xmlns:a16="http://schemas.microsoft.com/office/drawing/2014/main" id="{B6C1E0E8-6AE0-3E8B-EA50-EF0C04B236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9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Oval 242">
              <a:extLst>
                <a:ext uri="{FF2B5EF4-FFF2-40B4-BE49-F238E27FC236}">
                  <a16:creationId xmlns:a16="http://schemas.microsoft.com/office/drawing/2014/main" id="{024C0105-405F-00C4-1A4A-2961F15F5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Oval 243">
              <a:extLst>
                <a:ext uri="{FF2B5EF4-FFF2-40B4-BE49-F238E27FC236}">
                  <a16:creationId xmlns:a16="http://schemas.microsoft.com/office/drawing/2014/main" id="{1E0DDED4-0B99-A6D3-F4A7-C73454487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Oval 244">
              <a:extLst>
                <a:ext uri="{FF2B5EF4-FFF2-40B4-BE49-F238E27FC236}">
                  <a16:creationId xmlns:a16="http://schemas.microsoft.com/office/drawing/2014/main" id="{1F523B90-4ED3-677A-62F6-7DB8C96A6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Oval 245">
              <a:extLst>
                <a:ext uri="{FF2B5EF4-FFF2-40B4-BE49-F238E27FC236}">
                  <a16:creationId xmlns:a16="http://schemas.microsoft.com/office/drawing/2014/main" id="{8DDED353-8ED9-5BC0-2ABA-C53FE6FE5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1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Oval 246">
              <a:extLst>
                <a:ext uri="{FF2B5EF4-FFF2-40B4-BE49-F238E27FC236}">
                  <a16:creationId xmlns:a16="http://schemas.microsoft.com/office/drawing/2014/main" id="{856A5328-A358-C593-93A8-17433DFDF0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Oval 247">
              <a:extLst>
                <a:ext uri="{FF2B5EF4-FFF2-40B4-BE49-F238E27FC236}">
                  <a16:creationId xmlns:a16="http://schemas.microsoft.com/office/drawing/2014/main" id="{8A8E2AA9-6929-56CC-397C-8DB12DAD9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Oval 248">
              <a:extLst>
                <a:ext uri="{FF2B5EF4-FFF2-40B4-BE49-F238E27FC236}">
                  <a16:creationId xmlns:a16="http://schemas.microsoft.com/office/drawing/2014/main" id="{A810CBD4-BB33-70CD-CE51-2068701EE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Oval 249">
              <a:extLst>
                <a:ext uri="{FF2B5EF4-FFF2-40B4-BE49-F238E27FC236}">
                  <a16:creationId xmlns:a16="http://schemas.microsoft.com/office/drawing/2014/main" id="{2545F268-2456-26DB-C1E7-9049ABFDC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Oval 250">
              <a:extLst>
                <a:ext uri="{FF2B5EF4-FFF2-40B4-BE49-F238E27FC236}">
                  <a16:creationId xmlns:a16="http://schemas.microsoft.com/office/drawing/2014/main" id="{6D0B1FAF-67F8-084A-AFBA-C6824F04E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Oval 251">
              <a:extLst>
                <a:ext uri="{FF2B5EF4-FFF2-40B4-BE49-F238E27FC236}">
                  <a16:creationId xmlns:a16="http://schemas.microsoft.com/office/drawing/2014/main" id="{2E01B34F-7485-EFBD-557C-9ED65F855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Oval 252">
              <a:extLst>
                <a:ext uri="{FF2B5EF4-FFF2-40B4-BE49-F238E27FC236}">
                  <a16:creationId xmlns:a16="http://schemas.microsoft.com/office/drawing/2014/main" id="{4BFD1D88-024A-FE54-93F3-BEF9C6068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5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Oval 253">
              <a:extLst>
                <a:ext uri="{FF2B5EF4-FFF2-40B4-BE49-F238E27FC236}">
                  <a16:creationId xmlns:a16="http://schemas.microsoft.com/office/drawing/2014/main" id="{A139AA6D-A358-87C6-E2DD-6B1927B1A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5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Oval 254">
              <a:extLst>
                <a:ext uri="{FF2B5EF4-FFF2-40B4-BE49-F238E27FC236}">
                  <a16:creationId xmlns:a16="http://schemas.microsoft.com/office/drawing/2014/main" id="{B42F42FA-8F5E-260B-161F-FF04A67DC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Oval 255">
              <a:extLst>
                <a:ext uri="{FF2B5EF4-FFF2-40B4-BE49-F238E27FC236}">
                  <a16:creationId xmlns:a16="http://schemas.microsoft.com/office/drawing/2014/main" id="{8ED3781D-6987-878A-FED4-1F318B634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6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Oval 256">
              <a:extLst>
                <a:ext uri="{FF2B5EF4-FFF2-40B4-BE49-F238E27FC236}">
                  <a16:creationId xmlns:a16="http://schemas.microsoft.com/office/drawing/2014/main" id="{9CEDCD42-C1D6-926F-592D-B7F8504A0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0" name="Oval 257">
              <a:extLst>
                <a:ext uri="{FF2B5EF4-FFF2-40B4-BE49-F238E27FC236}">
                  <a16:creationId xmlns:a16="http://schemas.microsoft.com/office/drawing/2014/main" id="{ABAD42E8-90FF-DCBC-FB28-B055C0DE0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1" name="Oval 258">
              <a:extLst>
                <a:ext uri="{FF2B5EF4-FFF2-40B4-BE49-F238E27FC236}">
                  <a16:creationId xmlns:a16="http://schemas.microsoft.com/office/drawing/2014/main" id="{343904B5-6076-CC0A-248B-87829FFF4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830"/>
              <a:ext cx="31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2" name="Oval 259">
              <a:extLst>
                <a:ext uri="{FF2B5EF4-FFF2-40B4-BE49-F238E27FC236}">
                  <a16:creationId xmlns:a16="http://schemas.microsoft.com/office/drawing/2014/main" id="{1F12CDC4-F60C-00E8-CC5B-FEC00479B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2830"/>
              <a:ext cx="31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3" name="Oval 260">
              <a:extLst>
                <a:ext uri="{FF2B5EF4-FFF2-40B4-BE49-F238E27FC236}">
                  <a16:creationId xmlns:a16="http://schemas.microsoft.com/office/drawing/2014/main" id="{81CE6CD3-1352-3497-C1A2-1942A81DA2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" y="2830"/>
              <a:ext cx="31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4" name="Oval 261">
              <a:extLst>
                <a:ext uri="{FF2B5EF4-FFF2-40B4-BE49-F238E27FC236}">
                  <a16:creationId xmlns:a16="http://schemas.microsoft.com/office/drawing/2014/main" id="{3ECCCD85-41F1-9896-BDD7-24120D0C2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9" y="2830"/>
              <a:ext cx="31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5" name="Oval 262">
              <a:extLst>
                <a:ext uri="{FF2B5EF4-FFF2-40B4-BE49-F238E27FC236}">
                  <a16:creationId xmlns:a16="http://schemas.microsoft.com/office/drawing/2014/main" id="{C5CDAD55-EC1B-9939-483B-642339EF3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0" y="2830"/>
              <a:ext cx="31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6" name="Oval 263">
              <a:extLst>
                <a:ext uri="{FF2B5EF4-FFF2-40B4-BE49-F238E27FC236}">
                  <a16:creationId xmlns:a16="http://schemas.microsoft.com/office/drawing/2014/main" id="{4FB90777-7E72-ABC7-00C3-A56E882034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0" y="2830"/>
              <a:ext cx="31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7" name="Oval 264">
              <a:extLst>
                <a:ext uri="{FF2B5EF4-FFF2-40B4-BE49-F238E27FC236}">
                  <a16:creationId xmlns:a16="http://schemas.microsoft.com/office/drawing/2014/main" id="{948D8468-08D3-5954-0A7C-74178F98E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830"/>
              <a:ext cx="31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8" name="Oval 265">
              <a:extLst>
                <a:ext uri="{FF2B5EF4-FFF2-40B4-BE49-F238E27FC236}">
                  <a16:creationId xmlns:a16="http://schemas.microsoft.com/office/drawing/2014/main" id="{C24D2CC2-E281-A7FF-E1A3-45DD48F94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2830"/>
              <a:ext cx="31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9" name="Rectangle 266">
              <a:extLst>
                <a:ext uri="{FF2B5EF4-FFF2-40B4-BE49-F238E27FC236}">
                  <a16:creationId xmlns:a16="http://schemas.microsoft.com/office/drawing/2014/main" id="{64490244-A060-0C63-AF35-60A4DB9E9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3" y="2639"/>
              <a:ext cx="854" cy="191"/>
            </a:xfrm>
            <a:prstGeom prst="rect">
              <a:avLst/>
            </a:prstGeom>
            <a:solidFill>
              <a:srgbClr val="DBE4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0" name="Rectangle 267">
              <a:extLst>
                <a:ext uri="{FF2B5EF4-FFF2-40B4-BE49-F238E27FC236}">
                  <a16:creationId xmlns:a16="http://schemas.microsoft.com/office/drawing/2014/main" id="{7FC757AF-6EC9-F2C0-2858-D65E1E12C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3" y="2639"/>
              <a:ext cx="854" cy="191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1" name="Rectangle 268">
              <a:extLst>
                <a:ext uri="{FF2B5EF4-FFF2-40B4-BE49-F238E27FC236}">
                  <a16:creationId xmlns:a16="http://schemas.microsoft.com/office/drawing/2014/main" id="{F795EE7A-A4C4-2D09-B703-9D4438843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5" y="2680"/>
              <a:ext cx="32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Die #1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" name="Oval 269">
              <a:extLst>
                <a:ext uri="{FF2B5EF4-FFF2-40B4-BE49-F238E27FC236}">
                  <a16:creationId xmlns:a16="http://schemas.microsoft.com/office/drawing/2014/main" id="{96E29ECD-7731-AB47-5A37-139132957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6" y="2830"/>
              <a:ext cx="31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3" name="Oval 270">
              <a:extLst>
                <a:ext uri="{FF2B5EF4-FFF2-40B4-BE49-F238E27FC236}">
                  <a16:creationId xmlns:a16="http://schemas.microsoft.com/office/drawing/2014/main" id="{F1792344-BC47-D9F4-2374-C6120194AD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6" y="2830"/>
              <a:ext cx="31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4" name="Oval 271">
              <a:extLst>
                <a:ext uri="{FF2B5EF4-FFF2-40B4-BE49-F238E27FC236}">
                  <a16:creationId xmlns:a16="http://schemas.microsoft.com/office/drawing/2014/main" id="{39AE68E4-48DB-B901-3CF8-62E345A43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" y="2830"/>
              <a:ext cx="31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5" name="Oval 272">
              <a:extLst>
                <a:ext uri="{FF2B5EF4-FFF2-40B4-BE49-F238E27FC236}">
                  <a16:creationId xmlns:a16="http://schemas.microsoft.com/office/drawing/2014/main" id="{F70D32C2-DE3A-F323-686B-24C02D698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" y="2830"/>
              <a:ext cx="31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6" name="Oval 273">
              <a:extLst>
                <a:ext uri="{FF2B5EF4-FFF2-40B4-BE49-F238E27FC236}">
                  <a16:creationId xmlns:a16="http://schemas.microsoft.com/office/drawing/2014/main" id="{AC4BA6C0-59AA-1973-8C2C-DC9A26DE8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" y="2830"/>
              <a:ext cx="31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7" name="Oval 274">
              <a:extLst>
                <a:ext uri="{FF2B5EF4-FFF2-40B4-BE49-F238E27FC236}">
                  <a16:creationId xmlns:a16="http://schemas.microsoft.com/office/drawing/2014/main" id="{8570D8FA-8142-4C72-FE91-9180A76A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" y="2830"/>
              <a:ext cx="31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8" name="Oval 275">
              <a:extLst>
                <a:ext uri="{FF2B5EF4-FFF2-40B4-BE49-F238E27FC236}">
                  <a16:creationId xmlns:a16="http://schemas.microsoft.com/office/drawing/2014/main" id="{3D52B801-D0D5-0B52-B816-DC5206011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" y="2830"/>
              <a:ext cx="31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9" name="Oval 276">
              <a:extLst>
                <a:ext uri="{FF2B5EF4-FFF2-40B4-BE49-F238E27FC236}">
                  <a16:creationId xmlns:a16="http://schemas.microsoft.com/office/drawing/2014/main" id="{B4CBF047-B710-402A-FD1D-8883B1DC5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" y="2830"/>
              <a:ext cx="31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0" name="Oval 277">
              <a:extLst>
                <a:ext uri="{FF2B5EF4-FFF2-40B4-BE49-F238E27FC236}">
                  <a16:creationId xmlns:a16="http://schemas.microsoft.com/office/drawing/2014/main" id="{614479D3-EBDC-FA76-E55B-B6890F822A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1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1" name="Oval 278">
              <a:extLst>
                <a:ext uri="{FF2B5EF4-FFF2-40B4-BE49-F238E27FC236}">
                  <a16:creationId xmlns:a16="http://schemas.microsoft.com/office/drawing/2014/main" id="{FC52A5D6-3791-E460-EB4C-6640E5B97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1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2" name="Oval 279">
              <a:extLst>
                <a:ext uri="{FF2B5EF4-FFF2-40B4-BE49-F238E27FC236}">
                  <a16:creationId xmlns:a16="http://schemas.microsoft.com/office/drawing/2014/main" id="{41C0E8F8-81DA-D65A-430B-FAD588B972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3" name="Oval 280">
              <a:extLst>
                <a:ext uri="{FF2B5EF4-FFF2-40B4-BE49-F238E27FC236}">
                  <a16:creationId xmlns:a16="http://schemas.microsoft.com/office/drawing/2014/main" id="{213220E3-587E-4F71-61EF-8E6F3F636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2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4" name="Oval 281">
              <a:extLst>
                <a:ext uri="{FF2B5EF4-FFF2-40B4-BE49-F238E27FC236}">
                  <a16:creationId xmlns:a16="http://schemas.microsoft.com/office/drawing/2014/main" id="{3AD25EFB-26D1-7D45-8881-CB226B3E3D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5" name="Oval 282">
              <a:extLst>
                <a:ext uri="{FF2B5EF4-FFF2-40B4-BE49-F238E27FC236}">
                  <a16:creationId xmlns:a16="http://schemas.microsoft.com/office/drawing/2014/main" id="{9088A9FA-271C-DEAD-0CBA-E6A3F53DC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6" name="Oval 283">
              <a:extLst>
                <a:ext uri="{FF2B5EF4-FFF2-40B4-BE49-F238E27FC236}">
                  <a16:creationId xmlns:a16="http://schemas.microsoft.com/office/drawing/2014/main" id="{7979EDDB-DE92-9FE9-423A-061F0ABDFA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7" name="Oval 284">
              <a:extLst>
                <a:ext uri="{FF2B5EF4-FFF2-40B4-BE49-F238E27FC236}">
                  <a16:creationId xmlns:a16="http://schemas.microsoft.com/office/drawing/2014/main" id="{CF6B12CF-8955-BB3D-6519-B34A0DDE10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8" name="Oval 285">
              <a:extLst>
                <a:ext uri="{FF2B5EF4-FFF2-40B4-BE49-F238E27FC236}">
                  <a16:creationId xmlns:a16="http://schemas.microsoft.com/office/drawing/2014/main" id="{F825B90C-47B0-FBED-4A1E-85C0053C9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9" name="Oval 286">
              <a:extLst>
                <a:ext uri="{FF2B5EF4-FFF2-40B4-BE49-F238E27FC236}">
                  <a16:creationId xmlns:a16="http://schemas.microsoft.com/office/drawing/2014/main" id="{36D10DD1-BCC4-2CC1-4157-CD4BB33E2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0" name="Oval 287">
              <a:extLst>
                <a:ext uri="{FF2B5EF4-FFF2-40B4-BE49-F238E27FC236}">
                  <a16:creationId xmlns:a16="http://schemas.microsoft.com/office/drawing/2014/main" id="{709AA74A-973F-A1D2-84A8-AC1B9B1D9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6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1" name="Oval 288">
              <a:extLst>
                <a:ext uri="{FF2B5EF4-FFF2-40B4-BE49-F238E27FC236}">
                  <a16:creationId xmlns:a16="http://schemas.microsoft.com/office/drawing/2014/main" id="{F1B74D0F-DB7F-29E7-0556-7ACF351CE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6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2" name="Oval 289">
              <a:extLst>
                <a:ext uri="{FF2B5EF4-FFF2-40B4-BE49-F238E27FC236}">
                  <a16:creationId xmlns:a16="http://schemas.microsoft.com/office/drawing/2014/main" id="{F6A3D2E0-B9E3-6BD5-4CAB-C6598B216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7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3" name="Oval 290">
              <a:extLst>
                <a:ext uri="{FF2B5EF4-FFF2-40B4-BE49-F238E27FC236}">
                  <a16:creationId xmlns:a16="http://schemas.microsoft.com/office/drawing/2014/main" id="{E9096910-9A8F-3398-796B-51FFAB2DF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7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4" name="Oval 291">
              <a:extLst>
                <a:ext uri="{FF2B5EF4-FFF2-40B4-BE49-F238E27FC236}">
                  <a16:creationId xmlns:a16="http://schemas.microsoft.com/office/drawing/2014/main" id="{DBB607EF-DF41-36EE-20D1-8DDAC4B54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8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5" name="Oval 292">
              <a:extLst>
                <a:ext uri="{FF2B5EF4-FFF2-40B4-BE49-F238E27FC236}">
                  <a16:creationId xmlns:a16="http://schemas.microsoft.com/office/drawing/2014/main" id="{E44C8640-DC80-0EDE-BDEA-688B50CC0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8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6" name="Oval 293">
              <a:extLst>
                <a:ext uri="{FF2B5EF4-FFF2-40B4-BE49-F238E27FC236}">
                  <a16:creationId xmlns:a16="http://schemas.microsoft.com/office/drawing/2014/main" id="{447A1F85-7520-303E-F95C-9384206A9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7" name="Oval 294">
              <a:extLst>
                <a:ext uri="{FF2B5EF4-FFF2-40B4-BE49-F238E27FC236}">
                  <a16:creationId xmlns:a16="http://schemas.microsoft.com/office/drawing/2014/main" id="{795CED52-2963-E681-7175-0A8CD058B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9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8" name="Oval 295">
              <a:extLst>
                <a:ext uri="{FF2B5EF4-FFF2-40B4-BE49-F238E27FC236}">
                  <a16:creationId xmlns:a16="http://schemas.microsoft.com/office/drawing/2014/main" id="{C3CC0A4F-65CA-8A1E-C8EA-A98FCD95D4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9" name="Oval 296">
              <a:extLst>
                <a:ext uri="{FF2B5EF4-FFF2-40B4-BE49-F238E27FC236}">
                  <a16:creationId xmlns:a16="http://schemas.microsoft.com/office/drawing/2014/main" id="{AE3DFFAB-9C60-88D0-401C-FEAA21CD8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0" name="Oval 297">
              <a:extLst>
                <a:ext uri="{FF2B5EF4-FFF2-40B4-BE49-F238E27FC236}">
                  <a16:creationId xmlns:a16="http://schemas.microsoft.com/office/drawing/2014/main" id="{7B6A4690-A41B-FB85-9ED3-1D50C7EF8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" y="2830"/>
              <a:ext cx="30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1" name="Oval 298">
              <a:extLst>
                <a:ext uri="{FF2B5EF4-FFF2-40B4-BE49-F238E27FC236}">
                  <a16:creationId xmlns:a16="http://schemas.microsoft.com/office/drawing/2014/main" id="{952F26EF-E11E-7C1E-9DCD-F4487F5A9F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" y="2830"/>
              <a:ext cx="30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2" name="Oval 299">
              <a:extLst>
                <a:ext uri="{FF2B5EF4-FFF2-40B4-BE49-F238E27FC236}">
                  <a16:creationId xmlns:a16="http://schemas.microsoft.com/office/drawing/2014/main" id="{BF4C3F5F-40DA-9C90-7C8B-2360E3FC6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2" y="2830"/>
              <a:ext cx="31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3" name="Oval 300">
              <a:extLst>
                <a:ext uri="{FF2B5EF4-FFF2-40B4-BE49-F238E27FC236}">
                  <a16:creationId xmlns:a16="http://schemas.microsoft.com/office/drawing/2014/main" id="{B284B219-E3D7-071A-43CB-C9755A479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2" y="2830"/>
              <a:ext cx="31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4" name="Oval 301">
              <a:extLst>
                <a:ext uri="{FF2B5EF4-FFF2-40B4-BE49-F238E27FC236}">
                  <a16:creationId xmlns:a16="http://schemas.microsoft.com/office/drawing/2014/main" id="{515C0D58-8C25-61A9-B013-C94ED0A05B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3" y="2830"/>
              <a:ext cx="31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5" name="Oval 302">
              <a:extLst>
                <a:ext uri="{FF2B5EF4-FFF2-40B4-BE49-F238E27FC236}">
                  <a16:creationId xmlns:a16="http://schemas.microsoft.com/office/drawing/2014/main" id="{24D49C0C-5E6A-CF30-B932-2A30AA33F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3" y="2830"/>
              <a:ext cx="31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6" name="Oval 303">
              <a:extLst>
                <a:ext uri="{FF2B5EF4-FFF2-40B4-BE49-F238E27FC236}">
                  <a16:creationId xmlns:a16="http://schemas.microsoft.com/office/drawing/2014/main" id="{FB25DB8D-5AFD-5D96-3C13-D738F58191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4" y="2830"/>
              <a:ext cx="31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7" name="Oval 304">
              <a:extLst>
                <a:ext uri="{FF2B5EF4-FFF2-40B4-BE49-F238E27FC236}">
                  <a16:creationId xmlns:a16="http://schemas.microsoft.com/office/drawing/2014/main" id="{2F4AF2EA-C43F-B67F-9581-38F973DD7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4" y="2830"/>
              <a:ext cx="31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8" name="Oval 305">
              <a:extLst>
                <a:ext uri="{FF2B5EF4-FFF2-40B4-BE49-F238E27FC236}">
                  <a16:creationId xmlns:a16="http://schemas.microsoft.com/office/drawing/2014/main" id="{86E16310-9C60-B7CC-381C-F8D911089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" y="2830"/>
              <a:ext cx="31" cy="31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9" name="Oval 306">
              <a:extLst>
                <a:ext uri="{FF2B5EF4-FFF2-40B4-BE49-F238E27FC236}">
                  <a16:creationId xmlns:a16="http://schemas.microsoft.com/office/drawing/2014/main" id="{384D8EF7-CB48-BA45-2156-1C5B204BB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5" y="2830"/>
              <a:ext cx="31" cy="31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0" name="Rectangle 307">
              <a:extLst>
                <a:ext uri="{FF2B5EF4-FFF2-40B4-BE49-F238E27FC236}">
                  <a16:creationId xmlns:a16="http://schemas.microsoft.com/office/drawing/2014/main" id="{BBE3537E-862C-52BC-4C10-42DF78EA1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1" y="2639"/>
              <a:ext cx="1220" cy="191"/>
            </a:xfrm>
            <a:prstGeom prst="rect">
              <a:avLst/>
            </a:prstGeom>
            <a:solidFill>
              <a:srgbClr val="DBE4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1" name="Rectangle 308">
              <a:extLst>
                <a:ext uri="{FF2B5EF4-FFF2-40B4-BE49-F238E27FC236}">
                  <a16:creationId xmlns:a16="http://schemas.microsoft.com/office/drawing/2014/main" id="{3C4A5295-F690-D09F-9E23-B082B00442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1" y="2639"/>
              <a:ext cx="1220" cy="191"/>
            </a:xfrm>
            <a:prstGeom prst="rect">
              <a:avLst/>
            </a:pr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2" name="Rectangle 309">
              <a:extLst>
                <a:ext uri="{FF2B5EF4-FFF2-40B4-BE49-F238E27FC236}">
                  <a16:creationId xmlns:a16="http://schemas.microsoft.com/office/drawing/2014/main" id="{22629008-CE31-04D5-59D7-E7F301CCB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6" y="2680"/>
              <a:ext cx="321" cy="1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Die #2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3" name="Rectangle 310">
              <a:extLst>
                <a:ext uri="{FF2B5EF4-FFF2-40B4-BE49-F238E27FC236}">
                  <a16:creationId xmlns:a16="http://schemas.microsoft.com/office/drawing/2014/main" id="{8584A388-CD92-6307-3693-73BCC3EC8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3" y="3133"/>
              <a:ext cx="911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Package Substrate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4" name="Line 311">
              <a:extLst>
                <a:ext uri="{FF2B5EF4-FFF2-40B4-BE49-F238E27FC236}">
                  <a16:creationId xmlns:a16="http://schemas.microsoft.com/office/drawing/2014/main" id="{ED0E3F7F-8D2C-DAF1-CABE-1BE1E321F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5" y="2868"/>
              <a:ext cx="0" cy="46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5" name="Line 312">
              <a:extLst>
                <a:ext uri="{FF2B5EF4-FFF2-40B4-BE49-F238E27FC236}">
                  <a16:creationId xmlns:a16="http://schemas.microsoft.com/office/drawing/2014/main" id="{05EB5DA5-1EE5-297D-EF0D-F2A6DA2AF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0" y="2868"/>
              <a:ext cx="0" cy="46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6" name="Line 313">
              <a:extLst>
                <a:ext uri="{FF2B5EF4-FFF2-40B4-BE49-F238E27FC236}">
                  <a16:creationId xmlns:a16="http://schemas.microsoft.com/office/drawing/2014/main" id="{EEFEF448-F5BF-ED80-9DC0-B679C57D6A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5" y="2914"/>
              <a:ext cx="255" cy="0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7" name="Line 314">
              <a:extLst>
                <a:ext uri="{FF2B5EF4-FFF2-40B4-BE49-F238E27FC236}">
                  <a16:creationId xmlns:a16="http://schemas.microsoft.com/office/drawing/2014/main" id="{F8D2716B-0DC0-E846-2093-3EEFBBA44A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9" y="2868"/>
              <a:ext cx="0" cy="6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8" name="Line 315">
              <a:extLst>
                <a:ext uri="{FF2B5EF4-FFF2-40B4-BE49-F238E27FC236}">
                  <a16:creationId xmlns:a16="http://schemas.microsoft.com/office/drawing/2014/main" id="{E0EF1D4B-0E3F-2A1B-62CB-AC66D6655B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55" y="2914"/>
              <a:ext cx="255" cy="0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9" name="Line 316">
              <a:extLst>
                <a:ext uri="{FF2B5EF4-FFF2-40B4-BE49-F238E27FC236}">
                  <a16:creationId xmlns:a16="http://schemas.microsoft.com/office/drawing/2014/main" id="{132A170C-1314-14F1-D6CC-B9BC4E2E5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9" y="2929"/>
              <a:ext cx="287" cy="0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0" name="Line 317">
              <a:extLst>
                <a:ext uri="{FF2B5EF4-FFF2-40B4-BE49-F238E27FC236}">
                  <a16:creationId xmlns:a16="http://schemas.microsoft.com/office/drawing/2014/main" id="{AA22CF52-A944-5CCB-6CFF-245BB45C61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26" y="2868"/>
              <a:ext cx="0" cy="61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1" name="Line 318">
              <a:extLst>
                <a:ext uri="{FF2B5EF4-FFF2-40B4-BE49-F238E27FC236}">
                  <a16:creationId xmlns:a16="http://schemas.microsoft.com/office/drawing/2014/main" id="{E1A69B15-4FD9-F525-491C-69E755538B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868"/>
              <a:ext cx="0" cy="77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2" name="Line 319">
              <a:extLst>
                <a:ext uri="{FF2B5EF4-FFF2-40B4-BE49-F238E27FC236}">
                  <a16:creationId xmlns:a16="http://schemas.microsoft.com/office/drawing/2014/main" id="{979E33F2-85E9-1894-18DE-CEA662B46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7" y="2868"/>
              <a:ext cx="0" cy="92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3" name="Line 320">
              <a:extLst>
                <a:ext uri="{FF2B5EF4-FFF2-40B4-BE49-F238E27FC236}">
                  <a16:creationId xmlns:a16="http://schemas.microsoft.com/office/drawing/2014/main" id="{3787C031-0BF1-EB1F-92CD-BDC43E3FE1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2" y="2868"/>
              <a:ext cx="0" cy="77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4" name="Line 321">
              <a:extLst>
                <a:ext uri="{FF2B5EF4-FFF2-40B4-BE49-F238E27FC236}">
                  <a16:creationId xmlns:a16="http://schemas.microsoft.com/office/drawing/2014/main" id="{92301B60-336B-6054-281C-B4C0F809A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8" y="2868"/>
              <a:ext cx="0" cy="92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5" name="Line 322">
              <a:extLst>
                <a:ext uri="{FF2B5EF4-FFF2-40B4-BE49-F238E27FC236}">
                  <a16:creationId xmlns:a16="http://schemas.microsoft.com/office/drawing/2014/main" id="{00AE6CBF-3942-0C12-E4E3-CD869EB882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3" y="2945"/>
              <a:ext cx="319" cy="0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6" name="Line 323">
              <a:extLst>
                <a:ext uri="{FF2B5EF4-FFF2-40B4-BE49-F238E27FC236}">
                  <a16:creationId xmlns:a16="http://schemas.microsoft.com/office/drawing/2014/main" id="{122C688D-623F-E75E-837A-D4F110AB8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7" y="2960"/>
              <a:ext cx="351" cy="0"/>
            </a:xfrm>
            <a:prstGeom prst="line">
              <a:avLst/>
            </a:pr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7" name="Rectangle 324">
              <a:extLst>
                <a:ext uri="{FF2B5EF4-FFF2-40B4-BE49-F238E27FC236}">
                  <a16:creationId xmlns:a16="http://schemas.microsoft.com/office/drawing/2014/main" id="{09A59883-FD78-FFB5-6100-BDB35A30D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8" y="2891"/>
              <a:ext cx="819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8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Interposer (e.g., CoWoS)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8" name="Oval 325">
              <a:extLst>
                <a:ext uri="{FF2B5EF4-FFF2-40B4-BE49-F238E27FC236}">
                  <a16:creationId xmlns:a16="http://schemas.microsoft.com/office/drawing/2014/main" id="{0C67AE0B-445A-D273-C15E-C87C2C6EC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" y="3008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9" name="Oval 326">
              <a:extLst>
                <a:ext uri="{FF2B5EF4-FFF2-40B4-BE49-F238E27FC236}">
                  <a16:creationId xmlns:a16="http://schemas.microsoft.com/office/drawing/2014/main" id="{F0B33A15-A76B-3A6C-E920-70B08288A8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7" y="3008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0" name="Oval 327">
              <a:extLst>
                <a:ext uri="{FF2B5EF4-FFF2-40B4-BE49-F238E27FC236}">
                  <a16:creationId xmlns:a16="http://schemas.microsoft.com/office/drawing/2014/main" id="{244FE336-313D-D774-6817-88D550219B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9" y="3006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1" name="Oval 328">
              <a:extLst>
                <a:ext uri="{FF2B5EF4-FFF2-40B4-BE49-F238E27FC236}">
                  <a16:creationId xmlns:a16="http://schemas.microsoft.com/office/drawing/2014/main" id="{C3063202-F8C2-9386-4345-43D44D0F1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9" y="3006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2" name="Oval 329">
              <a:extLst>
                <a:ext uri="{FF2B5EF4-FFF2-40B4-BE49-F238E27FC236}">
                  <a16:creationId xmlns:a16="http://schemas.microsoft.com/office/drawing/2014/main" id="{72555672-EB35-7675-4317-ED097D68F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" y="3008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3" name="Oval 330">
              <a:extLst>
                <a:ext uri="{FF2B5EF4-FFF2-40B4-BE49-F238E27FC236}">
                  <a16:creationId xmlns:a16="http://schemas.microsoft.com/office/drawing/2014/main" id="{99D950E0-B85A-0806-996A-E360AD7CA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0" y="3008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4" name="Oval 331">
              <a:extLst>
                <a:ext uri="{FF2B5EF4-FFF2-40B4-BE49-F238E27FC236}">
                  <a16:creationId xmlns:a16="http://schemas.microsoft.com/office/drawing/2014/main" id="{5B1686A6-1FEF-E891-CE59-2703E3296A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3006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5" name="Oval 332">
              <a:extLst>
                <a:ext uri="{FF2B5EF4-FFF2-40B4-BE49-F238E27FC236}">
                  <a16:creationId xmlns:a16="http://schemas.microsoft.com/office/drawing/2014/main" id="{A7CC76F3-789F-92CB-2CC5-EDA8400E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2" y="3006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6" name="Oval 333">
              <a:extLst>
                <a:ext uri="{FF2B5EF4-FFF2-40B4-BE49-F238E27FC236}">
                  <a16:creationId xmlns:a16="http://schemas.microsoft.com/office/drawing/2014/main" id="{2E679499-E818-A881-3473-F29CA872A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3" y="3008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7" name="Oval 334">
              <a:extLst>
                <a:ext uri="{FF2B5EF4-FFF2-40B4-BE49-F238E27FC236}">
                  <a16:creationId xmlns:a16="http://schemas.microsoft.com/office/drawing/2014/main" id="{A908DD9C-23C1-0A59-44BF-07F566ABE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3" y="3008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8" name="Oval 335">
              <a:extLst>
                <a:ext uri="{FF2B5EF4-FFF2-40B4-BE49-F238E27FC236}">
                  <a16:creationId xmlns:a16="http://schemas.microsoft.com/office/drawing/2014/main" id="{FD73C949-47BD-ECEE-33D9-C7031D294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5" y="3006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9" name="Oval 336">
              <a:extLst>
                <a:ext uri="{FF2B5EF4-FFF2-40B4-BE49-F238E27FC236}">
                  <a16:creationId xmlns:a16="http://schemas.microsoft.com/office/drawing/2014/main" id="{3E590A51-43B7-AACF-AF5B-45E35CC0CB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5" y="3006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0" name="Oval 337">
              <a:extLst>
                <a:ext uri="{FF2B5EF4-FFF2-40B4-BE49-F238E27FC236}">
                  <a16:creationId xmlns:a16="http://schemas.microsoft.com/office/drawing/2014/main" id="{4151271D-6286-04AE-AE23-31235A391B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6" y="3008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1" name="Oval 338">
              <a:extLst>
                <a:ext uri="{FF2B5EF4-FFF2-40B4-BE49-F238E27FC236}">
                  <a16:creationId xmlns:a16="http://schemas.microsoft.com/office/drawing/2014/main" id="{9FD92546-CCF5-8E0E-9049-6DEC906A8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6" y="3008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2" name="Oval 339">
              <a:extLst>
                <a:ext uri="{FF2B5EF4-FFF2-40B4-BE49-F238E27FC236}">
                  <a16:creationId xmlns:a16="http://schemas.microsoft.com/office/drawing/2014/main" id="{E6166FF4-7C5A-C3B4-6488-BB92294B00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006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3" name="Oval 340">
              <a:extLst>
                <a:ext uri="{FF2B5EF4-FFF2-40B4-BE49-F238E27FC236}">
                  <a16:creationId xmlns:a16="http://schemas.microsoft.com/office/drawing/2014/main" id="{248C298C-D215-3D32-1C01-47869B9FD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3006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4" name="Oval 341">
              <a:extLst>
                <a:ext uri="{FF2B5EF4-FFF2-40B4-BE49-F238E27FC236}">
                  <a16:creationId xmlns:a16="http://schemas.microsoft.com/office/drawing/2014/main" id="{165414C1-B01F-08C0-3244-D549859D0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3008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5" name="Oval 342">
              <a:extLst>
                <a:ext uri="{FF2B5EF4-FFF2-40B4-BE49-F238E27FC236}">
                  <a16:creationId xmlns:a16="http://schemas.microsoft.com/office/drawing/2014/main" id="{1CDCE132-E27F-014A-DD5E-0764877A4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3008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6" name="Oval 343">
              <a:extLst>
                <a:ext uri="{FF2B5EF4-FFF2-40B4-BE49-F238E27FC236}">
                  <a16:creationId xmlns:a16="http://schemas.microsoft.com/office/drawing/2014/main" id="{14A82EF1-E2A5-B560-CD8C-FB3EFDFAE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3006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7" name="Oval 344">
              <a:extLst>
                <a:ext uri="{FF2B5EF4-FFF2-40B4-BE49-F238E27FC236}">
                  <a16:creationId xmlns:a16="http://schemas.microsoft.com/office/drawing/2014/main" id="{F7B6D473-3C8B-EDBC-1015-12E83E61A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1" y="3006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8" name="Oval 345">
              <a:extLst>
                <a:ext uri="{FF2B5EF4-FFF2-40B4-BE49-F238E27FC236}">
                  <a16:creationId xmlns:a16="http://schemas.microsoft.com/office/drawing/2014/main" id="{40A6F4D9-1EA3-B38C-0F87-C0206BA0A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3" y="3008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9" name="Oval 346">
              <a:extLst>
                <a:ext uri="{FF2B5EF4-FFF2-40B4-BE49-F238E27FC236}">
                  <a16:creationId xmlns:a16="http://schemas.microsoft.com/office/drawing/2014/main" id="{B34E7609-54FE-C2D1-67B7-EB8476A47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3" y="3008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0" name="Oval 347">
              <a:extLst>
                <a:ext uri="{FF2B5EF4-FFF2-40B4-BE49-F238E27FC236}">
                  <a16:creationId xmlns:a16="http://schemas.microsoft.com/office/drawing/2014/main" id="{D6505E5B-3134-9805-DD56-83141E18D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4" y="3006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1" name="Oval 348">
              <a:extLst>
                <a:ext uri="{FF2B5EF4-FFF2-40B4-BE49-F238E27FC236}">
                  <a16:creationId xmlns:a16="http://schemas.microsoft.com/office/drawing/2014/main" id="{F54D4554-476D-0E4D-D5DF-9D3589FA2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4" y="3006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2" name="Oval 349">
              <a:extLst>
                <a:ext uri="{FF2B5EF4-FFF2-40B4-BE49-F238E27FC236}">
                  <a16:creationId xmlns:a16="http://schemas.microsoft.com/office/drawing/2014/main" id="{E1238634-EC10-4FB8-834E-BA9742B35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6" y="3008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3" name="Oval 350">
              <a:extLst>
                <a:ext uri="{FF2B5EF4-FFF2-40B4-BE49-F238E27FC236}">
                  <a16:creationId xmlns:a16="http://schemas.microsoft.com/office/drawing/2014/main" id="{876C4FFC-7EE1-2ED9-89F8-C7A32948F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6" y="3008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4" name="Oval 351">
              <a:extLst>
                <a:ext uri="{FF2B5EF4-FFF2-40B4-BE49-F238E27FC236}">
                  <a16:creationId xmlns:a16="http://schemas.microsoft.com/office/drawing/2014/main" id="{D646868C-4982-57E5-0600-E2985C86A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" y="3006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5" name="Oval 352">
              <a:extLst>
                <a:ext uri="{FF2B5EF4-FFF2-40B4-BE49-F238E27FC236}">
                  <a16:creationId xmlns:a16="http://schemas.microsoft.com/office/drawing/2014/main" id="{275B24A3-0C55-4978-8131-67E4EFAC6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" y="3006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6" name="Oval 353">
              <a:extLst>
                <a:ext uri="{FF2B5EF4-FFF2-40B4-BE49-F238E27FC236}">
                  <a16:creationId xmlns:a16="http://schemas.microsoft.com/office/drawing/2014/main" id="{C2D89AB7-BD3C-8FFC-1C3B-3AAE8F006C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9" y="3008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7" name="Oval 354">
              <a:extLst>
                <a:ext uri="{FF2B5EF4-FFF2-40B4-BE49-F238E27FC236}">
                  <a16:creationId xmlns:a16="http://schemas.microsoft.com/office/drawing/2014/main" id="{0AD5167A-84C1-4B98-5D69-C4F63FBA7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9" y="3008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8" name="Oval 355">
              <a:extLst>
                <a:ext uri="{FF2B5EF4-FFF2-40B4-BE49-F238E27FC236}">
                  <a16:creationId xmlns:a16="http://schemas.microsoft.com/office/drawing/2014/main" id="{0F50AFDD-A803-4FC6-7104-DCFA0E164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1" y="3006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9" name="Oval 356">
              <a:extLst>
                <a:ext uri="{FF2B5EF4-FFF2-40B4-BE49-F238E27FC236}">
                  <a16:creationId xmlns:a16="http://schemas.microsoft.com/office/drawing/2014/main" id="{883A232C-34A8-F518-1F0A-04D177C35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1" y="3006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0" name="Oval 357">
              <a:extLst>
                <a:ext uri="{FF2B5EF4-FFF2-40B4-BE49-F238E27FC236}">
                  <a16:creationId xmlns:a16="http://schemas.microsoft.com/office/drawing/2014/main" id="{DB756431-C2C2-0646-1697-50A0AE7F4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" y="3008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1" name="Oval 358">
              <a:extLst>
                <a:ext uri="{FF2B5EF4-FFF2-40B4-BE49-F238E27FC236}">
                  <a16:creationId xmlns:a16="http://schemas.microsoft.com/office/drawing/2014/main" id="{7CA3EAFB-DA35-19F8-49FE-941AFC0F0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2" y="3008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2" name="Oval 359">
              <a:extLst>
                <a:ext uri="{FF2B5EF4-FFF2-40B4-BE49-F238E27FC236}">
                  <a16:creationId xmlns:a16="http://schemas.microsoft.com/office/drawing/2014/main" id="{5FC29D21-B480-9106-0B36-8EFF8765B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006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3" name="Oval 360">
              <a:extLst>
                <a:ext uri="{FF2B5EF4-FFF2-40B4-BE49-F238E27FC236}">
                  <a16:creationId xmlns:a16="http://schemas.microsoft.com/office/drawing/2014/main" id="{BA4A22A0-40AE-FD5C-309B-4FC4D0AF6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3006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4" name="Oval 361">
              <a:extLst>
                <a:ext uri="{FF2B5EF4-FFF2-40B4-BE49-F238E27FC236}">
                  <a16:creationId xmlns:a16="http://schemas.microsoft.com/office/drawing/2014/main" id="{5DDA14D1-C6A6-29D0-3F61-8615B7D67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5" y="3008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5" name="Oval 362">
              <a:extLst>
                <a:ext uri="{FF2B5EF4-FFF2-40B4-BE49-F238E27FC236}">
                  <a16:creationId xmlns:a16="http://schemas.microsoft.com/office/drawing/2014/main" id="{E4B6ABEE-8B4B-3A0F-CBBB-F7815ABF9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5" y="3008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6" name="Oval 363">
              <a:extLst>
                <a:ext uri="{FF2B5EF4-FFF2-40B4-BE49-F238E27FC236}">
                  <a16:creationId xmlns:a16="http://schemas.microsoft.com/office/drawing/2014/main" id="{B8F7D921-1099-AA02-F321-183890BB8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7" y="3006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7" name="Oval 364">
              <a:extLst>
                <a:ext uri="{FF2B5EF4-FFF2-40B4-BE49-F238E27FC236}">
                  <a16:creationId xmlns:a16="http://schemas.microsoft.com/office/drawing/2014/main" id="{FB921D22-76BA-C071-DE08-EEFA98302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7" y="3006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8" name="Oval 365">
              <a:extLst>
                <a:ext uri="{FF2B5EF4-FFF2-40B4-BE49-F238E27FC236}">
                  <a16:creationId xmlns:a16="http://schemas.microsoft.com/office/drawing/2014/main" id="{1B296CEC-0CBF-70CB-3CD7-9C40DF339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" y="3008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9" name="Oval 366">
              <a:extLst>
                <a:ext uri="{FF2B5EF4-FFF2-40B4-BE49-F238E27FC236}">
                  <a16:creationId xmlns:a16="http://schemas.microsoft.com/office/drawing/2014/main" id="{D7D1AE8D-8437-0139-4825-0178F4B28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8" y="3008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0" name="Oval 367">
              <a:extLst>
                <a:ext uri="{FF2B5EF4-FFF2-40B4-BE49-F238E27FC236}">
                  <a16:creationId xmlns:a16="http://schemas.microsoft.com/office/drawing/2014/main" id="{60177243-D70E-CBB0-0676-F71DA7894E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" y="3006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1" name="Oval 368">
              <a:extLst>
                <a:ext uri="{FF2B5EF4-FFF2-40B4-BE49-F238E27FC236}">
                  <a16:creationId xmlns:a16="http://schemas.microsoft.com/office/drawing/2014/main" id="{66A30BB3-196C-0A23-5CEC-C209C1FA7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0" y="3006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2" name="Oval 369">
              <a:extLst>
                <a:ext uri="{FF2B5EF4-FFF2-40B4-BE49-F238E27FC236}">
                  <a16:creationId xmlns:a16="http://schemas.microsoft.com/office/drawing/2014/main" id="{622394A5-E752-5548-3C95-6165E4AE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1" y="3008"/>
              <a:ext cx="62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3" name="Oval 370">
              <a:extLst>
                <a:ext uri="{FF2B5EF4-FFF2-40B4-BE49-F238E27FC236}">
                  <a16:creationId xmlns:a16="http://schemas.microsoft.com/office/drawing/2014/main" id="{399464DE-6F9A-5D8D-F8E9-4238CA7A4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1" y="3008"/>
              <a:ext cx="62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4" name="Oval 371">
              <a:extLst>
                <a:ext uri="{FF2B5EF4-FFF2-40B4-BE49-F238E27FC236}">
                  <a16:creationId xmlns:a16="http://schemas.microsoft.com/office/drawing/2014/main" id="{D05F3CB4-183A-1B12-6138-2248BD7BA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3" y="3006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5" name="Oval 372">
              <a:extLst>
                <a:ext uri="{FF2B5EF4-FFF2-40B4-BE49-F238E27FC236}">
                  <a16:creationId xmlns:a16="http://schemas.microsoft.com/office/drawing/2014/main" id="{61FA8A9C-55B3-B0B0-53E4-BDF9A2253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3" y="3006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6" name="Oval 373">
              <a:extLst>
                <a:ext uri="{FF2B5EF4-FFF2-40B4-BE49-F238E27FC236}">
                  <a16:creationId xmlns:a16="http://schemas.microsoft.com/office/drawing/2014/main" id="{97F89A2E-5863-9E61-8233-99CBB9C5A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5" y="3008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7" name="Oval 374">
              <a:extLst>
                <a:ext uri="{FF2B5EF4-FFF2-40B4-BE49-F238E27FC236}">
                  <a16:creationId xmlns:a16="http://schemas.microsoft.com/office/drawing/2014/main" id="{E659B32E-892C-61DC-5949-08BB02B9E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5" y="3008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8" name="Oval 375">
              <a:extLst>
                <a:ext uri="{FF2B5EF4-FFF2-40B4-BE49-F238E27FC236}">
                  <a16:creationId xmlns:a16="http://schemas.microsoft.com/office/drawing/2014/main" id="{65016427-7801-BC3B-0481-E0BB34886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" y="3006"/>
              <a:ext cx="61" cy="59"/>
            </a:xfrm>
            <a:prstGeom prst="ellipse">
              <a:avLst/>
            </a:prstGeom>
            <a:solidFill>
              <a:srgbClr val="D8D8D8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9" name="Oval 376">
              <a:extLst>
                <a:ext uri="{FF2B5EF4-FFF2-40B4-BE49-F238E27FC236}">
                  <a16:creationId xmlns:a16="http://schemas.microsoft.com/office/drawing/2014/main" id="{9CD61294-D3AB-F193-2B89-54BDB4062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" y="3006"/>
              <a:ext cx="61" cy="59"/>
            </a:xfrm>
            <a:prstGeom prst="ellipse">
              <a:avLst/>
            </a:pr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0" name="Rectangle 377">
              <a:extLst>
                <a:ext uri="{FF2B5EF4-FFF2-40B4-BE49-F238E27FC236}">
                  <a16:creationId xmlns:a16="http://schemas.microsoft.com/office/drawing/2014/main" id="{68DC357A-A3DF-8274-9B00-E5C25D5DF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" y="1547"/>
              <a:ext cx="1449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Standard Package (2D)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1" name="Rectangle 378">
              <a:extLst>
                <a:ext uri="{FF2B5EF4-FFF2-40B4-BE49-F238E27FC236}">
                  <a16:creationId xmlns:a16="http://schemas.microsoft.com/office/drawing/2014/main" id="{B454AB01-14D2-A496-631C-E8B9928D9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6" y="3361"/>
              <a:ext cx="1602" cy="1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Advanced Package (2.5D)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3" name="Rectangle 380">
              <a:extLst>
                <a:ext uri="{FF2B5EF4-FFF2-40B4-BE49-F238E27FC236}">
                  <a16:creationId xmlns:a16="http://schemas.microsoft.com/office/drawing/2014/main" id="{160A6D07-31AB-A249-8C6C-386BC7E23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9" y="3697"/>
              <a:ext cx="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5" name="Rectangle 382">
              <a:extLst>
                <a:ext uri="{FF2B5EF4-FFF2-40B4-BE49-F238E27FC236}">
                  <a16:creationId xmlns:a16="http://schemas.microsoft.com/office/drawing/2014/main" id="{06E3B9BB-093F-8718-5B48-32ADACC14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9" y="994"/>
              <a:ext cx="717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Bump Pitch: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6" name="Rectangle 383">
              <a:extLst>
                <a:ext uri="{FF2B5EF4-FFF2-40B4-BE49-F238E27FC236}">
                  <a16:creationId xmlns:a16="http://schemas.microsoft.com/office/drawing/2014/main" id="{92168981-9B54-0AC8-6CF2-3E0971C22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8" y="1000"/>
              <a:ext cx="81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7" name="Rectangle 384">
              <a:extLst>
                <a:ext uri="{FF2B5EF4-FFF2-40B4-BE49-F238E27FC236}">
                  <a16:creationId xmlns:a16="http://schemas.microsoft.com/office/drawing/2014/main" id="{92BE80CD-ACA8-089B-E6CD-0E5E8B05FF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9" y="1129"/>
              <a:ext cx="956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100 um to 130 um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8" name="Rectangle 385">
              <a:extLst>
                <a:ext uri="{FF2B5EF4-FFF2-40B4-BE49-F238E27FC236}">
                  <a16:creationId xmlns:a16="http://schemas.microsoft.com/office/drawing/2014/main" id="{7899EF06-0B38-7B43-6AB9-AF4287346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9" y="1385"/>
              <a:ext cx="900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Channel Reach: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9" name="Rectangle 386">
              <a:extLst>
                <a:ext uri="{FF2B5EF4-FFF2-40B4-BE49-F238E27FC236}">
                  <a16:creationId xmlns:a16="http://schemas.microsoft.com/office/drawing/2014/main" id="{9944AB5B-A5C4-1F1C-B629-9000D9CAC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9" y="1390"/>
              <a:ext cx="112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0" name="Rectangle 387">
              <a:extLst>
                <a:ext uri="{FF2B5EF4-FFF2-40B4-BE49-F238E27FC236}">
                  <a16:creationId xmlns:a16="http://schemas.microsoft.com/office/drawing/2014/main" id="{18FE24B2-CF41-CD75-A505-B3418D76C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9" y="1520"/>
              <a:ext cx="1058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10 mm (short reach)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1" name="Rectangle 388">
              <a:extLst>
                <a:ext uri="{FF2B5EF4-FFF2-40B4-BE49-F238E27FC236}">
                  <a16:creationId xmlns:a16="http://schemas.microsoft.com/office/drawing/2014/main" id="{FEDF6AA8-E450-57BF-B85A-65B8FBA4F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9" y="1652"/>
              <a:ext cx="1022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25 mm (long reach)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2" name="Rectangle 389">
              <a:extLst>
                <a:ext uri="{FF2B5EF4-FFF2-40B4-BE49-F238E27FC236}">
                  <a16:creationId xmlns:a16="http://schemas.microsoft.com/office/drawing/2014/main" id="{C466ADB7-0DEE-A2D8-BF7D-E631F468A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5" y="2342"/>
              <a:ext cx="718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Bump Pitch: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3" name="Rectangle 390">
              <a:extLst>
                <a:ext uri="{FF2B5EF4-FFF2-40B4-BE49-F238E27FC236}">
                  <a16:creationId xmlns:a16="http://schemas.microsoft.com/office/drawing/2014/main" id="{8E43B266-5B3B-945A-B203-7F1EC926B7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5" y="2347"/>
              <a:ext cx="81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4" name="Rectangle 391">
              <a:extLst>
                <a:ext uri="{FF2B5EF4-FFF2-40B4-BE49-F238E27FC236}">
                  <a16:creationId xmlns:a16="http://schemas.microsoft.com/office/drawing/2014/main" id="{B247ACFF-2F0A-1074-50CB-93A09F68B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5" y="2477"/>
              <a:ext cx="830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25 um to 55 um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5" name="Rectangle 392">
              <a:extLst>
                <a:ext uri="{FF2B5EF4-FFF2-40B4-BE49-F238E27FC236}">
                  <a16:creationId xmlns:a16="http://schemas.microsoft.com/office/drawing/2014/main" id="{EAEFB823-D2B0-9A1F-297F-933F24B6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5" y="2733"/>
              <a:ext cx="901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1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Channel Reach: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6" name="Rectangle 393">
              <a:extLst>
                <a:ext uri="{FF2B5EF4-FFF2-40B4-BE49-F238E27FC236}">
                  <a16:creationId xmlns:a16="http://schemas.microsoft.com/office/drawing/2014/main" id="{65A497ED-C868-9023-F34F-CB6497FF6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6" y="2738"/>
              <a:ext cx="81" cy="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7" name="Rectangle 394">
              <a:extLst>
                <a:ext uri="{FF2B5EF4-FFF2-40B4-BE49-F238E27FC236}">
                  <a16:creationId xmlns:a16="http://schemas.microsoft.com/office/drawing/2014/main" id="{3FD04962-C507-C6D6-58DB-554F2F95F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5" y="2870"/>
              <a:ext cx="367" cy="1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3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2 mm 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398" name="TextBox 397">
            <a:extLst>
              <a:ext uri="{FF2B5EF4-FFF2-40B4-BE49-F238E27FC236}">
                <a16:creationId xmlns:a16="http://schemas.microsoft.com/office/drawing/2014/main" id="{7B3C3EC2-FE29-13FD-25E5-F66AB0FE2AC2}"/>
              </a:ext>
            </a:extLst>
          </p:cNvPr>
          <p:cNvSpPr txBox="1"/>
          <p:nvPr/>
        </p:nvSpPr>
        <p:spPr>
          <a:xfrm>
            <a:off x="9682163" y="5150922"/>
            <a:ext cx="1312860" cy="40011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300" b="1" i="0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Supports speeds</a:t>
            </a:r>
          </a:p>
          <a:p>
            <a:pPr marL="0" marR="0" indent="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300" b="1" i="0" u="none" strike="noStrike" cap="none" spc="0" normalizeH="0" baseline="0" dirty="0">
                <a:ln>
                  <a:noFill/>
                </a:ln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up to 64 GT/s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AABCFD37-2179-B701-71F2-7D7FC1D4A2B7}"/>
              </a:ext>
            </a:extLst>
          </p:cNvPr>
          <p:cNvSpPr txBox="1"/>
          <p:nvPr/>
        </p:nvSpPr>
        <p:spPr>
          <a:xfrm>
            <a:off x="1278887" y="5834132"/>
            <a:ext cx="9121536" cy="907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1" dirty="0">
                <a:solidFill>
                  <a:srgbClr val="2893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UCIe is Standardizing Everything Needed for An Open Chiplet Ecosystem</a:t>
            </a:r>
          </a:p>
          <a:p>
            <a:pPr algn="ctr"/>
            <a:r>
              <a:rPr lang="en-US" sz="1300" dirty="0">
                <a:solidFill>
                  <a:srgbClr val="2893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Bump Maps, Physical Layer, ISA Agnostic Protocols, Manageability &amp; Security, System Architecture</a:t>
            </a:r>
          </a:p>
          <a:p>
            <a:pPr algn="l"/>
            <a:endParaRPr lang="en-US" sz="2000" b="1" dirty="0">
              <a:solidFill>
                <a:srgbClr val="28931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976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08170-45A5-97B9-1F38-7D04E2792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UCIe Key Characteristics and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6BD92-36E2-86CE-813E-541F5436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F23B8-18BE-485D-BC2C-61110F510EA1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0B36E-BB91-E845-7B08-770BABDC1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6759" y="2017343"/>
            <a:ext cx="3332562" cy="1078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24BD9D-0C02-57EC-45C2-1569BCDFC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760" y="4191000"/>
            <a:ext cx="3093496" cy="91440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4091A34-BE01-CA59-BE8D-E72D6693EB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814183"/>
              </p:ext>
            </p:extLst>
          </p:nvPr>
        </p:nvGraphicFramePr>
        <p:xfrm>
          <a:off x="304800" y="1524000"/>
          <a:ext cx="8064565" cy="4788974"/>
        </p:xfrm>
        <a:graphic>
          <a:graphicData uri="http://schemas.openxmlformats.org/drawingml/2006/table">
            <a:tbl>
              <a:tblPr firstRow="1" bandRow="1"/>
              <a:tblGrid>
                <a:gridCol w="1586678">
                  <a:extLst>
                    <a:ext uri="{9D8B030D-6E8A-4147-A177-3AD203B41FA5}">
                      <a16:colId xmlns:a16="http://schemas.microsoft.com/office/drawing/2014/main" val="857127544"/>
                    </a:ext>
                  </a:extLst>
                </a:gridCol>
                <a:gridCol w="1104566">
                  <a:extLst>
                    <a:ext uri="{9D8B030D-6E8A-4147-A177-3AD203B41FA5}">
                      <a16:colId xmlns:a16="http://schemas.microsoft.com/office/drawing/2014/main" val="4115452322"/>
                    </a:ext>
                  </a:extLst>
                </a:gridCol>
                <a:gridCol w="1086156">
                  <a:extLst>
                    <a:ext uri="{9D8B030D-6E8A-4147-A177-3AD203B41FA5}">
                      <a16:colId xmlns:a16="http://schemas.microsoft.com/office/drawing/2014/main" val="309196920"/>
                    </a:ext>
                  </a:extLst>
                </a:gridCol>
                <a:gridCol w="1178205">
                  <a:extLst>
                    <a:ext uri="{9D8B030D-6E8A-4147-A177-3AD203B41FA5}">
                      <a16:colId xmlns:a16="http://schemas.microsoft.com/office/drawing/2014/main" val="4107385088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329680732"/>
                    </a:ext>
                  </a:extLst>
                </a:gridCol>
              </a:tblGrid>
              <a:tr h="2247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1000" dirty="0">
                          <a:latin typeface="Verdana Pro" panose="020B0604030504040204" pitchFamily="34" charset="0"/>
                        </a:rPr>
                        <a:t>Characteristics or</a:t>
                      </a:r>
                    </a:p>
                    <a:p>
                      <a:pPr algn="ctr"/>
                      <a:r>
                        <a:rPr lang="en-US" sz="1000" dirty="0">
                          <a:latin typeface="Verdana Pro" panose="020B0604030504040204" pitchFamily="34" charset="0"/>
                        </a:rPr>
                        <a:t>Key Metric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1000" dirty="0">
                          <a:latin typeface="Verdana Pro" panose="020B0604030504040204" pitchFamily="34" charset="0"/>
                        </a:rPr>
                        <a:t>UCIe-S</a:t>
                      </a:r>
                      <a:br>
                        <a:rPr lang="en-US" sz="1000" dirty="0">
                          <a:latin typeface="Verdana Pro" panose="020B0604030504040204" pitchFamily="34" charset="0"/>
                        </a:rPr>
                      </a:br>
                      <a:r>
                        <a:rPr lang="en-US" sz="1000" dirty="0">
                          <a:latin typeface="Verdana Pro" panose="020B0604030504040204" pitchFamily="34" charset="0"/>
                        </a:rPr>
                        <a:t>(2D)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33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1000" dirty="0">
                          <a:latin typeface="Verdana Pro" panose="020B0604030504040204" pitchFamily="34" charset="0"/>
                        </a:rPr>
                        <a:t>UCIe-A</a:t>
                      </a:r>
                      <a:br>
                        <a:rPr lang="en-US" sz="1000" dirty="0">
                          <a:latin typeface="Verdana Pro" panose="020B0604030504040204" pitchFamily="34" charset="0"/>
                        </a:rPr>
                      </a:br>
                      <a:r>
                        <a:rPr lang="en-US" sz="1000" dirty="0">
                          <a:latin typeface="Verdana Pro" panose="020B0604030504040204" pitchFamily="34" charset="0"/>
                        </a:rPr>
                        <a:t>(2.5D)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4833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1000" dirty="0">
                          <a:latin typeface="Verdana Pro" panose="020B0604030504040204" pitchFamily="34" charset="0"/>
                        </a:rPr>
                        <a:t>UCIe 3D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8480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1000" dirty="0">
                          <a:latin typeface="Verdana Pro" panose="020B0604030504040204" pitchFamily="34" charset="0"/>
                        </a:rPr>
                        <a:t>Notes</a:t>
                      </a:r>
                    </a:p>
                  </a:txBody>
                  <a:tcPr marL="60960" marR="60960" marT="30480" marB="304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744097"/>
                  </a:ext>
                </a:extLst>
              </a:tr>
              <a:tr h="224791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1000" b="1" dirty="0">
                          <a:latin typeface="Verdana Pro" panose="020B0604030504040204" pitchFamily="34" charset="0"/>
                        </a:rPr>
                        <a:t>Characteristics 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660506"/>
                  </a:ext>
                </a:extLst>
              </a:tr>
              <a:tr h="3879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dirty="0">
                          <a:latin typeface="Verdana Pro" panose="020B0604030504040204" pitchFamily="34" charset="0"/>
                        </a:rPr>
                        <a:t>Data Rate (GT/s)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dirty="0">
                          <a:latin typeface="Verdana Pro" panose="020B0604030504040204" pitchFamily="34" charset="0"/>
                        </a:rPr>
                        <a:t>4, 8, 12, 16, 24, 32, </a:t>
                      </a:r>
                      <a:r>
                        <a:rPr lang="en-US" sz="900" dirty="0">
                          <a:solidFill>
                            <a:schemeClr val="tx1"/>
                          </a:solidFill>
                          <a:latin typeface="Verdana Pro" panose="020B0604030504040204" pitchFamily="34" charset="0"/>
                        </a:rPr>
                        <a:t>48, 64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dirty="0">
                          <a:latin typeface="Verdana Pro" panose="020B0604030504040204" pitchFamily="34" charset="0"/>
                        </a:rPr>
                        <a:t>Up to 4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dirty="0">
                          <a:latin typeface="Verdana Pro" panose="020B0604030504040204" pitchFamily="34" charset="0"/>
                        </a:rPr>
                        <a:t>UCIe 3D SoC Logic frequency – power efficiency is critical </a:t>
                      </a:r>
                    </a:p>
                    <a:p>
                      <a:pPr algn="l"/>
                      <a:r>
                        <a:rPr lang="en-US" sz="900" dirty="0">
                          <a:latin typeface="Verdana Pro" panose="020B0604030504040204" pitchFamily="34" charset="0"/>
                        </a:rPr>
                        <a:t>Added 48G and 64G with UCIe 3.0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25820"/>
                  </a:ext>
                </a:extLst>
              </a:tr>
              <a:tr h="2247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dirty="0">
                          <a:latin typeface="Verdana Pro" panose="020B0604030504040204" pitchFamily="34" charset="0"/>
                        </a:rPr>
                        <a:t>Width (each cluster) 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dirty="0">
                          <a:latin typeface="Verdana Pro" panose="020B0604030504040204" pitchFamily="34" charset="0"/>
                        </a:rPr>
                        <a:t>16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dirty="0">
                          <a:latin typeface="Verdana Pro" panose="020B0604030504040204" pitchFamily="34" charset="0"/>
                        </a:rPr>
                        <a:t>64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dirty="0">
                          <a:latin typeface="Verdana Pro" panose="020B0604030504040204" pitchFamily="34" charset="0"/>
                        </a:rPr>
                        <a:t>80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dirty="0">
                          <a:latin typeface="Verdana Pro" panose="020B0604030504040204" pitchFamily="34" charset="0"/>
                        </a:rPr>
                        <a:t>UCIe 3D: Options or reduced width to 70, 60…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6080488"/>
                  </a:ext>
                </a:extLst>
              </a:tr>
              <a:tr h="5542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dirty="0">
                          <a:latin typeface="Verdana Pro" panose="020B0604030504040204" pitchFamily="34" charset="0"/>
                        </a:rPr>
                        <a:t>Bump Pitch (µm)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dirty="0">
                          <a:latin typeface="Verdana Pro" panose="020B0604030504040204" pitchFamily="34" charset="0"/>
                        </a:rPr>
                        <a:t>100 – 130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dirty="0">
                          <a:latin typeface="Verdana Pro" panose="020B0604030504040204" pitchFamily="34" charset="0"/>
                        </a:rPr>
                        <a:t>25 – 55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sng" dirty="0">
                          <a:latin typeface="Verdana Pro" panose="020B0604030504040204" pitchFamily="34" charset="0"/>
                        </a:rPr>
                        <a:t>&lt; </a:t>
                      </a:r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10 (optimized)</a:t>
                      </a:r>
                    </a:p>
                    <a:p>
                      <a:pPr algn="ctr"/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&gt; 10 – 25 (functional) </a:t>
                      </a:r>
                      <a:endParaRPr lang="en-US" sz="900" u="sng" dirty="0">
                        <a:latin typeface="Verdana Pro" panose="020B0604030504040204" pitchFamily="34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dirty="0">
                          <a:latin typeface="Verdana Pro" panose="020B0604030504040204" pitchFamily="34" charset="0"/>
                        </a:rPr>
                        <a:t>Must scale so that UCIe fits within the bump area, UCIe-3D must support hybrid bonding 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225307"/>
                  </a:ext>
                </a:extLst>
              </a:tr>
              <a:tr h="3879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dirty="0">
                          <a:latin typeface="Verdana Pro" panose="020B0604030504040204" pitchFamily="34" charset="0"/>
                        </a:rPr>
                        <a:t>Channel Reach (mm)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sng" dirty="0">
                          <a:latin typeface="Verdana Pro" panose="020B0604030504040204" pitchFamily="34" charset="0"/>
                        </a:rPr>
                        <a:t>&lt;</a:t>
                      </a:r>
                      <a:r>
                        <a:rPr lang="en-US" sz="900" dirty="0">
                          <a:latin typeface="Verdana Pro" panose="020B0604030504040204" pitchFamily="34" charset="0"/>
                        </a:rPr>
                        <a:t> 25 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sng" dirty="0">
                          <a:latin typeface="Verdana Pro" panose="020B0604030504040204" pitchFamily="34" charset="0"/>
                        </a:rPr>
                        <a:t>&lt;</a:t>
                      </a:r>
                      <a:r>
                        <a:rPr lang="en-US" sz="900" b="0" u="none" dirty="0">
                          <a:latin typeface="Verdana Pro" panose="020B0604030504040204" pitchFamily="34" charset="0"/>
                        </a:rPr>
                        <a:t> 2</a:t>
                      </a:r>
                      <a:endParaRPr lang="en-US" sz="900" u="sng" dirty="0">
                        <a:latin typeface="Verdana Pro" panose="020B0604030504040204" pitchFamily="34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3D vertical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dirty="0">
                          <a:latin typeface="Verdana Pro" panose="020B0604030504040204" pitchFamily="34" charset="0"/>
                        </a:rPr>
                        <a:t>UCIe-3D: FtF, FtB, BtB, multi-stack possible 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3389189"/>
                  </a:ext>
                </a:extLst>
              </a:tr>
              <a:tr h="224791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b="1" dirty="0">
                          <a:latin typeface="Verdana Pro" panose="020B0604030504040204" pitchFamily="34" charset="0"/>
                        </a:rPr>
                        <a:t>Target for Key Metrics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u="none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5318935"/>
                  </a:ext>
                </a:extLst>
              </a:tr>
              <a:tr h="3879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dirty="0">
                          <a:latin typeface="Verdana Pro" panose="020B0604030504040204" pitchFamily="34" charset="0"/>
                        </a:rPr>
                        <a:t>BW Shoreline (GB/s/mm) 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dirty="0">
                          <a:latin typeface="Verdana Pro" panose="020B0604030504040204" pitchFamily="34" charset="0"/>
                        </a:rPr>
                        <a:t>28 – 224 </a:t>
                      </a:r>
                    </a:p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Verdana Pro" panose="020B0604030504040204" pitchFamily="34" charset="0"/>
                        </a:rPr>
                        <a:t>278, 370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165 – 1317 </a:t>
                      </a:r>
                    </a:p>
                    <a:p>
                      <a:pPr algn="ctr"/>
                      <a:r>
                        <a:rPr lang="en-US" sz="900" u="none" dirty="0">
                          <a:solidFill>
                            <a:schemeClr val="tx1"/>
                          </a:solidFill>
                          <a:latin typeface="Verdana Pro" panose="020B0604030504040204" pitchFamily="34" charset="0"/>
                        </a:rPr>
                        <a:t>1975, 2634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N/A (vertical)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dirty="0">
                          <a:latin typeface="Verdana Pro" panose="020B0604030504040204" pitchFamily="34" charset="0"/>
                        </a:rPr>
                        <a:t>For UCIe-S and UCIe-A: First row is for 4-32G. Second Row is for 48G and 64G respectively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911949"/>
                  </a:ext>
                </a:extLst>
              </a:tr>
              <a:tr h="5542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dirty="0">
                          <a:latin typeface="Verdana Pro" panose="020B0604030504040204" pitchFamily="34" charset="0"/>
                        </a:rPr>
                        <a:t>BW Density (GB/s/mm</a:t>
                      </a:r>
                      <a:r>
                        <a:rPr lang="en-US" sz="900" baseline="30000" dirty="0">
                          <a:latin typeface="Verdana Pro" panose="020B0604030504040204" pitchFamily="34" charset="0"/>
                        </a:rPr>
                        <a:t>2</a:t>
                      </a:r>
                      <a:r>
                        <a:rPr lang="en-US" sz="900" baseline="0" dirty="0">
                          <a:latin typeface="Verdana Pro" panose="020B0604030504040204" pitchFamily="34" charset="0"/>
                        </a:rPr>
                        <a:t>)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dirty="0">
                          <a:latin typeface="Verdana Pro" panose="020B0604030504040204" pitchFamily="34" charset="0"/>
                        </a:rPr>
                        <a:t>22 – 125</a:t>
                      </a:r>
                    </a:p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  <a:latin typeface="Verdana Pro" panose="020B0604030504040204" pitchFamily="34" charset="0"/>
                        </a:rPr>
                        <a:t>144,192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188 – 1350</a:t>
                      </a:r>
                    </a:p>
                    <a:p>
                      <a:pPr algn="ctr"/>
                      <a:r>
                        <a:rPr lang="en-US" sz="900" u="none" dirty="0">
                          <a:solidFill>
                            <a:schemeClr val="tx1"/>
                          </a:solidFill>
                          <a:latin typeface="Verdana Pro" panose="020B0604030504040204" pitchFamily="34" charset="0"/>
                        </a:rPr>
                        <a:t>1235, 1646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4,000 (</a:t>
                      </a:r>
                      <a:r>
                        <a:rPr lang="en-US" sz="900" baseline="0" dirty="0">
                          <a:latin typeface="Verdana Pro" panose="020B0604030504040204" pitchFamily="34" charset="0"/>
                        </a:rPr>
                        <a:t>9</a:t>
                      </a:r>
                      <a:r>
                        <a:rPr lang="en-US" sz="900" dirty="0">
                          <a:latin typeface="Verdana Pro" panose="020B0604030504040204" pitchFamily="34" charset="0"/>
                        </a:rPr>
                        <a:t>µm) </a:t>
                      </a:r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– </a:t>
                      </a:r>
                      <a:r>
                        <a:rPr lang="en-US" sz="900" dirty="0">
                          <a:latin typeface="Verdana Pro" panose="020B0604030504040204" pitchFamily="34" charset="0"/>
                        </a:rPr>
                        <a:t>300,000 (</a:t>
                      </a:r>
                      <a:r>
                        <a:rPr lang="en-US" sz="900" baseline="0" dirty="0">
                          <a:latin typeface="Verdana Pro" panose="020B0604030504040204" pitchFamily="34" charset="0"/>
                        </a:rPr>
                        <a:t>1</a:t>
                      </a:r>
                      <a:r>
                        <a:rPr lang="en-US" sz="900" dirty="0">
                          <a:latin typeface="Verdana Pro" panose="020B0604030504040204" pitchFamily="34" charset="0"/>
                        </a:rPr>
                        <a:t>µm)</a:t>
                      </a:r>
                    </a:p>
                    <a:p>
                      <a:pPr algn="ctr"/>
                      <a:endParaRPr lang="en-US" sz="900" u="none" dirty="0">
                        <a:latin typeface="Verdana Pro" panose="020B0604030504040204" pitchFamily="34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Verdana Pro" panose="020B0604030504040204" pitchFamily="34" charset="0"/>
                        </a:rPr>
                        <a:t>For UCIe-S and UCIe-A: First row is for 4-32G. Second Row is for 48G and 64G respectively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61549"/>
                  </a:ext>
                </a:extLst>
              </a:tr>
              <a:tr h="5542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baseline="0" dirty="0">
                          <a:latin typeface="Verdana Pro" panose="020B0604030504040204" pitchFamily="34" charset="0"/>
                        </a:rPr>
                        <a:t>Power Efficiency Target (pJ/b)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dirty="0">
                          <a:latin typeface="Verdana Pro" panose="020B0604030504040204" pitchFamily="34" charset="0"/>
                        </a:rPr>
                        <a:t>0.5 (&lt;=16 G)</a:t>
                      </a:r>
                    </a:p>
                    <a:p>
                      <a:pPr algn="ctr"/>
                      <a:r>
                        <a:rPr lang="en-US" sz="900" dirty="0">
                          <a:latin typeface="Verdana Pro" panose="020B0604030504040204" pitchFamily="34" charset="0"/>
                        </a:rPr>
                        <a:t>0.75 (&gt;= 32 G)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0.25 (&lt;=12G) 0.3 (16G – 32G)</a:t>
                      </a:r>
                    </a:p>
                    <a:p>
                      <a:pPr algn="ctr"/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0.5 (&gt;= 48G)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&lt;0.05 at 9</a:t>
                      </a:r>
                      <a:r>
                        <a:rPr lang="en-US" sz="900" dirty="0">
                          <a:latin typeface="Verdana Pro" panose="020B0604030504040204" pitchFamily="34" charset="0"/>
                        </a:rPr>
                        <a:t>µm -&gt; </a:t>
                      </a:r>
                    </a:p>
                    <a:p>
                      <a:pPr algn="ctr"/>
                      <a:r>
                        <a:rPr lang="en-US" sz="900" dirty="0">
                          <a:latin typeface="Verdana Pro" panose="020B0604030504040204" pitchFamily="34" charset="0"/>
                        </a:rPr>
                        <a:t>0.01 at 1 µm</a:t>
                      </a:r>
                      <a:endParaRPr lang="en-US" sz="900" u="none" dirty="0">
                        <a:latin typeface="Verdana Pro" panose="020B0604030504040204" pitchFamily="34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endParaRPr lang="en-US" sz="900" baseline="0" dirty="0">
                        <a:latin typeface="Verdana Pro" panose="020B0604030504040204" pitchFamily="34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207831"/>
                  </a:ext>
                </a:extLst>
              </a:tr>
              <a:tr h="2247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baseline="0" dirty="0">
                          <a:latin typeface="Verdana Pro" panose="020B0604030504040204" pitchFamily="34" charset="0"/>
                        </a:rPr>
                        <a:t>Low-Power Entry/Exit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dirty="0">
                          <a:latin typeface="Verdana Pro" panose="020B0604030504040204" pitchFamily="34" charset="0"/>
                        </a:rPr>
                        <a:t>0.5nS </a:t>
                      </a:r>
                      <a:r>
                        <a:rPr lang="en-US" sz="900" u="sng" dirty="0">
                          <a:latin typeface="Verdana Pro" panose="020B0604030504040204" pitchFamily="34" charset="0"/>
                        </a:rPr>
                        <a:t>&lt; </a:t>
                      </a:r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16G, 0.5-1nS </a:t>
                      </a:r>
                      <a:r>
                        <a:rPr lang="en-US" sz="900" u="sng" dirty="0">
                          <a:latin typeface="Verdana Pro" panose="020B0604030504040204" pitchFamily="34" charset="0"/>
                        </a:rPr>
                        <a:t>&gt; </a:t>
                      </a:r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24G</a:t>
                      </a:r>
                      <a:endParaRPr lang="en-US" sz="900" dirty="0">
                        <a:latin typeface="Verdana Pro" panose="020B0604030504040204" pitchFamily="34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0nS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baseline="0" dirty="0">
                          <a:latin typeface="Verdana Pro" panose="020B0604030504040204" pitchFamily="34" charset="0"/>
                        </a:rPr>
                        <a:t>No preamble or post-amble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6990864"/>
                  </a:ext>
                </a:extLst>
              </a:tr>
              <a:tr h="2247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baseline="0" dirty="0">
                          <a:latin typeface="Verdana Pro" panose="020B0604030504040204" pitchFamily="34" charset="0"/>
                        </a:rPr>
                        <a:t>Reliability (FIT)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0 &lt; FIT (Failure in Time) &lt;&lt; 1</a:t>
                      </a:r>
                      <a:endParaRPr lang="en-US" sz="900" dirty="0">
                        <a:latin typeface="Verdana Pro" panose="020B0604030504040204" pitchFamily="34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0 &lt; FIT &lt;&lt; 1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endParaRPr lang="en-US" sz="900" baseline="0" dirty="0">
                        <a:latin typeface="Verdana Pro" panose="020B0604030504040204" pitchFamily="34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620786"/>
                  </a:ext>
                </a:extLst>
              </a:tr>
              <a:tr h="3879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baseline="0" dirty="0">
                          <a:latin typeface="Verdana Pro" panose="020B0604030504040204" pitchFamily="34" charset="0"/>
                        </a:rPr>
                        <a:t>ESD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30V CDM</a:t>
                      </a:r>
                      <a:endParaRPr lang="en-US" sz="900" dirty="0">
                        <a:latin typeface="Verdana Pro" panose="020B0604030504040204" pitchFamily="34" charset="0"/>
                      </a:endParaRP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ctr"/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5V CDM → </a:t>
                      </a:r>
                      <a:r>
                        <a:rPr lang="en-US" sz="900" u="sng" dirty="0">
                          <a:latin typeface="Verdana Pro" panose="020B0604030504040204" pitchFamily="34" charset="0"/>
                        </a:rPr>
                        <a:t>&lt; </a:t>
                      </a:r>
                      <a:r>
                        <a:rPr lang="en-US" sz="900" u="none" dirty="0">
                          <a:latin typeface="Verdana Pro" panose="020B0604030504040204" pitchFamily="34" charset="0"/>
                        </a:rPr>
                        <a:t>3V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  <a:ea typeface="Helvetica Neue"/>
                          <a:cs typeface="Helvetica Neue"/>
                        </a:defRPr>
                      </a:lvl9pPr>
                    </a:lstStyle>
                    <a:p>
                      <a:pPr algn="l"/>
                      <a:r>
                        <a:rPr lang="en-US" sz="900" baseline="0" dirty="0">
                          <a:latin typeface="Verdana Pro" panose="020B0604030504040204" pitchFamily="34" charset="0"/>
                        </a:rPr>
                        <a:t>UCIe-3D: 5V CDM at introduction, no ESD for W2W hybrid bonding possible </a:t>
                      </a:r>
                    </a:p>
                  </a:txBody>
                  <a:tcPr marL="60960" marR="60960" marT="30480" marB="3048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055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6939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1C645-D581-10BB-7627-C907CDA2A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>
            <a:extLst>
              <a:ext uri="{FF2B5EF4-FFF2-40B4-BE49-F238E27FC236}">
                <a16:creationId xmlns:a16="http://schemas.microsoft.com/office/drawing/2014/main" id="{62BBB8F4-D591-C447-383F-EF7704F5A497}"/>
              </a:ext>
            </a:extLst>
          </p:cNvPr>
          <p:cNvSpPr/>
          <p:nvPr/>
        </p:nvSpPr>
        <p:spPr>
          <a:xfrm>
            <a:off x="228600" y="1524000"/>
            <a:ext cx="11765280" cy="4145280"/>
          </a:xfrm>
          <a:prstGeom prst="rect">
            <a:avLst/>
          </a:prstGeom>
          <a:solidFill>
            <a:srgbClr val="0D0D0D">
              <a:alpha val="10196"/>
            </a:srgb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CEF7C1-2272-1C82-858A-6447A6CD9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UCIe Workgroups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527D5-21CF-9178-600E-096806DF4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F23B8-18BE-485D-BC2C-61110F510EA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03" name="Shape 6">
            <a:extLst>
              <a:ext uri="{FF2B5EF4-FFF2-40B4-BE49-F238E27FC236}">
                <a16:creationId xmlns:a16="http://schemas.microsoft.com/office/drawing/2014/main" id="{40935CD9-C8B3-A30C-2797-56E065CA4628}"/>
              </a:ext>
            </a:extLst>
          </p:cNvPr>
          <p:cNvSpPr/>
          <p:nvPr/>
        </p:nvSpPr>
        <p:spPr>
          <a:xfrm>
            <a:off x="521208" y="1912620"/>
            <a:ext cx="3529584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22860" dist="50800" dir="2700000" algn="bl" rotWithShape="0">
              <a:srgbClr val="DCE7F2">
                <a:alpha val="3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4" name="Shape 7">
            <a:extLst>
              <a:ext uri="{FF2B5EF4-FFF2-40B4-BE49-F238E27FC236}">
                <a16:creationId xmlns:a16="http://schemas.microsoft.com/office/drawing/2014/main" id="{F62AE7DE-F0DB-F216-21CD-900B30E8A783}"/>
              </a:ext>
            </a:extLst>
          </p:cNvPr>
          <p:cNvSpPr/>
          <p:nvPr/>
        </p:nvSpPr>
        <p:spPr>
          <a:xfrm>
            <a:off x="521208" y="1912620"/>
            <a:ext cx="82296" cy="1591056"/>
          </a:xfrm>
          <a:prstGeom prst="rect">
            <a:avLst/>
          </a:prstGeom>
          <a:solidFill>
            <a:srgbClr val="0B78BD"/>
          </a:solidFill>
          <a:ln w="12700">
            <a:solidFill>
              <a:srgbClr val="0B78B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5" name="Shape 8">
            <a:extLst>
              <a:ext uri="{FF2B5EF4-FFF2-40B4-BE49-F238E27FC236}">
                <a16:creationId xmlns:a16="http://schemas.microsoft.com/office/drawing/2014/main" id="{F2D3803F-0689-C114-D992-E7C8325DCDB7}"/>
              </a:ext>
            </a:extLst>
          </p:cNvPr>
          <p:cNvSpPr/>
          <p:nvPr/>
        </p:nvSpPr>
        <p:spPr>
          <a:xfrm>
            <a:off x="758952" y="2095500"/>
            <a:ext cx="512064" cy="512064"/>
          </a:xfrm>
          <a:prstGeom prst="ellipse">
            <a:avLst/>
          </a:prstGeom>
          <a:solidFill>
            <a:srgbClr val="E6F4FE"/>
          </a:solidFill>
          <a:ln w="12700">
            <a:solidFill>
              <a:srgbClr val="E6F4F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07" name="Image 0">
            <a:extLst>
              <a:ext uri="{FF2B5EF4-FFF2-40B4-BE49-F238E27FC236}">
                <a16:creationId xmlns:a16="http://schemas.microsoft.com/office/drawing/2014/main" id="{D90425E2-E89D-DA6C-B3F4-6A2225FDA5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0392" y="2186940"/>
            <a:ext cx="329184" cy="329184"/>
          </a:xfrm>
          <a:prstGeom prst="rect">
            <a:avLst/>
          </a:prstGeom>
        </p:spPr>
      </p:pic>
      <p:sp>
        <p:nvSpPr>
          <p:cNvPr id="109" name="Text 9">
            <a:extLst>
              <a:ext uri="{FF2B5EF4-FFF2-40B4-BE49-F238E27FC236}">
                <a16:creationId xmlns:a16="http://schemas.microsoft.com/office/drawing/2014/main" id="{D3A10ED4-AB2B-9B14-136C-C8A8DA21BFBE}"/>
              </a:ext>
            </a:extLst>
          </p:cNvPr>
          <p:cNvSpPr/>
          <p:nvPr/>
        </p:nvSpPr>
        <p:spPr>
          <a:xfrm>
            <a:off x="1380744" y="2095500"/>
            <a:ext cx="257860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680" b="1" dirty="0">
                <a:solidFill>
                  <a:srgbClr val="0B78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CONNECT</a:t>
            </a:r>
            <a:endParaRPr lang="en-US" sz="680" dirty="0"/>
          </a:p>
        </p:txBody>
      </p:sp>
      <p:sp>
        <p:nvSpPr>
          <p:cNvPr id="111" name="Text 10">
            <a:extLst>
              <a:ext uri="{FF2B5EF4-FFF2-40B4-BE49-F238E27FC236}">
                <a16:creationId xmlns:a16="http://schemas.microsoft.com/office/drawing/2014/main" id="{31D60E91-36EE-74C9-D4B5-A478F04342BE}"/>
              </a:ext>
            </a:extLst>
          </p:cNvPr>
          <p:cNvSpPr/>
          <p:nvPr/>
        </p:nvSpPr>
        <p:spPr>
          <a:xfrm>
            <a:off x="1380744" y="2250948"/>
            <a:ext cx="257860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 &amp; Physical</a:t>
            </a:r>
            <a:endParaRPr lang="en-US" sz="1270" dirty="0"/>
          </a:p>
        </p:txBody>
      </p:sp>
      <p:sp>
        <p:nvSpPr>
          <p:cNvPr id="113" name="Text 11">
            <a:extLst>
              <a:ext uri="{FF2B5EF4-FFF2-40B4-BE49-F238E27FC236}">
                <a16:creationId xmlns:a16="http://schemas.microsoft.com/office/drawing/2014/main" id="{A95EB13A-BE27-8515-48DB-F79EC078684F}"/>
              </a:ext>
            </a:extLst>
          </p:cNvPr>
          <p:cNvSpPr/>
          <p:nvPr/>
        </p:nvSpPr>
        <p:spPr>
          <a:xfrm>
            <a:off x="1380744" y="2534412"/>
            <a:ext cx="25694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3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die-to-die interface</a:t>
            </a:r>
            <a:endParaRPr lang="en-US" sz="830" dirty="0"/>
          </a:p>
        </p:txBody>
      </p:sp>
      <p:sp>
        <p:nvSpPr>
          <p:cNvPr id="115" name="Text 12">
            <a:extLst>
              <a:ext uri="{FF2B5EF4-FFF2-40B4-BE49-F238E27FC236}">
                <a16:creationId xmlns:a16="http://schemas.microsoft.com/office/drawing/2014/main" id="{9E461F4E-30ED-B490-5ED0-CCEF17A8DD34}"/>
              </a:ext>
            </a:extLst>
          </p:cNvPr>
          <p:cNvSpPr/>
          <p:nvPr/>
        </p:nvSpPr>
        <p:spPr>
          <a:xfrm>
            <a:off x="832104" y="2845308"/>
            <a:ext cx="309067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Signaling, link behavior, data rates</a:t>
            </a:r>
            <a:endParaRPr lang="en-US" sz="760" dirty="0"/>
          </a:p>
          <a:p>
            <a:pPr algn="l"/>
            <a:r>
              <a:rPr lang="en-US" sz="7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2D, 2.5D, and 3D package evolution</a:t>
            </a:r>
            <a:endParaRPr lang="en-US" sz="760" dirty="0"/>
          </a:p>
        </p:txBody>
      </p:sp>
      <p:sp>
        <p:nvSpPr>
          <p:cNvPr id="117" name="Shape 13">
            <a:extLst>
              <a:ext uri="{FF2B5EF4-FFF2-40B4-BE49-F238E27FC236}">
                <a16:creationId xmlns:a16="http://schemas.microsoft.com/office/drawing/2014/main" id="{84BEC59A-DF5F-FC33-90DC-FEAAF5422DB2}"/>
              </a:ext>
            </a:extLst>
          </p:cNvPr>
          <p:cNvSpPr/>
          <p:nvPr/>
        </p:nvSpPr>
        <p:spPr>
          <a:xfrm>
            <a:off x="4361688" y="1912620"/>
            <a:ext cx="3529584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22860" dist="50800" dir="2700000" algn="bl" rotWithShape="0">
              <a:srgbClr val="DCE7F2">
                <a:alpha val="3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9" name="Shape 14">
            <a:extLst>
              <a:ext uri="{FF2B5EF4-FFF2-40B4-BE49-F238E27FC236}">
                <a16:creationId xmlns:a16="http://schemas.microsoft.com/office/drawing/2014/main" id="{D4D9A385-C4AB-EEED-0103-C6805450B5FB}"/>
              </a:ext>
            </a:extLst>
          </p:cNvPr>
          <p:cNvSpPr/>
          <p:nvPr/>
        </p:nvSpPr>
        <p:spPr>
          <a:xfrm>
            <a:off x="4361688" y="1912620"/>
            <a:ext cx="82296" cy="159105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0" name="Shape 15">
            <a:extLst>
              <a:ext uri="{FF2B5EF4-FFF2-40B4-BE49-F238E27FC236}">
                <a16:creationId xmlns:a16="http://schemas.microsoft.com/office/drawing/2014/main" id="{71745271-E74B-D999-892A-61F1764F9C40}"/>
              </a:ext>
            </a:extLst>
          </p:cNvPr>
          <p:cNvSpPr/>
          <p:nvPr/>
        </p:nvSpPr>
        <p:spPr>
          <a:xfrm>
            <a:off x="4599432" y="2095500"/>
            <a:ext cx="512064" cy="512064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22" name="Image 1">
            <a:extLst>
              <a:ext uri="{FF2B5EF4-FFF2-40B4-BE49-F238E27FC236}">
                <a16:creationId xmlns:a16="http://schemas.microsoft.com/office/drawing/2014/main" id="{483E83B9-4E11-83CA-B19F-21ED116F9C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0872" y="2186940"/>
            <a:ext cx="329184" cy="329184"/>
          </a:xfrm>
          <a:prstGeom prst="rect">
            <a:avLst/>
          </a:prstGeom>
        </p:spPr>
      </p:pic>
      <p:sp>
        <p:nvSpPr>
          <p:cNvPr id="123" name="Text 16">
            <a:extLst>
              <a:ext uri="{FF2B5EF4-FFF2-40B4-BE49-F238E27FC236}">
                <a16:creationId xmlns:a16="http://schemas.microsoft.com/office/drawing/2014/main" id="{D78C8998-A8F0-CA2C-D7E1-9001B79EEF30}"/>
              </a:ext>
            </a:extLst>
          </p:cNvPr>
          <p:cNvSpPr/>
          <p:nvPr/>
        </p:nvSpPr>
        <p:spPr>
          <a:xfrm>
            <a:off x="5221224" y="2095500"/>
            <a:ext cx="257860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680" b="1" dirty="0">
                <a:solidFill>
                  <a:srgbClr val="4F46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COMMUNICATE</a:t>
            </a:r>
            <a:endParaRPr lang="en-US" sz="680" dirty="0"/>
          </a:p>
        </p:txBody>
      </p:sp>
      <p:sp>
        <p:nvSpPr>
          <p:cNvPr id="124" name="Text 17">
            <a:extLst>
              <a:ext uri="{FF2B5EF4-FFF2-40B4-BE49-F238E27FC236}">
                <a16:creationId xmlns:a16="http://schemas.microsoft.com/office/drawing/2014/main" id="{19119925-39D3-98F5-EAEA-5EA18004B81A}"/>
              </a:ext>
            </a:extLst>
          </p:cNvPr>
          <p:cNvSpPr/>
          <p:nvPr/>
        </p:nvSpPr>
        <p:spPr>
          <a:xfrm>
            <a:off x="5221224" y="2250948"/>
            <a:ext cx="257860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&amp; Logical</a:t>
            </a:r>
            <a:endParaRPr lang="en-US" sz="1270" dirty="0"/>
          </a:p>
        </p:txBody>
      </p:sp>
      <p:sp>
        <p:nvSpPr>
          <p:cNvPr id="125" name="Text 18">
            <a:extLst>
              <a:ext uri="{FF2B5EF4-FFF2-40B4-BE49-F238E27FC236}">
                <a16:creationId xmlns:a16="http://schemas.microsoft.com/office/drawing/2014/main" id="{66CF2E2A-2755-3C4E-CD33-FF3A5AB6C9CB}"/>
              </a:ext>
            </a:extLst>
          </p:cNvPr>
          <p:cNvSpPr/>
          <p:nvPr/>
        </p:nvSpPr>
        <p:spPr>
          <a:xfrm>
            <a:off x="5221224" y="2534412"/>
            <a:ext cx="25694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3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communication model</a:t>
            </a:r>
            <a:endParaRPr lang="en-US" sz="830" dirty="0"/>
          </a:p>
        </p:txBody>
      </p:sp>
      <p:sp>
        <p:nvSpPr>
          <p:cNvPr id="126" name="Text 19">
            <a:extLst>
              <a:ext uri="{FF2B5EF4-FFF2-40B4-BE49-F238E27FC236}">
                <a16:creationId xmlns:a16="http://schemas.microsoft.com/office/drawing/2014/main" id="{4B75C4FD-1D01-383F-4BB7-E6BFB8E647FD}"/>
              </a:ext>
            </a:extLst>
          </p:cNvPr>
          <p:cNvSpPr/>
          <p:nvPr/>
        </p:nvSpPr>
        <p:spPr>
          <a:xfrm>
            <a:off x="4672584" y="2845308"/>
            <a:ext cx="309067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architecture and transport</a:t>
            </a:r>
            <a:endParaRPr lang="en-US" sz="760" dirty="0"/>
          </a:p>
          <a:p>
            <a:pPr algn="l"/>
            <a:r>
              <a:rPr lang="en-US" sz="7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Flits, muxing, reliability, protocols such as PCIe/CXL/streaming</a:t>
            </a:r>
            <a:endParaRPr lang="en-US" sz="760" dirty="0"/>
          </a:p>
        </p:txBody>
      </p:sp>
      <p:sp>
        <p:nvSpPr>
          <p:cNvPr id="127" name="Shape 20">
            <a:extLst>
              <a:ext uri="{FF2B5EF4-FFF2-40B4-BE49-F238E27FC236}">
                <a16:creationId xmlns:a16="http://schemas.microsoft.com/office/drawing/2014/main" id="{7D060561-788F-B781-F11C-A4323324C158}"/>
              </a:ext>
            </a:extLst>
          </p:cNvPr>
          <p:cNvSpPr/>
          <p:nvPr/>
        </p:nvSpPr>
        <p:spPr>
          <a:xfrm>
            <a:off x="8202168" y="1912620"/>
            <a:ext cx="3529584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22860" dist="50800" dir="2700000" algn="bl" rotWithShape="0">
              <a:srgbClr val="DCE7F2">
                <a:alpha val="3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8" name="Shape 21">
            <a:extLst>
              <a:ext uri="{FF2B5EF4-FFF2-40B4-BE49-F238E27FC236}">
                <a16:creationId xmlns:a16="http://schemas.microsoft.com/office/drawing/2014/main" id="{B44C4B75-0114-9275-A8EB-7F2A0501B9DC}"/>
              </a:ext>
            </a:extLst>
          </p:cNvPr>
          <p:cNvSpPr/>
          <p:nvPr/>
        </p:nvSpPr>
        <p:spPr>
          <a:xfrm>
            <a:off x="8202168" y="1912620"/>
            <a:ext cx="82296" cy="15910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9" name="Shape 22">
            <a:extLst>
              <a:ext uri="{FF2B5EF4-FFF2-40B4-BE49-F238E27FC236}">
                <a16:creationId xmlns:a16="http://schemas.microsoft.com/office/drawing/2014/main" id="{DB8578B9-48F8-E357-F487-54D5CD3B0FCF}"/>
              </a:ext>
            </a:extLst>
          </p:cNvPr>
          <p:cNvSpPr/>
          <p:nvPr/>
        </p:nvSpPr>
        <p:spPr>
          <a:xfrm>
            <a:off x="8439912" y="2095500"/>
            <a:ext cx="512064" cy="512064"/>
          </a:xfrm>
          <a:prstGeom prst="ellipse">
            <a:avLst/>
          </a:prstGeom>
          <a:solidFill>
            <a:srgbClr val="E8F7F0"/>
          </a:solidFill>
          <a:ln w="12700">
            <a:solidFill>
              <a:srgbClr val="E8F7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30" name="Image 2">
            <a:extLst>
              <a:ext uri="{FF2B5EF4-FFF2-40B4-BE49-F238E27FC236}">
                <a16:creationId xmlns:a16="http://schemas.microsoft.com/office/drawing/2014/main" id="{82067E96-246E-3B89-0929-102D7B6A8E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1352" y="2186940"/>
            <a:ext cx="329184" cy="329184"/>
          </a:xfrm>
          <a:prstGeom prst="rect">
            <a:avLst/>
          </a:prstGeom>
        </p:spPr>
      </p:pic>
      <p:sp>
        <p:nvSpPr>
          <p:cNvPr id="131" name="Text 23">
            <a:extLst>
              <a:ext uri="{FF2B5EF4-FFF2-40B4-BE49-F238E27FC236}">
                <a16:creationId xmlns:a16="http://schemas.microsoft.com/office/drawing/2014/main" id="{8097F65C-342E-2412-8F6E-2ACAD933D83A}"/>
              </a:ext>
            </a:extLst>
          </p:cNvPr>
          <p:cNvSpPr/>
          <p:nvPr/>
        </p:nvSpPr>
        <p:spPr>
          <a:xfrm>
            <a:off x="9061704" y="2095500"/>
            <a:ext cx="257860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68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INTEROPERATE</a:t>
            </a:r>
            <a:endParaRPr lang="en-US" sz="680" dirty="0"/>
          </a:p>
        </p:txBody>
      </p:sp>
      <p:sp>
        <p:nvSpPr>
          <p:cNvPr id="132" name="Text 24">
            <a:extLst>
              <a:ext uri="{FF2B5EF4-FFF2-40B4-BE49-F238E27FC236}">
                <a16:creationId xmlns:a16="http://schemas.microsoft.com/office/drawing/2014/main" id="{7FD216BF-4C01-09F2-0A2E-53F804378257}"/>
              </a:ext>
            </a:extLst>
          </p:cNvPr>
          <p:cNvSpPr/>
          <p:nvPr/>
        </p:nvSpPr>
        <p:spPr>
          <a:xfrm>
            <a:off x="9061704" y="2250948"/>
            <a:ext cx="257860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Factor &amp; Compliance</a:t>
            </a:r>
            <a:endParaRPr lang="en-US" sz="1270" dirty="0"/>
          </a:p>
        </p:txBody>
      </p:sp>
      <p:sp>
        <p:nvSpPr>
          <p:cNvPr id="133" name="Text 25">
            <a:extLst>
              <a:ext uri="{FF2B5EF4-FFF2-40B4-BE49-F238E27FC236}">
                <a16:creationId xmlns:a16="http://schemas.microsoft.com/office/drawing/2014/main" id="{FDB2517D-60C3-66E3-FC12-33E6ACCA40E6}"/>
              </a:ext>
            </a:extLst>
          </p:cNvPr>
          <p:cNvSpPr/>
          <p:nvPr/>
        </p:nvSpPr>
        <p:spPr>
          <a:xfrm>
            <a:off x="9061704" y="2534412"/>
            <a:ext cx="25694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3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Multi-vendor interoperability</a:t>
            </a:r>
            <a:endParaRPr lang="en-US" sz="830" dirty="0"/>
          </a:p>
        </p:txBody>
      </p:sp>
      <p:sp>
        <p:nvSpPr>
          <p:cNvPr id="134" name="Text 26">
            <a:extLst>
              <a:ext uri="{FF2B5EF4-FFF2-40B4-BE49-F238E27FC236}">
                <a16:creationId xmlns:a16="http://schemas.microsoft.com/office/drawing/2014/main" id="{204D2FF4-B1EB-F269-4203-A770C321E8FA}"/>
              </a:ext>
            </a:extLst>
          </p:cNvPr>
          <p:cNvSpPr/>
          <p:nvPr/>
        </p:nvSpPr>
        <p:spPr>
          <a:xfrm>
            <a:off x="8513064" y="2845308"/>
            <a:ext cx="309067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Bump map definitions and packaging requirements</a:t>
            </a:r>
            <a:endParaRPr lang="en-US" sz="760" dirty="0"/>
          </a:p>
          <a:p>
            <a:pPr algn="l"/>
            <a:r>
              <a:rPr lang="en-US" sz="7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methodology and test framework</a:t>
            </a:r>
            <a:endParaRPr lang="en-US" sz="760" dirty="0"/>
          </a:p>
        </p:txBody>
      </p:sp>
      <p:sp>
        <p:nvSpPr>
          <p:cNvPr id="135" name="Shape 27">
            <a:extLst>
              <a:ext uri="{FF2B5EF4-FFF2-40B4-BE49-F238E27FC236}">
                <a16:creationId xmlns:a16="http://schemas.microsoft.com/office/drawing/2014/main" id="{9EDC918B-674D-006C-A3D4-0A39E199C452}"/>
              </a:ext>
            </a:extLst>
          </p:cNvPr>
          <p:cNvSpPr/>
          <p:nvPr/>
        </p:nvSpPr>
        <p:spPr>
          <a:xfrm>
            <a:off x="521208" y="3704844"/>
            <a:ext cx="3529584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22860" dist="50800" dir="2700000" algn="bl" rotWithShape="0">
              <a:srgbClr val="DCE7F2">
                <a:alpha val="3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6" name="Shape 28">
            <a:extLst>
              <a:ext uri="{FF2B5EF4-FFF2-40B4-BE49-F238E27FC236}">
                <a16:creationId xmlns:a16="http://schemas.microsoft.com/office/drawing/2014/main" id="{4F260738-DE0A-0116-386C-213EEA4C717F}"/>
              </a:ext>
            </a:extLst>
          </p:cNvPr>
          <p:cNvSpPr/>
          <p:nvPr/>
        </p:nvSpPr>
        <p:spPr>
          <a:xfrm>
            <a:off x="521208" y="3704844"/>
            <a:ext cx="82296" cy="159105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7" name="Shape 29">
            <a:extLst>
              <a:ext uri="{FF2B5EF4-FFF2-40B4-BE49-F238E27FC236}">
                <a16:creationId xmlns:a16="http://schemas.microsoft.com/office/drawing/2014/main" id="{83D74FCA-3BE9-70A1-5017-FEB7E57F580A}"/>
              </a:ext>
            </a:extLst>
          </p:cNvPr>
          <p:cNvSpPr/>
          <p:nvPr/>
        </p:nvSpPr>
        <p:spPr>
          <a:xfrm>
            <a:off x="758952" y="3887724"/>
            <a:ext cx="512064" cy="512064"/>
          </a:xfrm>
          <a:prstGeom prst="ellipse">
            <a:avLst/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38" name="Image 3">
            <a:extLst>
              <a:ext uri="{FF2B5EF4-FFF2-40B4-BE49-F238E27FC236}">
                <a16:creationId xmlns:a16="http://schemas.microsoft.com/office/drawing/2014/main" id="{47124E7C-C21E-8430-88F7-37B72D1497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392" y="3979164"/>
            <a:ext cx="329184" cy="329184"/>
          </a:xfrm>
          <a:prstGeom prst="rect">
            <a:avLst/>
          </a:prstGeom>
        </p:spPr>
      </p:pic>
      <p:sp>
        <p:nvSpPr>
          <p:cNvPr id="139" name="Text 30">
            <a:extLst>
              <a:ext uri="{FF2B5EF4-FFF2-40B4-BE49-F238E27FC236}">
                <a16:creationId xmlns:a16="http://schemas.microsoft.com/office/drawing/2014/main" id="{0177184F-20F5-3C3A-8263-1C369CD98129}"/>
              </a:ext>
            </a:extLst>
          </p:cNvPr>
          <p:cNvSpPr/>
          <p:nvPr/>
        </p:nvSpPr>
        <p:spPr>
          <a:xfrm>
            <a:off x="1380744" y="3887724"/>
            <a:ext cx="257860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680" b="1" dirty="0">
                <a:solidFill>
                  <a:srgbClr val="B4530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SYSTEM ARCHITECTURE</a:t>
            </a:r>
            <a:endParaRPr lang="en-US" sz="680" dirty="0"/>
          </a:p>
        </p:txBody>
      </p:sp>
      <p:sp>
        <p:nvSpPr>
          <p:cNvPr id="140" name="Text 31">
            <a:extLst>
              <a:ext uri="{FF2B5EF4-FFF2-40B4-BE49-F238E27FC236}">
                <a16:creationId xmlns:a16="http://schemas.microsoft.com/office/drawing/2014/main" id="{FD5B224F-0781-AAA4-4689-90CAB6A14050}"/>
              </a:ext>
            </a:extLst>
          </p:cNvPr>
          <p:cNvSpPr/>
          <p:nvPr/>
        </p:nvSpPr>
        <p:spPr>
          <a:xfrm>
            <a:off x="1380744" y="4043172"/>
            <a:ext cx="257860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Manageability &amp; Security</a:t>
            </a:r>
            <a:endParaRPr lang="en-US" sz="1270" dirty="0"/>
          </a:p>
        </p:txBody>
      </p:sp>
      <p:sp>
        <p:nvSpPr>
          <p:cNvPr id="141" name="Text 32">
            <a:extLst>
              <a:ext uri="{FF2B5EF4-FFF2-40B4-BE49-F238E27FC236}">
                <a16:creationId xmlns:a16="http://schemas.microsoft.com/office/drawing/2014/main" id="{86975243-A50F-F55E-21D7-89372AA466AC}"/>
              </a:ext>
            </a:extLst>
          </p:cNvPr>
          <p:cNvSpPr/>
          <p:nvPr/>
        </p:nvSpPr>
        <p:spPr>
          <a:xfrm>
            <a:off x="1380744" y="4326636"/>
            <a:ext cx="25694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3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Multi-chiplet system design</a:t>
            </a:r>
            <a:endParaRPr lang="en-US" sz="830" dirty="0"/>
          </a:p>
        </p:txBody>
      </p:sp>
      <p:sp>
        <p:nvSpPr>
          <p:cNvPr id="142" name="Text 33">
            <a:extLst>
              <a:ext uri="{FF2B5EF4-FFF2-40B4-BE49-F238E27FC236}">
                <a16:creationId xmlns:a16="http://schemas.microsoft.com/office/drawing/2014/main" id="{14CB9F58-7F27-F8E8-106B-5398E1C507B3}"/>
              </a:ext>
            </a:extLst>
          </p:cNvPr>
          <p:cNvSpPr/>
          <p:nvPr/>
        </p:nvSpPr>
        <p:spPr>
          <a:xfrm>
            <a:off x="832104" y="4637532"/>
            <a:ext cx="309067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configuration, telemetry, events, health</a:t>
            </a:r>
            <a:endParaRPr lang="en-US" sz="760" dirty="0"/>
          </a:p>
          <a:p>
            <a:pPr algn="l"/>
            <a:r>
              <a:rPr lang="en-US" sz="7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provisioning and communication</a:t>
            </a:r>
          </a:p>
          <a:p>
            <a:pPr algn="l"/>
            <a:r>
              <a:rPr lang="en-US" sz="7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Firmware activation, lifecycle management, power management</a:t>
            </a:r>
            <a:endParaRPr lang="en-US" sz="760" dirty="0"/>
          </a:p>
        </p:txBody>
      </p:sp>
      <p:sp>
        <p:nvSpPr>
          <p:cNvPr id="143" name="Shape 34">
            <a:extLst>
              <a:ext uri="{FF2B5EF4-FFF2-40B4-BE49-F238E27FC236}">
                <a16:creationId xmlns:a16="http://schemas.microsoft.com/office/drawing/2014/main" id="{C6FF1314-01A2-C036-4872-0933639C54F8}"/>
              </a:ext>
            </a:extLst>
          </p:cNvPr>
          <p:cNvSpPr/>
          <p:nvPr/>
        </p:nvSpPr>
        <p:spPr>
          <a:xfrm>
            <a:off x="4361688" y="3704844"/>
            <a:ext cx="3529584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22860" dist="50800" dir="2700000" algn="bl" rotWithShape="0">
              <a:srgbClr val="DCE7F2">
                <a:alpha val="3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4" name="Shape 35">
            <a:extLst>
              <a:ext uri="{FF2B5EF4-FFF2-40B4-BE49-F238E27FC236}">
                <a16:creationId xmlns:a16="http://schemas.microsoft.com/office/drawing/2014/main" id="{4476C0F3-0CA1-BAA5-0AB9-171FD58432E2}"/>
              </a:ext>
            </a:extLst>
          </p:cNvPr>
          <p:cNvSpPr/>
          <p:nvPr/>
        </p:nvSpPr>
        <p:spPr>
          <a:xfrm>
            <a:off x="4361688" y="3704844"/>
            <a:ext cx="82296" cy="15910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5" name="Shape 36">
            <a:extLst>
              <a:ext uri="{FF2B5EF4-FFF2-40B4-BE49-F238E27FC236}">
                <a16:creationId xmlns:a16="http://schemas.microsoft.com/office/drawing/2014/main" id="{AA381348-6441-3C2D-7E92-778E640C68DC}"/>
              </a:ext>
            </a:extLst>
          </p:cNvPr>
          <p:cNvSpPr/>
          <p:nvPr/>
        </p:nvSpPr>
        <p:spPr>
          <a:xfrm>
            <a:off x="4599432" y="3887724"/>
            <a:ext cx="512064" cy="512064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46" name="Image 4">
            <a:extLst>
              <a:ext uri="{FF2B5EF4-FFF2-40B4-BE49-F238E27FC236}">
                <a16:creationId xmlns:a16="http://schemas.microsoft.com/office/drawing/2014/main" id="{4BB5F7E7-073E-2873-D4D3-A35A8735C1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0872" y="3979164"/>
            <a:ext cx="329184" cy="329184"/>
          </a:xfrm>
          <a:prstGeom prst="rect">
            <a:avLst/>
          </a:prstGeom>
        </p:spPr>
      </p:pic>
      <p:sp>
        <p:nvSpPr>
          <p:cNvPr id="147" name="Text 37">
            <a:extLst>
              <a:ext uri="{FF2B5EF4-FFF2-40B4-BE49-F238E27FC236}">
                <a16:creationId xmlns:a16="http://schemas.microsoft.com/office/drawing/2014/main" id="{54CEC1F3-419A-3B1B-6338-FA4C20039B88}"/>
              </a:ext>
            </a:extLst>
          </p:cNvPr>
          <p:cNvSpPr/>
          <p:nvPr/>
        </p:nvSpPr>
        <p:spPr>
          <a:xfrm>
            <a:off x="5221224" y="3887724"/>
            <a:ext cx="257860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68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DOMAIN READINESS</a:t>
            </a:r>
            <a:endParaRPr lang="en-US" sz="680" dirty="0"/>
          </a:p>
        </p:txBody>
      </p:sp>
      <p:sp>
        <p:nvSpPr>
          <p:cNvPr id="148" name="Text 38">
            <a:extLst>
              <a:ext uri="{FF2B5EF4-FFF2-40B4-BE49-F238E27FC236}">
                <a16:creationId xmlns:a16="http://schemas.microsoft.com/office/drawing/2014/main" id="{F607EDF2-047D-4F88-4F86-BE1FEB44B1E2}"/>
              </a:ext>
            </a:extLst>
          </p:cNvPr>
          <p:cNvSpPr/>
          <p:nvPr/>
        </p:nvSpPr>
        <p:spPr>
          <a:xfrm>
            <a:off x="5221224" y="4043172"/>
            <a:ext cx="257860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Automotive</a:t>
            </a:r>
            <a:endParaRPr lang="en-US" sz="1270" dirty="0"/>
          </a:p>
        </p:txBody>
      </p:sp>
      <p:sp>
        <p:nvSpPr>
          <p:cNvPr id="149" name="Text 39">
            <a:extLst>
              <a:ext uri="{FF2B5EF4-FFF2-40B4-BE49-F238E27FC236}">
                <a16:creationId xmlns:a16="http://schemas.microsoft.com/office/drawing/2014/main" id="{4D8A6BBF-1197-56AE-20CC-E90A50762EAB}"/>
              </a:ext>
            </a:extLst>
          </p:cNvPr>
          <p:cNvSpPr/>
          <p:nvPr/>
        </p:nvSpPr>
        <p:spPr>
          <a:xfrm>
            <a:off x="5221224" y="4326636"/>
            <a:ext cx="25694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3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Application-specific ecosystem needs</a:t>
            </a:r>
            <a:endParaRPr lang="en-US" sz="830" dirty="0"/>
          </a:p>
        </p:txBody>
      </p:sp>
      <p:sp>
        <p:nvSpPr>
          <p:cNvPr id="150" name="Text 40">
            <a:extLst>
              <a:ext uri="{FF2B5EF4-FFF2-40B4-BE49-F238E27FC236}">
                <a16:creationId xmlns:a16="http://schemas.microsoft.com/office/drawing/2014/main" id="{6A0DDC69-274F-71F1-3B74-26B3888F05CC}"/>
              </a:ext>
            </a:extLst>
          </p:cNvPr>
          <p:cNvSpPr/>
          <p:nvPr/>
        </p:nvSpPr>
        <p:spPr>
          <a:xfrm>
            <a:off x="4672584" y="4637532"/>
            <a:ext cx="309067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Automotive interoperability requirements</a:t>
            </a:r>
            <a:endParaRPr lang="en-US" sz="760" dirty="0"/>
          </a:p>
          <a:p>
            <a:pPr algn="l"/>
            <a:r>
              <a:rPr lang="en-US" sz="7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 and scalable integration focus</a:t>
            </a:r>
            <a:endParaRPr lang="en-US" sz="760" dirty="0"/>
          </a:p>
        </p:txBody>
      </p:sp>
      <p:sp>
        <p:nvSpPr>
          <p:cNvPr id="151" name="Shape 41">
            <a:extLst>
              <a:ext uri="{FF2B5EF4-FFF2-40B4-BE49-F238E27FC236}">
                <a16:creationId xmlns:a16="http://schemas.microsoft.com/office/drawing/2014/main" id="{B78FB2DA-6FFA-C902-32EE-9C106FB68A5D}"/>
              </a:ext>
            </a:extLst>
          </p:cNvPr>
          <p:cNvSpPr/>
          <p:nvPr/>
        </p:nvSpPr>
        <p:spPr>
          <a:xfrm>
            <a:off x="8202168" y="3704844"/>
            <a:ext cx="3529584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22860" dist="50800" dir="2700000" algn="bl" rotWithShape="0">
              <a:srgbClr val="DCE7F2">
                <a:alpha val="34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2" name="Shape 42">
            <a:extLst>
              <a:ext uri="{FF2B5EF4-FFF2-40B4-BE49-F238E27FC236}">
                <a16:creationId xmlns:a16="http://schemas.microsoft.com/office/drawing/2014/main" id="{19B64B61-FF21-1435-9B1E-FD45087048F4}"/>
              </a:ext>
            </a:extLst>
          </p:cNvPr>
          <p:cNvSpPr/>
          <p:nvPr/>
        </p:nvSpPr>
        <p:spPr>
          <a:xfrm>
            <a:off x="8202168" y="3704844"/>
            <a:ext cx="82296" cy="15910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3" name="Shape 43">
            <a:extLst>
              <a:ext uri="{FF2B5EF4-FFF2-40B4-BE49-F238E27FC236}">
                <a16:creationId xmlns:a16="http://schemas.microsoft.com/office/drawing/2014/main" id="{52D96623-65EE-6A7E-BD7E-A208ADEBD811}"/>
              </a:ext>
            </a:extLst>
          </p:cNvPr>
          <p:cNvSpPr/>
          <p:nvPr/>
        </p:nvSpPr>
        <p:spPr>
          <a:xfrm>
            <a:off x="8439912" y="3887724"/>
            <a:ext cx="512064" cy="512064"/>
          </a:xfrm>
          <a:prstGeom prst="ellipse">
            <a:avLst/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54" name="Image 5">
            <a:extLst>
              <a:ext uri="{FF2B5EF4-FFF2-40B4-BE49-F238E27FC236}">
                <a16:creationId xmlns:a16="http://schemas.microsoft.com/office/drawing/2014/main" id="{4425B924-3A21-7322-068A-21142203C0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1352" y="3979164"/>
            <a:ext cx="329184" cy="329184"/>
          </a:xfrm>
          <a:prstGeom prst="rect">
            <a:avLst/>
          </a:prstGeom>
        </p:spPr>
      </p:pic>
      <p:sp>
        <p:nvSpPr>
          <p:cNvPr id="155" name="Text 44">
            <a:extLst>
              <a:ext uri="{FF2B5EF4-FFF2-40B4-BE49-F238E27FC236}">
                <a16:creationId xmlns:a16="http://schemas.microsoft.com/office/drawing/2014/main" id="{2DB9C708-A67E-8CDE-CBEF-9BD2257832C2}"/>
              </a:ext>
            </a:extLst>
          </p:cNvPr>
          <p:cNvSpPr/>
          <p:nvPr/>
        </p:nvSpPr>
        <p:spPr>
          <a:xfrm>
            <a:off x="9061704" y="3887724"/>
            <a:ext cx="2578608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68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ADOPTION</a:t>
            </a:r>
            <a:endParaRPr lang="en-US" sz="680" dirty="0"/>
          </a:p>
        </p:txBody>
      </p:sp>
      <p:sp>
        <p:nvSpPr>
          <p:cNvPr id="156" name="Text 45">
            <a:extLst>
              <a:ext uri="{FF2B5EF4-FFF2-40B4-BE49-F238E27FC236}">
                <a16:creationId xmlns:a16="http://schemas.microsoft.com/office/drawing/2014/main" id="{F53DD7D5-6CF0-8E4A-9F37-9BA09D487974}"/>
              </a:ext>
            </a:extLst>
          </p:cNvPr>
          <p:cNvSpPr/>
          <p:nvPr/>
        </p:nvSpPr>
        <p:spPr>
          <a:xfrm>
            <a:off x="9061704" y="4043172"/>
            <a:ext cx="2578608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2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</a:t>
            </a:r>
            <a:endParaRPr lang="en-US" sz="1270" dirty="0"/>
          </a:p>
        </p:txBody>
      </p:sp>
      <p:sp>
        <p:nvSpPr>
          <p:cNvPr id="157" name="Text 46">
            <a:extLst>
              <a:ext uri="{FF2B5EF4-FFF2-40B4-BE49-F238E27FC236}">
                <a16:creationId xmlns:a16="http://schemas.microsoft.com/office/drawing/2014/main" id="{FD76D3C5-997E-B602-B102-C1318575A70C}"/>
              </a:ext>
            </a:extLst>
          </p:cNvPr>
          <p:cNvSpPr/>
          <p:nvPr/>
        </p:nvSpPr>
        <p:spPr>
          <a:xfrm>
            <a:off x="9061704" y="4326636"/>
            <a:ext cx="2569464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30" b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awareness and adoption</a:t>
            </a:r>
            <a:endParaRPr lang="en-US" sz="830" dirty="0"/>
          </a:p>
        </p:txBody>
      </p:sp>
      <p:sp>
        <p:nvSpPr>
          <p:cNvPr id="158" name="Text 47">
            <a:extLst>
              <a:ext uri="{FF2B5EF4-FFF2-40B4-BE49-F238E27FC236}">
                <a16:creationId xmlns:a16="http://schemas.microsoft.com/office/drawing/2014/main" id="{22FB5E06-2F61-1FF8-8415-1D5F96A37915}"/>
              </a:ext>
            </a:extLst>
          </p:cNvPr>
          <p:cNvSpPr/>
          <p:nvPr/>
        </p:nvSpPr>
        <p:spPr>
          <a:xfrm>
            <a:off x="8513064" y="4637532"/>
            <a:ext cx="3090672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Webinars, blogs, events, tutorials</a:t>
            </a:r>
            <a:endParaRPr lang="en-US" sz="760" dirty="0"/>
          </a:p>
          <a:p>
            <a:pPr algn="l"/>
            <a:r>
              <a:rPr lang="en-US" sz="76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 engagement and ecosystem momentum</a:t>
            </a:r>
            <a:endParaRPr lang="en-US" sz="76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F60074D-A50D-AA69-6641-7DE00BFCE892}"/>
              </a:ext>
            </a:extLst>
          </p:cNvPr>
          <p:cNvSpPr txBox="1"/>
          <p:nvPr/>
        </p:nvSpPr>
        <p:spPr>
          <a:xfrm>
            <a:off x="1604772" y="5867400"/>
            <a:ext cx="8516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89316"/>
                </a:solidFill>
                <a:effectLst/>
                <a:uLnTx/>
                <a:uFillTx/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UCIe Workgroups are Defining the Complete Open Chiplet Ecosystem Stack</a:t>
            </a: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219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6E39633-EE41-580C-9B6F-7F4151F145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85" y="556996"/>
            <a:ext cx="8495215" cy="1940671"/>
          </a:xfrm>
        </p:spPr>
        <p:txBody>
          <a:bodyPr/>
          <a:lstStyle/>
          <a:p>
            <a:r>
              <a:rPr lang="en-US" dirty="0"/>
              <a:t>UCIe Electrical &amp; Physical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F809A-C27A-EB2A-2BD7-7FC7227201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85" y="2997200"/>
            <a:ext cx="6488615" cy="2302479"/>
          </a:xfrm>
        </p:spPr>
        <p:txBody>
          <a:bodyPr/>
          <a:lstStyle/>
          <a:p>
            <a:r>
              <a:rPr lang="en-US" sz="2000" dirty="0"/>
              <a:t>Zuoguo (Joe) Wu, Intel</a:t>
            </a:r>
          </a:p>
          <a:p>
            <a:r>
              <a:rPr lang="en-US" sz="2000" dirty="0"/>
              <a:t>UCIe Electrical Workgroup Co-Chair</a:t>
            </a:r>
          </a:p>
          <a:p>
            <a:endParaRPr lang="en-US" sz="20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98C540B-8AF3-D0C2-B4FF-8B42C5AE8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1570" y="6527074"/>
            <a:ext cx="1286210" cy="327136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2812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D11C6-15D0-54E7-CB99-39C21D5A3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F00B221-C147-3E06-EA0E-40E72992C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337" y="3271447"/>
            <a:ext cx="4204577" cy="24621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8C49E8-A23F-D970-20A2-FC87763B9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337" y="297417"/>
            <a:ext cx="4188767" cy="2521069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C095C7-CCF5-B0A6-E79E-49001E2F1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99" y="4216400"/>
            <a:ext cx="6595501" cy="2148921"/>
          </a:xfrm>
        </p:spPr>
        <p:txBody>
          <a:bodyPr>
            <a:normAutofit lnSpcReduction="10000"/>
          </a:bodyPr>
          <a:lstStyle/>
          <a:p>
            <a:r>
              <a:rPr lang="en-US" sz="1800" dirty="0">
                <a:solidFill>
                  <a:srgbClr val="7030A0"/>
                </a:solidFill>
                <a:latin typeface="Verdana Pro" panose="020B0604030504040204" pitchFamily="34" charset="0"/>
              </a:rPr>
              <a:t>On-package I/O is in a power limited, not channel bandwidth limited.</a:t>
            </a:r>
          </a:p>
          <a:p>
            <a:r>
              <a:rPr lang="en-US" sz="1800" dirty="0">
                <a:latin typeface="Verdana Pro" panose="020B0604030504040204" pitchFamily="34" charset="0"/>
              </a:rPr>
              <a:t>For a target data rate and given noise spectral density, PAM-N reduces the Baud rate, hence total noise. But it requires much higher SNR. Total power increases. 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solidFill>
                  <a:srgbClr val="0070C0"/>
                </a:solidFill>
                <a:latin typeface="Verdana Pro" panose="020B0604030504040204" pitchFamily="34" charset="0"/>
              </a:rPr>
              <a:t>NRZ is the best choice for power in a low loss system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6B42F6-C4AB-C678-6A4C-167E79DDF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610" y="264634"/>
            <a:ext cx="6723899" cy="1334514"/>
          </a:xfrm>
        </p:spPr>
        <p:txBody>
          <a:bodyPr/>
          <a:lstStyle/>
          <a:p>
            <a:r>
              <a:rPr lang="en-US" sz="3400" dirty="0"/>
              <a:t>Signaling Method for Power Limited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C519F3-B1C2-7997-B141-3685D5FA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847CC-E60A-4D7B-8A45-8ED321CC3E10}" type="slidenum">
              <a:rPr kumimoji="0" lang="en-US" alt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56183B-1297-7F86-BC5C-0467F3A56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051" y="2216804"/>
            <a:ext cx="5670630" cy="17188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8E7C81-F2AA-9DC3-B871-D3AA9ED6BA80}"/>
              </a:ext>
            </a:extLst>
          </p:cNvPr>
          <p:cNvSpPr txBox="1"/>
          <p:nvPr/>
        </p:nvSpPr>
        <p:spPr>
          <a:xfrm>
            <a:off x="7488483" y="2897673"/>
            <a:ext cx="2869055" cy="4308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945"/>
                </a:solidFill>
                <a:effectLst/>
                <a:highlight>
                  <a:srgbClr val="00FF00"/>
                </a:highlight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Signal Power (BER 1E-27) </a:t>
            </a:r>
          </a:p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945"/>
                </a:solidFill>
                <a:effectLst/>
                <a:highlight>
                  <a:srgbClr val="00FF00"/>
                </a:highlight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Normalized to NRZ Noise Power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401147-EC9D-26FE-44E6-61CE3B707E49}"/>
              </a:ext>
            </a:extLst>
          </p:cNvPr>
          <p:cNvSpPr txBox="1"/>
          <p:nvPr/>
        </p:nvSpPr>
        <p:spPr>
          <a:xfrm>
            <a:off x="7488483" y="78003"/>
            <a:ext cx="4126900" cy="305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945"/>
                </a:solidFill>
                <a:effectLst/>
                <a:highlight>
                  <a:srgbClr val="00FF00"/>
                </a:highlight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Data Rate at BER 1E-6 / Shannon Capacity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09AF48-54DA-CCF3-C10B-0D703F979E40}"/>
              </a:ext>
            </a:extLst>
          </p:cNvPr>
          <p:cNvSpPr txBox="1"/>
          <p:nvPr/>
        </p:nvSpPr>
        <p:spPr>
          <a:xfrm>
            <a:off x="602531" y="1830194"/>
            <a:ext cx="4222438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l" defTabSz="2438338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02945"/>
                </a:solidFill>
                <a:effectLst/>
                <a:highlight>
                  <a:srgbClr val="00FF00"/>
                </a:highlight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Theoretical Signal-to-Noise Ration (SNR)</a:t>
            </a:r>
          </a:p>
        </p:txBody>
      </p:sp>
    </p:spTree>
    <p:extLst>
      <p:ext uri="{BB962C8B-B14F-4D97-AF65-F5344CB8AC3E}">
        <p14:creationId xmlns:p14="http://schemas.microsoft.com/office/powerpoint/2010/main" val="1480971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37FAAA-6469-C345-D8DD-D655B1F3F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Data Rate and Channel Reach: UCIe 3.0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24B31F-7D61-0CB8-2A21-0BF63378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847CC-E60A-4D7B-8A45-8ED321CC3E10}" type="slidenum">
              <a:rPr kumimoji="0" lang="en-US" alt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F00A77-1334-EEE4-2353-4E7911BDB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778940"/>
            <a:ext cx="6139699" cy="4226935"/>
          </a:xfrm>
        </p:spPr>
        <p:txBody>
          <a:bodyPr>
            <a:normAutofit/>
          </a:bodyPr>
          <a:lstStyle/>
          <a:p>
            <a:pPr marL="381009" indent="-381009"/>
            <a:r>
              <a:rPr lang="en-US" sz="1800" dirty="0">
                <a:solidFill>
                  <a:srgbClr val="0000CC"/>
                </a:solidFill>
              </a:rPr>
              <a:t>Signaling: Unidirectional NRZ</a:t>
            </a:r>
          </a:p>
          <a:p>
            <a:pPr marL="381009" indent="-381009"/>
            <a:r>
              <a:rPr lang="en-US" sz="1800" dirty="0">
                <a:solidFill>
                  <a:srgbClr val="0000CC"/>
                </a:solidFill>
              </a:rPr>
              <a:t>Data Rate: 4, 8, 12, 16, 24, 32, 48, 64 Gb/s.</a:t>
            </a:r>
          </a:p>
          <a:p>
            <a:pPr marL="381009" indent="-381009"/>
            <a:r>
              <a:rPr lang="en-US" sz="1800" dirty="0">
                <a:solidFill>
                  <a:srgbClr val="0000CC"/>
                </a:solidFill>
              </a:rPr>
              <a:t>Channel Reach:</a:t>
            </a:r>
          </a:p>
          <a:p>
            <a:pPr marL="681584" lvl="1" indent="-381009"/>
            <a:r>
              <a:rPr lang="en-US" sz="1800" dirty="0"/>
              <a:t>Advanced Package (25-55um bump pitch): </a:t>
            </a:r>
          </a:p>
          <a:p>
            <a:pPr marL="1143028" lvl="2" indent="-381009"/>
            <a:r>
              <a:rPr lang="en-US" dirty="0"/>
              <a:t>Up to 2mm reach at 32Gb/s with TX drive control</a:t>
            </a:r>
          </a:p>
          <a:p>
            <a:pPr marL="1143028" lvl="2" indent="-381009"/>
            <a:r>
              <a:rPr lang="en-US" dirty="0"/>
              <a:t>No RX Termination ≤ 32 Gb/s, with RX Termination @ 48/64 Gb/s.</a:t>
            </a:r>
          </a:p>
          <a:p>
            <a:pPr marL="681584" lvl="1" indent="-381009"/>
            <a:r>
              <a:rPr lang="en-US" sz="1800" dirty="0"/>
              <a:t>Standard Package (100-130um bump pitch): </a:t>
            </a:r>
          </a:p>
          <a:p>
            <a:pPr marL="1143029" lvl="2" indent="-381009"/>
            <a:r>
              <a:rPr lang="en-US" dirty="0"/>
              <a:t>TX Termination </a:t>
            </a:r>
          </a:p>
          <a:p>
            <a:pPr marL="1143029" lvl="2" indent="-381009"/>
            <a:r>
              <a:rPr lang="en-US" dirty="0"/>
              <a:t>RX Termination Map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25885-B26C-1BB9-3210-66605C965CC9}"/>
              </a:ext>
            </a:extLst>
          </p:cNvPr>
          <p:cNvSpPr txBox="1"/>
          <p:nvPr/>
        </p:nvSpPr>
        <p:spPr>
          <a:xfrm>
            <a:off x="7144541" y="5089355"/>
            <a:ext cx="48207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C0C0C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Reach for unterminated RX can be increased with higher swing TX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14856B-4B3B-6E52-1722-ED6CCDBEA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541" y="1778940"/>
            <a:ext cx="4627265" cy="33104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C87D6A-4115-6414-4AD4-231F96635BE1}"/>
              </a:ext>
            </a:extLst>
          </p:cNvPr>
          <p:cNvSpPr txBox="1"/>
          <p:nvPr/>
        </p:nvSpPr>
        <p:spPr>
          <a:xfrm>
            <a:off x="8822838" y="3178294"/>
            <a:ext cx="1251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Terminated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C0C3D3-E9BA-B8DD-432C-6E6EEA81C806}"/>
              </a:ext>
            </a:extLst>
          </p:cNvPr>
          <p:cNvSpPr txBox="1"/>
          <p:nvPr/>
        </p:nvSpPr>
        <p:spPr>
          <a:xfrm>
            <a:off x="7718323" y="3938425"/>
            <a:ext cx="1501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Unterminated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B27B98-6FA1-BF02-75A0-2861BB58C07C}"/>
              </a:ext>
            </a:extLst>
          </p:cNvPr>
          <p:cNvCxnSpPr>
            <a:cxnSpLocks/>
          </p:cNvCxnSpPr>
          <p:nvPr/>
        </p:nvCxnSpPr>
        <p:spPr>
          <a:xfrm flipV="1">
            <a:off x="4238581" y="4775200"/>
            <a:ext cx="2905960" cy="338001"/>
          </a:xfrm>
          <a:prstGeom prst="straightConnector1">
            <a:avLst/>
          </a:prstGeom>
          <a:ln w="57150">
            <a:solidFill>
              <a:srgbClr val="00CC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448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2F17-9E5D-CC99-5DCB-982F72324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67C76C-5BEB-DB5F-6EAE-DB99AFBB4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For power efficiency in pJ/b, termination power overhead reduces with higher data rate (fixed total energy cost).</a:t>
            </a:r>
          </a:p>
          <a:p>
            <a:r>
              <a:rPr lang="en-US" sz="1800" dirty="0"/>
              <a:t>At 64GT/s power overhead is &lt; 0.05 pJ/b for adding 50 </a:t>
            </a:r>
            <a:r>
              <a:rPr lang="el-GR" sz="1800" dirty="0"/>
              <a:t>Ω</a:t>
            </a:r>
            <a:r>
              <a:rPr lang="en-US" sz="1800" dirty="0"/>
              <a:t> termination</a:t>
            </a:r>
          </a:p>
          <a:p>
            <a:pPr lvl="1"/>
            <a:r>
              <a:rPr lang="en-US" sz="1800" dirty="0"/>
              <a:t>Table calculated with ideal channel, max 0.85V swing, TX_Rterm = 30 </a:t>
            </a:r>
            <a:r>
              <a:rPr lang="el-GR" sz="1800" dirty="0"/>
              <a:t>Ω</a:t>
            </a:r>
            <a:r>
              <a:rPr lang="en-US" sz="1800" dirty="0"/>
              <a:t>, TX_Cpad = 125fF and RX_Cpad = 125fF.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971B95-33A0-8CE3-DA11-028976142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Termination Power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C3EDEF-E410-2AA1-779B-01D091530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847CC-E60A-4D7B-8A45-8ED321CC3E10}" type="slidenum">
              <a:rPr kumimoji="0" lang="en-US" alt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B088C-D1F3-4BDF-3618-87DDA3308BB7}"/>
                  </a:ext>
                </a:extLst>
              </p:cNvPr>
              <p:cNvSpPr txBox="1"/>
              <p:nvPr/>
            </p:nvSpPr>
            <p:spPr>
              <a:xfrm>
                <a:off x="176707" y="3775716"/>
                <a:ext cx="5983933" cy="798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kumimoji="0" 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pJ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kumimoji="0" 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b</m:t>
                              </m:r>
                            </m:den>
                          </m:f>
                        </m:e>
                      </m:d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𝑑𝑑</m:t>
                              </m:r>
                            </m:sub>
                            <m:sup>
                              <m:r>
                                <a:rPr kumimoji="0" 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d>
                                <m:d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𝑇𝑋</m:t>
                                      </m:r>
                                    </m:sub>
                                  </m:sSub>
                                  <m:r>
                                    <a:rPr kumimoji="0" lang="en-US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𝑅𝑋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𝐹</m:t>
                              </m:r>
                            </m:den>
                          </m:f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𝑇𝑋</m:t>
                                      </m:r>
                                    </m:sub>
                                  </m:sSub>
                                  <m:r>
                                    <a:rPr kumimoji="0" lang="en-US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𝑅𝑋</m:t>
                                      </m:r>
                                    </m:sub>
                                  </m:sSub>
                                </m:e>
                              </m:d>
                              <m:sSubSup>
                                <m:sSubSup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𝑅𝑋</m:t>
                                  </m:r>
                                </m:sub>
                                <m:sup>
                                  <m:r>
                                    <a:rPr kumimoji="0" lang="en-US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sSup>
                                <m:sSup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0" lang="en-US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𝑇𝑋</m:t>
                                          </m:r>
                                        </m:sub>
                                      </m:sSub>
                                      <m:r>
                                        <a:rPr kumimoji="0" lang="en-US" sz="18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𝑅</m:t>
                                          </m:r>
                                        </m:e>
                                        <m:sub>
                                          <m:r>
                                            <a:rPr kumimoji="0" lang="en-US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𝑅𝑋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kumimoji="0" lang="en-US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70C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AB088C-D1F3-4BDF-3618-87DDA3308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707" y="3775716"/>
                <a:ext cx="5983933" cy="7980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169D07C-BA4E-499A-5828-9D2B6B86EE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4114" y="3185486"/>
          <a:ext cx="6088440" cy="2175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114800" imgH="1470668" progId="Excel.Sheet.12">
                  <p:embed/>
                </p:oleObj>
              </mc:Choice>
              <mc:Fallback>
                <p:oleObj name="Worksheet" r:id="rId3" imgW="4114800" imgH="1470668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7169D07C-BA4E-499A-5828-9D2B6B86EE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94114" y="3185486"/>
                        <a:ext cx="6088440" cy="2175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E86FFE7-33EB-AE5F-09D5-1FE0C3A39D96}"/>
              </a:ext>
            </a:extLst>
          </p:cNvPr>
          <p:cNvSpPr txBox="1"/>
          <p:nvPr/>
        </p:nvSpPr>
        <p:spPr>
          <a:xfrm>
            <a:off x="1051983" y="5738177"/>
            <a:ext cx="7956552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4970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Verdana Pro" panose="020B0604030504040204" pitchFamily="34" charset="0"/>
                <a:ea typeface="MS PGothic" panose="020B0600070205080204" pitchFamily="34" charset="-128"/>
                <a:cs typeface="+mn-cs"/>
              </a:rPr>
              <a:t>As data rates go higher, the cost reduces while the (SI) benefit increases. </a:t>
            </a:r>
          </a:p>
        </p:txBody>
      </p:sp>
    </p:spTree>
    <p:extLst>
      <p:ext uri="{BB962C8B-B14F-4D97-AF65-F5344CB8AC3E}">
        <p14:creationId xmlns:p14="http://schemas.microsoft.com/office/powerpoint/2010/main" val="2437668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1C585-8AFD-B3D5-6DFE-D943513E8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787" y="120212"/>
            <a:ext cx="11058832" cy="618101"/>
          </a:xfrm>
        </p:spPr>
        <p:txBody>
          <a:bodyPr/>
          <a:lstStyle/>
          <a:p>
            <a:r>
              <a:rPr lang="en-US" dirty="0"/>
              <a:t>UCIe PHY Architecture and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02789-EFC3-1266-84C6-17CEC26C8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2" y="1119822"/>
            <a:ext cx="5866035" cy="5230177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800" dirty="0">
                <a:solidFill>
                  <a:srgbClr val="0000CC"/>
                </a:solidFill>
              </a:rPr>
              <a:t>Low Datapath Latency: </a:t>
            </a:r>
            <a:r>
              <a:rPr lang="en-US" sz="1800" dirty="0"/>
              <a:t>12 UI @ ≤16Gb/s, 16 UI @ 24-32Gb/s, 24 UI @ 48Gb/s, 32 UI @ 64Gb/s.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@16Gb/s ≤ 2ns when including adapter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rgbClr val="0000CC"/>
                </a:solidFill>
              </a:rPr>
              <a:t>Ultra Fast Idle Exit </a:t>
            </a:r>
            <a:r>
              <a:rPr lang="en-US" sz="1800" dirty="0"/>
              <a:t>(L0-idle): ≤ 1ns, orders of magnitude faster than typical off-package serial I/O.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rgbClr val="0000CC"/>
                </a:solidFill>
              </a:rPr>
              <a:t>Valid Framing and Re-timer support</a:t>
            </a:r>
            <a:r>
              <a:rPr lang="en-US" sz="1800" dirty="0"/>
              <a:t>, Hamming distance 4 encoding to improve reliability.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L1 power state (options for further power down)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rgbClr val="0000CC"/>
                </a:solidFill>
              </a:rPr>
              <a:t>Redundancy &amp; Repair </a:t>
            </a:r>
            <a:r>
              <a:rPr lang="en-US" sz="1800" dirty="0"/>
              <a:t>for Advanced Package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Two per 32 bits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rgbClr val="0000CC"/>
                </a:solidFill>
              </a:rPr>
              <a:t>Data Scrambling </a:t>
            </a:r>
            <a:r>
              <a:rPr lang="en-US" sz="1800" dirty="0"/>
              <a:t>to mitigate power supply noise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Does not require extra pin, unlike DBI.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rgbClr val="0000CC"/>
                </a:solidFill>
              </a:rPr>
              <a:t>Tightly-Coupled Mode </a:t>
            </a:r>
            <a:r>
              <a:rPr lang="en-US" sz="1800" dirty="0"/>
              <a:t>for further optimization (when supported by channel)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14215-22AE-AA6E-59E3-EA7F9CDB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B55F16-3168-CB91-76B6-7374B007A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984" y="747151"/>
            <a:ext cx="5468016" cy="50169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40633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FCF8CC-28A0-31D9-1D38-83940ADAF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984" y="1278627"/>
            <a:ext cx="5669541" cy="4961306"/>
          </a:xfrm>
        </p:spPr>
        <p:txBody>
          <a:bodyPr>
            <a:normAutofit fontScale="92500"/>
          </a:bodyPr>
          <a:lstStyle/>
          <a:p>
            <a:r>
              <a:rPr lang="en-US" sz="1900" dirty="0">
                <a:solidFill>
                  <a:srgbClr val="0000CC"/>
                </a:solidFill>
              </a:rPr>
              <a:t>Forwarded Clock PHY architecture offers significant benefit with reasonable overhead</a:t>
            </a:r>
          </a:p>
          <a:p>
            <a:pPr lvl="1"/>
            <a:r>
              <a:rPr lang="en-US" sz="1900" dirty="0"/>
              <a:t>The trade-offs differ significantly from off-package links</a:t>
            </a:r>
          </a:p>
          <a:p>
            <a:r>
              <a:rPr lang="en-US" sz="1900" dirty="0">
                <a:solidFill>
                  <a:srgbClr val="0000CC"/>
                </a:solidFill>
              </a:rPr>
              <a:t>To support broad data rate ranges:</a:t>
            </a:r>
          </a:p>
          <a:p>
            <a:pPr lvl="1"/>
            <a:r>
              <a:rPr lang="en-US" sz="1900" dirty="0"/>
              <a:t>Enable 2-way and 4-way interleaving TRX</a:t>
            </a:r>
          </a:p>
          <a:p>
            <a:pPr lvl="1"/>
            <a:r>
              <a:rPr lang="en-US" sz="1900" dirty="0"/>
              <a:t>Independent even/odd phase control</a:t>
            </a:r>
          </a:p>
          <a:p>
            <a:pPr lvl="1"/>
            <a:r>
              <a:rPr lang="en-US" sz="1900" dirty="0"/>
              <a:t>3 levels of phase adjustments (global TX, local TX, local RX) depending on data rate</a:t>
            </a:r>
          </a:p>
          <a:p>
            <a:r>
              <a:rPr lang="en-US" sz="1900" dirty="0">
                <a:solidFill>
                  <a:srgbClr val="0000CC"/>
                </a:solidFill>
              </a:rPr>
              <a:t>UCIe specific features:</a:t>
            </a:r>
          </a:p>
          <a:p>
            <a:pPr lvl="1"/>
            <a:r>
              <a:rPr lang="en-US" sz="1900" dirty="0"/>
              <a:t>Data Valid bit to gate clock distribution (also for data framing) </a:t>
            </a:r>
          </a:p>
          <a:p>
            <a:pPr lvl="1"/>
            <a:r>
              <a:rPr lang="en-US" sz="1900" dirty="0"/>
              <a:t>Track bit for background training and phase alignment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9B2C71-5C13-8A0B-87ED-9BC7D9F31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D2D PHY Clocking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57153C-EA6A-CA80-0D64-9C4DAA9F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847CC-E60A-4D7B-8A45-8ED321CC3E10}" type="slidenum">
              <a:rPr kumimoji="0" lang="en-US" alt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56C7AF2-C11E-FA53-33C6-0D2B6757C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475" y="2252133"/>
            <a:ext cx="5927838" cy="296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315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8F083-D265-3888-9222-FF2B2B6C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Forwarded Clock Frequency and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17198-2427-5C73-D23E-7D7C43971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98" y="4001611"/>
            <a:ext cx="10954502" cy="210004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Different data rate can lead to different optimal forwarded clock configurations. Table above is from UCIe, but the principle applies to general D2D.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/>
              <a:t>Additional features for 48-64 Gb/s:</a:t>
            </a:r>
          </a:p>
          <a:p>
            <a:r>
              <a:rPr lang="en-US" sz="1800" dirty="0"/>
              <a:t>Continuous free running forwarded clock</a:t>
            </a:r>
          </a:p>
          <a:p>
            <a:pPr lvl="1"/>
            <a:r>
              <a:rPr lang="en-US" sz="1800" dirty="0"/>
              <a:t>At these speeds, the cost of maintaining a fast on/off strobe outweighs its benefit.</a:t>
            </a:r>
          </a:p>
          <a:p>
            <a:r>
              <a:rPr lang="en-US" sz="1800" dirty="0"/>
              <a:t>In-phase/Quadrature (I/Q) correction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A656A-86C5-579B-41E6-74EC37BD8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6EF053-6C1A-C74B-DAD3-07646F525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982" y="1073231"/>
            <a:ext cx="6666485" cy="282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230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323D6A-13F2-5491-6DF3-8310CDE9B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996" y="4077738"/>
            <a:ext cx="9831337" cy="2086303"/>
          </a:xfrm>
        </p:spPr>
        <p:txBody>
          <a:bodyPr>
            <a:noAutofit/>
          </a:bodyPr>
          <a:lstStyle/>
          <a:p>
            <a:r>
              <a:rPr lang="en-US" sz="1800" dirty="0"/>
              <a:t>Typical segmented TX driver. CMOS implementation shown. NN driver and other structure possible.</a:t>
            </a:r>
          </a:p>
          <a:p>
            <a:r>
              <a:rPr lang="en-US" sz="1800" dirty="0"/>
              <a:t>TX de-emphasis required at 24+ GT/s. </a:t>
            </a:r>
          </a:p>
          <a:p>
            <a:pPr lvl="1"/>
            <a:r>
              <a:rPr lang="en-US" sz="1800" dirty="0"/>
              <a:t>Trained at link initialization, real-time adaptation is not required.</a:t>
            </a:r>
          </a:p>
          <a:p>
            <a:r>
              <a:rPr lang="en-US" sz="1800" dirty="0"/>
              <a:t>RX Termination (when applicable) to ground</a:t>
            </a:r>
          </a:p>
          <a:p>
            <a:r>
              <a:rPr lang="en-US" sz="1800" dirty="0"/>
              <a:t>Does not mandate a specific input buffer design. If RX amplifier is used, recommend bandwidth &gt; 0.75x data rate (1.5x Nyquist).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CEEE91-7A7A-15AA-7844-56457BE31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Driver and Input Buffer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99045-3FF7-0B22-AF1A-CADE528A1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847CC-E60A-4D7B-8A45-8ED321CC3E10}" type="slidenum">
              <a:rPr kumimoji="0" lang="en-US" alt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B26F28-44AE-A848-579E-5ED0F0FE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33" y="1002814"/>
            <a:ext cx="10303133" cy="287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80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EE543-E75B-B95B-972A-C7BA11D13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F95081-273E-3CB4-AE99-F1023F3BD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68" y="1333500"/>
            <a:ext cx="4224866" cy="15113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+mn-lt"/>
              </a:rPr>
              <a:t>Multi-tap TX FFE</a:t>
            </a:r>
          </a:p>
          <a:p>
            <a:r>
              <a:rPr lang="en-US" sz="1800" dirty="0">
                <a:latin typeface="+mn-lt"/>
              </a:rPr>
              <a:t>Avoid complex back-channel adaptation if possible. Often, fixed presets are sufficient.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9C7DE2-48BF-2F2A-7B33-90F2B8B0A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Enhanced Equalization for 48-64 Gb/s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40FDC-816A-DCF2-8ED2-04C02CF8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847CC-E60A-4D7B-8A45-8ED321CC3E10}" type="slidenum">
              <a:rPr kumimoji="0" lang="en-US" alt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574FED-702B-C342-1181-BCBA6613D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935" y="2776540"/>
            <a:ext cx="6296904" cy="29912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CA3839-8EF7-F580-531A-72E8DB5AE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50" y="2971829"/>
            <a:ext cx="5201376" cy="2600688"/>
          </a:xfrm>
          <a:prstGeom prst="rect">
            <a:avLst/>
          </a:prstGeom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97A6B537-6CB3-7992-06D2-BDE5972FEED3}"/>
              </a:ext>
            </a:extLst>
          </p:cNvPr>
          <p:cNvSpPr txBox="1">
            <a:spLocks/>
          </p:cNvSpPr>
          <p:nvPr/>
        </p:nvSpPr>
        <p:spPr bwMode="auto">
          <a:xfrm>
            <a:off x="5690954" y="1312817"/>
            <a:ext cx="6181093" cy="1218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1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16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85C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</a:rPr>
              <a:t>RX DFE illustration</a:t>
            </a:r>
          </a:p>
          <a:p>
            <a:pPr marL="908050" marR="0" lvl="1" indent="-4365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85C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rPr>
              <a:t>Many design choices to address critical timing path</a:t>
            </a:r>
          </a:p>
          <a:p>
            <a:pPr marL="908050" marR="0" lvl="1" indent="-4365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85CAD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rPr>
              <a:t>Feedforward is often in the form of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Verdana"/>
                <a:ea typeface="MS PGothic" panose="020B0600070205080204" pitchFamily="34" charset="-128"/>
                <a:cs typeface="+mn-cs"/>
              </a:rPr>
              <a:t>CTLE</a:t>
            </a:r>
          </a:p>
        </p:txBody>
      </p:sp>
    </p:spTree>
    <p:extLst>
      <p:ext uri="{BB962C8B-B14F-4D97-AF65-F5344CB8AC3E}">
        <p14:creationId xmlns:p14="http://schemas.microsoft.com/office/powerpoint/2010/main" val="19194024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276041-B162-E497-F571-2491E7578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Pad Capacitance and ESD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9D0B3E-84FD-574E-3232-18D41E8F0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847CC-E60A-4D7B-8A45-8ED321CC3E10}" type="slidenum">
              <a:rPr kumimoji="0" lang="en-US" alt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E1E52E-96CE-699B-6E08-61977E4A0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478004"/>
            <a:ext cx="6420470" cy="2131015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00CC"/>
                </a:solidFill>
              </a:rPr>
              <a:t>Pad Capacitance (Cpad) has a 1</a:t>
            </a:r>
            <a:r>
              <a:rPr lang="en-US" sz="1800" baseline="30000" dirty="0">
                <a:solidFill>
                  <a:srgbClr val="0000CC"/>
                </a:solidFill>
              </a:rPr>
              <a:t>st</a:t>
            </a:r>
            <a:r>
              <a:rPr lang="en-US" sz="1800" dirty="0">
                <a:solidFill>
                  <a:srgbClr val="0000CC"/>
                </a:solidFill>
              </a:rPr>
              <a:t> order impact on performance</a:t>
            </a:r>
          </a:p>
          <a:p>
            <a:r>
              <a:rPr lang="en-US" sz="1800" dirty="0">
                <a:solidFill>
                  <a:srgbClr val="0000CC"/>
                </a:solidFill>
              </a:rPr>
              <a:t>D2D PHY must aggressively reduce Cpad and ESD without compromising reliability</a:t>
            </a:r>
          </a:p>
          <a:p>
            <a:r>
              <a:rPr lang="en-US" sz="1800" dirty="0">
                <a:cs typeface="Intel Clear" panose="020B0604020203020204" pitchFamily="34" charset="0"/>
                <a:sym typeface="Helvetica Neue"/>
              </a:rPr>
              <a:t>UCIe ESD spec: 30V CDM, further scaling in future, align with Industry Council on ESD Targets</a:t>
            </a:r>
            <a:r>
              <a:rPr lang="en-US" sz="1800" b="1" dirty="0">
                <a:cs typeface="Intel Clear" panose="020B0604020203020204" pitchFamily="34" charset="0"/>
                <a:sym typeface="Helvetica Neue"/>
              </a:rPr>
              <a:t>.</a:t>
            </a:r>
            <a:endParaRPr lang="en-US" sz="18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D49F22-4EFA-1CF4-F8C4-818EE1A5F012}"/>
              </a:ext>
            </a:extLst>
          </p:cNvPr>
          <p:cNvGraphicFramePr>
            <a:graphicFrameLocks noGrp="1"/>
          </p:cNvGraphicFramePr>
          <p:nvPr/>
        </p:nvGraphicFramePr>
        <p:xfrm>
          <a:off x="686416" y="3859566"/>
          <a:ext cx="6489704" cy="2131014"/>
        </p:xfrm>
        <a:graphic>
          <a:graphicData uri="http://schemas.openxmlformats.org/drawingml/2006/table">
            <a:tbl>
              <a:tblPr/>
              <a:tblGrid>
                <a:gridCol w="2604918">
                  <a:extLst>
                    <a:ext uri="{9D8B030D-6E8A-4147-A177-3AD203B41FA5}">
                      <a16:colId xmlns:a16="http://schemas.microsoft.com/office/drawing/2014/main" val="886332488"/>
                    </a:ext>
                  </a:extLst>
                </a:gridCol>
                <a:gridCol w="722751">
                  <a:extLst>
                    <a:ext uri="{9D8B030D-6E8A-4147-A177-3AD203B41FA5}">
                      <a16:colId xmlns:a16="http://schemas.microsoft.com/office/drawing/2014/main" val="3946165561"/>
                    </a:ext>
                  </a:extLst>
                </a:gridCol>
                <a:gridCol w="722751">
                  <a:extLst>
                    <a:ext uri="{9D8B030D-6E8A-4147-A177-3AD203B41FA5}">
                      <a16:colId xmlns:a16="http://schemas.microsoft.com/office/drawing/2014/main" val="4270630334"/>
                    </a:ext>
                  </a:extLst>
                </a:gridCol>
                <a:gridCol w="2439284">
                  <a:extLst>
                    <a:ext uri="{9D8B030D-6E8A-4147-A177-3AD203B41FA5}">
                      <a16:colId xmlns:a16="http://schemas.microsoft.com/office/drawing/2014/main" val="1298407676"/>
                    </a:ext>
                  </a:extLst>
                </a:gridCol>
              </a:tblGrid>
              <a:tr h="3044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TX/RX Pad Capacitance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250/200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fF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Advanced Package Mode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84537"/>
                  </a:ext>
                </a:extLst>
              </a:tr>
              <a:tr h="6088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TX/RX Pad Capacitance</a:t>
                      </a:r>
                      <a:br>
                        <a:rPr lang="en-US" sz="1400" u="none" strike="noStrike" dirty="0">
                          <a:effectLst/>
                        </a:rPr>
                      </a:br>
                      <a:r>
                        <a:rPr lang="en-US" sz="1400" u="none" strike="noStrike" dirty="0">
                          <a:effectLst/>
                        </a:rPr>
                        <a:t>(8Gb/s capable design)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300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fF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Standard Package Mode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600979"/>
                  </a:ext>
                </a:extLst>
              </a:tr>
              <a:tr h="6088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TX/RX Pad Capacitance</a:t>
                      </a:r>
                      <a:br>
                        <a:rPr lang="en-US" sz="1400" u="none" strike="noStrike" dirty="0">
                          <a:effectLst/>
                        </a:rPr>
                      </a:br>
                      <a:r>
                        <a:rPr lang="en-US" sz="1400" u="none" strike="noStrike" dirty="0">
                          <a:effectLst/>
                        </a:rPr>
                        <a:t>(16Gb/s capable design)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200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fF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Standard Package Mode</a:t>
                      </a:r>
                      <a:br>
                        <a:rPr lang="fr-FR" sz="1400" u="none" strike="noStrike" dirty="0">
                          <a:effectLst/>
                        </a:rPr>
                      </a:br>
                      <a:r>
                        <a:rPr lang="fr-FR" sz="1400" u="none" strike="noStrike" dirty="0">
                          <a:effectLst/>
                        </a:rPr>
                        <a:t>Effective Cpad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962689"/>
                  </a:ext>
                </a:extLst>
              </a:tr>
              <a:tr h="60886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TX/RX Pad Capacitance</a:t>
                      </a:r>
                      <a:br>
                        <a:rPr lang="en-US" sz="1400" u="none" strike="noStrike" dirty="0">
                          <a:effectLst/>
                        </a:rPr>
                      </a:br>
                      <a:r>
                        <a:rPr lang="en-US" sz="1400" u="none" strike="noStrike" dirty="0">
                          <a:effectLst/>
                        </a:rPr>
                        <a:t>(32Gb/s capable design)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125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fF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Intel Clear"/>
                        </a:defRPr>
                      </a:lvl9pPr>
                    </a:lstStyle>
                    <a:p>
                      <a:pPr algn="l" fontAlgn="b"/>
                      <a:r>
                        <a:rPr lang="fr-FR" sz="1400" u="none" strike="noStrike" dirty="0">
                          <a:effectLst/>
                        </a:rPr>
                        <a:t>Standard Package Mode</a:t>
                      </a:r>
                      <a:br>
                        <a:rPr lang="fr-FR" sz="1400" u="none" strike="noStrike" dirty="0">
                          <a:effectLst/>
                        </a:rPr>
                      </a:br>
                      <a:r>
                        <a:rPr lang="fr-FR" sz="1400" u="none" strike="noStrike" dirty="0">
                          <a:effectLst/>
                        </a:rPr>
                        <a:t>Effective Cpad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7D108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8781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59DBBEA-1869-7B43-BCD5-E617F1447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753" y="1104765"/>
            <a:ext cx="4590686" cy="32982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472624-696D-4962-2787-3D923C6C9188}"/>
              </a:ext>
            </a:extLst>
          </p:cNvPr>
          <p:cNvSpPr txBox="1"/>
          <p:nvPr/>
        </p:nvSpPr>
        <p:spPr>
          <a:xfrm>
            <a:off x="7320119" y="4548138"/>
            <a:ext cx="48090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Verdana Pro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http://www.jedec.org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reference JEP196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Verdana Pro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http://www.esdindustrycouncil.org/ic/en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kumimoji="0" lang="en-US" sz="1000" b="0" i="0" u="sng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Verdana Pro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http://www.esda.org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reference White Paper 2 Part II</a:t>
            </a:r>
          </a:p>
        </p:txBody>
      </p:sp>
    </p:spTree>
    <p:extLst>
      <p:ext uri="{BB962C8B-B14F-4D97-AF65-F5344CB8AC3E}">
        <p14:creationId xmlns:p14="http://schemas.microsoft.com/office/powerpoint/2010/main" val="1517828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A985F-50A2-4BE8-7F08-E3E41DA8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High-Speed Distributed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DD243-D241-C3E0-A10E-30422EE12B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2498" y="4111275"/>
                <a:ext cx="6673835" cy="1600201"/>
              </a:xfrm>
            </p:spPr>
            <p:txBody>
              <a:bodyPr>
                <a:noAutofit/>
              </a:bodyPr>
              <a:lstStyle/>
              <a:p>
                <a:r>
                  <a:rPr lang="en-US" sz="1800" dirty="0"/>
                  <a:t>At extreme data rates such as 64 Gb/s, distributed effects should be considered. </a:t>
                </a:r>
              </a:p>
              <a:p>
                <a:r>
                  <a:rPr lang="en-US" sz="1800" dirty="0"/>
                  <a:t>A more detailed model, such as the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800" dirty="0"/>
                  <a:t>-model shown above, may be required.</a:t>
                </a:r>
              </a:p>
              <a:p>
                <a:r>
                  <a:rPr lang="en-US" sz="1800" dirty="0"/>
                  <a:t>Specification may require additional parameter beyond a single pF number, such as Return Loss.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EDD243-D241-C3E0-A10E-30422EE12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2498" y="4111275"/>
                <a:ext cx="6673835" cy="1600201"/>
              </a:xfrm>
              <a:blipFill>
                <a:blip r:embed="rId2"/>
                <a:stretch>
                  <a:fillRect l="-639" t="-1901" b="-30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A76A6-BCAD-432A-DDC1-2ED29155B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DEC673-C095-4289-28A2-B5E02F9C6E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333" y="1123515"/>
            <a:ext cx="5075555" cy="288988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021F4E-E6F4-9F7C-E346-7705E5FABE71}"/>
                  </a:ext>
                </a:extLst>
              </p:cNvPr>
              <p:cNvSpPr txBox="1"/>
              <p:nvPr/>
            </p:nvSpPr>
            <p:spPr>
              <a:xfrm>
                <a:off x="3166533" y="6015442"/>
                <a:ext cx="5858933" cy="656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D7161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R</m:t>
                      </m:r>
                      <m:r>
                        <m:rPr>
                          <m:sty m:val="p"/>
                        </m:rP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7161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eturnLoss</m:t>
                      </m:r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7161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D71616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D71616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dB</m:t>
                          </m:r>
                        </m:e>
                      </m:d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7161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=10</m:t>
                      </m:r>
                      <m:func>
                        <m:func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D71616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D71616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D71616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0" 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D71616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D71616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D71616">
                                          <a:lumMod val="75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D71616">
                                          <a:lumMod val="75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D71616">
                                          <a:lumMod val="75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D71616">
                                          <a:lumMod val="75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D71616">
                                          <a:lumMod val="75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D71616">
                                          <a:lumMod val="75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D71616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−20</m:t>
                      </m:r>
                      <m:func>
                        <m:func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D71616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D71616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D71616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0" lang="en-US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D71616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D71616">
                                      <a:lumMod val="75000"/>
                                    </a:srgbClr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D71616">
                                          <a:lumMod val="75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D71616">
                                          <a:lumMod val="75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kumimoji="0" lang="en-US" sz="18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D71616">
                                          <a:lumMod val="75000"/>
                                        </a:srgbClr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D71616">
                      <a:lumMod val="75000"/>
                    </a:srgbClr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D021F4E-E6F4-9F7C-E346-7705E5FAB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533" y="6015442"/>
                <a:ext cx="5858933" cy="6562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5864AB71-E4C6-4364-2FEF-FA7F421AF0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3031" y="232491"/>
            <a:ext cx="2762636" cy="18481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498EBB-E626-A432-ECB5-BC8520ACBCE4}"/>
              </a:ext>
            </a:extLst>
          </p:cNvPr>
          <p:cNvSpPr txBox="1"/>
          <p:nvPr/>
        </p:nvSpPr>
        <p:spPr>
          <a:xfrm>
            <a:off x="9671193" y="861551"/>
            <a:ext cx="1120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O(100µm)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A1FFC8-CEE1-91AF-0B46-706A51E47E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6261" y="2268506"/>
            <a:ext cx="4209918" cy="2755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407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56B2F-F4A2-C082-FE08-168638343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74A124-494F-7280-9F6B-56F2A413F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5990" y="3674531"/>
            <a:ext cx="5715635" cy="2448642"/>
          </a:xfrm>
        </p:spPr>
        <p:txBody>
          <a:bodyPr>
            <a:normAutofit/>
          </a:bodyPr>
          <a:lstStyle/>
          <a:p>
            <a:r>
              <a:rPr lang="en-US" sz="1800" dirty="0"/>
              <a:t>TX T-Coil can achieve broadband Cpad/ESD reduction.</a:t>
            </a:r>
          </a:p>
          <a:p>
            <a:r>
              <a:rPr lang="en-US" sz="1800" dirty="0"/>
              <a:t>Theoretical Advantage: "</a:t>
            </a:r>
            <a:r>
              <a:rPr lang="en-US" sz="1800" i="1" dirty="0"/>
              <a:t>Ce</a:t>
            </a:r>
            <a:r>
              <a:rPr lang="en-US" sz="1800" dirty="0"/>
              <a:t>" can be zeroed out, though practical factors may influence results.</a:t>
            </a:r>
          </a:p>
          <a:p>
            <a:r>
              <a:rPr lang="en-US" sz="1800" dirty="0"/>
              <a:t>T-coil size expected to be on the order of 20µm x 20µm x 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716014-9336-EC4F-CA42-FEE35A058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Cpad/ESD Mitigation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D264E-C085-0960-0B42-0EFA23C91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847CC-E60A-4D7B-8A45-8ED321CC3E10}" type="slidenum">
              <a:rPr kumimoji="0" lang="en-US" alt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5EC54-1CC0-9E9D-97BD-18DFA655212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r="46959" b="50790"/>
          <a:stretch>
            <a:fillRect/>
          </a:stretch>
        </p:blipFill>
        <p:spPr bwMode="auto">
          <a:xfrm>
            <a:off x="560385" y="1862344"/>
            <a:ext cx="2893269" cy="16982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3F4A66-4347-56B3-F532-AEE6C0BE2ED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rcRect t="47577" r="51564"/>
          <a:stretch>
            <a:fillRect/>
          </a:stretch>
        </p:blipFill>
        <p:spPr bwMode="auto">
          <a:xfrm>
            <a:off x="3710735" y="1929782"/>
            <a:ext cx="2520280" cy="1744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EC53073-7162-D5C9-E77C-399F38876885}"/>
                  </a:ext>
                </a:extLst>
              </p:cNvPr>
              <p:cNvSpPr txBox="1"/>
              <p:nvPr/>
            </p:nvSpPr>
            <p:spPr>
              <a:xfrm>
                <a:off x="648581" y="3832851"/>
                <a:ext cx="4140461" cy="1397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800" cap="none" spc="-3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kumimoji="0" lang="en-US" sz="2000" b="0" i="1" u="none" strike="noStrike" kern="8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r>
                        <a:rPr kumimoji="0" lang="en-US" sz="2000" b="0" i="1" u="none" strike="noStrike" kern="8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sz="2000" b="0" i="1" u="none" strike="noStrike" kern="8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8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0" lang="en-US" sz="2000" b="0" i="1" u="none" strike="noStrike" kern="8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sub>
                          </m:sSub>
                          <m:sSubSup>
                            <m:sSubSupPr>
                              <m:ctrlPr>
                                <a:rPr kumimoji="0" lang="en-US" sz="2000" b="0" i="1" u="none" strike="noStrike" kern="8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0" lang="en-US" sz="2000" b="0" i="1" u="none" strike="noStrike" kern="8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US" sz="2000" b="0" i="1" u="none" strike="noStrike" kern="8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kumimoji="0" lang="en-US" sz="2000" b="0" i="1" u="none" strike="noStrike" kern="8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kumimoji="0" lang="en-US" sz="2000" b="0" i="1" u="none" strike="noStrike" kern="8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sz="2000" b="0" i="1" u="none" strike="noStrike" kern="8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1+</m:t>
                              </m:r>
                              <m:r>
                                <a:rPr kumimoji="0" lang="en-US" sz="2000" b="0" i="1" u="none" strike="noStrike" kern="8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𝑘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kumimoji="0" lang="en-US" sz="2000" b="0" i="0" u="none" strike="noStrike" kern="8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r>
                        <a:rPr kumimoji="0" lang="en-US" sz="2000" b="0" i="1" u="none" strike="noStrike" kern="800" cap="none" spc="-3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SimSu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sz="2000" b="0" i="1" u="none" strike="noStrike" kern="8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8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0" lang="en-US" sz="2000" b="0" i="1" u="none" strike="noStrike" kern="800" cap="none" spc="-3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SimSun" panose="02010600030101010101" pitchFamily="2" charset="-122"/>
                                  <a:cs typeface="Times New Roman" panose="02020603050405020304" pitchFamily="18" charset="0"/>
                                </a:rPr>
                                <m:t>𝑒</m:t>
                              </m:r>
                            </m:sub>
                          </m:sSub>
                          <m: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(1−</m:t>
                          </m:r>
                          <m: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4(1+</m:t>
                          </m:r>
                          <m: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kumimoji="0" lang="en-US" sz="2000" b="0" i="1" u="none" strike="noStrike" kern="800" cap="none" spc="-3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SimSu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0" lang="en-US" sz="2000" b="0" i="0" u="none" strike="noStrike" kern="800" cap="none" spc="-3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SimSun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F05DE7E-44BC-6060-9A15-64171BCFC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81" y="3832851"/>
                <a:ext cx="4140461" cy="1397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TextBox 123">
            <a:extLst>
              <a:ext uri="{FF2B5EF4-FFF2-40B4-BE49-F238E27FC236}">
                <a16:creationId xmlns:a16="http://schemas.microsoft.com/office/drawing/2014/main" id="{B07DAF0D-E363-3E62-4478-48E7F6149625}"/>
              </a:ext>
            </a:extLst>
          </p:cNvPr>
          <p:cNvSpPr txBox="1"/>
          <p:nvPr/>
        </p:nvSpPr>
        <p:spPr>
          <a:xfrm>
            <a:off x="803068" y="1580983"/>
            <a:ext cx="1185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TX T-coil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0F96BD3-921C-AACA-4FC6-BDA01993A731}"/>
              </a:ext>
            </a:extLst>
          </p:cNvPr>
          <p:cNvSpPr txBox="1"/>
          <p:nvPr/>
        </p:nvSpPr>
        <p:spPr>
          <a:xfrm>
            <a:off x="3825173" y="1591414"/>
            <a:ext cx="1203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RX T-coil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F56CC-29CF-14F8-932C-75CB2DBD0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160" y="713647"/>
            <a:ext cx="4004550" cy="27589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C72931-134A-016A-B0B6-652FC28F0070}"/>
              </a:ext>
            </a:extLst>
          </p:cNvPr>
          <p:cNvSpPr txBox="1"/>
          <p:nvPr/>
        </p:nvSpPr>
        <p:spPr>
          <a:xfrm>
            <a:off x="7896199" y="555010"/>
            <a:ext cx="3370471" cy="2186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0" algn="l" defTabSz="1219230" rtl="0" eaLnBrk="1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highlight>
                  <a:srgbClr val="C0C0C0"/>
                </a:highlight>
                <a:uLnTx/>
                <a:uFillTx/>
                <a:latin typeface="Intel Clear"/>
                <a:ea typeface="+mn-ea"/>
                <a:cs typeface="+mn-cs"/>
                <a:sym typeface="Helvetica Neue"/>
              </a:rPr>
              <a:t>T-coil impact to standard package channel</a:t>
            </a:r>
          </a:p>
        </p:txBody>
      </p:sp>
    </p:spTree>
    <p:extLst>
      <p:ext uri="{BB962C8B-B14F-4D97-AF65-F5344CB8AC3E}">
        <p14:creationId xmlns:p14="http://schemas.microsoft.com/office/powerpoint/2010/main" val="1947370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A20993-266A-4E27-F11E-2B8E9DD03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695" y="1393479"/>
            <a:ext cx="11055984" cy="831327"/>
          </a:xfrm>
        </p:spPr>
        <p:txBody>
          <a:bodyPr/>
          <a:lstStyle/>
          <a:p>
            <a:r>
              <a:rPr lang="en-US" sz="1800" dirty="0"/>
              <a:t>Channel needs to meet minimum eye mask under channel compliance simulation with noiseless jitter-less behavioral TX and RX models. 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EAB12B8-E7A8-46B9-359B-6F929278F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Interconnect Channel Specification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798F96-C9F9-99D3-1DFB-3A0AD6D14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847CC-E60A-4D7B-8A45-8ED321CC3E10}" type="slidenum">
              <a:rPr kumimoji="0" lang="en-US" alt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7DC9A4-C678-4888-7B3B-81CDACE5B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85" y="2520752"/>
            <a:ext cx="6328196" cy="1676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A3EB13-D84E-6E46-8C07-D5108691B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581" y="2552408"/>
            <a:ext cx="4986960" cy="18777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933782-CD05-BDFA-AB33-12D8FED30BEA}"/>
              </a:ext>
            </a:extLst>
          </p:cNvPr>
          <p:cNvSpPr txBox="1"/>
          <p:nvPr/>
        </p:nvSpPr>
        <p:spPr>
          <a:xfrm>
            <a:off x="8256240" y="2344862"/>
            <a:ext cx="3364144" cy="365125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lvl="0" indent="0" algn="l" defTabSz="6096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67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"/>
                <a:ea typeface="+mn-ea"/>
                <a:cs typeface="+mn-cs"/>
                <a:sym typeface="Helvetica Neue"/>
              </a:rPr>
              <a:t>Pass/fail eye mask example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920DD2C5-230A-AB5D-771F-78281460E694}"/>
              </a:ext>
            </a:extLst>
          </p:cNvPr>
          <p:cNvSpPr txBox="1">
            <a:spLocks/>
          </p:cNvSpPr>
          <p:nvPr/>
        </p:nvSpPr>
        <p:spPr>
          <a:xfrm>
            <a:off x="585933" y="4836346"/>
            <a:ext cx="10010567" cy="111293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09585" rtl="0" eaLnBrk="1" latinLnBrk="0" hangingPunct="1">
              <a:spcBef>
                <a:spcPts val="1600"/>
              </a:spcBef>
              <a:spcAft>
                <a:spcPts val="0"/>
              </a:spcAft>
              <a:buFont typeface="Wingdings" panose="05000000000000000000" pitchFamily="2" charset="2"/>
              <a:buNone/>
              <a:defRPr sz="2400" b="0" kern="1200">
                <a:solidFill>
                  <a:srgbClr val="0071C5"/>
                </a:solidFill>
                <a:latin typeface="+mn-lt"/>
                <a:ea typeface="+mn-ea"/>
                <a:cs typeface="Intel Clear" panose="020B0604020203020204" pitchFamily="34" charset="0"/>
              </a:defRPr>
            </a:lvl1pPr>
            <a:lvl2pPr marL="300559" indent="-300559" algn="l" defTabSz="609585" rtl="0" eaLnBrk="1" latinLnBrk="0" hangingPunct="1">
              <a:spcBef>
                <a:spcPts val="1600"/>
              </a:spcBef>
              <a:buFont typeface="Wingdings" charset="2"/>
              <a:buChar char="§"/>
              <a:defRPr sz="2400" kern="1200" baseline="0">
                <a:solidFill>
                  <a:srgbClr val="003C71"/>
                </a:solidFill>
                <a:latin typeface="+mn-lt"/>
                <a:ea typeface="+mn-ea"/>
                <a:cs typeface="Intel Clear" panose="020B0604020203020204" pitchFamily="34" charset="0"/>
              </a:defRPr>
            </a:lvl2pPr>
            <a:lvl3pPr marL="761981" indent="-304792" algn="l" defTabSz="609585" rtl="0" eaLnBrk="1" latinLnBrk="0" hangingPunct="1">
              <a:spcBef>
                <a:spcPts val="1067"/>
              </a:spcBef>
              <a:buFont typeface="Intel Clear" panose="020B0604020203020204" pitchFamily="34" charset="0"/>
              <a:buChar char="–"/>
              <a:defRPr sz="2400" kern="1200">
                <a:solidFill>
                  <a:srgbClr val="003C71"/>
                </a:solidFill>
                <a:latin typeface="+mn-lt"/>
                <a:ea typeface="+mn-ea"/>
                <a:cs typeface="Intel Clear" panose="020B0604020203020204" pitchFamily="34" charset="0"/>
              </a:defRPr>
            </a:lvl3pPr>
            <a:lvl4pPr marL="1293252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133" kern="1200">
                <a:solidFill>
                  <a:srgbClr val="003C71"/>
                </a:solidFill>
                <a:latin typeface="+mn-lt"/>
                <a:ea typeface="+mn-ea"/>
                <a:cs typeface="Intel Clear" panose="020B0604020203020204" pitchFamily="34" charset="0"/>
              </a:defRPr>
            </a:lvl4pPr>
            <a:lvl5pPr marL="1758907" indent="-304792" algn="l" defTabSz="609585" rtl="0" eaLnBrk="1" latinLnBrk="0" hangingPunct="1">
              <a:spcBef>
                <a:spcPct val="20000"/>
              </a:spcBef>
              <a:buFont typeface="Intel Clear" panose="020B0604020203020204" pitchFamily="34" charset="0"/>
              <a:buChar char="–"/>
              <a:defRPr sz="1867" kern="1200">
                <a:solidFill>
                  <a:srgbClr val="003C71"/>
                </a:solidFill>
                <a:latin typeface="+mn-lt"/>
                <a:ea typeface="+mn-ea"/>
                <a:cs typeface="Intel Clear" panose="020B0604020203020204" pitchFamily="34" charset="0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09616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1C5"/>
                </a:solidFill>
                <a:effectLst/>
                <a:uLnTx/>
                <a:uFillTx/>
                <a:latin typeface="Intel Clear"/>
                <a:ea typeface="+mn-ea"/>
                <a:cs typeface="Intel Clear" panose="020B0604020203020204" pitchFamily="34" charset="0"/>
                <a:sym typeface="Helvetica Neue"/>
              </a:rPr>
              <a:t>Insertion loss and Crosstalk spec defined based on the criteria using Voltage Transfer Function (VTF) method</a:t>
            </a:r>
          </a:p>
          <a:p>
            <a:pPr marL="300597" marR="0" lvl="1" indent="-304807" algn="l" defTabSz="609616" rtl="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buFont typeface="Wingdings" charset="2"/>
              <a:buChar char="§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3C71"/>
                </a:solidFill>
                <a:effectLst/>
                <a:uLnTx/>
                <a:uFillTx/>
                <a:latin typeface="Intel Clear"/>
                <a:ea typeface="+mn-ea"/>
                <a:cs typeface="Intel Clear" panose="020B0604020203020204" pitchFamily="34" charset="0"/>
                <a:sym typeface="Helvetica Neue"/>
              </a:rPr>
              <a:t>Due to short transmission line, VTF is more practical than S-parameter based method.</a:t>
            </a:r>
          </a:p>
        </p:txBody>
      </p:sp>
    </p:spTree>
    <p:extLst>
      <p:ext uri="{BB962C8B-B14F-4D97-AF65-F5344CB8AC3E}">
        <p14:creationId xmlns:p14="http://schemas.microsoft.com/office/powerpoint/2010/main" val="3087722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84010EF-27E8-AAFF-8556-BA5EB9813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46" y="268490"/>
            <a:ext cx="6244591" cy="864580"/>
          </a:xfrm>
        </p:spPr>
        <p:txBody>
          <a:bodyPr>
            <a:normAutofit fontScale="90000"/>
          </a:bodyPr>
          <a:lstStyle/>
          <a:p>
            <a:r>
              <a:rPr lang="en-US" sz="3400" dirty="0"/>
              <a:t>Voltage Transfer Function (VTF) Based Metrics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7E7697-F637-9804-5CA3-3241AF034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847CC-E60A-4D7B-8A45-8ED321CC3E10}" type="slidenum">
              <a:rPr kumimoji="0" lang="en-US" alt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02BB5C-0D07-34C4-0DA0-FBB6E64F1CF1}"/>
                  </a:ext>
                </a:extLst>
              </p:cNvPr>
              <p:cNvSpPr txBox="1"/>
              <p:nvPr/>
            </p:nvSpPr>
            <p:spPr>
              <a:xfrm>
                <a:off x="980882" y="2433682"/>
                <a:ext cx="3025765" cy="249299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𝐿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(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𝑓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)=20</m:t>
                      </m:r>
                      <m:func>
                        <m:func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2525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2525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1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2525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2525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2525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lin"/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2525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Helvetica Neue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  <m:t>𝑟</m:t>
                                      </m:r>
                                    </m:sub>
                                  </m:s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2525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Helvetica Neue"/>
                                    </a:rPr>
                                    <m:t>(</m:t>
                                  </m:r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2525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Helvetica Neue"/>
                                    </a:rPr>
                                    <m:t>𝑓</m:t>
                                  </m:r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2525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Helvetica Neue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2525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Helvetica Neue"/>
                                    </a:rPr>
                                    <m:t>(</m:t>
                                  </m:r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2525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Helvetica Neue"/>
                                    </a:rPr>
                                    <m:t>𝑓</m:t>
                                  </m:r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2525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Helvetica Neue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Intel Clear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02BB5C-0D07-34C4-0DA0-FBB6E64F1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882" y="2433682"/>
                <a:ext cx="3025765" cy="249299"/>
              </a:xfrm>
              <a:prstGeom prst="rect">
                <a:avLst/>
              </a:prstGeom>
              <a:blipFill>
                <a:blip r:embed="rId2"/>
                <a:stretch>
                  <a:fillRect t="-190244" r="-2016" b="-2926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B0C1197-AEA6-05D0-AC35-A42C5DCAE8AC}"/>
              </a:ext>
            </a:extLst>
          </p:cNvPr>
          <p:cNvSpPr txBox="1"/>
          <p:nvPr/>
        </p:nvSpPr>
        <p:spPr>
          <a:xfrm>
            <a:off x="435887" y="1592810"/>
            <a:ext cx="624459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Intel Clear Light"/>
                <a:ea typeface="+mn-ea"/>
                <a:cs typeface="+mn-cs"/>
                <a:sym typeface="Helvetica Neue"/>
              </a:rPr>
              <a:t>Loss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Intel Clear Light"/>
                <a:ea typeface="+mn-ea"/>
                <a:cs typeface="+mn-cs"/>
                <a:sym typeface="Helvetica Neue"/>
              </a:rPr>
              <a:t>Loss is defined as the ratio of the receiver voltage and source voltage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9DEB37-E20C-5704-C445-EA015FCAE56C}"/>
                  </a:ext>
                </a:extLst>
              </p:cNvPr>
              <p:cNvSpPr txBox="1"/>
              <p:nvPr/>
            </p:nvSpPr>
            <p:spPr>
              <a:xfrm>
                <a:off x="1114858" y="5431869"/>
                <a:ext cx="3036537" cy="713465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𝑋𝑇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(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𝑓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)=10</m:t>
                      </m:r>
                      <m:func>
                        <m:func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2525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2525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1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2525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2525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2525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2525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Helvetica Neue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2525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Helvetica Neue"/>
                                    </a:rPr>
                                    <m:t>𝑖</m:t>
                                  </m:r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2525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Helvetica Neue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0" lang="en-US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2525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Helvetica Neue"/>
                                    </a:rPr>
                                    <m:t>19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kumimoji="0" lang="en-US" sz="16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525252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  <a:sym typeface="Helvetica Neue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525252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  <a:sym typeface="Helvetica Neue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en-US" sz="16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525252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  <a:sym typeface="Helvetica Neue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en-US" sz="16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525252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  <a:sym typeface="Helvetica Neue"/>
                                                    </a:rPr>
                                                    <m:t>𝑉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en-US" sz="16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525252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  <a:sym typeface="Helvetica Neue"/>
                                                    </a:rPr>
                                                    <m:t>𝑎</m:t>
                                                  </m:r>
                                                  <m:r>
                                                    <a:rPr kumimoji="0" lang="en-US" sz="16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525252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  <a:sym typeface="Helvetica Neue"/>
                                                    </a:rPr>
                                                    <m:t>_</m:t>
                                                  </m:r>
                                                  <m:r>
                                                    <a:rPr kumimoji="0" lang="en-US" sz="16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525252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  <a:sym typeface="Helvetica Neue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525252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  <a:sym typeface="Helvetica Neue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525252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  <a:sym typeface="Helvetica Neue"/>
                                                </a:rPr>
                                                <m:t>𝑓</m:t>
                                              </m:r>
                                              <m: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525252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  <a:sym typeface="Helvetica Neue"/>
                                                </a:rPr>
                                                <m:t>)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en-US" sz="16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525252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  <a:sym typeface="Helvetica Neue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en-US" sz="16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525252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  <a:sym typeface="Helvetica Neue"/>
                                                    </a:rPr>
                                                    <m:t>𝑉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en-US" sz="1600" b="0" i="1" u="none" strike="noStrike" kern="120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srgbClr val="525252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+mn-cs"/>
                                                      <a:sym typeface="Helvetica Neue"/>
                                                    </a:rPr>
                                                    <m:t>𝑠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525252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  <a:sym typeface="Helvetica Neue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525252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  <a:sym typeface="Helvetica Neue"/>
                                                </a:rPr>
                                                <m:t>𝑓</m:t>
                                              </m:r>
                                              <m:r>
                                                <a:rPr kumimoji="0" lang="en-US" sz="16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525252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+mn-cs"/>
                                                  <a:sym typeface="Helvetica Neue"/>
                                                </a:rPr>
                                                <m:t>)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0" lang="en-US" sz="16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Intel Clear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39DEB37-E20C-5704-C445-EA015FCAE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858" y="5431869"/>
                <a:ext cx="3036537" cy="713465"/>
              </a:xfrm>
              <a:prstGeom prst="rect">
                <a:avLst/>
              </a:prstGeom>
              <a:blipFill>
                <a:blip r:embed="rId3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B6B6404-B1E1-8513-DC9B-763258CEEE99}"/>
              </a:ext>
            </a:extLst>
          </p:cNvPr>
          <p:cNvSpPr txBox="1"/>
          <p:nvPr/>
        </p:nvSpPr>
        <p:spPr>
          <a:xfrm>
            <a:off x="445515" y="4109976"/>
            <a:ext cx="5715142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Intel Clear Light"/>
                <a:ea typeface="+mn-ea"/>
                <a:cs typeface="+mn-cs"/>
                <a:sym typeface="Helvetica Neue"/>
              </a:rPr>
              <a:t>Crosstalk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Intel Clear Light"/>
                <a:ea typeface="+mn-ea"/>
                <a:cs typeface="+mn-cs"/>
                <a:sym typeface="Helvetica Neue"/>
              </a:rPr>
              <a:t>19 aggressors included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Intel Clear Light"/>
                <a:ea typeface="+mn-ea"/>
                <a:cs typeface="+mn-cs"/>
                <a:sym typeface="Helvetica Neue"/>
              </a:rPr>
              <a:t>Crosstalk is defined as the power sum of the ratios of the aggressor receiver voltage to the source voltage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Intel Clear Light"/>
                <a:ea typeface="+mn-ea"/>
                <a:cs typeface="+mn-cs"/>
                <a:sym typeface="Helvetica Neue"/>
              </a:rPr>
              <a:t>Based on crosstalk reciprocity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Intel Clear Light"/>
              <a:ea typeface="+mn-ea"/>
              <a:cs typeface="+mn-cs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A4F6F5-8545-8091-7827-EDA7FEA10696}"/>
              </a:ext>
            </a:extLst>
          </p:cNvPr>
          <p:cNvSpPr txBox="1"/>
          <p:nvPr/>
        </p:nvSpPr>
        <p:spPr>
          <a:xfrm>
            <a:off x="415168" y="1389167"/>
            <a:ext cx="60960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Intel Clear Light"/>
                <a:ea typeface="+mn-ea"/>
                <a:cs typeface="+mn-cs"/>
                <a:sym typeface="Helvetica Neue"/>
              </a:rPr>
              <a:t>VTF metrics incorporates Tx and Rx R/C terminations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D570E2-19CB-C24A-03A7-EA1067A8BA1C}"/>
                  </a:ext>
                </a:extLst>
              </p:cNvPr>
              <p:cNvSpPr txBox="1"/>
              <p:nvPr/>
            </p:nvSpPr>
            <p:spPr>
              <a:xfrm>
                <a:off x="983050" y="2831912"/>
                <a:ext cx="4094647" cy="560090"/>
              </a:xfrm>
              <a:prstGeom prst="rect">
                <a:avLst/>
              </a:prstGeom>
              <a:solidFill>
                <a:srgbClr val="FFFFFF">
                  <a:lumMod val="95000"/>
                </a:srgbClr>
              </a:solidFill>
            </p:spPr>
            <p:txBody>
              <a:bodyPr wrap="none" lIns="0" tIns="0" rIns="0" bIns="0" rtlCol="0" anchor="t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𝐿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52525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(0)=20</m:t>
                      </m:r>
                      <m:func>
                        <m:func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52525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Helvetica Neue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2525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en-US" sz="18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2525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log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2525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52525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  <a:sym typeface="Helvetica Neue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2525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Helvetica Neue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  <m:t>𝑟𝑥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  <m:t>𝑡𝑥</m:t>
                                      </m:r>
                                    </m:sub>
                                  </m:s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2525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Helvetica Neue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  <m:t>𝑐h𝑎𝑛𝑛𝑒𝑙</m:t>
                                      </m:r>
                                    </m:sub>
                                  </m:s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52525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  <a:sym typeface="Helvetica Neue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52525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  <a:sym typeface="Helvetica Neue"/>
                                        </a:rPr>
                                        <m:t>𝑟𝑥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525252"/>
                  </a:solidFill>
                  <a:effectLst/>
                  <a:uLnTx/>
                  <a:uFillTx/>
                  <a:latin typeface="Intel Clear"/>
                  <a:ea typeface="+mn-ea"/>
                  <a:cs typeface="+mn-cs"/>
                  <a:sym typeface="Helvetica Neue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D570E2-19CB-C24A-03A7-EA1067A8B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050" y="2831912"/>
                <a:ext cx="4094647" cy="560090"/>
              </a:xfrm>
              <a:prstGeom prst="rect">
                <a:avLst/>
              </a:prstGeom>
              <a:blipFill>
                <a:blip r:embed="rId4"/>
                <a:stretch>
                  <a:fillRect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1C7B0B-978E-98E3-E68B-27EB16F59CEB}"/>
                  </a:ext>
                </a:extLst>
              </p:cNvPr>
              <p:cNvSpPr txBox="1"/>
              <p:nvPr/>
            </p:nvSpPr>
            <p:spPr>
              <a:xfrm>
                <a:off x="444982" y="3518801"/>
                <a:ext cx="6096000" cy="3077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1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  <a:sym typeface="Helvetica Neue"/>
                      </a:rPr>
                      <m:t>𝐿</m:t>
                    </m:r>
                    <m:d>
                      <m:dPr>
                        <m:ctrlPr>
                          <a:rPr kumimoji="0" lang="en-US" sz="1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</m:ctrlPr>
                      </m:dPr>
                      <m:e>
                        <m:r>
                          <a:rPr kumimoji="0" lang="en-US" sz="1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0</m:t>
                        </m:r>
                      </m:e>
                    </m:d>
                  </m:oMath>
                </a14:m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Intel Clear Light"/>
                    <a:ea typeface="+mn-ea"/>
                    <a:cs typeface="+mn-cs"/>
                    <a:sym typeface="Helvetica Neue"/>
                  </a:rPr>
                  <a:t> is 0 for unterminated channel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01C7B0B-978E-98E3-E68B-27EB16F59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982" y="3518801"/>
                <a:ext cx="6096000" cy="307777"/>
              </a:xfrm>
              <a:prstGeom prst="rect">
                <a:avLst/>
              </a:prstGeom>
              <a:blipFill>
                <a:blip r:embed="rId5"/>
                <a:stretch>
                  <a:fillRect l="-200" t="-3922" b="-19608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9EC7AE84-CBB4-2CEC-584D-16C0074E32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5355" y="158090"/>
            <a:ext cx="3139712" cy="33607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6027F3-89DE-EBFB-C428-080AECE207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0920" y="3518801"/>
            <a:ext cx="4499238" cy="213988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BC2700C-CA7C-989F-F236-97D911D756EE}"/>
              </a:ext>
            </a:extLst>
          </p:cNvPr>
          <p:cNvSpPr txBox="1"/>
          <p:nvPr/>
        </p:nvSpPr>
        <p:spPr>
          <a:xfrm>
            <a:off x="6184483" y="3726859"/>
            <a:ext cx="17779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highlight>
                  <a:srgbClr val="C0C0C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Eye Mask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highlight>
                  <a:srgbClr val="C0C0C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Simulation Setup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002BD6-BC17-62F3-C259-CF20D4794727}"/>
              </a:ext>
            </a:extLst>
          </p:cNvPr>
          <p:cNvSpPr txBox="1"/>
          <p:nvPr/>
        </p:nvSpPr>
        <p:spPr>
          <a:xfrm>
            <a:off x="6970127" y="1019835"/>
            <a:ext cx="1510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highlight>
                  <a:srgbClr val="C0C0C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Circuit for VTF</a:t>
            </a:r>
          </a:p>
        </p:txBody>
      </p:sp>
    </p:spTree>
    <p:extLst>
      <p:ext uri="{BB962C8B-B14F-4D97-AF65-F5344CB8AC3E}">
        <p14:creationId xmlns:p14="http://schemas.microsoft.com/office/powerpoint/2010/main" val="909465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8D5794-F286-3037-C05F-44FDA214E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164727"/>
            <a:ext cx="11497733" cy="1085391"/>
          </a:xfrm>
        </p:spPr>
        <p:txBody>
          <a:bodyPr/>
          <a:lstStyle/>
          <a:p>
            <a:r>
              <a:rPr lang="en-US" sz="1800" dirty="0"/>
              <a:t>Example of UCIe at 16Gb/s standard package shown: 2D map of </a:t>
            </a:r>
            <a:r>
              <a:rPr lang="en-US" sz="1800" u="sng" dirty="0">
                <a:solidFill>
                  <a:srgbClr val="0000CC"/>
                </a:solidFill>
              </a:rPr>
              <a:t>L(8)</a:t>
            </a:r>
            <a:r>
              <a:rPr lang="en-US" sz="1800" u="sng" dirty="0"/>
              <a:t> and </a:t>
            </a:r>
            <a:r>
              <a:rPr lang="en-US" sz="1800" u="sng" dirty="0">
                <a:solidFill>
                  <a:srgbClr val="0000CC"/>
                </a:solidFill>
              </a:rPr>
              <a:t>XT(8)</a:t>
            </a:r>
            <a:r>
              <a:rPr lang="en-US" sz="1800" u="sng" dirty="0"/>
              <a:t> </a:t>
            </a:r>
            <a:r>
              <a:rPr lang="en-US" sz="1800" dirty="0"/>
              <a:t>pass/fail region</a:t>
            </a:r>
          </a:p>
          <a:p>
            <a:r>
              <a:rPr lang="en-US" sz="1800" dirty="0"/>
              <a:t>Linear and flat mask for Loss and Crosstalk respectively, not a single frequency spec.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FB995A-2C87-F810-5931-9E1A62C14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Specify Insertion Loss, Crosstalk &amp; Tradeoff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C7475-16E4-9A34-7404-201797DED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847CC-E60A-4D7B-8A45-8ED321CC3E10}" type="slidenum">
              <a:rPr kumimoji="0" lang="en-US" alt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311FFB-FF3E-6E8A-8B52-41586DD12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26" y="2078850"/>
            <a:ext cx="6271671" cy="40760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C3B11F-DCBA-9DE5-5DD0-98B3D867B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129" y="2267051"/>
            <a:ext cx="5667045" cy="283068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B4031F-4FE5-5809-DF9E-A7619122A887}"/>
              </a:ext>
            </a:extLst>
          </p:cNvPr>
          <p:cNvCxnSpPr>
            <a:cxnSpLocks/>
          </p:cNvCxnSpPr>
          <p:nvPr/>
        </p:nvCxnSpPr>
        <p:spPr>
          <a:xfrm>
            <a:off x="8737600" y="1493785"/>
            <a:ext cx="553755" cy="978084"/>
          </a:xfrm>
          <a:prstGeom prst="straightConnector1">
            <a:avLst/>
          </a:prstGeom>
          <a:ln w="57150">
            <a:solidFill>
              <a:srgbClr val="00CC00">
                <a:alpha val="49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05E174BF-2674-5658-6231-65C1078AD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6479" y="4989533"/>
            <a:ext cx="2136610" cy="116120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7AECFD-13AB-167D-E662-563D099A1B6D}"/>
              </a:ext>
            </a:extLst>
          </p:cNvPr>
          <p:cNvCxnSpPr>
            <a:cxnSpLocks/>
          </p:cNvCxnSpPr>
          <p:nvPr/>
        </p:nvCxnSpPr>
        <p:spPr>
          <a:xfrm>
            <a:off x="3648645" y="4386791"/>
            <a:ext cx="4022530" cy="1306482"/>
          </a:xfrm>
          <a:prstGeom prst="straightConnector1">
            <a:avLst/>
          </a:prstGeom>
          <a:ln w="57150">
            <a:solidFill>
              <a:srgbClr val="00CC00">
                <a:alpha val="51000"/>
              </a:srgb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502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F9A45-65A5-C5CA-97BF-42D1B50F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Eye Mask for 48 and 64 Gb/s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D1A2-EE92-7694-4DB5-C98C3B07C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098" y="4456758"/>
            <a:ext cx="11058832" cy="1887866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</a:pPr>
            <a:r>
              <a:rPr lang="en-US" sz="2100" dirty="0">
                <a:solidFill>
                  <a:srgbClr val="7030A0"/>
                </a:solidFill>
              </a:rPr>
              <a:t>Diamond Shape Eye Mask is required when data rate reaches certain point</a:t>
            </a:r>
          </a:p>
          <a:p>
            <a:pPr lvl="1">
              <a:lnSpc>
                <a:spcPct val="90000"/>
              </a:lnSpc>
            </a:pPr>
            <a:r>
              <a:rPr lang="en-US" sz="1900" dirty="0">
                <a:solidFill>
                  <a:srgbClr val="7030A0"/>
                </a:solidFill>
              </a:rPr>
              <a:t>Eye Mask includes effects of channel loss profile, xtalk, and link equalization. Does not include circuit noise, jitter, and other non-idealities.</a:t>
            </a:r>
          </a:p>
          <a:p>
            <a:pPr>
              <a:lnSpc>
                <a:spcPct val="90000"/>
              </a:lnSpc>
            </a:pPr>
            <a:r>
              <a:rPr lang="en-US" sz="2100" dirty="0"/>
              <a:t>(+) Provides more channel solution space than rectangular eye mask</a:t>
            </a:r>
          </a:p>
          <a:p>
            <a:pPr>
              <a:lnSpc>
                <a:spcPct val="90000"/>
              </a:lnSpc>
            </a:pPr>
            <a:r>
              <a:rPr lang="en-US" sz="2100" dirty="0">
                <a:solidFill>
                  <a:srgbClr val="C00000"/>
                </a:solidFill>
              </a:rPr>
              <a:t>(!)</a:t>
            </a:r>
            <a:r>
              <a:rPr lang="en-US" sz="2100" dirty="0"/>
              <a:t> Cannot decouple Eye Width and Eye Height calculations</a:t>
            </a:r>
          </a:p>
          <a:p>
            <a:pPr>
              <a:lnSpc>
                <a:spcPct val="90000"/>
              </a:lnSpc>
            </a:pPr>
            <a:r>
              <a:rPr lang="en-US" sz="2100" dirty="0">
                <a:solidFill>
                  <a:srgbClr val="C00000"/>
                </a:solidFill>
              </a:rPr>
              <a:t>(!)</a:t>
            </a:r>
            <a:r>
              <a:rPr lang="en-US" sz="2100" dirty="0"/>
              <a:t> Need to consider voltage noise and timing jitter interaction in link analysis</a:t>
            </a:r>
          </a:p>
          <a:p>
            <a:pPr>
              <a:lnSpc>
                <a:spcPct val="90000"/>
              </a:lnSpc>
            </a:pPr>
            <a:r>
              <a:rPr lang="en-US" sz="2100" dirty="0">
                <a:solidFill>
                  <a:srgbClr val="C00000"/>
                </a:solidFill>
              </a:rPr>
              <a:t>(!)</a:t>
            </a:r>
            <a:r>
              <a:rPr lang="en-US" sz="2100" dirty="0"/>
              <a:t> Statistical method required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78362-D922-3E47-EA38-47E549E24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973EAC-E4E8-4B97-35AD-767FD1E775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68" y="1120616"/>
            <a:ext cx="5232400" cy="3126358"/>
          </a:xfrm>
          <a:prstGeom prst="rect">
            <a:avLst/>
          </a:prstGeom>
          <a:noFill/>
        </p:spPr>
      </p:pic>
      <p:pic>
        <p:nvPicPr>
          <p:cNvPr id="7" name="Picture 6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02F26A6C-77BD-4CA9-5116-A10E055A1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843068"/>
            <a:ext cx="5232400" cy="3466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43932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D5ECA-9E4E-3561-1172-8BF31EC4E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355291"/>
            <a:ext cx="11058832" cy="618101"/>
          </a:xfrm>
        </p:spPr>
        <p:txBody>
          <a:bodyPr anchor="ctr">
            <a:normAutofit/>
          </a:bodyPr>
          <a:lstStyle/>
          <a:p>
            <a:r>
              <a:rPr lang="en-US" dirty="0"/>
              <a:t>Statistical Method Example</a:t>
            </a:r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045016C8-2A2F-0D9B-18B7-F14322FE2C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20036" y="1554651"/>
            <a:ext cx="7188875" cy="3971854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062C5-DEEF-C6CE-2965-7059D9671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5CF23B8-18BE-485D-BC2C-61110F510EA1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757DC92B-5146-044B-1BEA-5F64D24BB542}"/>
              </a:ext>
            </a:extLst>
          </p:cNvPr>
          <p:cNvSpPr txBox="1">
            <a:spLocks/>
          </p:cNvSpPr>
          <p:nvPr/>
        </p:nvSpPr>
        <p:spPr>
          <a:xfrm>
            <a:off x="355600" y="1467853"/>
            <a:ext cx="4464436" cy="4058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457200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688975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855663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973138" indent="-17145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§"/>
              <a:defRPr sz="13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u="sng" dirty="0"/>
              <a:t>Channel</a:t>
            </a:r>
            <a:r>
              <a:rPr lang="en-US" sz="1800" dirty="0"/>
              <a:t>: representative UCIe-S link, 10.4 dB insertion loss at 32 GHz</a:t>
            </a:r>
          </a:p>
          <a:p>
            <a:r>
              <a:rPr lang="en-US" sz="1800" u="sng" dirty="0"/>
              <a:t>Outer Eye</a:t>
            </a:r>
            <a:r>
              <a:rPr lang="en-US" sz="1800" dirty="0"/>
              <a:t>: the response after the channel, with equalization applied</a:t>
            </a:r>
          </a:p>
          <a:p>
            <a:r>
              <a:rPr lang="en-US" sz="1800" u="sng" dirty="0"/>
              <a:t>Inner Eye</a:t>
            </a:r>
            <a:r>
              <a:rPr lang="en-US" sz="1800" dirty="0"/>
              <a:t> (BER 1E-12): adds Xtalk, noise, jitter (random and deterministic), mismatch, and training error</a:t>
            </a:r>
          </a:p>
          <a:p>
            <a:r>
              <a:rPr lang="en-US" sz="1800" u="sng" dirty="0"/>
              <a:t>Versus high-speed SerDes</a:t>
            </a:r>
            <a:r>
              <a:rPr lang="en-US" sz="1800" dirty="0"/>
              <a:t>: a cleaner starting eye from loss and EQ, but far greater closure from circuit non-idealities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F3E5EC-9CC4-2A44-BBA9-E11404309D7B}"/>
              </a:ext>
            </a:extLst>
          </p:cNvPr>
          <p:cNvCxnSpPr>
            <a:cxnSpLocks/>
          </p:cNvCxnSpPr>
          <p:nvPr/>
        </p:nvCxnSpPr>
        <p:spPr>
          <a:xfrm>
            <a:off x="6721642" y="2831431"/>
            <a:ext cx="521369" cy="537411"/>
          </a:xfrm>
          <a:prstGeom prst="straightConnector1">
            <a:avLst/>
          </a:prstGeom>
          <a:ln w="19050">
            <a:prstDash val="sysDash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181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BD6CAA4-0F1B-2838-83A7-D4BDD009F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0" y="1236963"/>
            <a:ext cx="7335815" cy="4918304"/>
          </a:xfrm>
        </p:spPr>
        <p:txBody>
          <a:bodyPr>
            <a:normAutofit fontScale="92500" lnSpcReduction="10000"/>
          </a:bodyPr>
          <a:lstStyle/>
          <a:p>
            <a:r>
              <a:rPr lang="en-US" sz="1900" dirty="0"/>
              <a:t>FinFET transitioned to GAA FET (or equivalent)</a:t>
            </a:r>
          </a:p>
          <a:p>
            <a:pPr lvl="1"/>
            <a:r>
              <a:rPr lang="en-US" sz="1900" dirty="0"/>
              <a:t>GAA has improved digital performance (higher drive current, lower leakage…), but may have analog design challenges.</a:t>
            </a:r>
          </a:p>
          <a:p>
            <a:r>
              <a:rPr lang="en-US" sz="1900" dirty="0">
                <a:solidFill>
                  <a:srgbClr val="0000CC"/>
                </a:solidFill>
              </a:rPr>
              <a:t>Make front-end circuits more digital like and minimize pure analog circuits. </a:t>
            </a:r>
            <a:r>
              <a:rPr lang="en-US" sz="1900" dirty="0"/>
              <a:t>Do not require special analog process.</a:t>
            </a:r>
          </a:p>
          <a:p>
            <a:pPr lvl="1"/>
            <a:r>
              <a:rPr lang="en-US" sz="1900" dirty="0"/>
              <a:t>Traditionally analog circuits such as DLL and phase interpolator can be implemented with digital approach.</a:t>
            </a:r>
          </a:p>
          <a:p>
            <a:r>
              <a:rPr lang="en-US" sz="1900" dirty="0"/>
              <a:t>Fan-out of 4 (FO4) inverter delay </a:t>
            </a:r>
            <a:r>
              <a:rPr lang="en-US" sz="1900" i="1" dirty="0">
                <a:solidFill>
                  <a:srgbClr val="0000CC"/>
                </a:solidFill>
              </a:rPr>
              <a:t>d</a:t>
            </a:r>
            <a:r>
              <a:rPr lang="en-US" sz="1900" dirty="0"/>
              <a:t> is often used to characterize IO feasibility</a:t>
            </a:r>
          </a:p>
          <a:p>
            <a:pPr lvl="1"/>
            <a:r>
              <a:rPr lang="en-US" sz="1900" dirty="0"/>
              <a:t>Baud rate ≤ </a:t>
            </a:r>
            <a:r>
              <a:rPr lang="en-US" sz="1900" i="1" dirty="0">
                <a:solidFill>
                  <a:srgbClr val="0000CC"/>
                </a:solidFill>
              </a:rPr>
              <a:t>1/(4d)</a:t>
            </a:r>
            <a:r>
              <a:rPr lang="en-US" sz="1900" dirty="0"/>
              <a:t> : relatively simple IO; digital approaches are feasible (UCIe region)</a:t>
            </a:r>
            <a:endParaRPr lang="en-US" sz="1900" dirty="0">
              <a:solidFill>
                <a:srgbClr val="7030A0"/>
              </a:solidFill>
            </a:endParaRPr>
          </a:p>
          <a:p>
            <a:pPr lvl="1"/>
            <a:r>
              <a:rPr lang="en-US" sz="1900" dirty="0"/>
              <a:t>Baud rate between </a:t>
            </a:r>
            <a:r>
              <a:rPr lang="en-US" sz="1900" i="1" dirty="0">
                <a:solidFill>
                  <a:srgbClr val="0000CC"/>
                </a:solidFill>
              </a:rPr>
              <a:t>1/(4d)</a:t>
            </a:r>
            <a:r>
              <a:rPr lang="en-US" sz="1900" dirty="0"/>
              <a:t> and </a:t>
            </a:r>
            <a:r>
              <a:rPr lang="en-US" sz="1900" i="1" dirty="0">
                <a:solidFill>
                  <a:srgbClr val="0000CC"/>
                </a:solidFill>
              </a:rPr>
              <a:t>1/(2d)</a:t>
            </a:r>
            <a:r>
              <a:rPr lang="en-US" sz="1900" dirty="0"/>
              <a:t>: high complexity serial IO</a:t>
            </a:r>
          </a:p>
          <a:p>
            <a:pPr lvl="1"/>
            <a:r>
              <a:rPr lang="en-US" sz="1900" dirty="0"/>
              <a:t>Baud rate &gt; </a:t>
            </a:r>
            <a:r>
              <a:rPr lang="en-US" sz="1900" i="1" dirty="0">
                <a:solidFill>
                  <a:srgbClr val="0000CC"/>
                </a:solidFill>
              </a:rPr>
              <a:t>1/(2d)</a:t>
            </a:r>
            <a:r>
              <a:rPr lang="en-US" sz="1900" dirty="0"/>
              <a:t> : very complicated highly analog if possible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9131EA7-AC53-4F8C-E439-82C773DB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On Process Scaling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100022-35E2-6324-C445-4A8CF4FC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847CC-E60A-4D7B-8A45-8ED321CC3E10}" type="slidenum">
              <a:rPr kumimoji="0" lang="en-US" alt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661775-56EF-E56D-B685-A1FC6410D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1175" y="1236963"/>
            <a:ext cx="4419983" cy="19204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0D6D47-83D9-9657-1DDB-41A8B8BA9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2875" y="3618887"/>
            <a:ext cx="2741654" cy="147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560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800B-1C60-61E9-5630-72773264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Failure-In-Time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31B5EA-8DB1-7413-0AEB-708AE9A736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3233" y="1119823"/>
                <a:ext cx="10037682" cy="5407251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u="sng" dirty="0"/>
                  <a:t>Overall Reliability Target</a:t>
                </a:r>
                <a:r>
                  <a:rPr lang="en-US" dirty="0"/>
                  <a:t>: Failure-In-Time (FIT) rate due to D2D must be &lt;&lt; 1</a:t>
                </a:r>
              </a:p>
              <a:p>
                <a:pPr lvl="1"/>
                <a:r>
                  <a:rPr lang="en-US" dirty="0"/>
                  <a:t>FIT defined as expected number of failures in 1 billion hours of operation.</a:t>
                </a:r>
              </a:p>
              <a:p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rgbClr val="0000CC"/>
                    </a:solidFill>
                  </a:rPr>
                  <a:t>If BER is low enough, a simple parity check can be sufficient.</a:t>
                </a:r>
              </a:p>
              <a:p>
                <a:r>
                  <a:rPr lang="en-US" dirty="0"/>
                  <a:t>Example: UCIe 12 Gb/s, BER 1E-27.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FIT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=64×12×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×3600×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−27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=2.76×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Would take &gt; 300 UCIe links to reach FIT of 1</a:t>
                </a:r>
              </a:p>
              <a:p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rgbClr val="0000CC"/>
                    </a:solidFill>
                  </a:rPr>
                  <a:t>For higher BER, Cyclic Redundancy Check (CRC) is required.</a:t>
                </a:r>
              </a:p>
              <a:p>
                <a:r>
                  <a:rPr lang="en-US" dirty="0"/>
                  <a:t>Example: UCIe 32 Gb/s, BER 1E-15.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FIT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=64×32×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×3600×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=7.37×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CRC-16 is good choice here</a:t>
                </a:r>
              </a:p>
              <a:p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solidFill>
                      <a:srgbClr val="0000CC"/>
                    </a:solidFill>
                  </a:rPr>
                  <a:t>For even higher BER, such as 1E-6, Forward Error Correction (FEC) will be required.</a:t>
                </a:r>
              </a:p>
              <a:p>
                <a:r>
                  <a:rPr lang="en-US" dirty="0"/>
                  <a:t>FEC adds significant latency. D2D PHY usually requires low latency. Avoid unless absolutely necessary.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31B5EA-8DB1-7413-0AEB-708AE9A736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3233" y="1119823"/>
                <a:ext cx="10037682" cy="5407251"/>
              </a:xfrm>
              <a:blipFill>
                <a:blip r:embed="rId3"/>
                <a:stretch>
                  <a:fillRect l="-243" t="-1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51DDAB-9CAE-EBEB-C1B1-E1F046FE7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3835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AFF1A-4075-CF56-9024-8AD7250A6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CRC Computation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624B7-C402-CA00-76AA-41E4DC3237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64 Gb/s x64 Link with BER 1E-12</a:t>
                </a:r>
              </a:p>
              <a:p>
                <a:r>
                  <a:rPr lang="en-US" dirty="0"/>
                  <a:t>CRC-16 computes on 128-Byte message</a:t>
                </a:r>
              </a:p>
              <a:p>
                <a:endParaRPr lang="en-US" dirty="0"/>
              </a:p>
              <a:p>
                <a:r>
                  <a:rPr lang="en-US" dirty="0"/>
                  <a:t>Number of 128B messages in 1 billion hours per x64 link: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=64×64×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×3600×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/1024=1.44×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Due to low BER, we need to consider only the 4-error probability that escapes detection [binomial distribution, approximate for low BER]: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1024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BER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=4.58×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−38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CRC-16 aliasing probability: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−16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Put it together, FIT rate becomes: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FIT</m:t>
                    </m:r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−16</m:t>
                        </m:r>
                      </m:sup>
                    </m:sSup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=1.01×</m:t>
                    </m:r>
                    <m:sSup>
                      <m:sSupPr>
                        <m:ctrlP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−20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D624B7-C402-CA00-76AA-41E4DC3237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97" t="-1958" b="-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2F291-B186-4C60-CF23-E20CB7A3E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E06728-6CB0-2823-0937-8207C5FEDDE5}"/>
              </a:ext>
            </a:extLst>
          </p:cNvPr>
          <p:cNvSpPr txBox="1"/>
          <p:nvPr/>
        </p:nvSpPr>
        <p:spPr>
          <a:xfrm>
            <a:off x="4963582" y="5738177"/>
            <a:ext cx="3536951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4970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289316"/>
                </a:solidFill>
                <a:effectLst/>
                <a:uLnTx/>
                <a:uFillTx/>
                <a:latin typeface="Verdana Pro" panose="020B0604030504040204" pitchFamily="34" charset="0"/>
                <a:ea typeface="MS PGothic" panose="020B0600070205080204" pitchFamily="34" charset="-128"/>
                <a:cs typeface="+mn-cs"/>
              </a:rPr>
              <a:t>We have some margin to spare</a:t>
            </a:r>
          </a:p>
        </p:txBody>
      </p:sp>
    </p:spTree>
    <p:extLst>
      <p:ext uri="{BB962C8B-B14F-4D97-AF65-F5344CB8AC3E}">
        <p14:creationId xmlns:p14="http://schemas.microsoft.com/office/powerpoint/2010/main" val="34936687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A1EAEE-9C8B-F2E2-D618-1673588C6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361" y="1333500"/>
            <a:ext cx="7380820" cy="4660785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For advanced package, some physical connections may fail due to high density and large number of interconnects.</a:t>
            </a:r>
          </a:p>
          <a:p>
            <a:r>
              <a:rPr lang="en-US" sz="1800" dirty="0"/>
              <a:t>In-field Repair becomes critical.</a:t>
            </a:r>
          </a:p>
          <a:p>
            <a:endParaRPr lang="en-US" sz="1800" dirty="0"/>
          </a:p>
          <a:p>
            <a:r>
              <a:rPr lang="en-US" sz="1600" dirty="0"/>
              <a:t>Each of TX or RX cluster has the following repair capability:</a:t>
            </a:r>
          </a:p>
          <a:p>
            <a:pPr lvl="1"/>
            <a:r>
              <a:rPr lang="en-US" sz="1600" dirty="0"/>
              <a:t>Option 1: 2 repairs for each of 32 the data lanes (baseline)</a:t>
            </a:r>
          </a:p>
          <a:p>
            <a:pPr lvl="1"/>
            <a:r>
              <a:rPr lang="en-US" sz="1600" dirty="0"/>
              <a:t>Option 2: 4 repairs for total 64 data lanes</a:t>
            </a:r>
          </a:p>
          <a:p>
            <a:pPr lvl="1"/>
            <a:r>
              <a:rPr lang="en-US" sz="1600" dirty="0"/>
              <a:t>Option 3: option 1 + half width when &gt; 2 failures in 32 lanes</a:t>
            </a:r>
          </a:p>
          <a:p>
            <a:r>
              <a:rPr lang="en-US" sz="1600" dirty="0"/>
              <a:t>Common for all options:</a:t>
            </a:r>
          </a:p>
          <a:p>
            <a:pPr lvl="1"/>
            <a:r>
              <a:rPr lang="en-US" sz="1600" dirty="0"/>
              <a:t>1 repair for CKP, CKN, Track</a:t>
            </a:r>
          </a:p>
          <a:p>
            <a:pPr lvl="1"/>
            <a:r>
              <a:rPr lang="en-US" sz="1600" dirty="0"/>
              <a:t>1 repair for Valid</a:t>
            </a:r>
          </a:p>
          <a:p>
            <a:pPr lvl="1"/>
            <a:r>
              <a:rPr lang="en-US" sz="1600" dirty="0"/>
              <a:t>1 repair for SB Data</a:t>
            </a:r>
          </a:p>
          <a:p>
            <a:pPr lvl="1"/>
            <a:r>
              <a:rPr lang="en-US" sz="1600" dirty="0"/>
              <a:t>1 repair for SB Clock</a:t>
            </a:r>
          </a:p>
          <a:p>
            <a:r>
              <a:rPr lang="en-US" sz="1600" dirty="0"/>
              <a:t>A Module fails if defect number exceeds repair resources</a:t>
            </a:r>
          </a:p>
          <a:p>
            <a:endParaRPr lang="en-US" sz="18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2E107F-9702-70ED-8504-07FA7B101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In-Field Repair Strategy – A case study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544DA1-6F1D-E358-D645-DD74A6EBF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847CC-E60A-4D7B-8A45-8ED321CC3E10}" type="slidenum">
              <a:rPr kumimoji="0" lang="en-US" alt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alt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BCB213-6DCC-CAC8-98E0-B5A018AB5D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330" y="1912488"/>
            <a:ext cx="4587638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828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F58E606-2402-340D-A9B6-59434EB1C3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>
                    <a:solidFill>
                      <a:srgbClr val="0000CC"/>
                    </a:solidFill>
                  </a:rPr>
                  <a:t>Option 1: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0000CC"/>
                    </a:solidFill>
                  </a:rPr>
                  <a:t>Option 2: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0000CC"/>
                    </a:solidFill>
                  </a:rPr>
                  <a:t>Option 3: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r>
                  <a:rPr lang="en-US" dirty="0">
                    <a:solidFill>
                      <a:srgbClr val="0000CC"/>
                    </a:solidFill>
                  </a:rPr>
                  <a:t>Half BW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𝑝∈[0,1] is the failure rate of an individual lane, and 𝐹(𝑚,𝑛,𝑝) is the cumulative binominal distribution function.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F58E606-2402-340D-A9B6-59434EB1C3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07" t="-1469" b="-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90E65B2-B69C-3B50-B629-24B12CE25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/>
              <a:t>Module Failure Probability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5A0D0-8B28-8A6B-A913-7F02E5A2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1847CC-E60A-4D7B-8A45-8ED321CC3E10}" type="slidenum">
              <a:rPr kumimoji="0" lang="en-US" altLang="fr-FR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altLang="fr-FR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1A514D-4B69-4BBA-794B-501034F783FA}"/>
                  </a:ext>
                </a:extLst>
              </p:cNvPr>
              <p:cNvSpPr txBox="1"/>
              <p:nvPr/>
            </p:nvSpPr>
            <p:spPr>
              <a:xfrm>
                <a:off x="2459224" y="1495045"/>
                <a:ext cx="568123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=1−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83696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83696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kumimoji="0" lang="en-US" sz="24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6</m:t>
                          </m:r>
                        </m:sup>
                      </m:sSup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83696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1,4,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(2,34,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1A514D-4B69-4BBA-794B-501034F78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224" y="1495045"/>
                <a:ext cx="5681230" cy="461665"/>
              </a:xfrm>
              <a:prstGeom prst="rect">
                <a:avLst/>
              </a:prstGeom>
              <a:blipFill>
                <a:blip r:embed="rId3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Left Brace 6">
            <a:extLst>
              <a:ext uri="{FF2B5EF4-FFF2-40B4-BE49-F238E27FC236}">
                <a16:creationId xmlns:a16="http://schemas.microsoft.com/office/drawing/2014/main" id="{D4419DE4-AA19-85F7-178D-A7271957064D}"/>
              </a:ext>
            </a:extLst>
          </p:cNvPr>
          <p:cNvSpPr/>
          <p:nvPr/>
        </p:nvSpPr>
        <p:spPr>
          <a:xfrm rot="16200000">
            <a:off x="4318212" y="1568712"/>
            <a:ext cx="368825" cy="1082677"/>
          </a:xfrm>
          <a:prstGeom prst="leftBrac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EC52D52B-BB1A-370E-3723-E0D52E407EA0}"/>
              </a:ext>
            </a:extLst>
          </p:cNvPr>
          <p:cNvSpPr/>
          <p:nvPr/>
        </p:nvSpPr>
        <p:spPr>
          <a:xfrm rot="16200000">
            <a:off x="5566007" y="1568711"/>
            <a:ext cx="368825" cy="1082677"/>
          </a:xfrm>
          <a:prstGeom prst="leftBrac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715218ED-A083-EB4D-7DD7-9C876DC32A59}"/>
              </a:ext>
            </a:extLst>
          </p:cNvPr>
          <p:cNvSpPr/>
          <p:nvPr/>
        </p:nvSpPr>
        <p:spPr>
          <a:xfrm rot="16200000">
            <a:off x="6944988" y="1422808"/>
            <a:ext cx="368825" cy="1345048"/>
          </a:xfrm>
          <a:prstGeom prst="leftBrace">
            <a:avLst/>
          </a:prstGeom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57B3F0-03C7-7ACF-9E7F-F0E196257EE8}"/>
              </a:ext>
            </a:extLst>
          </p:cNvPr>
          <p:cNvSpPr txBox="1"/>
          <p:nvPr/>
        </p:nvSpPr>
        <p:spPr>
          <a:xfrm>
            <a:off x="3805647" y="2256058"/>
            <a:ext cx="1494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SB Data/Clock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085477-93D0-6F3D-3BAD-A41772E4A7B5}"/>
              </a:ext>
            </a:extLst>
          </p:cNvPr>
          <p:cNvSpPr txBox="1"/>
          <p:nvPr/>
        </p:nvSpPr>
        <p:spPr>
          <a:xfrm>
            <a:off x="5343280" y="2233954"/>
            <a:ext cx="871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CLKP/N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6CC264-226D-E522-3D20-B9201EEEA1F4}"/>
              </a:ext>
            </a:extLst>
          </p:cNvPr>
          <p:cNvSpPr txBox="1"/>
          <p:nvPr/>
        </p:nvSpPr>
        <p:spPr>
          <a:xfrm>
            <a:off x="6593068" y="2231871"/>
            <a:ext cx="1208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Lanes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F49CB8-E99B-72EC-EC12-709FD4F89CA4}"/>
              </a:ext>
            </a:extLst>
          </p:cNvPr>
          <p:cNvSpPr txBox="1"/>
          <p:nvPr/>
        </p:nvSpPr>
        <p:spPr>
          <a:xfrm>
            <a:off x="8346250" y="1558729"/>
            <a:ext cx="3475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Counting failures in both directions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TX and RX bundles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07868D-4CFC-DD58-156A-B77ECE151040}"/>
                  </a:ext>
                </a:extLst>
              </p:cNvPr>
              <p:cNvSpPr txBox="1"/>
              <p:nvPr/>
            </p:nvSpPr>
            <p:spPr>
              <a:xfrm>
                <a:off x="2241168" y="2948800"/>
                <a:ext cx="609426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=1−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83696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83696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kumimoji="0" lang="en-US" sz="24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6</m:t>
                          </m:r>
                        </m:sup>
                      </m:sSup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83696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1,4,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(4,68,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E07868D-4CFC-DD58-156A-B77ECE1510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168" y="2948800"/>
                <a:ext cx="6094268" cy="461665"/>
              </a:xfrm>
              <a:prstGeom prst="rect">
                <a:avLst/>
              </a:prstGeom>
              <a:blipFill>
                <a:blip r:embed="rId4"/>
                <a:stretch>
                  <a:fillRect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FADB41-90A7-7154-0458-5C3D0A611222}"/>
                  </a:ext>
                </a:extLst>
              </p:cNvPr>
              <p:cNvSpPr txBox="1"/>
              <p:nvPr/>
            </p:nvSpPr>
            <p:spPr>
              <a:xfrm>
                <a:off x="2459224" y="3604965"/>
                <a:ext cx="772650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𝑃</m:t>
                          </m:r>
                        </m:e>
                        <m:sub>
                          <m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=1−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83696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836967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kumimoji="0" lang="en-US" sz="24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6</m:t>
                          </m:r>
                        </m:sup>
                      </m:sSup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83696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1,4,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𝐹</m:t>
                          </m:r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83696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2,34,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83696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836967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4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2−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𝐹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(2,34,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𝑝</m:t>
                              </m:r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kumimoji="0" lang="en-US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FADB41-90A7-7154-0458-5C3D0A611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9224" y="3604965"/>
                <a:ext cx="7726507" cy="461665"/>
              </a:xfrm>
              <a:prstGeom prst="rect">
                <a:avLst/>
              </a:prstGeom>
              <a:blipFill>
                <a:blip r:embed="rId5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F9B862-26DD-3CA5-250B-7B23B7E1ACD3}"/>
                  </a:ext>
                </a:extLst>
              </p:cNvPr>
              <p:cNvSpPr txBox="1"/>
              <p:nvPr/>
            </p:nvSpPr>
            <p:spPr>
              <a:xfrm>
                <a:off x="7953418" y="4076386"/>
                <a:ext cx="41055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>
                        <a:lumMod val="75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 arises from 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1−</m:t>
                    </m:r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0AD47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0AD47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1−</m:t>
                            </m:r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0AD47">
                                    <a:lumMod val="75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𝐹</m:t>
                            </m:r>
                          </m:e>
                        </m:d>
                      </m:e>
                      <m:sup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70AD47">
                                <a:lumMod val="75000"/>
                              </a:srgbClr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(2−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</m:t>
                    </m:r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70AD47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70AD47">
                      <a:lumMod val="7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0F9B862-26DD-3CA5-250B-7B23B7E1A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418" y="4076386"/>
                <a:ext cx="4105558" cy="369332"/>
              </a:xfrm>
              <a:prstGeom prst="rect">
                <a:avLst/>
              </a:prstGeom>
              <a:blipFill>
                <a:blip r:embed="rId6"/>
                <a:stretch>
                  <a:fillRect l="-1337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1051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">
            <a:extLst>
              <a:ext uri="{FF2B5EF4-FFF2-40B4-BE49-F238E27FC236}">
                <a16:creationId xmlns:a16="http://schemas.microsoft.com/office/drawing/2014/main" id="{6D5C3D6A-31FC-7FD9-57E0-A3E596162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355291"/>
            <a:ext cx="11058832" cy="618101"/>
          </a:xfrm>
        </p:spPr>
        <p:txBody>
          <a:bodyPr/>
          <a:lstStyle/>
          <a:p>
            <a:r>
              <a:rPr lang="en-US" dirty="0"/>
              <a:t>Module Failure Probability Plot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7A68606A-F90E-B316-5F3A-5347B128F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1" y="2626056"/>
            <a:ext cx="5374968" cy="2570169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Plot as a function of lane failure probabilities</a:t>
            </a:r>
          </a:p>
          <a:p>
            <a:r>
              <a:rPr lang="en-US" sz="1800" u="sng" dirty="0"/>
              <a:t>Hypothetical perfect repair case</a:t>
            </a:r>
            <a:r>
              <a:rPr lang="en-US" sz="1800" dirty="0"/>
              <a:t>: data lanes never fail, only Valid/Clock/Track/SB can fail.</a:t>
            </a:r>
          </a:p>
          <a:p>
            <a:r>
              <a:rPr lang="en-US" sz="1800" dirty="0">
                <a:solidFill>
                  <a:srgbClr val="0070C0"/>
                </a:solidFill>
              </a:rPr>
              <a:t>Differences between all options are minimal in the practical region, even though options 2, 3, and 4 appear better on paper.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5A1594-4191-DE38-A589-DB507C268A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82" r="8691" b="3"/>
          <a:stretch>
            <a:fillRect/>
          </a:stretch>
        </p:blipFill>
        <p:spPr>
          <a:xfrm>
            <a:off x="6477000" y="1170881"/>
            <a:ext cx="5133475" cy="4440843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4A196F-4E59-889C-F0A5-7D4ACBC42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8F29CF-A752-1A78-7680-D790BE60D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689" y="1486456"/>
            <a:ext cx="4512055" cy="8903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E54105-420D-D5B3-8BBE-A45D6A762B20}"/>
              </a:ext>
            </a:extLst>
          </p:cNvPr>
          <p:cNvSpPr txBox="1"/>
          <p:nvPr/>
        </p:nvSpPr>
        <p:spPr>
          <a:xfrm>
            <a:off x="974689" y="5371544"/>
            <a:ext cx="4283119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4970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Verdana Pro" panose="020B0604030504040204" pitchFamily="34" charset="0"/>
                <a:ea typeface="MS PGothic" panose="020B0600070205080204" pitchFamily="34" charset="-128"/>
                <a:cs typeface="+mn-cs"/>
              </a:rPr>
              <a:t>Takeaway:</a:t>
            </a:r>
          </a:p>
          <a:p>
            <a:pPr marL="0" marR="4970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Verdana Pro" panose="020B0604030504040204" pitchFamily="34" charset="0"/>
                <a:ea typeface="MS PGothic" panose="020B0600070205080204" pitchFamily="34" charset="-128"/>
                <a:cs typeface="+mn-cs"/>
              </a:rPr>
              <a:t>It’s critical to identify the bottleneck</a:t>
            </a:r>
          </a:p>
          <a:p>
            <a:pPr marL="0" marR="4970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Verdana Pro" panose="020B0604030504040204" pitchFamily="34" charset="0"/>
                <a:ea typeface="MS PGothic" panose="020B0600070205080204" pitchFamily="34" charset="-128"/>
                <a:cs typeface="+mn-cs"/>
              </a:rPr>
              <a:t>Poor ROI if addressing the wrong 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1B73AC-0EC5-7B19-358F-608761F8FBBC}"/>
              </a:ext>
            </a:extLst>
          </p:cNvPr>
          <p:cNvSpPr txBox="1"/>
          <p:nvPr/>
        </p:nvSpPr>
        <p:spPr>
          <a:xfrm>
            <a:off x="663978" y="1170881"/>
            <a:ext cx="5133475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4970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MS PGothic" panose="020B0600070205080204" pitchFamily="34" charset="-128"/>
                <a:cs typeface="+mn-cs"/>
              </a:rPr>
              <a:t>Raw fail rate required to meet post-repair ppm:</a:t>
            </a:r>
          </a:p>
        </p:txBody>
      </p:sp>
    </p:spTree>
    <p:extLst>
      <p:ext uri="{BB962C8B-B14F-4D97-AF65-F5344CB8AC3E}">
        <p14:creationId xmlns:p14="http://schemas.microsoft.com/office/powerpoint/2010/main" val="18557803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AEA6-3858-68A8-4D08-53C5438BD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2B3F8DA-DE1D-F3A5-3754-A7671621A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85" y="556996"/>
            <a:ext cx="8495215" cy="1940671"/>
          </a:xfrm>
        </p:spPr>
        <p:txBody>
          <a:bodyPr/>
          <a:lstStyle/>
          <a:p>
            <a:r>
              <a:rPr lang="en-US" dirty="0"/>
              <a:t>UCIe Protocol &amp; Logical Layer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1DBAC-5EAE-3640-155A-ED916C5B6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85" y="2997200"/>
            <a:ext cx="6488615" cy="2302479"/>
          </a:xfrm>
        </p:spPr>
        <p:txBody>
          <a:bodyPr/>
          <a:lstStyle/>
          <a:p>
            <a:r>
              <a:rPr lang="en-US" sz="2000" dirty="0"/>
              <a:t>TBD, TBD</a:t>
            </a:r>
          </a:p>
          <a:p>
            <a:r>
              <a:rPr lang="en-US" sz="2000" dirty="0"/>
              <a:t>UCIe Protocol Workgroup Co-Chair</a:t>
            </a:r>
          </a:p>
          <a:p>
            <a:endParaRPr lang="en-US" sz="20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B75415B-38DC-1064-9D1B-EB55BA59E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1570" y="6527074"/>
            <a:ext cx="1286210" cy="327136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2917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1DE6-B48D-6393-C60D-03C63EBA0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UCIe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1469D-0016-8AB1-9E69-663FDF63C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99142"/>
            <a:ext cx="11290302" cy="5097463"/>
          </a:xfrm>
        </p:spPr>
        <p:txBody>
          <a:bodyPr>
            <a:normAutofit/>
          </a:bodyPr>
          <a:lstStyle/>
          <a:p>
            <a:r>
              <a:rPr lang="en-US" dirty="0"/>
              <a:t>UCIe defined protocol support</a:t>
            </a:r>
          </a:p>
          <a:p>
            <a:pPr lvl="1"/>
            <a:r>
              <a:rPr lang="en-US" dirty="0"/>
              <a:t>PCIe</a:t>
            </a:r>
          </a:p>
          <a:p>
            <a:pPr lvl="1"/>
            <a:r>
              <a:rPr lang="en-US" dirty="0"/>
              <a:t>CXL</a:t>
            </a:r>
          </a:p>
          <a:p>
            <a:pPr lvl="1"/>
            <a:r>
              <a:rPr lang="en-US" dirty="0"/>
              <a:t>UCIe Management Transport Protocol with UCIe Memory Access Procol</a:t>
            </a:r>
          </a:p>
          <a:p>
            <a:pPr lvl="1"/>
            <a:r>
              <a:rPr lang="en-US" dirty="0"/>
              <a:t>Streaming: Vendor defined protocol</a:t>
            </a:r>
          </a:p>
          <a:p>
            <a:endParaRPr lang="en-US" dirty="0"/>
          </a:p>
          <a:p>
            <a:r>
              <a:rPr lang="en-US" dirty="0"/>
              <a:t>Multiple Flit formats are permitted as a transport mechanism</a:t>
            </a:r>
          </a:p>
          <a:p>
            <a:endParaRPr lang="en-US" dirty="0"/>
          </a:p>
          <a:p>
            <a:r>
              <a:rPr lang="en-US" dirty="0"/>
              <a:t>Raw formats are supported where D2D Adapter CRC/Retry is bypassed – supported for all protocols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B26A1-A2CF-CB16-BEAA-6AAA96324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62739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CB14E19-8A5A-2FA8-D564-0C6DA244A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Functionality Partitioning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DEB7966-85E1-7861-466A-44B2D27E2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292" y="1001273"/>
            <a:ext cx="5133475" cy="3141190"/>
          </a:xfrm>
        </p:spPr>
        <p:txBody>
          <a:bodyPr>
            <a:normAutofit lnSpcReduction="10000"/>
          </a:bodyPr>
          <a:lstStyle/>
          <a:p>
            <a:r>
              <a:rPr lang="en-US" sz="1400" dirty="0"/>
              <a:t>Protocol Layer:</a:t>
            </a:r>
          </a:p>
          <a:p>
            <a:pPr lvl="1"/>
            <a:r>
              <a:rPr lang="en-US" sz="1200" dirty="0"/>
              <a:t>Streaming : Vendor Defined</a:t>
            </a:r>
          </a:p>
          <a:p>
            <a:pPr lvl="1"/>
            <a:r>
              <a:rPr lang="en-US" sz="1200" dirty="0"/>
              <a:t>PCIe/CXL </a:t>
            </a:r>
          </a:p>
          <a:p>
            <a:pPr lvl="1"/>
            <a:r>
              <a:rPr lang="en-US" sz="1200" dirty="0"/>
              <a:t>Flit format adherence, Transaction Layer credits etc.</a:t>
            </a:r>
          </a:p>
          <a:p>
            <a:pPr lvl="1"/>
            <a:endParaRPr lang="en-US" sz="1200" dirty="0"/>
          </a:p>
          <a:p>
            <a:r>
              <a:rPr lang="en-US" sz="1400" dirty="0"/>
              <a:t>Adapter</a:t>
            </a:r>
          </a:p>
          <a:p>
            <a:pPr lvl="1"/>
            <a:r>
              <a:rPr lang="en-US" sz="1200" dirty="0"/>
              <a:t>Lightweight CRC computation – 16b over 128B</a:t>
            </a:r>
          </a:p>
          <a:p>
            <a:pPr lvl="1"/>
            <a:r>
              <a:rPr lang="en-US" sz="1200" dirty="0"/>
              <a:t>Flit Retry mechanism leveraged from PCIe Flit Mode</a:t>
            </a:r>
          </a:p>
          <a:p>
            <a:endParaRPr lang="en-US" sz="1400" dirty="0"/>
          </a:p>
          <a:p>
            <a:r>
              <a:rPr lang="en-US" sz="1400" dirty="0"/>
              <a:t>Logical Physical Layer:</a:t>
            </a:r>
          </a:p>
          <a:p>
            <a:pPr lvl="1"/>
            <a:r>
              <a:rPr lang="en-US" sz="1200" dirty="0"/>
              <a:t>Link State Management for Reset/Active/PM/Error flows</a:t>
            </a:r>
          </a:p>
          <a:p>
            <a:pPr lvl="1"/>
            <a:r>
              <a:rPr lang="en-US" sz="1200" dirty="0"/>
              <a:t>1, 2 or 4 modules can be aggregated for a single UCIe Link</a:t>
            </a:r>
          </a:p>
          <a:p>
            <a:pPr marL="457200" lvl="1" indent="0">
              <a:buNone/>
            </a:pPr>
            <a:endParaRPr lang="en-US" sz="1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E1718-4903-7C5F-A8FB-186F294E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B841AC-443E-7E19-AB62-B6AFAB5FD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707" y="1440919"/>
            <a:ext cx="6354025" cy="4246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37029C-FE2D-F20A-AD8E-1E15BD889069}"/>
              </a:ext>
            </a:extLst>
          </p:cNvPr>
          <p:cNvSpPr txBox="1"/>
          <p:nvPr/>
        </p:nvSpPr>
        <p:spPr>
          <a:xfrm>
            <a:off x="543232" y="4339952"/>
            <a:ext cx="195438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2 Module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B78924-6549-A089-772D-DD14F9A34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26" y="4409821"/>
            <a:ext cx="5198402" cy="216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0546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416A9F6-9C98-BE3C-9A21-34E40F41F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Configurations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0D1AA-99F7-BA2E-A06C-E67696ED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98D61B-99D3-46E4-BC7F-253C1CC8B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014" y="1249251"/>
            <a:ext cx="5521972" cy="481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5466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549F44-C9FE-0CCE-5079-FFE1ADE16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355291"/>
            <a:ext cx="11058832" cy="618101"/>
          </a:xfrm>
        </p:spPr>
        <p:txBody>
          <a:bodyPr anchor="ctr">
            <a:normAutofit/>
          </a:bodyPr>
          <a:lstStyle/>
          <a:p>
            <a:r>
              <a:rPr lang="en-US" dirty="0"/>
              <a:t>Supported Flit Format example – PCIe Flit Mode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3277E-24E5-7BE2-AB89-D16B9A07E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57" y="1321938"/>
            <a:ext cx="9956210" cy="2165476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13AC5-BDF9-D07A-7F59-968F7524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7D7BEB-EA4E-26A2-E49D-D9B58DD9F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3835960"/>
            <a:ext cx="11163301" cy="1955240"/>
          </a:xfrm>
        </p:spPr>
        <p:txBody>
          <a:bodyPr>
            <a:normAutofit/>
          </a:bodyPr>
          <a:lstStyle/>
          <a:p>
            <a:r>
              <a:rPr lang="en-US" sz="1800" dirty="0"/>
              <a:t>Protocol Layer sends the Flit over FDI, drives 0b on reserved bits and the bits filled in by the D2D Adapter (Flit Marker populated by Protocol Layer in DLP Bytes 2:5)</a:t>
            </a:r>
          </a:p>
          <a:p>
            <a:pPr lvl="1"/>
            <a:r>
              <a:rPr lang="en-US" sz="1600" dirty="0"/>
              <a:t>DLLPs sent/received over separate signals on FDI</a:t>
            </a:r>
          </a:p>
          <a:p>
            <a:pPr lvl="1"/>
            <a:endParaRPr lang="en-US" sz="1600" dirty="0"/>
          </a:p>
          <a:p>
            <a:r>
              <a:rPr lang="en-US" sz="1800" dirty="0"/>
              <a:t>D2D Adapter fills in DLLP into DLP Bytes 2:5 if Flit Marker is not present</a:t>
            </a:r>
          </a:p>
        </p:txBody>
      </p:sp>
    </p:spTree>
    <p:extLst>
      <p:ext uri="{BB962C8B-B14F-4D97-AF65-F5344CB8AC3E}">
        <p14:creationId xmlns:p14="http://schemas.microsoft.com/office/powerpoint/2010/main" val="7189544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42AD6-48C6-0FED-CE2B-635C91FF0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Flit Format example – CXL 256B Flit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A1F16-9B14-31D8-AE78-169B3FA3C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2" y="2934181"/>
            <a:ext cx="11039168" cy="3169555"/>
          </a:xfrm>
        </p:spPr>
        <p:txBody>
          <a:bodyPr/>
          <a:lstStyle/>
          <a:p>
            <a:r>
              <a:rPr lang="en-US" dirty="0"/>
              <a:t>Protocol Layer sends the Flit over FDI, drives 0b on reserved bits and the bits filled in by the D2D Adapter </a:t>
            </a:r>
          </a:p>
          <a:p>
            <a:pPr lvl="1"/>
            <a:r>
              <a:rPr lang="en-US" dirty="0"/>
              <a:t>For CXL.io, Flit Marker populated by Protocol Layer in DLP Bytes 2:5. DLLPs sent/received over separate signals on FDI. D2D Adapter fills in DLLP into DLP Bytes 2:5 if Flit Marker is not present</a:t>
            </a:r>
          </a:p>
          <a:p>
            <a:pPr lvl="1"/>
            <a:r>
              <a:rPr lang="en-US" dirty="0"/>
              <a:t>For CXL.cachemem, there are no DLP bytes in the Flit, the corresponding bytes of the Flit are used for Payload instead</a:t>
            </a:r>
          </a:p>
          <a:p>
            <a:r>
              <a:rPr lang="en-US" dirty="0"/>
              <a:t>Follows the Framing rules for the Standard Flit in CXL Specification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4720B-0346-D950-5F87-13F57616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8BAFC3-EAA7-7D19-473F-A334ECA93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5563"/>
            <a:ext cx="12192000" cy="179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7689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FA780-0DD6-6D5E-62E7-B0FF1C54F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Flit Format example – Latency optimized CXL with optional bytes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19196-051D-3504-0942-78388D2FE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2A6E4B-5A5E-0E7D-FD1E-0992348D0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4658"/>
            <a:ext cx="12192000" cy="175172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E5A7475-1A60-C3AF-A67F-3FB8D60CB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2" y="2934181"/>
            <a:ext cx="11039168" cy="316955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Protocol Layer sends the Flit over FDI, drives 0b on the bits filled in by the D2D Adapter </a:t>
            </a:r>
          </a:p>
          <a:p>
            <a:pPr lvl="1"/>
            <a:r>
              <a:rPr lang="en-US" dirty="0"/>
              <a:t>For CXL.io, Flit Marker populated by Protocol Layer in DLP Bytes 2:5. DLLPs sent/received over separate signals on FDI</a:t>
            </a:r>
          </a:p>
          <a:p>
            <a:pPr lvl="1"/>
            <a:r>
              <a:rPr lang="en-US" dirty="0"/>
              <a:t>For CXL.cachemem, there are no DLP bytes in the Flit, the corresponding bytes of the Flit are used for payload</a:t>
            </a:r>
          </a:p>
          <a:p>
            <a:r>
              <a:rPr lang="en-US" dirty="0"/>
              <a:t>Follows the Framing rules for Latency Optimized Flit in CXL Specification with additional bytes from Protocol Layer for added efficiency</a:t>
            </a:r>
          </a:p>
          <a:p>
            <a:pPr lvl="1"/>
            <a:r>
              <a:rPr lang="en-US" dirty="0"/>
              <a:t>CXL.io gets an extra DWord of TLP information</a:t>
            </a:r>
          </a:p>
          <a:p>
            <a:pPr lvl="1"/>
            <a:r>
              <a:rPr lang="en-US" dirty="0"/>
              <a:t>CXL.cachemem gets an extra 14 Bytes of payload (H-slot)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00080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18CF9-539A-9711-26F1-9F730E5E7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Flit Format example - Streaming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7230A-809C-7EBD-B46E-9FB8476F9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2" y="3832529"/>
            <a:ext cx="11039168" cy="2271207"/>
          </a:xfrm>
        </p:spPr>
        <p:txBody>
          <a:bodyPr/>
          <a:lstStyle/>
          <a:p>
            <a:r>
              <a:rPr lang="en-US" dirty="0"/>
              <a:t>Streaming can use any of the available Flit Formats. </a:t>
            </a:r>
          </a:p>
          <a:p>
            <a:r>
              <a:rPr lang="en-US" dirty="0"/>
              <a:t>Common applications use the Latency Optimized one with optional bytes shown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0B21A-AD3E-0990-0094-F490A28E0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E68E52-9B2A-B239-2C64-D17C340FC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784" y="1294230"/>
            <a:ext cx="8164064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435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56BB6-C6F5-28AA-34AF-26E3CCC7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Continuous Transmission Protocols (Raw Mode Example)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59D2F-41AE-7C80-ECE6-995A0008D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2" y="1184744"/>
            <a:ext cx="6000691" cy="4918992"/>
          </a:xfrm>
        </p:spPr>
        <p:txBody>
          <a:bodyPr>
            <a:normAutofit fontScale="92500" lnSpcReduction="10000"/>
          </a:bodyPr>
          <a:lstStyle/>
          <a:p>
            <a:r>
              <a:rPr lang="en-US" sz="1800" b="1" dirty="0"/>
              <a:t>Function: </a:t>
            </a:r>
            <a:r>
              <a:rPr lang="en-US" sz="1800" dirty="0"/>
              <a:t>High-speed data transmission protocols between data converters (ADCs and DACs) can be mapped to UCIe Raw Mode of operation</a:t>
            </a:r>
          </a:p>
          <a:p>
            <a:pPr lvl="1"/>
            <a:r>
              <a:rPr lang="en-US" sz="1600" dirty="0"/>
              <a:t>Run link at same data rate as data generation/ consumption</a:t>
            </a:r>
          </a:p>
          <a:p>
            <a:pPr lvl="1"/>
            <a:r>
              <a:rPr lang="en-US" sz="1600" dirty="0"/>
              <a:t>No need for separate PLLs</a:t>
            </a:r>
          </a:p>
          <a:p>
            <a:pPr lvl="1"/>
            <a:r>
              <a:rPr lang="en-US" sz="1600" dirty="0"/>
              <a:t>Avoids introducing additional frequency noise in sensitive                              analog circuits</a:t>
            </a:r>
          </a:p>
          <a:p>
            <a:pPr lvl="1"/>
            <a:r>
              <a:rPr lang="en-US" sz="1600" dirty="0"/>
              <a:t>Need periodic synchronization markers, parity</a:t>
            </a:r>
          </a:p>
          <a:p>
            <a:r>
              <a:rPr lang="en-US" sz="1800" b="1" dirty="0"/>
              <a:t>UCIe’s Approach:</a:t>
            </a:r>
          </a:p>
          <a:p>
            <a:pPr lvl="1"/>
            <a:r>
              <a:rPr lang="en-US" sz="1600" dirty="0"/>
              <a:t>Use existing raw mode with enhancements to the internal                                 RDI / FDI interface</a:t>
            </a:r>
          </a:p>
          <a:p>
            <a:pPr lvl="1"/>
            <a:r>
              <a:rPr lang="en-US" sz="1600" dirty="0"/>
              <a:t>encodings in Valid to send periodic synchronization markers and parity (full use of all data lanes which is desired)</a:t>
            </a:r>
          </a:p>
          <a:p>
            <a:pPr lvl="1"/>
            <a:r>
              <a:rPr lang="en-US" sz="1600" dirty="0"/>
              <a:t>Support range of frequencies </a:t>
            </a:r>
          </a:p>
          <a:p>
            <a:pPr lvl="2"/>
            <a:r>
              <a:rPr lang="en-US" sz="1600" dirty="0"/>
              <a:t>System designer controls the data rate by varying the REFCLK</a:t>
            </a:r>
          </a:p>
          <a:p>
            <a:pPr lvl="2"/>
            <a:r>
              <a:rPr lang="en-US" sz="1600" dirty="0"/>
              <a:t>Compliance only performed for the UCIe data rates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781250-37E2-C699-8DB7-DB68EED7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8D37F8-376C-C3DB-2B7F-7FC962805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592" y="1991184"/>
            <a:ext cx="5124808" cy="253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2642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8F5B2-28FE-E9F1-93E1-A1DC8871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Verdana Pro" panose="020B0604030504040204" pitchFamily="34" charset="0"/>
              </a:rPr>
              <a:t>Off-package connectivity w/ </a:t>
            </a:r>
            <a:r>
              <a:rPr lang="en-US" dirty="0"/>
              <a:t>Retimers to other media (e.g. Optics)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55A0B-778A-F430-FAEA-2E752FC94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407321C7-7CA4-1507-D2F1-1E4C39A2A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702" y="1606260"/>
            <a:ext cx="3840813" cy="2645893"/>
          </a:xfrm>
          <a:prstGeom prst="rect">
            <a:avLst/>
          </a:prstGeom>
        </p:spPr>
      </p:pic>
      <p:pic>
        <p:nvPicPr>
          <p:cNvPr id="542" name="Picture 541">
            <a:extLst>
              <a:ext uri="{FF2B5EF4-FFF2-40B4-BE49-F238E27FC236}">
                <a16:creationId xmlns:a16="http://schemas.microsoft.com/office/drawing/2014/main" id="{4CB40288-F219-5C78-F762-0BC5EE270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1" y="1172341"/>
            <a:ext cx="4628258" cy="3513733"/>
          </a:xfrm>
          <a:prstGeom prst="rect">
            <a:avLst/>
          </a:prstGeom>
        </p:spPr>
      </p:pic>
      <p:pic>
        <p:nvPicPr>
          <p:cNvPr id="545" name="Picture 544">
            <a:extLst>
              <a:ext uri="{FF2B5EF4-FFF2-40B4-BE49-F238E27FC236}">
                <a16:creationId xmlns:a16="http://schemas.microsoft.com/office/drawing/2014/main" id="{6AE129F2-250C-AED2-2BB8-F22889C05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656" y="4350040"/>
            <a:ext cx="5483924" cy="18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4316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B4FADBD-6B97-F163-26A4-277EBD29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Physical Layer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369F4-B2E1-ED86-7561-FBCE20086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8596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1884B0C-11C8-3FBE-D9D3-416502B54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Functionality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AA178F7-9A22-F453-155D-40B4FFACF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Byte to Lane mapping for data transmission over Lanes</a:t>
            </a:r>
          </a:p>
          <a:p>
            <a:pPr lvl="1"/>
            <a:r>
              <a:rPr lang="en-US" dirty="0"/>
              <a:t>Separate Valid Lane for indicating data transfer</a:t>
            </a:r>
          </a:p>
          <a:p>
            <a:r>
              <a:rPr lang="en-US" dirty="0"/>
              <a:t>Interconnect redundancy remapping for Advanced Package configurations</a:t>
            </a:r>
          </a:p>
          <a:p>
            <a:r>
              <a:rPr lang="en-US" dirty="0"/>
              <a:t>Width degradation support for Standard Package Configurations</a:t>
            </a:r>
          </a:p>
          <a:p>
            <a:r>
              <a:rPr lang="en-US" dirty="0"/>
              <a:t>Scrambling and training pattern generation</a:t>
            </a:r>
          </a:p>
          <a:p>
            <a:r>
              <a:rPr lang="en-US" dirty="0"/>
              <a:t>Lane reversal </a:t>
            </a:r>
          </a:p>
          <a:p>
            <a:r>
              <a:rPr lang="en-US" dirty="0"/>
              <a:t>Link initialization, training and power management states</a:t>
            </a:r>
          </a:p>
          <a:p>
            <a:r>
              <a:rPr lang="en-US" dirty="0"/>
              <a:t>Transmitting and receiving sideband messages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3A97DE-622E-9A49-80A0-DDD6B8464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8797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AB0AF-2F92-6F95-5748-012D9980F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Training State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1A54E-8555-765A-9577-4A5970BDC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1239282"/>
            <a:ext cx="6146800" cy="4983913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Sideband (SB) initialization</a:t>
            </a:r>
          </a:p>
          <a:p>
            <a:pPr lvl="1"/>
            <a:r>
              <a:rPr lang="en-US" sz="1600" dirty="0"/>
              <a:t>Initialization and repair (advanced package) of SB</a:t>
            </a:r>
          </a:p>
          <a:p>
            <a:r>
              <a:rPr lang="en-US" sz="1800" dirty="0"/>
              <a:t>Mainband (MB) initialization</a:t>
            </a:r>
          </a:p>
          <a:p>
            <a:pPr lvl="1"/>
            <a:r>
              <a:rPr lang="en-US" sz="1600" dirty="0"/>
              <a:t>Parameter exchange, Clock, Valid &amp; MB repair &amp; MB reversal</a:t>
            </a:r>
          </a:p>
          <a:p>
            <a:r>
              <a:rPr lang="en-US" sz="1800" dirty="0"/>
              <a:t>Mainband training</a:t>
            </a:r>
          </a:p>
          <a:p>
            <a:pPr lvl="1"/>
            <a:r>
              <a:rPr lang="en-US" sz="1600" dirty="0"/>
              <a:t>Data training, at speed repair/degrade and speed degrade</a:t>
            </a:r>
          </a:p>
          <a:p>
            <a:r>
              <a:rPr lang="en-US" sz="1800" dirty="0"/>
              <a:t>LINKINIT</a:t>
            </a:r>
          </a:p>
          <a:p>
            <a:pPr lvl="1"/>
            <a:r>
              <a:rPr lang="en-US" sz="1600" dirty="0"/>
              <a:t>Exchange RDI Link management messages</a:t>
            </a:r>
          </a:p>
          <a:p>
            <a:r>
              <a:rPr lang="en-US" sz="1800" dirty="0"/>
              <a:t>PHYRETRAIN: Retrain based on Link errors</a:t>
            </a:r>
          </a:p>
          <a:p>
            <a:pPr lvl="1"/>
            <a:r>
              <a:rPr lang="en-US" sz="1600" dirty="0"/>
              <a:t>Allow repair or degrade</a:t>
            </a:r>
          </a:p>
          <a:p>
            <a:r>
              <a:rPr lang="en-US" sz="1800" dirty="0"/>
              <a:t>L1/L2: Lower power state</a:t>
            </a:r>
          </a:p>
          <a:p>
            <a:r>
              <a:rPr lang="en-US" sz="1800" dirty="0"/>
              <a:t>TRAINERROR: For uncorrectable internal errors and Link down conditions </a:t>
            </a:r>
          </a:p>
          <a:p>
            <a:r>
              <a:rPr lang="en-US" sz="1800" dirty="0"/>
              <a:t>Active: Transactions are sent and received</a:t>
            </a:r>
          </a:p>
          <a:p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A1C7A2-6579-D85F-E41E-99237B53B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C0E2E6-0E73-0BD6-47B0-B834F7F76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627" y="1064407"/>
            <a:ext cx="3682219" cy="509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2967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006AA1-10F7-A028-B7D8-27E76F7AA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view of UCIe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3210FD-7440-2F7C-E270-D7B5B8D5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262973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2">
            <a:extLst>
              <a:ext uri="{FF2B5EF4-FFF2-40B4-BE49-F238E27FC236}">
                <a16:creationId xmlns:a16="http://schemas.microsoft.com/office/drawing/2014/main" id="{0162E4A8-ED69-191C-15B0-3D5784961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355291"/>
            <a:ext cx="11058832" cy="618101"/>
          </a:xfrm>
        </p:spPr>
        <p:txBody>
          <a:bodyPr/>
          <a:lstStyle/>
          <a:p>
            <a:r>
              <a:rPr lang="en-US" dirty="0"/>
              <a:t>Software view of integrated device 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BF70007-FFE9-CC68-280D-4441CDD49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2" y="1170881"/>
            <a:ext cx="5133475" cy="49282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Host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UCIe links discoverable by OS through UCIe Early Discovery Table (UEDT </a:t>
            </a:r>
            <a:r>
              <a:rPr lang="en-US" sz="1800" baseline="30000" dirty="0"/>
              <a:t>1</a:t>
            </a:r>
            <a:r>
              <a:rPr lang="en-US" sz="1800" dirty="0"/>
              <a:t>) populated by FW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UCIe link details enumerated via new Link-DVSEC capability in Host-specific Register Block (UiRB)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dirty="0"/>
              <a:t>EP/Switch USP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UCIe enumerated via new DVSEC capability in EP/USP Dev0/Fn0</a:t>
            </a:r>
          </a:p>
          <a:p>
            <a:r>
              <a:rPr lang="en-IN" sz="2000" dirty="0"/>
              <a:t>Industry standard PCIe/CXL SW model for UCIe enumeration and control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0A1C46-CE74-F67C-5B64-05BB0A7C1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933" y="1170881"/>
            <a:ext cx="5385232" cy="5441586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1AE68-1141-02C5-ED21-5705CB61D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4698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AD4512-60C2-09AB-C09B-5C2F654DD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UCIe Link DVSEC – For basic Link Functionality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3A347-FB18-0473-4623-2312FA994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New UCIe DVSEC with UCIe Consortium ID of 0xD2DE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UCIe Link Capabilities, Control, Status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Link width/speed, Stack support, Packaging type, (re)train Etc.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Error/Link Event Notification Control/Status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Register Locators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For registers beyond the basic functionality in DVSEC – Test/Compliance, Implementation specific, D2D/PHY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Mailbox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For sideband access of far-side chiplet’s UCIe registers, for debug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Associated DevFn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For enumerating interdependent RP/DSP links in a multi-stack UCIe scenario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49F03-27FB-CAF3-F4AF-8683C60DF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36DD02-1E5D-E86E-EBA3-8648BCA88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984" y="1170881"/>
            <a:ext cx="5563376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6258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1309B-2B8B-FCAB-E84A-2B8AB9D67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7173E367-FCF1-3966-2969-F2EE7E503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85" y="556996"/>
            <a:ext cx="8495215" cy="1940671"/>
          </a:xfrm>
        </p:spPr>
        <p:txBody>
          <a:bodyPr/>
          <a:lstStyle/>
          <a:p>
            <a:r>
              <a:rPr lang="en-US" dirty="0"/>
              <a:t>UCIe Form Factor &amp; Compliance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B0AF1-0FF5-2CE3-72E8-0A13CD679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85" y="2997200"/>
            <a:ext cx="8109798" cy="2302479"/>
          </a:xfrm>
        </p:spPr>
        <p:txBody>
          <a:bodyPr/>
          <a:lstStyle/>
          <a:p>
            <a:r>
              <a:rPr lang="en-US" sz="2000" dirty="0"/>
              <a:t>Gerald Pasdast, Intel</a:t>
            </a:r>
          </a:p>
          <a:p>
            <a:r>
              <a:rPr lang="en-US" sz="2000" dirty="0"/>
              <a:t>UCIe Form Factor &amp; Compliance Workgroup Co-Chair</a:t>
            </a:r>
          </a:p>
          <a:p>
            <a:endParaRPr lang="en-US" sz="20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1FF35A4-75A9-5785-F5A0-A12145D3C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1570" y="6527074"/>
            <a:ext cx="1286210" cy="327136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87746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3792C-D02B-3498-ECCF-693F1660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21BCDD4-B9CC-C8C5-B524-5D6AA1BD8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E19FF0E-402D-B163-9AE5-9CA596838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UCIe Form Factor</a:t>
            </a:r>
          </a:p>
          <a:p>
            <a:pPr lvl="1"/>
            <a:r>
              <a:rPr lang="en-US" dirty="0"/>
              <a:t>UCIe-S</a:t>
            </a:r>
          </a:p>
          <a:p>
            <a:pPr lvl="1"/>
            <a:r>
              <a:rPr lang="en-US" dirty="0"/>
              <a:t>UCIe-A</a:t>
            </a:r>
          </a:p>
          <a:p>
            <a:pPr lvl="1"/>
            <a:r>
              <a:rPr lang="en-US" dirty="0"/>
              <a:t>UCIe-3D</a:t>
            </a:r>
          </a:p>
          <a:p>
            <a:r>
              <a:rPr lang="en-US" dirty="0"/>
              <a:t>UCIe Compliance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782A5-EE56-469C-1247-57D10CC30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215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0D09D-7AB8-216E-C027-AA18D0AF1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04B645D9-0F4B-0D65-EC4E-029A88D40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Verdana Pro" panose="020B0604030504040204" pitchFamily="34" charset="0"/>
              </a:rPr>
              <a:t>UCIe-S (2D): Standard Package Bump Maps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1FAD5E-2725-2DA3-B959-D27177CEA6CD}"/>
              </a:ext>
            </a:extLst>
          </p:cNvPr>
          <p:cNvSpPr txBox="1"/>
          <p:nvPr/>
        </p:nvSpPr>
        <p:spPr>
          <a:xfrm>
            <a:off x="541867" y="1075267"/>
            <a:ext cx="1121833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65" marR="0" lvl="0" indent="-285765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Two options: x16 and x32 bump arrangements for BW/mm flexibility</a:t>
            </a:r>
          </a:p>
          <a:p>
            <a:pPr marL="742988" marR="0" lvl="1" indent="-285765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424 recommended package stack-up for x16 (two topside stripline routing layers)</a:t>
            </a:r>
          </a:p>
          <a:p>
            <a:pPr marL="742988" marR="0" lvl="1" indent="-285765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828 recommended package stack-up for x32 (4 topside stripline routing layers) for doubled BW/mm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C3DAF77-0E6F-DDEE-732A-A28295748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74" y="3806241"/>
            <a:ext cx="5328677" cy="19775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F5ADDF-B347-04BD-CAC3-9F4956AF4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411" y="2149995"/>
            <a:ext cx="5334592" cy="360098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3FA2638-F4DF-BF53-3042-E614531A307E}"/>
              </a:ext>
            </a:extLst>
          </p:cNvPr>
          <p:cNvSpPr txBox="1"/>
          <p:nvPr/>
        </p:nvSpPr>
        <p:spPr>
          <a:xfrm>
            <a:off x="4187784" y="2331351"/>
            <a:ext cx="1603324" cy="3797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x32 module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B83493-E579-E519-5161-3F06ED86C1F2}"/>
              </a:ext>
            </a:extLst>
          </p:cNvPr>
          <p:cNvSpPr txBox="1"/>
          <p:nvPr/>
        </p:nvSpPr>
        <p:spPr>
          <a:xfrm>
            <a:off x="1139130" y="2910548"/>
            <a:ext cx="1603324" cy="3797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8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x16 module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F533FF3-84F0-EC9F-4334-938BDBB5765F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940792" y="3290332"/>
            <a:ext cx="1000712" cy="5159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318C7A7-13AE-0A14-8FEF-096D635A71AE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4989446" y="2711135"/>
            <a:ext cx="1233575" cy="7177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6368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CB781-2880-C8B7-01BF-E24832B5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787E02-C394-F5D6-C19D-28A14EF8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718" y="233313"/>
            <a:ext cx="11058832" cy="618101"/>
          </a:xfrm>
        </p:spPr>
        <p:txBody>
          <a:bodyPr>
            <a:noAutofit/>
          </a:bodyPr>
          <a:lstStyle/>
          <a:p>
            <a:r>
              <a:rPr lang="en-US" sz="3200" dirty="0">
                <a:latin typeface="Verdana Pro" panose="020B0604030504040204" pitchFamily="34" charset="0"/>
              </a:rPr>
              <a:t>UCIe-S: Arrangement &amp; Channel Characteristics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F1F56E-4F96-DAC9-A146-F339A8F22374}"/>
              </a:ext>
            </a:extLst>
          </p:cNvPr>
          <p:cNvGrpSpPr/>
          <p:nvPr/>
        </p:nvGrpSpPr>
        <p:grpSpPr>
          <a:xfrm>
            <a:off x="4166203" y="809596"/>
            <a:ext cx="7465191" cy="2564999"/>
            <a:chOff x="4469826" y="1687647"/>
            <a:chExt cx="6199452" cy="219993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BA04398-0453-EAB7-96A0-BD8A1DBED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69826" y="1687647"/>
              <a:ext cx="1920932" cy="137975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238C7B9-6986-15C5-6BFD-1F0CC31A6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7079" y="1886155"/>
              <a:ext cx="3652199" cy="98463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2FD2D4F-D311-D7CB-71A5-616DD88ADCFC}"/>
                </a:ext>
              </a:extLst>
            </p:cNvPr>
            <p:cNvSpPr txBox="1"/>
            <p:nvPr/>
          </p:nvSpPr>
          <p:spPr>
            <a:xfrm>
              <a:off x="7988664" y="2963681"/>
              <a:ext cx="2508001" cy="9239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0" tIns="0" rIns="0" bIns="0" numCol="1" spcCol="38100" rtlCol="0" anchor="t" anchorCtr="0">
              <a:spAutoFit/>
            </a:bodyPr>
            <a:lstStyle/>
            <a:p>
              <a:pPr marL="171459" marR="0" lvl="0" indent="-171459" algn="l" defTabSz="24384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Verdana Pro" panose="020B0604030504040204" pitchFamily="34" charset="0"/>
                  <a:ea typeface="+mn-ea"/>
                  <a:cs typeface="+mn-cs"/>
                </a:rPr>
                <a:t>power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4A86"/>
                  </a:solidFill>
                  <a:effectLst/>
                  <a:uLnTx/>
                  <a:uFillTx/>
                  <a:latin typeface="Verdana Pro" panose="020B0604030504040204" pitchFamily="34" charset="0"/>
                  <a:ea typeface="+mn-ea"/>
                  <a:cs typeface="+mn-cs"/>
                </a:rPr>
                <a:t> </a:t>
              </a:r>
            </a:p>
            <a:p>
              <a:pPr marL="171459" marR="0" lvl="0" indent="-171459" algn="l" defTabSz="24384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Verdana Pro" panose="020B0604030504040204" pitchFamily="34" charset="0"/>
                  <a:ea typeface="+mn-ea"/>
                  <a:cs typeface="+mn-cs"/>
                  <a:sym typeface="Helvetica Neue"/>
                </a:rPr>
                <a:t>ground</a:t>
              </a:r>
            </a:p>
            <a:p>
              <a:pPr marL="171459" marR="0" lvl="0" indent="-171459" algn="l" defTabSz="24384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6CB4B">
                      <a:lumMod val="75000"/>
                    </a:srgbClr>
                  </a:solidFill>
                  <a:effectLst/>
                  <a:uLnTx/>
                  <a:uFillTx/>
                  <a:latin typeface="Verdana Pro" panose="020B0604030504040204" pitchFamily="34" charset="0"/>
                  <a:ea typeface="+mn-ea"/>
                  <a:cs typeface="+mn-cs"/>
                  <a:sym typeface="Helvetica Neue"/>
                </a:rPr>
                <a:t>signals on L8</a:t>
              </a:r>
            </a:p>
            <a:p>
              <a:pPr marL="171459" marR="0" lvl="0" indent="-171459" algn="l" defTabSz="2438461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Verdana Pro" panose="020B0604030504040204" pitchFamily="34" charset="0"/>
                  <a:ea typeface="+mn-ea"/>
                  <a:cs typeface="+mn-cs"/>
                </a:rPr>
                <a:t>signals on L6</a:t>
              </a:r>
            </a:p>
            <a:p>
              <a:pPr marL="171459" marR="0" lvl="0" indent="-171459" algn="l" defTabSz="243846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Verdana Pro" panose="020B0604030504040204" pitchFamily="34" charset="0"/>
                  <a:ea typeface="+mn-ea"/>
                  <a:cs typeface="+mn-cs"/>
                  <a:sym typeface="Helvetica Neue"/>
                </a:rPr>
                <a:t>signals on L4 and L2 not shown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58CB2E13-C272-537F-3F9F-AEC11F7A40F7}"/>
              </a:ext>
            </a:extLst>
          </p:cNvPr>
          <p:cNvSpPr txBox="1"/>
          <p:nvPr/>
        </p:nvSpPr>
        <p:spPr>
          <a:xfrm>
            <a:off x="4514926" y="2662139"/>
            <a:ext cx="3303232" cy="10772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2438338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2"/>
                </a:solidFill>
              </a:defRPr>
            </a:lvl1pPr>
          </a:lstStyle>
          <a:p>
            <a:pPr marL="171459" marR="0" lvl="0" indent="-171459" algn="l" defTabSz="24384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86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18 io/mm/layer</a:t>
            </a:r>
          </a:p>
          <a:p>
            <a:pPr marL="171459" marR="0" lvl="0" indent="-171459" algn="l" defTabSz="24384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86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2 routing layers for each module</a:t>
            </a:r>
          </a:p>
          <a:p>
            <a:pPr marL="171459" marR="0" lvl="0" indent="-171459" algn="l" defTabSz="24384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86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4 routing layers for 2 modules</a:t>
            </a:r>
          </a:p>
          <a:p>
            <a:pPr marL="171459" marR="0" lvl="0" indent="-171459" algn="l" defTabSz="24384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4A86"/>
              </a:solidFill>
              <a:effectLst/>
              <a:uLnTx/>
              <a:uFillTx/>
              <a:latin typeface="Verdana Pro" panose="020B0604030504040204" pitchFamily="34" charset="0"/>
              <a:ea typeface="+mn-ea"/>
              <a:cs typeface="+mn-cs"/>
            </a:endParaRPr>
          </a:p>
          <a:p>
            <a:pPr marL="171459" marR="0" lvl="0" indent="-171459" algn="l" defTabSz="24384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4A86"/>
              </a:solidFill>
              <a:effectLst/>
              <a:uLnTx/>
              <a:uFillTx/>
              <a:latin typeface="Verdana Pro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F275C2-CBE6-84AB-376C-827A3BB0B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62" y="841240"/>
            <a:ext cx="2698133" cy="1564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B48CAE-C7FB-B8BC-E270-FEBD78D962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8141" y="3760865"/>
            <a:ext cx="2706328" cy="18699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976917-5013-48D2-7E66-D7EC28DDF8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0496" y="3754390"/>
            <a:ext cx="2639867" cy="20592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53D179A-4864-EF30-4564-390E543DAF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36156" y="3754321"/>
            <a:ext cx="2445611" cy="20128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0892495-8A92-61B0-06AD-C80CA15D3AB0}"/>
              </a:ext>
            </a:extLst>
          </p:cNvPr>
          <p:cNvSpPr txBox="1"/>
          <p:nvPr/>
        </p:nvSpPr>
        <p:spPr>
          <a:xfrm>
            <a:off x="4596972" y="3545422"/>
            <a:ext cx="2309543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l" defTabSz="243846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Cumulative VTF Crosstalk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 Pro" panose="020B0604030504040204" pitchFamily="34" charset="0"/>
              <a:ea typeface="+mn-ea"/>
              <a:cs typeface="+mn-cs"/>
              <a:sym typeface="Helvetica Neue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1C4F8B-F0D8-B475-5D98-512D95ACD203}"/>
              </a:ext>
            </a:extLst>
          </p:cNvPr>
          <p:cNvSpPr txBox="1"/>
          <p:nvPr/>
        </p:nvSpPr>
        <p:spPr>
          <a:xfrm>
            <a:off x="7711539" y="3514381"/>
            <a:ext cx="1870577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l" defTabSz="243846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32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Gb/s Eye Diagram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7FEC34-CBCC-E597-D92D-888C09C3FDDB}"/>
              </a:ext>
            </a:extLst>
          </p:cNvPr>
          <p:cNvSpPr txBox="1"/>
          <p:nvPr/>
        </p:nvSpPr>
        <p:spPr>
          <a:xfrm>
            <a:off x="2318686" y="3545422"/>
            <a:ext cx="856004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l" defTabSz="243846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VTF Loss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DFA08E-A6BB-A401-4402-ED11FF5FC5E8}"/>
              </a:ext>
            </a:extLst>
          </p:cNvPr>
          <p:cNvSpPr txBox="1"/>
          <p:nvPr/>
        </p:nvSpPr>
        <p:spPr>
          <a:xfrm>
            <a:off x="2318687" y="5899902"/>
            <a:ext cx="1033937" cy="55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2438338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2"/>
                </a:solidFill>
              </a:defRPr>
            </a:lvl1pPr>
          </a:lstStyle>
          <a:p>
            <a:pPr marL="0" marR="0" lvl="0" indent="0" algn="l" defTabSz="24384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4A86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25mm length</a:t>
            </a:r>
          </a:p>
          <a:p>
            <a:pPr marL="0" marR="0" lvl="0" indent="0" algn="l" defTabSz="24384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4A86"/>
              </a:solidFill>
              <a:effectLst/>
              <a:uLnTx/>
              <a:uFillTx/>
              <a:latin typeface="Verdana Pro" panose="020B0604030504040204" pitchFamily="34" charset="0"/>
              <a:ea typeface="+mn-ea"/>
              <a:cs typeface="+mn-cs"/>
            </a:endParaRPr>
          </a:p>
          <a:p>
            <a:pPr marL="0" marR="0" lvl="0" indent="0" algn="l" defTabSz="24384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4A86"/>
              </a:solidFill>
              <a:effectLst/>
              <a:uLnTx/>
              <a:uFillTx/>
              <a:latin typeface="Verdana Pro" panose="020B0604030504040204" pitchFamily="34" charset="0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B82DD8E-16F2-8620-4A6D-66DABE92CEA7}"/>
              </a:ext>
            </a:extLst>
          </p:cNvPr>
          <p:cNvSpPr/>
          <p:nvPr/>
        </p:nvSpPr>
        <p:spPr>
          <a:xfrm>
            <a:off x="1267041" y="3514380"/>
            <a:ext cx="9139900" cy="26406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9533C3-50EB-3F49-A723-5A96686E722A}"/>
              </a:ext>
            </a:extLst>
          </p:cNvPr>
          <p:cNvSpPr txBox="1"/>
          <p:nvPr/>
        </p:nvSpPr>
        <p:spPr>
          <a:xfrm>
            <a:off x="3697199" y="5776449"/>
            <a:ext cx="4014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Voltage Transfer Function (VTF)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3BB945-888F-FA4A-AC8B-CC9AFFB9ED1A}"/>
              </a:ext>
            </a:extLst>
          </p:cNvPr>
          <p:cNvSpPr txBox="1"/>
          <p:nvPr/>
        </p:nvSpPr>
        <p:spPr>
          <a:xfrm>
            <a:off x="355601" y="2300099"/>
            <a:ext cx="41248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65" marR="0" lvl="0" indent="-285765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UCIe-S</a:t>
            </a:r>
          </a:p>
          <a:p>
            <a:pPr marL="742988" marR="0" lvl="1" indent="-285765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Single and Double-stack arrangements allowed</a:t>
            </a:r>
          </a:p>
          <a:p>
            <a:pPr marL="742988" marR="0" lvl="1" indent="-285765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Checkerboard RX/TX arrangement for die rotate/universal interop</a:t>
            </a:r>
          </a:p>
        </p:txBody>
      </p:sp>
    </p:spTree>
    <p:extLst>
      <p:ext uri="{BB962C8B-B14F-4D97-AF65-F5344CB8AC3E}">
        <p14:creationId xmlns:p14="http://schemas.microsoft.com/office/powerpoint/2010/main" val="9251251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2B3DA3-2ED5-4D33-B843-91040C590E64}"/>
              </a:ext>
            </a:extLst>
          </p:cNvPr>
          <p:cNvSpPr/>
          <p:nvPr/>
        </p:nvSpPr>
        <p:spPr>
          <a:xfrm>
            <a:off x="8455466" y="0"/>
            <a:ext cx="3736535" cy="1391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170ABA-5C04-3A97-41B6-8EFD1D672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850" y="3895993"/>
            <a:ext cx="2801302" cy="1627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6DE05D-281B-52E0-2CCD-915B906B0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2961" y="106063"/>
            <a:ext cx="2796862" cy="55682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31E1AB-AC2C-B6DA-6C2B-F8C1FF197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223" y="1903506"/>
            <a:ext cx="2906479" cy="38489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B1F576-5E5E-43CB-9442-194EB2349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Verdana Pro" panose="020B0604030504040204" pitchFamily="34" charset="0"/>
              </a:rPr>
              <a:t>UCIe-A (2.5D): Advanced package Bump Maps</a:t>
            </a:r>
            <a:endParaRPr lang="en-US" sz="2400" dirty="0">
              <a:solidFill>
                <a:srgbClr val="FF0000"/>
              </a:solidFill>
              <a:highlight>
                <a:srgbClr val="FFFF00"/>
              </a:highlight>
              <a:latin typeface="Verdana Pro" panose="020B060403050404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49C1BA4-6411-A662-74BF-516FE2D93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096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B59593-93DA-294E-9873-E808AAA75155}" type="slidenum"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66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286724-10DB-429F-BDDD-64CC42C94208}"/>
              </a:ext>
            </a:extLst>
          </p:cNvPr>
          <p:cNvSpPr txBox="1"/>
          <p:nvPr/>
        </p:nvSpPr>
        <p:spPr>
          <a:xfrm>
            <a:off x="1435449" y="5529940"/>
            <a:ext cx="1965282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ctr" defTabSz="243846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16Col</a:t>
            </a:r>
          </a:p>
          <a:p>
            <a:pPr marL="0" marR="0" lvl="0" indent="0" algn="ctr" defTabSz="243846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Recommended for </a:t>
            </a:r>
          </a:p>
          <a:p>
            <a:pPr marL="0" marR="0" lvl="0" indent="0" algn="ctr" defTabSz="243846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25-37um bump pitch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950C9B-18A8-46E3-9BAC-A9A5451D34DB}"/>
              </a:ext>
            </a:extLst>
          </p:cNvPr>
          <p:cNvSpPr txBox="1"/>
          <p:nvPr/>
        </p:nvSpPr>
        <p:spPr>
          <a:xfrm>
            <a:off x="5434160" y="5748096"/>
            <a:ext cx="1965282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ctr" defTabSz="243846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10Col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 Pro" panose="020B0604030504040204" pitchFamily="34" charset="0"/>
              <a:ea typeface="+mn-ea"/>
              <a:cs typeface="+mn-cs"/>
              <a:sym typeface="Helvetica Neue"/>
            </a:endParaRPr>
          </a:p>
          <a:p>
            <a:pPr marL="0" marR="0" lvl="0" indent="0" algn="ctr" defTabSz="243846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Recommended for </a:t>
            </a:r>
          </a:p>
          <a:p>
            <a:pPr marL="0" marR="0" lvl="0" indent="0" algn="ctr" defTabSz="243846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38-50um bump pitch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796AD0-FDB0-4449-A2D8-1AB6A6DF1678}"/>
              </a:ext>
            </a:extLst>
          </p:cNvPr>
          <p:cNvSpPr txBox="1"/>
          <p:nvPr/>
        </p:nvSpPr>
        <p:spPr>
          <a:xfrm>
            <a:off x="8765548" y="5679931"/>
            <a:ext cx="1965282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ctr" defTabSz="243846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8Col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 </a:t>
            </a:r>
          </a:p>
          <a:p>
            <a:pPr marL="0" marR="0" lvl="0" indent="0" algn="ctr" defTabSz="243846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Recommended for </a:t>
            </a:r>
          </a:p>
          <a:p>
            <a:pPr marL="0" marR="0" lvl="0" indent="0" algn="ctr" defTabSz="243846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51-55um bump pitch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565796-66BE-43FF-9BD4-4F11EAD2E2A8}"/>
              </a:ext>
            </a:extLst>
          </p:cNvPr>
          <p:cNvSpPr txBox="1"/>
          <p:nvPr/>
        </p:nvSpPr>
        <p:spPr>
          <a:xfrm>
            <a:off x="469615" y="973392"/>
            <a:ext cx="7801220" cy="146193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285764" marR="0" lvl="0" indent="-285764" algn="l" defTabSz="243846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Bumpout configurations for maintaining optimized BW/mm</a:t>
            </a:r>
            <a:r>
              <a:rPr kumimoji="0" lang="en-US" sz="16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2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 across allowable bump pitch range</a:t>
            </a:r>
          </a:p>
          <a:p>
            <a:pPr marL="742987" marR="0" lvl="1" indent="-285764" algn="l" defTabSz="243846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8, 10 and 16-columns</a:t>
            </a:r>
          </a:p>
          <a:p>
            <a:pPr marL="742987" marR="0" lvl="1" indent="-285764" algn="l" defTabSz="2438460" rtl="0" eaLnBrk="1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Suggested usage guideline:</a:t>
            </a:r>
          </a:p>
          <a:p>
            <a:pPr marL="0" marR="0" lvl="0" indent="0" algn="l" defTabSz="243846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 Pro" panose="020B0604030504040204" pitchFamily="34" charset="0"/>
              <a:ea typeface="+mn-ea"/>
              <a:cs typeface="+mn-cs"/>
              <a:sym typeface="Helvetica Neu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D3CD94-1EBB-4BE1-8C1E-90E99B52DF8E}"/>
              </a:ext>
            </a:extLst>
          </p:cNvPr>
          <p:cNvSpPr txBox="1"/>
          <p:nvPr/>
        </p:nvSpPr>
        <p:spPr>
          <a:xfrm>
            <a:off x="7338850" y="5644759"/>
            <a:ext cx="347852" cy="1077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l" defTabSz="243846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l Clear"/>
                <a:ea typeface="+mn-ea"/>
                <a:cs typeface="+mn-cs"/>
                <a:sym typeface="Helvetica Neue"/>
              </a:rPr>
              <a:t>die edge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7E0AF7-2375-49E9-A792-D2B72EA22303}"/>
              </a:ext>
            </a:extLst>
          </p:cNvPr>
          <p:cNvSpPr txBox="1"/>
          <p:nvPr/>
        </p:nvSpPr>
        <p:spPr>
          <a:xfrm>
            <a:off x="10641971" y="5566606"/>
            <a:ext cx="347852" cy="1077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l" defTabSz="243846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l Clear"/>
                <a:ea typeface="+mn-ea"/>
                <a:cs typeface="+mn-cs"/>
                <a:sym typeface="Helvetica Neue"/>
              </a:rPr>
              <a:t>die edge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64FEA2-FBAF-4AB1-A7AD-740AD557AAB6}"/>
              </a:ext>
            </a:extLst>
          </p:cNvPr>
          <p:cNvSpPr txBox="1"/>
          <p:nvPr/>
        </p:nvSpPr>
        <p:spPr>
          <a:xfrm>
            <a:off x="3465300" y="5674327"/>
            <a:ext cx="347852" cy="10772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l" defTabSz="243846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l Clear"/>
                <a:ea typeface="+mn-ea"/>
                <a:cs typeface="+mn-cs"/>
                <a:sym typeface="Helvetica Neue"/>
              </a:rPr>
              <a:t>die edge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437E700-C2C2-5CE5-DC15-D2523922B3E4}"/>
              </a:ext>
            </a:extLst>
          </p:cNvPr>
          <p:cNvGraphicFramePr>
            <a:graphicFrameLocks noGrp="1"/>
          </p:cNvGraphicFramePr>
          <p:nvPr/>
        </p:nvGraphicFramePr>
        <p:xfrm>
          <a:off x="690018" y="2241872"/>
          <a:ext cx="3680207" cy="153498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134152">
                  <a:extLst>
                    <a:ext uri="{9D8B030D-6E8A-4147-A177-3AD203B41FA5}">
                      <a16:colId xmlns:a16="http://schemas.microsoft.com/office/drawing/2014/main" val="589105477"/>
                    </a:ext>
                  </a:extLst>
                </a:gridCol>
                <a:gridCol w="1134152">
                  <a:extLst>
                    <a:ext uri="{9D8B030D-6E8A-4147-A177-3AD203B41FA5}">
                      <a16:colId xmlns:a16="http://schemas.microsoft.com/office/drawing/2014/main" val="507479138"/>
                    </a:ext>
                  </a:extLst>
                </a:gridCol>
                <a:gridCol w="1411903">
                  <a:extLst>
                    <a:ext uri="{9D8B030D-6E8A-4147-A177-3AD203B41FA5}">
                      <a16:colId xmlns:a16="http://schemas.microsoft.com/office/drawing/2014/main" val="3786148203"/>
                    </a:ext>
                  </a:extLst>
                </a:gridCol>
              </a:tblGrid>
              <a:tr h="4385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BP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Max Data Rate by Spec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Columns within 388.8 shoreline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5654108"/>
                  </a:ext>
                </a:extLst>
              </a:tr>
              <a:tr h="2192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25-30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92744438"/>
                  </a:ext>
                </a:extLst>
              </a:tr>
              <a:tr h="2192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31-37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16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8150143"/>
                  </a:ext>
                </a:extLst>
              </a:tr>
              <a:tr h="2192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38-44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24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effectLst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5706864"/>
                  </a:ext>
                </a:extLst>
              </a:tr>
              <a:tr h="2192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45-50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264599"/>
                  </a:ext>
                </a:extLst>
              </a:tr>
              <a:tr h="21928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51-55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32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u="none" strike="noStrike" dirty="0">
                          <a:effectLst/>
                        </a:rPr>
                        <a:t>8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4356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1348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7094D-E69B-03F8-2157-8F14180CE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070125F-0C74-7F6A-5382-EA7525412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Verdana Pro" panose="020B0604030504040204" pitchFamily="34" charset="0"/>
              </a:rPr>
              <a:t>UCIe-A: Arrangement &amp; Channel Characteristics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FC99A4-7FCB-9CCB-7239-1A605F455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805" y="1114314"/>
            <a:ext cx="3344161" cy="196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7B9F9D-B91B-50F2-482B-362CEE0B98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448"/>
          <a:stretch/>
        </p:blipFill>
        <p:spPr>
          <a:xfrm>
            <a:off x="4376798" y="3633404"/>
            <a:ext cx="2585589" cy="2102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7E6A2C-97E5-905F-AD72-218F96040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6083" y="3606912"/>
            <a:ext cx="2469336" cy="20984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2781DB-9E65-9E6B-B99D-E45006DFFC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187" y="3767984"/>
            <a:ext cx="2631656" cy="1819220"/>
          </a:xfrm>
          <a:prstGeom prst="rect">
            <a:avLst/>
          </a:prstGeom>
          <a:effectLst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10EFDB-665D-3E6C-B2AC-62C1102C1FA1}"/>
              </a:ext>
            </a:extLst>
          </p:cNvPr>
          <p:cNvSpPr txBox="1"/>
          <p:nvPr/>
        </p:nvSpPr>
        <p:spPr>
          <a:xfrm>
            <a:off x="7841886" y="3564452"/>
            <a:ext cx="1933093" cy="21544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l" defTabSz="243846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16 Gb/s Eye Diagram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BD98F5-8381-C7D2-9052-030CD8DE8666}"/>
              </a:ext>
            </a:extLst>
          </p:cNvPr>
          <p:cNvSpPr txBox="1"/>
          <p:nvPr/>
        </p:nvSpPr>
        <p:spPr>
          <a:xfrm>
            <a:off x="4731308" y="3564452"/>
            <a:ext cx="2309543" cy="215444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l" defTabSz="243846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Cumulative VTF Crosstalk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 Pro" panose="020B0604030504040204" pitchFamily="34" charset="0"/>
              <a:ea typeface="+mn-ea"/>
              <a:cs typeface="+mn-cs"/>
              <a:sym typeface="Helvetica Neu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1371B-DAF1-5EA2-71D4-F3BDB9EA1E98}"/>
              </a:ext>
            </a:extLst>
          </p:cNvPr>
          <p:cNvSpPr txBox="1"/>
          <p:nvPr/>
        </p:nvSpPr>
        <p:spPr>
          <a:xfrm>
            <a:off x="1613834" y="3564452"/>
            <a:ext cx="2481450" cy="215444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ctr" defTabSz="243846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  <a:sym typeface="Helvetica Neue"/>
              </a:rPr>
              <a:t>               VTF Loss         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7F3D98-BB63-73DF-2F67-8DD1B6082211}"/>
              </a:ext>
            </a:extLst>
          </p:cNvPr>
          <p:cNvSpPr txBox="1"/>
          <p:nvPr/>
        </p:nvSpPr>
        <p:spPr>
          <a:xfrm>
            <a:off x="8363424" y="4556623"/>
            <a:ext cx="610745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lvl="0" indent="0" algn="l" defTabSz="2438461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l Clear"/>
                <a:ea typeface="+mn-ea"/>
                <a:cs typeface="+mn-cs"/>
              </a:rPr>
              <a:t>40mV x 50ps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ntel Clear"/>
              <a:ea typeface="+mn-ea"/>
              <a:cs typeface="+mn-cs"/>
              <a:sym typeface="Helvetica Neue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A60D55-1ADE-421A-4192-F248A0FEEDBC}"/>
              </a:ext>
            </a:extLst>
          </p:cNvPr>
          <p:cNvSpPr/>
          <p:nvPr/>
        </p:nvSpPr>
        <p:spPr>
          <a:xfrm>
            <a:off x="1279342" y="3487662"/>
            <a:ext cx="9139900" cy="26406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BF9FB7-002B-9704-367E-612B3ACB7196}"/>
              </a:ext>
            </a:extLst>
          </p:cNvPr>
          <p:cNvSpPr txBox="1"/>
          <p:nvPr/>
        </p:nvSpPr>
        <p:spPr>
          <a:xfrm>
            <a:off x="2587383" y="5774330"/>
            <a:ext cx="4014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Voltage Transfer Function (VTF)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A365BA-C6C5-85C1-CC17-66CD5E25B0E9}"/>
              </a:ext>
            </a:extLst>
          </p:cNvPr>
          <p:cNvSpPr txBox="1"/>
          <p:nvPr/>
        </p:nvSpPr>
        <p:spPr>
          <a:xfrm>
            <a:off x="870945" y="1485877"/>
            <a:ext cx="52250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65" marR="0" lvl="0" indent="-285765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UCIe-A</a:t>
            </a:r>
          </a:p>
          <a:p>
            <a:pPr marL="742988" marR="0" lvl="1" indent="-285765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TX close to shoreline/RX stacked behind</a:t>
            </a:r>
          </a:p>
          <a:p>
            <a:pPr marL="742988" marR="0" lvl="1" indent="-285765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25252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Lane reversal critical for universal rotate/mirror/interop</a:t>
            </a:r>
          </a:p>
        </p:txBody>
      </p:sp>
    </p:spTree>
    <p:extLst>
      <p:ext uri="{BB962C8B-B14F-4D97-AF65-F5344CB8AC3E}">
        <p14:creationId xmlns:p14="http://schemas.microsoft.com/office/powerpoint/2010/main" val="7487792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6A89D-BDBF-D88F-9A76-B596B9DC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latin typeface="Verdana Pro" panose="020B0604030504040204" pitchFamily="34" charset="0"/>
              </a:rPr>
              <a:t>UCIe-3D Menu /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B15F0-00E1-4393-9BF2-E315A746D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675" y="1536453"/>
            <a:ext cx="6979891" cy="4983913"/>
          </a:xfrm>
        </p:spPr>
        <p:txBody>
          <a:bodyPr>
            <a:noAutofit/>
          </a:bodyPr>
          <a:lstStyle/>
          <a:p>
            <a:r>
              <a:rPr lang="en-US" sz="1600" b="1" dirty="0">
                <a:solidFill>
                  <a:srgbClr val="0070C0"/>
                </a:solidFill>
                <a:latin typeface="+mj-lt"/>
              </a:rPr>
              <a:t>Bump Pitch</a:t>
            </a:r>
            <a:r>
              <a:rPr lang="en-US" sz="1600" dirty="0">
                <a:solidFill>
                  <a:srgbClr val="0070C0"/>
                </a:solidFill>
                <a:latin typeface="+mj-lt"/>
              </a:rPr>
              <a:t>: </a:t>
            </a:r>
            <a:r>
              <a:rPr lang="en-US" sz="1600" dirty="0">
                <a:latin typeface="+mj-lt"/>
              </a:rPr>
              <a:t>1um ~ 25um, same pitch TX to RX.</a:t>
            </a:r>
          </a:p>
          <a:p>
            <a:pPr lvl="1"/>
            <a:r>
              <a:rPr lang="en-US" sz="1400" dirty="0">
                <a:latin typeface="+mj-lt"/>
              </a:rPr>
              <a:t>1um ~ 9um pitch </a:t>
            </a:r>
            <a:r>
              <a:rPr lang="en-US" sz="1200" dirty="0">
                <a:latin typeface="+mj-lt"/>
              </a:rPr>
              <a:t>- Optimized w/ circuit &amp; Hybrid Bonding tech </a:t>
            </a:r>
          </a:p>
          <a:p>
            <a:pPr lvl="1"/>
            <a:r>
              <a:rPr lang="en-US" sz="1400" dirty="0">
                <a:latin typeface="+mj-lt"/>
              </a:rPr>
              <a:t>10um ~ 25um pitch. - </a:t>
            </a:r>
            <a:r>
              <a:rPr lang="en-US" sz="1200" dirty="0">
                <a:latin typeface="+mj-lt"/>
              </a:rPr>
              <a:t>Supported functionally. (future revision)   </a:t>
            </a:r>
          </a:p>
          <a:p>
            <a:r>
              <a:rPr lang="en-US" sz="1600" b="1" dirty="0">
                <a:solidFill>
                  <a:srgbClr val="0070C0"/>
                </a:solidFill>
                <a:latin typeface="+mj-lt"/>
              </a:rPr>
              <a:t>Assemble Technology / Channel: </a:t>
            </a:r>
          </a:p>
          <a:p>
            <a:pPr lvl="1"/>
            <a:r>
              <a:rPr lang="en-US" sz="1400" dirty="0">
                <a:latin typeface="+mj-lt"/>
              </a:rPr>
              <a:t>Face to Face bonding (F2F, Baseline). </a:t>
            </a:r>
            <a:r>
              <a:rPr lang="en-US" sz="1200" dirty="0">
                <a:latin typeface="+mj-lt"/>
              </a:rPr>
              <a:t>NoC/switches for multi-layer stack</a:t>
            </a:r>
          </a:p>
          <a:p>
            <a:pPr lvl="1"/>
            <a:r>
              <a:rPr lang="en-US" sz="1400" dirty="0">
                <a:latin typeface="+mj-lt"/>
              </a:rPr>
              <a:t>Face to Back bonding (F2B). </a:t>
            </a:r>
            <a:r>
              <a:rPr lang="en-US" sz="1200" dirty="0">
                <a:latin typeface="+mj-lt"/>
              </a:rPr>
              <a:t>Multi-layer stack directly with max data rate reduction (10-20%)</a:t>
            </a:r>
          </a:p>
          <a:p>
            <a:r>
              <a:rPr lang="en-US" sz="1600" b="1" dirty="0">
                <a:solidFill>
                  <a:srgbClr val="0070C0"/>
                </a:solidFill>
                <a:latin typeface="+mj-lt"/>
              </a:rPr>
              <a:t>Area </a:t>
            </a:r>
            <a:r>
              <a:rPr lang="en-US" sz="1600" dirty="0">
                <a:solidFill>
                  <a:srgbClr val="0070C0"/>
                </a:solidFill>
                <a:latin typeface="+mj-lt"/>
              </a:rPr>
              <a:t>(with 9um pitch)</a:t>
            </a:r>
            <a:r>
              <a:rPr lang="en-US" sz="1600" b="1" dirty="0">
                <a:solidFill>
                  <a:srgbClr val="0070C0"/>
                </a:solidFill>
                <a:latin typeface="+mj-lt"/>
              </a:rPr>
              <a:t>:</a:t>
            </a:r>
            <a:r>
              <a:rPr lang="en-US" sz="1600" dirty="0">
                <a:latin typeface="+mj-lt"/>
              </a:rPr>
              <a:t> ~ 0.02mm</a:t>
            </a:r>
            <a:r>
              <a:rPr lang="en-US" sz="1600" baseline="30000" dirty="0">
                <a:latin typeface="+mj-lt"/>
              </a:rPr>
              <a:t>2</a:t>
            </a:r>
            <a:r>
              <a:rPr lang="en-US" sz="1600" dirty="0">
                <a:latin typeface="+mj-lt"/>
              </a:rPr>
              <a:t> with 72 I/Os per Module</a:t>
            </a:r>
            <a:r>
              <a:rPr lang="en-US" sz="1200" dirty="0">
                <a:latin typeface="+mj-lt"/>
              </a:rPr>
              <a:t>. </a:t>
            </a:r>
            <a:r>
              <a:rPr lang="en-US" sz="1200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lvl="1"/>
            <a:r>
              <a:rPr lang="en-US" sz="1400" dirty="0">
                <a:latin typeface="+mj-lt"/>
              </a:rPr>
              <a:t>Scale with pitch quadratically and module size linearly.</a:t>
            </a:r>
          </a:p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0070C0"/>
                </a:solidFill>
                <a:latin typeface="+mj-lt"/>
              </a:rPr>
              <a:t>Data Rate</a:t>
            </a:r>
            <a:r>
              <a:rPr lang="en-US" sz="1600" dirty="0">
                <a:solidFill>
                  <a:srgbClr val="0070C0"/>
                </a:solidFill>
                <a:latin typeface="+mj-lt"/>
              </a:rPr>
              <a:t>:</a:t>
            </a:r>
            <a:r>
              <a:rPr lang="en-US" sz="1600" dirty="0">
                <a:latin typeface="+mj-lt"/>
              </a:rPr>
              <a:t> Up to 4Gb/s/pin.</a:t>
            </a:r>
          </a:p>
          <a:p>
            <a:pPr lvl="1">
              <a:lnSpc>
                <a:spcPct val="120000"/>
              </a:lnSpc>
            </a:pPr>
            <a:r>
              <a:rPr lang="en-US" sz="1400" dirty="0">
                <a:latin typeface="+mj-lt"/>
              </a:rPr>
              <a:t>Same data rate as Logic (Baseline). No serialization or de-serialization</a:t>
            </a:r>
          </a:p>
          <a:p>
            <a:r>
              <a:rPr lang="en-US" sz="1600" b="1" dirty="0">
                <a:solidFill>
                  <a:srgbClr val="0070C0"/>
                </a:solidFill>
                <a:latin typeface="+mj-lt"/>
              </a:rPr>
              <a:t>Bandwidth Density</a:t>
            </a:r>
            <a:r>
              <a:rPr lang="en-US" sz="1600" dirty="0">
                <a:solidFill>
                  <a:srgbClr val="0070C0"/>
                </a:solidFill>
                <a:latin typeface="+mj-lt"/>
              </a:rPr>
              <a:t> (w/ 9um pitch)</a:t>
            </a:r>
            <a:r>
              <a:rPr lang="en-US" sz="1600" b="1" dirty="0">
                <a:solidFill>
                  <a:srgbClr val="0070C0"/>
                </a:solidFill>
                <a:latin typeface="+mj-lt"/>
              </a:rPr>
              <a:t>: </a:t>
            </a:r>
            <a:r>
              <a:rPr lang="en-US" sz="1600" dirty="0">
                <a:latin typeface="+mj-lt"/>
              </a:rPr>
              <a:t>&gt; 3.2TB/s/mm</a:t>
            </a:r>
            <a:r>
              <a:rPr lang="en-US" sz="1600" baseline="30000" dirty="0">
                <a:latin typeface="+mj-lt"/>
              </a:rPr>
              <a:t>2</a:t>
            </a:r>
            <a:r>
              <a:rPr lang="en-US" sz="1600" dirty="0">
                <a:latin typeface="+mj-lt"/>
              </a:rPr>
              <a:t> </a:t>
            </a:r>
          </a:p>
          <a:p>
            <a:r>
              <a:rPr lang="en-US" sz="1600" b="1" dirty="0">
                <a:solidFill>
                  <a:srgbClr val="0070C0"/>
                </a:solidFill>
                <a:latin typeface="+mj-lt"/>
              </a:rPr>
              <a:t>Power:</a:t>
            </a:r>
            <a:r>
              <a:rPr lang="en-US" sz="1200" dirty="0">
                <a:latin typeface="+mj-lt"/>
              </a:rPr>
              <a:t> </a:t>
            </a:r>
            <a:r>
              <a:rPr lang="en-US" sz="1600" dirty="0">
                <a:latin typeface="+mj-lt"/>
              </a:rPr>
              <a:t>&lt; 0.02 </a:t>
            </a:r>
            <a:r>
              <a:rPr lang="en-US" sz="1200" dirty="0">
                <a:latin typeface="+mj-lt"/>
              </a:rPr>
              <a:t>(3um bump pitch)</a:t>
            </a:r>
            <a:r>
              <a:rPr lang="en-US" sz="1600" dirty="0">
                <a:latin typeface="+mj-lt"/>
              </a:rPr>
              <a:t> to  0.05 pJ/b </a:t>
            </a:r>
            <a:r>
              <a:rPr lang="en-US" sz="1200" dirty="0">
                <a:latin typeface="+mj-lt"/>
              </a:rPr>
              <a:t>(9um bump pitch)</a:t>
            </a:r>
            <a:endParaRPr lang="en-US" sz="1000" dirty="0">
              <a:solidFill>
                <a:srgbClr val="0070C0"/>
              </a:solidFill>
              <a:latin typeface="+mj-lt"/>
            </a:endParaRPr>
          </a:p>
          <a:p>
            <a:pPr lvl="1"/>
            <a:r>
              <a:rPr lang="en-US" sz="1400" dirty="0">
                <a:latin typeface="+mj-lt"/>
              </a:rPr>
              <a:t>Near linear total power with regards to activity factor</a:t>
            </a:r>
          </a:p>
          <a:p>
            <a:pPr lvl="1"/>
            <a:r>
              <a:rPr lang="en-US" sz="1400" dirty="0">
                <a:latin typeface="+mj-lt"/>
              </a:rPr>
              <a:t>9-25um and 1um: TBD</a:t>
            </a:r>
            <a:endParaRPr lang="en-US" sz="1600" b="1" dirty="0">
              <a:solidFill>
                <a:srgbClr val="0070C0"/>
              </a:solidFill>
              <a:latin typeface="+mj-lt"/>
            </a:endParaRPr>
          </a:p>
          <a:p>
            <a:pPr marL="457223" lvl="1" indent="0">
              <a:buNone/>
            </a:pPr>
            <a:endParaRPr lang="en-US" sz="1400" dirty="0">
              <a:latin typeface="+mj-lt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EBC46E5-6947-A91D-FBB2-5C7AFE371233}"/>
              </a:ext>
            </a:extLst>
          </p:cNvPr>
          <p:cNvGrpSpPr/>
          <p:nvPr/>
        </p:nvGrpSpPr>
        <p:grpSpPr>
          <a:xfrm>
            <a:off x="6095999" y="268061"/>
            <a:ext cx="5835267" cy="2483483"/>
            <a:chOff x="6426218" y="927215"/>
            <a:chExt cx="5438800" cy="219678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A4B0525-6209-0894-925B-8804841B107B}"/>
                </a:ext>
              </a:extLst>
            </p:cNvPr>
            <p:cNvGrpSpPr/>
            <p:nvPr/>
          </p:nvGrpSpPr>
          <p:grpSpPr>
            <a:xfrm>
              <a:off x="6426218" y="927215"/>
              <a:ext cx="5438800" cy="2196786"/>
              <a:chOff x="6277648" y="587115"/>
              <a:chExt cx="5438800" cy="219678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5F4AE68-B770-D4DE-A738-5173ABE1408C}"/>
                  </a:ext>
                </a:extLst>
              </p:cNvPr>
              <p:cNvGrpSpPr/>
              <p:nvPr/>
            </p:nvGrpSpPr>
            <p:grpSpPr>
              <a:xfrm>
                <a:off x="6777875" y="587115"/>
                <a:ext cx="4618958" cy="1833965"/>
                <a:chOff x="6777875" y="815260"/>
                <a:chExt cx="4618958" cy="1833965"/>
              </a:xfrm>
            </p:grpSpPr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89347AEB-53A8-7777-F1D7-4EA0D07A9A61}"/>
                    </a:ext>
                  </a:extLst>
                </p:cNvPr>
                <p:cNvGrpSpPr/>
                <p:nvPr/>
              </p:nvGrpSpPr>
              <p:grpSpPr>
                <a:xfrm>
                  <a:off x="6777875" y="1039538"/>
                  <a:ext cx="3064152" cy="1523455"/>
                  <a:chOff x="507090" y="4580859"/>
                  <a:chExt cx="3171035" cy="1272256"/>
                </a:xfrm>
              </p:grpSpPr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3E32A944-FC76-CC76-1261-281939AE7CAE}"/>
                      </a:ext>
                    </a:extLst>
                  </p:cNvPr>
                  <p:cNvGrpSpPr/>
                  <p:nvPr/>
                </p:nvGrpSpPr>
                <p:grpSpPr>
                  <a:xfrm>
                    <a:off x="507090" y="4580859"/>
                    <a:ext cx="3171035" cy="1272256"/>
                    <a:chOff x="7550287" y="1190216"/>
                    <a:chExt cx="3920232" cy="1272256"/>
                  </a:xfrm>
                </p:grpSpPr>
                <p:sp>
                  <p:nvSpPr>
                    <p:cNvPr id="9" name="Rectangle 8">
                      <a:extLst>
                        <a:ext uri="{FF2B5EF4-FFF2-40B4-BE49-F238E27FC236}">
                          <a16:creationId xmlns:a16="http://schemas.microsoft.com/office/drawing/2014/main" id="{C6231F3B-8DB6-AF51-657B-AC7C69D5CF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94154" y="1643087"/>
                      <a:ext cx="3056675" cy="91439"/>
                    </a:xfrm>
                    <a:prstGeom prst="rect">
                      <a:avLst/>
                    </a:prstGeom>
                    <a:solidFill>
                      <a:srgbClr val="FAC994"/>
                    </a:solidFill>
                    <a:ln w="6350" cap="flat">
                      <a:solidFill>
                        <a:schemeClr val="tx1"/>
                      </a:solidFill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no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10" name="Rectangle 9">
                      <a:extLst>
                        <a:ext uri="{FF2B5EF4-FFF2-40B4-BE49-F238E27FC236}">
                          <a16:creationId xmlns:a16="http://schemas.microsoft.com/office/drawing/2014/main" id="{64F14793-3F97-7F3C-247C-AF20DC30FE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91254" y="1783098"/>
                      <a:ext cx="3056675" cy="91439"/>
                    </a:xfrm>
                    <a:prstGeom prst="rect">
                      <a:avLst/>
                    </a:prstGeom>
                    <a:solidFill>
                      <a:srgbClr val="FAC994"/>
                    </a:solidFill>
                    <a:ln w="6350" cap="flat">
                      <a:solidFill>
                        <a:schemeClr val="tx1"/>
                      </a:solidFill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no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11" name="Rectangle 10">
                      <a:extLst>
                        <a:ext uri="{FF2B5EF4-FFF2-40B4-BE49-F238E27FC236}">
                          <a16:creationId xmlns:a16="http://schemas.microsoft.com/office/drawing/2014/main" id="{DF54AF4B-0D69-9E67-5AC0-366159B600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59025" y="2057415"/>
                      <a:ext cx="3566120" cy="182878"/>
                    </a:xfrm>
                    <a:prstGeom prst="rect">
                      <a:avLst/>
                    </a:prstGeom>
                    <a:solidFill>
                      <a:schemeClr val="accent6">
                        <a:lumMod val="50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no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12" name="Oval 11">
                      <a:extLst>
                        <a:ext uri="{FF2B5EF4-FFF2-40B4-BE49-F238E27FC236}">
                          <a16:creationId xmlns:a16="http://schemas.microsoft.com/office/drawing/2014/main" id="{2DFCDA72-E38B-1485-8EDC-C17303A04B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33342" y="1656926"/>
                      <a:ext cx="182878" cy="618099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13" name="Oval 12">
                      <a:extLst>
                        <a:ext uri="{FF2B5EF4-FFF2-40B4-BE49-F238E27FC236}">
                          <a16:creationId xmlns:a16="http://schemas.microsoft.com/office/drawing/2014/main" id="{D84C6289-C70C-5921-216B-622085FBB5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07659" y="1656926"/>
                      <a:ext cx="182878" cy="618099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14" name="Oval 13">
                      <a:extLst>
                        <a:ext uri="{FF2B5EF4-FFF2-40B4-BE49-F238E27FC236}">
                          <a16:creationId xmlns:a16="http://schemas.microsoft.com/office/drawing/2014/main" id="{DC6D8A1E-3BDB-5F97-8280-2E36162A88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81977" y="1656926"/>
                      <a:ext cx="182878" cy="618099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15" name="Oval 14">
                      <a:extLst>
                        <a:ext uri="{FF2B5EF4-FFF2-40B4-BE49-F238E27FC236}">
                          <a16:creationId xmlns:a16="http://schemas.microsoft.com/office/drawing/2014/main" id="{6410E068-399F-AE8D-2414-4F3246A044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656292" y="1656926"/>
                      <a:ext cx="182878" cy="618099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16" name="Oval 15">
                      <a:extLst>
                        <a:ext uri="{FF2B5EF4-FFF2-40B4-BE49-F238E27FC236}">
                          <a16:creationId xmlns:a16="http://schemas.microsoft.com/office/drawing/2014/main" id="{CAFBAA55-77F4-2C39-3C58-D444627390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0609" y="1656926"/>
                      <a:ext cx="182878" cy="618099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17" name="Oval 16">
                      <a:extLst>
                        <a:ext uri="{FF2B5EF4-FFF2-40B4-BE49-F238E27FC236}">
                          <a16:creationId xmlns:a16="http://schemas.microsoft.com/office/drawing/2014/main" id="{2205927B-178A-8EFB-7F66-DF6EF177D5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04926" y="1656926"/>
                      <a:ext cx="182878" cy="618099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18" name="Oval 17">
                      <a:extLst>
                        <a:ext uri="{FF2B5EF4-FFF2-40B4-BE49-F238E27FC236}">
                          <a16:creationId xmlns:a16="http://schemas.microsoft.com/office/drawing/2014/main" id="{C5B47E9E-2A5E-9E1D-D28F-992D5D68B6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79242" y="1656926"/>
                      <a:ext cx="182878" cy="618099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19" name="Oval 18">
                      <a:extLst>
                        <a:ext uri="{FF2B5EF4-FFF2-40B4-BE49-F238E27FC236}">
                          <a16:creationId xmlns:a16="http://schemas.microsoft.com/office/drawing/2014/main" id="{7F928807-BC22-3DF6-9D9D-72F5935744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753559" y="1656926"/>
                      <a:ext cx="182878" cy="618099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20" name="Oval 19">
                      <a:extLst>
                        <a:ext uri="{FF2B5EF4-FFF2-40B4-BE49-F238E27FC236}">
                          <a16:creationId xmlns:a16="http://schemas.microsoft.com/office/drawing/2014/main" id="{49060F6A-6C72-294D-17D7-C6212E80A1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27876" y="1656926"/>
                      <a:ext cx="182878" cy="618099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21" name="Oval 20">
                      <a:extLst>
                        <a:ext uri="{FF2B5EF4-FFF2-40B4-BE49-F238E27FC236}">
                          <a16:creationId xmlns:a16="http://schemas.microsoft.com/office/drawing/2014/main" id="{23562DDD-56AB-F612-7ABA-AE5C0181CE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02194" y="1656926"/>
                      <a:ext cx="182878" cy="618099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22" name="Oval 21">
                      <a:extLst>
                        <a:ext uri="{FF2B5EF4-FFF2-40B4-BE49-F238E27FC236}">
                          <a16:creationId xmlns:a16="http://schemas.microsoft.com/office/drawing/2014/main" id="{B3D5F474-9A64-86C6-6F10-A1B858C5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73611" y="1656926"/>
                      <a:ext cx="182878" cy="618099"/>
                    </a:xfrm>
                    <a:prstGeom prst="ellipse">
                      <a:avLst/>
                    </a:prstGeom>
                    <a:solidFill>
                      <a:schemeClr val="bg1">
                        <a:lumMod val="65000"/>
                      </a:schemeClr>
                    </a:solidFill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grpSp>
                  <p:nvGrpSpPr>
                    <p:cNvPr id="23" name="Group 22">
                      <a:extLst>
                        <a:ext uri="{FF2B5EF4-FFF2-40B4-BE49-F238E27FC236}">
                          <a16:creationId xmlns:a16="http://schemas.microsoft.com/office/drawing/2014/main" id="{3AC6C352-D581-FAEA-ADE4-B97E828FE503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7828099" y="1451190"/>
                      <a:ext cx="559145" cy="618099"/>
                      <a:chOff x="8351497" y="1796551"/>
                      <a:chExt cx="2923147" cy="2472424"/>
                    </a:xfrm>
                    <a:solidFill>
                      <a:srgbClr val="A5552D"/>
                    </a:solidFill>
                  </p:grpSpPr>
                  <p:sp>
                    <p:nvSpPr>
                      <p:cNvPr id="24" name="Oval 23">
                        <a:extLst>
                          <a:ext uri="{FF2B5EF4-FFF2-40B4-BE49-F238E27FC236}">
                            <a16:creationId xmlns:a16="http://schemas.microsoft.com/office/drawing/2014/main" id="{260CCEC0-3B94-57AC-397D-489940DF39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51497" y="1796554"/>
                        <a:ext cx="182876" cy="2472421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25" name="Oval 24">
                        <a:extLst>
                          <a:ext uri="{FF2B5EF4-FFF2-40B4-BE49-F238E27FC236}">
                            <a16:creationId xmlns:a16="http://schemas.microsoft.com/office/drawing/2014/main" id="{C2C30B16-6A1E-950D-49ED-784C6B937C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25814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26" name="Oval 25">
                        <a:extLst>
                          <a:ext uri="{FF2B5EF4-FFF2-40B4-BE49-F238E27FC236}">
                            <a16:creationId xmlns:a16="http://schemas.microsoft.com/office/drawing/2014/main" id="{59DF84C8-11BA-3D2E-D0B5-54A8ABDFAB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00131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27" name="Oval 26">
                        <a:extLst>
                          <a:ext uri="{FF2B5EF4-FFF2-40B4-BE49-F238E27FC236}">
                            <a16:creationId xmlns:a16="http://schemas.microsoft.com/office/drawing/2014/main" id="{0C67C5B9-C4DB-998C-CFB0-488EE7425F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74448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28" name="Oval 27">
                        <a:extLst>
                          <a:ext uri="{FF2B5EF4-FFF2-40B4-BE49-F238E27FC236}">
                            <a16:creationId xmlns:a16="http://schemas.microsoft.com/office/drawing/2014/main" id="{4D882F2C-5E3D-1B45-821D-E255FBADEE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48765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29" name="Oval 28">
                        <a:extLst>
                          <a:ext uri="{FF2B5EF4-FFF2-40B4-BE49-F238E27FC236}">
                            <a16:creationId xmlns:a16="http://schemas.microsoft.com/office/drawing/2014/main" id="{5A1D364F-E418-4118-1AA1-4592D6A432B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23082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30" name="Oval 29">
                        <a:extLst>
                          <a:ext uri="{FF2B5EF4-FFF2-40B4-BE49-F238E27FC236}">
                            <a16:creationId xmlns:a16="http://schemas.microsoft.com/office/drawing/2014/main" id="{55F9679F-D03D-9A02-841F-AB168B6B5A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97399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31" name="Oval 30">
                        <a:extLst>
                          <a:ext uri="{FF2B5EF4-FFF2-40B4-BE49-F238E27FC236}">
                            <a16:creationId xmlns:a16="http://schemas.microsoft.com/office/drawing/2014/main" id="{2EC46C4E-7E66-3573-45E1-0995C2CA11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71716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32" name="Oval 31">
                        <a:extLst>
                          <a:ext uri="{FF2B5EF4-FFF2-40B4-BE49-F238E27FC236}">
                            <a16:creationId xmlns:a16="http://schemas.microsoft.com/office/drawing/2014/main" id="{FBB86382-CD98-C36D-3308-3ADEE5D59A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46033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33" name="Oval 32">
                        <a:extLst>
                          <a:ext uri="{FF2B5EF4-FFF2-40B4-BE49-F238E27FC236}">
                            <a16:creationId xmlns:a16="http://schemas.microsoft.com/office/drawing/2014/main" id="{5B641ED4-EB7A-1998-5290-34C38952A74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20344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2E7A3C3F-1E39-CEED-0C4F-1D20094F47D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091768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</p:grpSp>
                <p:grpSp>
                  <p:nvGrpSpPr>
                    <p:cNvPr id="35" name="Group 34">
                      <a:extLst>
                        <a:ext uri="{FF2B5EF4-FFF2-40B4-BE49-F238E27FC236}">
                          <a16:creationId xmlns:a16="http://schemas.microsoft.com/office/drawing/2014/main" id="{200C396C-7FB1-DA01-2435-02E2BB58850A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8412132" y="1451190"/>
                      <a:ext cx="559145" cy="618099"/>
                      <a:chOff x="8351497" y="1796551"/>
                      <a:chExt cx="2923147" cy="2472424"/>
                    </a:xfrm>
                    <a:solidFill>
                      <a:srgbClr val="A5552D"/>
                    </a:solidFill>
                  </p:grpSpPr>
                  <p:sp>
                    <p:nvSpPr>
                      <p:cNvPr id="36" name="Oval 35">
                        <a:extLst>
                          <a:ext uri="{FF2B5EF4-FFF2-40B4-BE49-F238E27FC236}">
                            <a16:creationId xmlns:a16="http://schemas.microsoft.com/office/drawing/2014/main" id="{AF2184DD-6B68-A9D4-079C-8423DCD587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51497" y="1796554"/>
                        <a:ext cx="182876" cy="2472421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37" name="Oval 36">
                        <a:extLst>
                          <a:ext uri="{FF2B5EF4-FFF2-40B4-BE49-F238E27FC236}">
                            <a16:creationId xmlns:a16="http://schemas.microsoft.com/office/drawing/2014/main" id="{90B26B2B-2097-16D0-D3A3-8054202D96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25814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38" name="Oval 37">
                        <a:extLst>
                          <a:ext uri="{FF2B5EF4-FFF2-40B4-BE49-F238E27FC236}">
                            <a16:creationId xmlns:a16="http://schemas.microsoft.com/office/drawing/2014/main" id="{892C3BF7-26C9-1529-6E6A-1C0FBD5B49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00131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39" name="Oval 38">
                        <a:extLst>
                          <a:ext uri="{FF2B5EF4-FFF2-40B4-BE49-F238E27FC236}">
                            <a16:creationId xmlns:a16="http://schemas.microsoft.com/office/drawing/2014/main" id="{D58C4B5A-883E-746A-3275-774CEB456AC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74448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40" name="Oval 39">
                        <a:extLst>
                          <a:ext uri="{FF2B5EF4-FFF2-40B4-BE49-F238E27FC236}">
                            <a16:creationId xmlns:a16="http://schemas.microsoft.com/office/drawing/2014/main" id="{9AB26E62-7BC4-B7CE-4F5B-BB734D1BE2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48765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41" name="Oval 40">
                        <a:extLst>
                          <a:ext uri="{FF2B5EF4-FFF2-40B4-BE49-F238E27FC236}">
                            <a16:creationId xmlns:a16="http://schemas.microsoft.com/office/drawing/2014/main" id="{C20B8DAD-A16A-79A6-E02D-068DC6368A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23082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42" name="Oval 41">
                        <a:extLst>
                          <a:ext uri="{FF2B5EF4-FFF2-40B4-BE49-F238E27FC236}">
                            <a16:creationId xmlns:a16="http://schemas.microsoft.com/office/drawing/2014/main" id="{17BCA2D4-0A1C-9F08-8AA0-C5BCD79AF5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97399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43" name="Oval 42">
                        <a:extLst>
                          <a:ext uri="{FF2B5EF4-FFF2-40B4-BE49-F238E27FC236}">
                            <a16:creationId xmlns:a16="http://schemas.microsoft.com/office/drawing/2014/main" id="{BA24F893-6D37-684F-7B08-6EF870348F1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71716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44" name="Oval 43">
                        <a:extLst>
                          <a:ext uri="{FF2B5EF4-FFF2-40B4-BE49-F238E27FC236}">
                            <a16:creationId xmlns:a16="http://schemas.microsoft.com/office/drawing/2014/main" id="{948E9B48-A07D-C7E1-BD23-E5DE41DD69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46033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45" name="Oval 44">
                        <a:extLst>
                          <a:ext uri="{FF2B5EF4-FFF2-40B4-BE49-F238E27FC236}">
                            <a16:creationId xmlns:a16="http://schemas.microsoft.com/office/drawing/2014/main" id="{C60D5321-4AF0-8FF4-F3C3-58C94A6834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20344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46" name="Oval 45">
                        <a:extLst>
                          <a:ext uri="{FF2B5EF4-FFF2-40B4-BE49-F238E27FC236}">
                            <a16:creationId xmlns:a16="http://schemas.microsoft.com/office/drawing/2014/main" id="{5B90905C-D832-2EED-7686-C021B7EF690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091768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</p:grpSp>
                <p:grpSp>
                  <p:nvGrpSpPr>
                    <p:cNvPr id="47" name="Group 46">
                      <a:extLst>
                        <a:ext uri="{FF2B5EF4-FFF2-40B4-BE49-F238E27FC236}">
                          <a16:creationId xmlns:a16="http://schemas.microsoft.com/office/drawing/2014/main" id="{107C9121-7528-28F6-717D-7358D8DBD1DB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8994846" y="1450243"/>
                      <a:ext cx="559145" cy="618099"/>
                      <a:chOff x="8351497" y="1796551"/>
                      <a:chExt cx="2923147" cy="2472424"/>
                    </a:xfrm>
                    <a:solidFill>
                      <a:srgbClr val="A5552D"/>
                    </a:solidFill>
                  </p:grpSpPr>
                  <p:sp>
                    <p:nvSpPr>
                      <p:cNvPr id="48" name="Oval 47">
                        <a:extLst>
                          <a:ext uri="{FF2B5EF4-FFF2-40B4-BE49-F238E27FC236}">
                            <a16:creationId xmlns:a16="http://schemas.microsoft.com/office/drawing/2014/main" id="{D9C29E55-D865-3688-5756-43EBB6F4DE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51497" y="1796554"/>
                        <a:ext cx="182876" cy="2472421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49" name="Oval 48">
                        <a:extLst>
                          <a:ext uri="{FF2B5EF4-FFF2-40B4-BE49-F238E27FC236}">
                            <a16:creationId xmlns:a16="http://schemas.microsoft.com/office/drawing/2014/main" id="{F690BAC0-0BEA-E613-08A0-BC4236BDAE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25814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50" name="Oval 49">
                        <a:extLst>
                          <a:ext uri="{FF2B5EF4-FFF2-40B4-BE49-F238E27FC236}">
                            <a16:creationId xmlns:a16="http://schemas.microsoft.com/office/drawing/2014/main" id="{C88975E5-FDAF-6820-B879-30D75CFDDDC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00131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51" name="Oval 50">
                        <a:extLst>
                          <a:ext uri="{FF2B5EF4-FFF2-40B4-BE49-F238E27FC236}">
                            <a16:creationId xmlns:a16="http://schemas.microsoft.com/office/drawing/2014/main" id="{4579232C-78F3-AAC6-1A2B-C1460DDD6C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74448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52" name="Oval 51">
                        <a:extLst>
                          <a:ext uri="{FF2B5EF4-FFF2-40B4-BE49-F238E27FC236}">
                            <a16:creationId xmlns:a16="http://schemas.microsoft.com/office/drawing/2014/main" id="{A7279E55-6089-FB32-8555-817009342B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48765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53" name="Oval 52">
                        <a:extLst>
                          <a:ext uri="{FF2B5EF4-FFF2-40B4-BE49-F238E27FC236}">
                            <a16:creationId xmlns:a16="http://schemas.microsoft.com/office/drawing/2014/main" id="{A59EE8AC-5914-B8DB-F962-FB21B6323B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23082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192CB68C-29B9-D0B8-D24C-26ABE8028C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97399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55" name="Oval 54">
                        <a:extLst>
                          <a:ext uri="{FF2B5EF4-FFF2-40B4-BE49-F238E27FC236}">
                            <a16:creationId xmlns:a16="http://schemas.microsoft.com/office/drawing/2014/main" id="{5E2D5760-8267-4D62-F7F2-EFBA18F895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71716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56" name="Oval 55">
                        <a:extLst>
                          <a:ext uri="{FF2B5EF4-FFF2-40B4-BE49-F238E27FC236}">
                            <a16:creationId xmlns:a16="http://schemas.microsoft.com/office/drawing/2014/main" id="{1AC6D678-8E43-7ECF-FB75-C30D54C8FC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46033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57" name="Oval 56">
                        <a:extLst>
                          <a:ext uri="{FF2B5EF4-FFF2-40B4-BE49-F238E27FC236}">
                            <a16:creationId xmlns:a16="http://schemas.microsoft.com/office/drawing/2014/main" id="{C5579EBD-0353-5056-1966-460EEC7E25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20344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58" name="Oval 57">
                        <a:extLst>
                          <a:ext uri="{FF2B5EF4-FFF2-40B4-BE49-F238E27FC236}">
                            <a16:creationId xmlns:a16="http://schemas.microsoft.com/office/drawing/2014/main" id="{43A44806-BEC9-29A9-5147-25CC1CBB9C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091768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</p:grpSp>
                <p:grpSp>
                  <p:nvGrpSpPr>
                    <p:cNvPr id="59" name="Group 58">
                      <a:extLst>
                        <a:ext uri="{FF2B5EF4-FFF2-40B4-BE49-F238E27FC236}">
                          <a16:creationId xmlns:a16="http://schemas.microsoft.com/office/drawing/2014/main" id="{E5096A1B-2CDC-97D3-241C-D43DDA01045B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9578879" y="1450243"/>
                      <a:ext cx="559145" cy="618099"/>
                      <a:chOff x="8351497" y="1796551"/>
                      <a:chExt cx="2923147" cy="2472424"/>
                    </a:xfrm>
                    <a:solidFill>
                      <a:srgbClr val="A5552D"/>
                    </a:solidFill>
                  </p:grpSpPr>
                  <p:sp>
                    <p:nvSpPr>
                      <p:cNvPr id="60" name="Oval 59">
                        <a:extLst>
                          <a:ext uri="{FF2B5EF4-FFF2-40B4-BE49-F238E27FC236}">
                            <a16:creationId xmlns:a16="http://schemas.microsoft.com/office/drawing/2014/main" id="{ED94F4B7-9BB5-172E-839A-C4E0FF36F4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51497" y="1796554"/>
                        <a:ext cx="182876" cy="2472421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61" name="Oval 60">
                        <a:extLst>
                          <a:ext uri="{FF2B5EF4-FFF2-40B4-BE49-F238E27FC236}">
                            <a16:creationId xmlns:a16="http://schemas.microsoft.com/office/drawing/2014/main" id="{84BAA9A0-D750-1CAA-4E0C-E55F70BBFC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25814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62" name="Oval 61">
                        <a:extLst>
                          <a:ext uri="{FF2B5EF4-FFF2-40B4-BE49-F238E27FC236}">
                            <a16:creationId xmlns:a16="http://schemas.microsoft.com/office/drawing/2014/main" id="{C8DA47A8-317C-0920-54F2-1DB2E06D0B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00131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63" name="Oval 62">
                        <a:extLst>
                          <a:ext uri="{FF2B5EF4-FFF2-40B4-BE49-F238E27FC236}">
                            <a16:creationId xmlns:a16="http://schemas.microsoft.com/office/drawing/2014/main" id="{BF0A619C-D2AB-0EA1-0185-A56E6D0FB04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74448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64" name="Oval 63">
                        <a:extLst>
                          <a:ext uri="{FF2B5EF4-FFF2-40B4-BE49-F238E27FC236}">
                            <a16:creationId xmlns:a16="http://schemas.microsoft.com/office/drawing/2014/main" id="{5BFD02BF-48A4-FB93-F8EE-8B480276B6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48765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65" name="Oval 64">
                        <a:extLst>
                          <a:ext uri="{FF2B5EF4-FFF2-40B4-BE49-F238E27FC236}">
                            <a16:creationId xmlns:a16="http://schemas.microsoft.com/office/drawing/2014/main" id="{FDAA6976-36CC-B8DF-FB61-87A2CB02A39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23082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66" name="Oval 65">
                        <a:extLst>
                          <a:ext uri="{FF2B5EF4-FFF2-40B4-BE49-F238E27FC236}">
                            <a16:creationId xmlns:a16="http://schemas.microsoft.com/office/drawing/2014/main" id="{4DD56AF3-3692-D51D-7058-DC32ACA7AFF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97399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67" name="Oval 66">
                        <a:extLst>
                          <a:ext uri="{FF2B5EF4-FFF2-40B4-BE49-F238E27FC236}">
                            <a16:creationId xmlns:a16="http://schemas.microsoft.com/office/drawing/2014/main" id="{2C51B9BE-707A-5E20-7B8A-E7E8783824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71716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68" name="Oval 67">
                        <a:extLst>
                          <a:ext uri="{FF2B5EF4-FFF2-40B4-BE49-F238E27FC236}">
                            <a16:creationId xmlns:a16="http://schemas.microsoft.com/office/drawing/2014/main" id="{490A67E9-ECA8-D0C3-C92F-D4CC2006E2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46033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69" name="Oval 68">
                        <a:extLst>
                          <a:ext uri="{FF2B5EF4-FFF2-40B4-BE49-F238E27FC236}">
                            <a16:creationId xmlns:a16="http://schemas.microsoft.com/office/drawing/2014/main" id="{FE20E88F-8470-0A8A-D45C-14579B73CB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20344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70" name="Oval 69">
                        <a:extLst>
                          <a:ext uri="{FF2B5EF4-FFF2-40B4-BE49-F238E27FC236}">
                            <a16:creationId xmlns:a16="http://schemas.microsoft.com/office/drawing/2014/main" id="{5FFDED2F-F7E0-C5A4-2D95-631DB282EA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091768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</p:grpSp>
                <p:grpSp>
                  <p:nvGrpSpPr>
                    <p:cNvPr id="71" name="Group 70">
                      <a:extLst>
                        <a:ext uri="{FF2B5EF4-FFF2-40B4-BE49-F238E27FC236}">
                          <a16:creationId xmlns:a16="http://schemas.microsoft.com/office/drawing/2014/main" id="{FB0CF661-C264-512A-B6C2-5F8214A3D839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10160727" y="1450243"/>
                      <a:ext cx="559145" cy="618099"/>
                      <a:chOff x="8351497" y="1796551"/>
                      <a:chExt cx="2923147" cy="2472424"/>
                    </a:xfrm>
                    <a:solidFill>
                      <a:srgbClr val="A5552D"/>
                    </a:solidFill>
                  </p:grpSpPr>
                  <p:sp>
                    <p:nvSpPr>
                      <p:cNvPr id="72" name="Oval 71">
                        <a:extLst>
                          <a:ext uri="{FF2B5EF4-FFF2-40B4-BE49-F238E27FC236}">
                            <a16:creationId xmlns:a16="http://schemas.microsoft.com/office/drawing/2014/main" id="{A5626224-3E1E-CB63-9888-56ED33898B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51497" y="1796554"/>
                        <a:ext cx="182876" cy="2472421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73" name="Oval 72">
                        <a:extLst>
                          <a:ext uri="{FF2B5EF4-FFF2-40B4-BE49-F238E27FC236}">
                            <a16:creationId xmlns:a16="http://schemas.microsoft.com/office/drawing/2014/main" id="{5750BDF3-70E8-0C86-08F5-79F13B002A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625814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74" name="Oval 73">
                        <a:extLst>
                          <a:ext uri="{FF2B5EF4-FFF2-40B4-BE49-F238E27FC236}">
                            <a16:creationId xmlns:a16="http://schemas.microsoft.com/office/drawing/2014/main" id="{F57DE168-732C-E3F5-7934-6640D146DAC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00131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75" name="Oval 74">
                        <a:extLst>
                          <a:ext uri="{FF2B5EF4-FFF2-40B4-BE49-F238E27FC236}">
                            <a16:creationId xmlns:a16="http://schemas.microsoft.com/office/drawing/2014/main" id="{1972E5BC-49E2-0E5D-B6A1-C315D2C0A5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174448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76" name="Oval 75">
                        <a:extLst>
                          <a:ext uri="{FF2B5EF4-FFF2-40B4-BE49-F238E27FC236}">
                            <a16:creationId xmlns:a16="http://schemas.microsoft.com/office/drawing/2014/main" id="{8DE0F376-7960-3CC2-45DD-E1420125016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48765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77" name="Oval 76">
                        <a:extLst>
                          <a:ext uri="{FF2B5EF4-FFF2-40B4-BE49-F238E27FC236}">
                            <a16:creationId xmlns:a16="http://schemas.microsoft.com/office/drawing/2014/main" id="{CA220518-C995-3652-F09C-80DD5AFEAFD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723082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78" name="Oval 77">
                        <a:extLst>
                          <a:ext uri="{FF2B5EF4-FFF2-40B4-BE49-F238E27FC236}">
                            <a16:creationId xmlns:a16="http://schemas.microsoft.com/office/drawing/2014/main" id="{1E7F522B-DC87-1C06-A8F6-1F23118A4F8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97399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79" name="Oval 78">
                        <a:extLst>
                          <a:ext uri="{FF2B5EF4-FFF2-40B4-BE49-F238E27FC236}">
                            <a16:creationId xmlns:a16="http://schemas.microsoft.com/office/drawing/2014/main" id="{80A2D556-FAAD-05C9-8903-549E3BC054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71716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80" name="Oval 79">
                        <a:extLst>
                          <a:ext uri="{FF2B5EF4-FFF2-40B4-BE49-F238E27FC236}">
                            <a16:creationId xmlns:a16="http://schemas.microsoft.com/office/drawing/2014/main" id="{A50C276A-669A-95EF-CF03-77C92E2364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546033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81" name="Oval 80">
                        <a:extLst>
                          <a:ext uri="{FF2B5EF4-FFF2-40B4-BE49-F238E27FC236}">
                            <a16:creationId xmlns:a16="http://schemas.microsoft.com/office/drawing/2014/main" id="{553E84E4-6645-2F56-A3E3-3A453EED2C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820344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  <p:sp>
                    <p:nvSpPr>
                      <p:cNvPr id="82" name="Oval 81">
                        <a:extLst>
                          <a:ext uri="{FF2B5EF4-FFF2-40B4-BE49-F238E27FC236}">
                            <a16:creationId xmlns:a16="http://schemas.microsoft.com/office/drawing/2014/main" id="{6714DB54-4563-3503-63AC-1E495302CEC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091768" y="1796551"/>
                        <a:ext cx="182876" cy="2472424"/>
                      </a:xfrm>
                      <a:prstGeom prst="ellipse">
                        <a:avLst/>
                      </a:prstGeom>
                      <a:grpFill/>
                      <a:ln w="12700" cap="flat">
                        <a:noFill/>
                        <a:miter lim="400000"/>
                      </a:ln>
                      <a:effectLst/>
                      <a:sp3d/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none"/>
                    </p:style>
                    <p:txBody>
                      <a:bodyPr rot="0" spcFirstLastPara="1" vertOverflow="overflow" horzOverflow="overflow" vert="horz" wrap="square" lIns="50800" tIns="50800" rIns="50800" bIns="50800" numCol="1" spcCol="38100" rtlCol="0" anchor="ctr">
                        <a:spAutoFit/>
                      </a:bodyPr>
                      <a:lstStyle/>
                      <a:p>
                        <a:pPr marL="0" marR="0" lvl="0" indent="0" algn="ctr" defTabSz="825541" rtl="0" eaLnBrk="1" fontAlgn="auto" latinLnBrk="0" hangingPunct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 Medium"/>
                          <a:ea typeface="Helvetica Neue Medium"/>
                          <a:cs typeface="Helvetica Neue Medium"/>
                          <a:sym typeface="Helvetica Neue Medium"/>
                        </a:endParaRPr>
                      </a:p>
                    </p:txBody>
                  </p:sp>
                </p:grpSp>
                <p:sp>
                  <p:nvSpPr>
                    <p:cNvPr id="83" name="Oval 82">
                      <a:extLst>
                        <a:ext uri="{FF2B5EF4-FFF2-40B4-BE49-F238E27FC236}">
                          <a16:creationId xmlns:a16="http://schemas.microsoft.com/office/drawing/2014/main" id="{2486F5D0-7A65-46EF-96E9-C85A724D21DF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0742942" y="1450241"/>
                      <a:ext cx="34981" cy="618099"/>
                    </a:xfrm>
                    <a:prstGeom prst="ellipse">
                      <a:avLst/>
                    </a:prstGeom>
                    <a:solidFill>
                      <a:srgbClr val="A5552D"/>
                    </a:solidFill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84" name="Oval 83">
                      <a:extLst>
                        <a:ext uri="{FF2B5EF4-FFF2-40B4-BE49-F238E27FC236}">
                          <a16:creationId xmlns:a16="http://schemas.microsoft.com/office/drawing/2014/main" id="{FCF0F422-603E-5065-D29E-4005FD05CD7C}"/>
                        </a:ext>
                      </a:extLst>
                    </p:cNvPr>
                    <p:cNvSpPr/>
                    <p:nvPr/>
                  </p:nvSpPr>
                  <p:spPr>
                    <a:xfrm flipV="1">
                      <a:off x="10794860" y="1450241"/>
                      <a:ext cx="34981" cy="618099"/>
                    </a:xfrm>
                    <a:prstGeom prst="ellipse">
                      <a:avLst/>
                    </a:prstGeom>
                    <a:solidFill>
                      <a:srgbClr val="A5552D"/>
                    </a:solidFill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85" name="Rectangle 84">
                      <a:extLst>
                        <a:ext uri="{FF2B5EF4-FFF2-40B4-BE49-F238E27FC236}">
                          <a16:creationId xmlns:a16="http://schemas.microsoft.com/office/drawing/2014/main" id="{6D1F8E6A-BCD3-179B-14F6-C1A3D54F7F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05157" y="1624260"/>
                      <a:ext cx="53191" cy="439556"/>
                    </a:xfrm>
                    <a:prstGeom prst="rect">
                      <a:avLst/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 w="12700" cap="flat">
                      <a:solidFill>
                        <a:schemeClr val="tx1"/>
                      </a:solidFill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86" name="Rectangle 85">
                      <a:extLst>
                        <a:ext uri="{FF2B5EF4-FFF2-40B4-BE49-F238E27FC236}">
                          <a16:creationId xmlns:a16="http://schemas.microsoft.com/office/drawing/2014/main" id="{F41656B3-5814-E1BC-0B4D-6FACC4237A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70496" y="1624260"/>
                      <a:ext cx="53191" cy="439556"/>
                    </a:xfrm>
                    <a:prstGeom prst="rect">
                      <a:avLst/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 w="12700" cap="flat">
                      <a:solidFill>
                        <a:schemeClr val="tx1"/>
                      </a:solidFill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87" name="Rectangle 86">
                      <a:extLst>
                        <a:ext uri="{FF2B5EF4-FFF2-40B4-BE49-F238E27FC236}">
                          <a16:creationId xmlns:a16="http://schemas.microsoft.com/office/drawing/2014/main" id="{70AAFDEA-CE3B-1A7B-10CD-FA6D918A90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53337" y="1620679"/>
                      <a:ext cx="53191" cy="439556"/>
                    </a:xfrm>
                    <a:prstGeom prst="rect">
                      <a:avLst/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 w="12700" cap="flat">
                      <a:solidFill>
                        <a:schemeClr val="tx1"/>
                      </a:solidFill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88" name="Rectangle 87">
                      <a:extLst>
                        <a:ext uri="{FF2B5EF4-FFF2-40B4-BE49-F238E27FC236}">
                          <a16:creationId xmlns:a16="http://schemas.microsoft.com/office/drawing/2014/main" id="{6F01BF60-6E48-C105-00B8-5E1F631A29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18676" y="1620678"/>
                      <a:ext cx="53191" cy="439556"/>
                    </a:xfrm>
                    <a:prstGeom prst="rect">
                      <a:avLst/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 w="12700" cap="flat">
                      <a:solidFill>
                        <a:schemeClr val="tx1"/>
                      </a:solidFill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89" name="Rectangle 88">
                      <a:extLst>
                        <a:ext uri="{FF2B5EF4-FFF2-40B4-BE49-F238E27FC236}">
                          <a16:creationId xmlns:a16="http://schemas.microsoft.com/office/drawing/2014/main" id="{55E24140-3D41-BB4E-04F2-75C8E29807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96723" y="1624260"/>
                      <a:ext cx="53191" cy="439556"/>
                    </a:xfrm>
                    <a:prstGeom prst="rect">
                      <a:avLst/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 w="12700" cap="flat">
                      <a:solidFill>
                        <a:schemeClr val="tx1"/>
                      </a:solidFill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90" name="Rectangle 89">
                      <a:extLst>
                        <a:ext uri="{FF2B5EF4-FFF2-40B4-BE49-F238E27FC236}">
                          <a16:creationId xmlns:a16="http://schemas.microsoft.com/office/drawing/2014/main" id="{A7377CB9-959A-E2FB-F09F-466F31F87E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262062" y="1624260"/>
                      <a:ext cx="53191" cy="439556"/>
                    </a:xfrm>
                    <a:prstGeom prst="rect">
                      <a:avLst/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 w="12700" cap="flat">
                      <a:solidFill>
                        <a:schemeClr val="tx1"/>
                      </a:solidFill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91" name="Rectangle 90">
                      <a:extLst>
                        <a:ext uri="{FF2B5EF4-FFF2-40B4-BE49-F238E27FC236}">
                          <a16:creationId xmlns:a16="http://schemas.microsoft.com/office/drawing/2014/main" id="{A4B5BCBA-00D1-E899-2878-888501376E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548184" y="1624260"/>
                      <a:ext cx="53191" cy="439556"/>
                    </a:xfrm>
                    <a:prstGeom prst="rect">
                      <a:avLst/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 w="12700" cap="flat">
                      <a:solidFill>
                        <a:schemeClr val="tx1"/>
                      </a:solidFill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92" name="Rectangle 91">
                      <a:extLst>
                        <a:ext uri="{FF2B5EF4-FFF2-40B4-BE49-F238E27FC236}">
                          <a16:creationId xmlns:a16="http://schemas.microsoft.com/office/drawing/2014/main" id="{14E4E4D2-328C-DDCD-56B8-8FF8DA440F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13523" y="1624260"/>
                      <a:ext cx="53191" cy="439556"/>
                    </a:xfrm>
                    <a:prstGeom prst="rect">
                      <a:avLst/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 w="12700" cap="flat">
                      <a:solidFill>
                        <a:schemeClr val="tx1"/>
                      </a:solidFill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93" name="Rectangle 92">
                      <a:extLst>
                        <a:ext uri="{FF2B5EF4-FFF2-40B4-BE49-F238E27FC236}">
                          <a16:creationId xmlns:a16="http://schemas.microsoft.com/office/drawing/2014/main" id="{4787C6BD-7359-B098-8669-CF9A120A6D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92170" y="1624260"/>
                      <a:ext cx="53191" cy="439556"/>
                    </a:xfrm>
                    <a:prstGeom prst="rect">
                      <a:avLst/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 w="12700" cap="flat">
                      <a:solidFill>
                        <a:schemeClr val="tx1"/>
                      </a:solidFill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94" name="Rectangle 93">
                      <a:extLst>
                        <a:ext uri="{FF2B5EF4-FFF2-40B4-BE49-F238E27FC236}">
                          <a16:creationId xmlns:a16="http://schemas.microsoft.com/office/drawing/2014/main" id="{12640D7D-0621-9F42-26E0-77949B801D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7511" y="1624260"/>
                      <a:ext cx="53191" cy="439556"/>
                    </a:xfrm>
                    <a:prstGeom prst="rect">
                      <a:avLst/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 w="12700" cap="flat">
                      <a:solidFill>
                        <a:schemeClr val="tx1"/>
                      </a:solidFill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95" name="Rectangle 94">
                      <a:extLst>
                        <a:ext uri="{FF2B5EF4-FFF2-40B4-BE49-F238E27FC236}">
                          <a16:creationId xmlns:a16="http://schemas.microsoft.com/office/drawing/2014/main" id="{343DDA5C-0A07-C1F6-F6DB-FCBA2F6B92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633959" y="1624260"/>
                      <a:ext cx="53191" cy="439556"/>
                    </a:xfrm>
                    <a:prstGeom prst="rect">
                      <a:avLst/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 w="12700" cap="flat">
                      <a:solidFill>
                        <a:schemeClr val="tx1"/>
                      </a:solidFill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50800" tIns="50800" rIns="50800" bIns="50800" numCol="1" spcCol="38100" rtlCol="0" anchor="ctr">
                      <a:spAutoFit/>
                    </a:bodyPr>
                    <a:lstStyle/>
                    <a:p>
                      <a:pPr marL="0" marR="0" lvl="0" indent="0" algn="ctr" defTabSz="825541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3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Helvetica Neue Medium"/>
                        <a:ea typeface="Helvetica Neue Medium"/>
                        <a:cs typeface="Helvetica Neue Medium"/>
                        <a:sym typeface="Helvetica Neue Medium"/>
                      </a:endParaRPr>
                    </a:p>
                  </p:txBody>
                </p:sp>
                <p:sp>
                  <p:nvSpPr>
                    <p:cNvPr id="96" name="TextBox 95">
                      <a:extLst>
                        <a:ext uri="{FF2B5EF4-FFF2-40B4-BE49-F238E27FC236}">
                          <a16:creationId xmlns:a16="http://schemas.microsoft.com/office/drawing/2014/main" id="{A2B2AF15-B21C-1D5C-60D2-2151B1B3F4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575387" y="1439856"/>
                      <a:ext cx="2707763" cy="136414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0" tIns="0" rIns="0" bIns="0" numCol="1" spcCol="38100" rtlCol="0" anchor="t" anchorCtr="0">
                      <a:spAutoFit/>
                    </a:bodyPr>
                    <a:lstStyle/>
                    <a:p>
                      <a:pPr marL="0" marR="0" lvl="0" indent="0" algn="l" defTabSz="243846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  <a:sym typeface="Helvetica Neue"/>
                        </a:rPr>
                        <a:t>Face-to-Face Hybrid Bonding</a:t>
                      </a:r>
                    </a:p>
                  </p:txBody>
                </p:sp>
                <p:cxnSp>
                  <p:nvCxnSpPr>
                    <p:cNvPr id="97" name="Connector: Curved 96">
                      <a:extLst>
                        <a:ext uri="{FF2B5EF4-FFF2-40B4-BE49-F238E27FC236}">
                          <a16:creationId xmlns:a16="http://schemas.microsoft.com/office/drawing/2014/main" id="{22FDBCE6-3845-31DE-FA1A-8B629CA382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0800000" flipH="1" flipV="1">
                      <a:off x="7550287" y="1588548"/>
                      <a:ext cx="190435" cy="181901"/>
                    </a:xfrm>
                    <a:prstGeom prst="curvedConnector4">
                      <a:avLst>
                        <a:gd name="adj1" fmla="val -162977"/>
                        <a:gd name="adj2" fmla="val 75380"/>
                      </a:avLst>
                    </a:prstGeom>
                    <a:noFill/>
                    <a:ln w="19050" cap="flat">
                      <a:solidFill>
                        <a:srgbClr val="000000"/>
                      </a:solidFill>
                      <a:prstDash val="solid"/>
                      <a:miter lim="400000"/>
                      <a:tailEnd type="triangle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  <p:sp>
                  <p:nvSpPr>
                    <p:cNvPr id="98" name="TextBox 97">
                      <a:extLst>
                        <a:ext uri="{FF2B5EF4-FFF2-40B4-BE49-F238E27FC236}">
                          <a16:creationId xmlns:a16="http://schemas.microsoft.com/office/drawing/2014/main" id="{756DEB02-8DA1-BF7D-57CF-B7B2AA33BE0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451786" y="2326058"/>
                      <a:ext cx="1018733" cy="136414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0" tIns="0" rIns="0" bIns="0" numCol="1" spcCol="38100" rtlCol="0" anchor="t" anchorCtr="0">
                      <a:spAutoFit/>
                    </a:bodyPr>
                    <a:lstStyle/>
                    <a:p>
                      <a:pPr marL="0" marR="0" lvl="0" indent="0" algn="r" defTabSz="243846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  <a:sym typeface="Helvetica Neue"/>
                        </a:rPr>
                        <a:t>C4 Bumps</a:t>
                      </a:r>
                    </a:p>
                  </p:txBody>
                </p:sp>
                <p:cxnSp>
                  <p:nvCxnSpPr>
                    <p:cNvPr id="99" name="Connector: Curved 98">
                      <a:extLst>
                        <a:ext uri="{FF2B5EF4-FFF2-40B4-BE49-F238E27FC236}">
                          <a16:creationId xmlns:a16="http://schemas.microsoft.com/office/drawing/2014/main" id="{435E1EA3-BD4D-C69F-9EB8-C5ACD1710ABD}"/>
                        </a:ext>
                      </a:extLst>
                    </p:cNvPr>
                    <p:cNvCxnSpPr>
                      <a:cxnSpLocks/>
                      <a:endCxn id="22" idx="6"/>
                    </p:cNvCxnSpPr>
                    <p:nvPr/>
                  </p:nvCxnSpPr>
                  <p:spPr>
                    <a:xfrm rot="16200000" flipV="1">
                      <a:off x="10816570" y="1905894"/>
                      <a:ext cx="378225" cy="498387"/>
                    </a:xfrm>
                    <a:prstGeom prst="curvedConnector2">
                      <a:avLst/>
                    </a:prstGeom>
                    <a:noFill/>
                    <a:ln w="19050" cap="flat">
                      <a:solidFill>
                        <a:srgbClr val="000000"/>
                      </a:solidFill>
                      <a:prstDash val="solid"/>
                      <a:miter lim="400000"/>
                      <a:tailEnd type="triangle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  <p:sp>
                  <p:nvSpPr>
                    <p:cNvPr id="100" name="TextBox 99">
                      <a:extLst>
                        <a:ext uri="{FF2B5EF4-FFF2-40B4-BE49-F238E27FC236}">
                          <a16:creationId xmlns:a16="http://schemas.microsoft.com/office/drawing/2014/main" id="{BB172CFB-A39E-F8E9-ACD6-EDA9C2C117A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651729" y="2285778"/>
                      <a:ext cx="1746368" cy="136414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0" tIns="0" rIns="0" bIns="0" numCol="1" spcCol="38100" rtlCol="0" anchor="t" anchorCtr="0">
                      <a:spAutoFit/>
                    </a:bodyPr>
                    <a:lstStyle/>
                    <a:p>
                      <a:pPr marL="0" marR="0" lvl="0" indent="0" algn="l" defTabSz="243846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  <a:sym typeface="Helvetica Neue"/>
                        </a:rPr>
                        <a:t>Package Substrate</a:t>
                      </a:r>
                    </a:p>
                  </p:txBody>
                </p:sp>
                <p:sp>
                  <p:nvSpPr>
                    <p:cNvPr id="101" name="TextBox 100">
                      <a:extLst>
                        <a:ext uri="{FF2B5EF4-FFF2-40B4-BE49-F238E27FC236}">
                          <a16:creationId xmlns:a16="http://schemas.microsoft.com/office/drawing/2014/main" id="{CE4FEBCF-7A05-D12B-B699-E7E5C9385F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22237" y="1375762"/>
                      <a:ext cx="920302" cy="136414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0" tIns="0" rIns="0" bIns="0" numCol="1" spcCol="38100" rtlCol="0" anchor="t" anchorCtr="0">
                      <a:spAutoFit/>
                    </a:bodyPr>
                    <a:lstStyle/>
                    <a:p>
                      <a:pPr marL="0" marR="0" lvl="0" indent="0" algn="r" defTabSz="243846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  <a:sym typeface="Helvetica Neue"/>
                        </a:rPr>
                        <a:t>TSVs</a:t>
                      </a:r>
                    </a:p>
                  </p:txBody>
                </p:sp>
                <p:cxnSp>
                  <p:nvCxnSpPr>
                    <p:cNvPr id="102" name="Connector: Curved 101">
                      <a:extLst>
                        <a:ext uri="{FF2B5EF4-FFF2-40B4-BE49-F238E27FC236}">
                          <a16:creationId xmlns:a16="http://schemas.microsoft.com/office/drawing/2014/main" id="{F9D4C679-DDD5-8414-C9CC-CA3B579427F8}"/>
                        </a:ext>
                      </a:extLst>
                    </p:cNvPr>
                    <p:cNvCxnSpPr>
                      <a:cxnSpLocks/>
                      <a:stCxn id="101" idx="3"/>
                    </p:cNvCxnSpPr>
                    <p:nvPr/>
                  </p:nvCxnSpPr>
                  <p:spPr>
                    <a:xfrm flipH="1">
                      <a:off x="10661117" y="1443969"/>
                      <a:ext cx="281423" cy="348012"/>
                    </a:xfrm>
                    <a:prstGeom prst="curvedConnector4">
                      <a:avLst>
                        <a:gd name="adj1" fmla="val -96864"/>
                        <a:gd name="adj2" fmla="val 59799"/>
                      </a:avLst>
                    </a:prstGeom>
                    <a:noFill/>
                    <a:ln w="19050" cap="flat">
                      <a:solidFill>
                        <a:srgbClr val="000000"/>
                      </a:solidFill>
                      <a:prstDash val="solid"/>
                      <a:miter lim="400000"/>
                      <a:tailEnd type="triangle"/>
                    </a:ln>
                    <a:effectLst>
                      <a:glow rad="63500">
                        <a:schemeClr val="bg1">
                          <a:alpha val="40000"/>
                        </a:schemeClr>
                      </a:glow>
                    </a:effectLst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</p:cxnSp>
                <p:sp>
                  <p:nvSpPr>
                    <p:cNvPr id="103" name="TextBox 102">
                      <a:extLst>
                        <a:ext uri="{FF2B5EF4-FFF2-40B4-BE49-F238E27FC236}">
                          <a16:creationId xmlns:a16="http://schemas.microsoft.com/office/drawing/2014/main" id="{86DD72E5-37B0-10CE-A6D2-4BC9683A4D6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784955" y="1190216"/>
                      <a:ext cx="1216292" cy="159150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sp3d/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none"/>
                  </p:style>
                  <p:txBody>
                    <a:bodyPr rot="0" spcFirstLastPara="1" vertOverflow="overflow" horzOverflow="overflow" vert="horz" wrap="square" lIns="0" tIns="0" rIns="0" bIns="0" numCol="1" spcCol="38100" rtlCol="0" anchor="t" anchorCtr="0">
                      <a:spAutoFit/>
                    </a:bodyPr>
                    <a:lstStyle/>
                    <a:p>
                      <a:pPr marL="0" marR="0" lvl="0" indent="0" algn="l" defTabSz="243846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Verdana"/>
                          <a:ea typeface="+mn-ea"/>
                          <a:cs typeface="+mn-cs"/>
                          <a:sym typeface="Helvetica Neue"/>
                        </a:rPr>
                        <a:t>Side View</a:t>
                      </a:r>
                    </a:p>
                  </p:txBody>
                </p:sp>
              </p:grpSp>
              <p:sp>
                <p:nvSpPr>
                  <p:cNvPr id="122" name="Rectangle 121">
                    <a:extLst>
                      <a:ext uri="{FF2B5EF4-FFF2-40B4-BE49-F238E27FC236}">
                        <a16:creationId xmlns:a16="http://schemas.microsoft.com/office/drawing/2014/main" id="{4B8067E9-6736-05A7-6E48-C85A298D78DF}"/>
                      </a:ext>
                    </a:extLst>
                  </p:cNvPr>
                  <p:cNvSpPr/>
                  <p:nvPr/>
                </p:nvSpPr>
                <p:spPr>
                  <a:xfrm>
                    <a:off x="2901595" y="4951071"/>
                    <a:ext cx="222649" cy="420043"/>
                  </a:xfrm>
                  <a:prstGeom prst="rect">
                    <a:avLst/>
                  </a:prstGeom>
                  <a:noFill/>
                  <a:ln w="19050"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Verdana"/>
                      <a:ea typeface="+mn-ea"/>
                      <a:cs typeface="+mn-cs"/>
                    </a:endParaRPr>
                  </a:p>
                </p:txBody>
              </p:sp>
            </p:grpSp>
            <p:pic>
              <p:nvPicPr>
                <p:cNvPr id="134" name="Picture 133">
                  <a:extLst>
                    <a:ext uri="{FF2B5EF4-FFF2-40B4-BE49-F238E27FC236}">
                      <a16:creationId xmlns:a16="http://schemas.microsoft.com/office/drawing/2014/main" id="{D48233E7-913B-C57E-D5EC-8C679CD3ED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883990" y="815260"/>
                  <a:ext cx="1512843" cy="1833965"/>
                </a:xfrm>
                <a:prstGeom prst="rect">
                  <a:avLst/>
                </a:prstGeom>
                <a:noFill/>
              </p:spPr>
            </p:pic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3AB91C-5691-43A0-FE8F-9E3159F29627}"/>
                  </a:ext>
                </a:extLst>
              </p:cNvPr>
              <p:cNvSpPr txBox="1"/>
              <p:nvPr/>
            </p:nvSpPr>
            <p:spPr>
              <a:xfrm>
                <a:off x="6277648" y="2484430"/>
                <a:ext cx="5438800" cy="2994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UCIe-3D Channel </a:t>
                </a: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rPr>
                  <a:t>- Face to Face hybrid-bonding interface.</a:t>
                </a:r>
              </a:p>
            </p:txBody>
          </p:sp>
        </p:grp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49D2184-A0B4-2219-DC1B-2D9CC86886B1}"/>
                </a:ext>
              </a:extLst>
            </p:cNvPr>
            <p:cNvCxnSpPr/>
            <p:nvPr/>
          </p:nvCxnSpPr>
          <p:spPr>
            <a:xfrm>
              <a:off x="9503962" y="1831703"/>
              <a:ext cx="1387878" cy="0"/>
            </a:xfrm>
            <a:prstGeom prst="line">
              <a:avLst/>
            </a:prstGeom>
            <a:ln w="3810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0F0BE984-2669-980D-65A8-165A685BB413}"/>
              </a:ext>
            </a:extLst>
          </p:cNvPr>
          <p:cNvGrpSpPr/>
          <p:nvPr/>
        </p:nvGrpSpPr>
        <p:grpSpPr>
          <a:xfrm>
            <a:off x="7212243" y="3305141"/>
            <a:ext cx="4745457" cy="3197568"/>
            <a:chOff x="6993107" y="3390297"/>
            <a:chExt cx="4745457" cy="3197568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D9CBF60D-7DB1-3D77-0B33-FA1E3D0AD467}"/>
                </a:ext>
              </a:extLst>
            </p:cNvPr>
            <p:cNvGrpSpPr/>
            <p:nvPr/>
          </p:nvGrpSpPr>
          <p:grpSpPr>
            <a:xfrm>
              <a:off x="6993107" y="3390297"/>
              <a:ext cx="3742008" cy="3197568"/>
              <a:chOff x="7409144" y="3390297"/>
              <a:chExt cx="3742008" cy="3197568"/>
            </a:xfrm>
          </p:grpSpPr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359B9D27-BAB5-22F6-090D-51C201F473FC}"/>
                  </a:ext>
                </a:extLst>
              </p:cNvPr>
              <p:cNvGrpSpPr/>
              <p:nvPr/>
            </p:nvGrpSpPr>
            <p:grpSpPr>
              <a:xfrm>
                <a:off x="7409144" y="3407958"/>
                <a:ext cx="3742008" cy="3179907"/>
                <a:chOff x="7420232" y="3467047"/>
                <a:chExt cx="3742008" cy="3179907"/>
              </a:xfrm>
            </p:grpSpPr>
            <p:grpSp>
              <p:nvGrpSpPr>
                <p:cNvPr id="104" name="Group 103">
                  <a:extLst>
                    <a:ext uri="{FF2B5EF4-FFF2-40B4-BE49-F238E27FC236}">
                      <a16:creationId xmlns:a16="http://schemas.microsoft.com/office/drawing/2014/main" id="{6E7A51B4-2D29-BD7F-2630-3C0FEDFE33E7}"/>
                    </a:ext>
                  </a:extLst>
                </p:cNvPr>
                <p:cNvGrpSpPr/>
                <p:nvPr/>
              </p:nvGrpSpPr>
              <p:grpSpPr>
                <a:xfrm>
                  <a:off x="7420232" y="3467047"/>
                  <a:ext cx="3742008" cy="3179907"/>
                  <a:chOff x="7393056" y="3411455"/>
                  <a:chExt cx="3742008" cy="3179907"/>
                </a:xfrm>
              </p:grpSpPr>
              <p:pic>
                <p:nvPicPr>
                  <p:cNvPr id="142" name="Picture 141">
                    <a:extLst>
                      <a:ext uri="{FF2B5EF4-FFF2-40B4-BE49-F238E27FC236}">
                        <a16:creationId xmlns:a16="http://schemas.microsoft.com/office/drawing/2014/main" id="{63FA7015-559D-5E1B-E4F5-1BD3307024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7393056" y="3411455"/>
                    <a:ext cx="3742008" cy="2841353"/>
                  </a:xfrm>
                  <a:prstGeom prst="rect">
                    <a:avLst/>
                  </a:prstGeom>
                </p:spPr>
              </p:pic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46EAFD1E-B150-2430-C7CD-63EEAC758A8F}"/>
                      </a:ext>
                    </a:extLst>
                  </p:cNvPr>
                  <p:cNvSpPr txBox="1"/>
                  <p:nvPr/>
                </p:nvSpPr>
                <p:spPr>
                  <a:xfrm>
                    <a:off x="8553975" y="6252808"/>
                    <a:ext cx="2526654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Verdana"/>
                        <a:ea typeface="+mn-ea"/>
                        <a:cs typeface="+mn-cs"/>
                      </a:rPr>
                      <a:t>UCIe-3D bump map</a:t>
                    </a:r>
                  </a:p>
                </p:txBody>
              </p:sp>
            </p:grp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7AB559EF-3E5F-6C69-E58D-31EC0509A645}"/>
                    </a:ext>
                  </a:extLst>
                </p:cNvPr>
                <p:cNvSpPr/>
                <p:nvPr/>
              </p:nvSpPr>
              <p:spPr>
                <a:xfrm>
                  <a:off x="8341743" y="4606506"/>
                  <a:ext cx="923027" cy="181154"/>
                </a:xfrm>
                <a:prstGeom prst="rect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36A0E924-CFD6-9595-619E-81886690F320}"/>
                    </a:ext>
                  </a:extLst>
                </p:cNvPr>
                <p:cNvSpPr/>
                <p:nvPr/>
              </p:nvSpPr>
              <p:spPr>
                <a:xfrm>
                  <a:off x="9581189" y="4615993"/>
                  <a:ext cx="1581051" cy="181154"/>
                </a:xfrm>
                <a:prstGeom prst="rect">
                  <a:avLst/>
                </a:prstGeom>
                <a:noFill/>
                <a:ln w="28575"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dana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5A4B27E7-C19F-E726-FEC3-92A3963401E4}"/>
                  </a:ext>
                </a:extLst>
              </p:cNvPr>
              <p:cNvSpPr/>
              <p:nvPr/>
            </p:nvSpPr>
            <p:spPr>
              <a:xfrm>
                <a:off x="7709424" y="3390297"/>
                <a:ext cx="3441728" cy="1338274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0B431A-85E0-1E0D-3893-512B8783EE7C}"/>
                  </a:ext>
                </a:extLst>
              </p:cNvPr>
              <p:cNvSpPr/>
              <p:nvPr/>
            </p:nvSpPr>
            <p:spPr>
              <a:xfrm>
                <a:off x="9253682" y="4050334"/>
                <a:ext cx="348955" cy="181154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endParaRPr>
              </a:p>
            </p:txBody>
          </p:sp>
        </p:grp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26FF156-3482-9535-0E8C-AECF57D10B26}"/>
                </a:ext>
              </a:extLst>
            </p:cNvPr>
            <p:cNvSpPr/>
            <p:nvPr/>
          </p:nvSpPr>
          <p:spPr>
            <a:xfrm>
              <a:off x="10687674" y="3998086"/>
              <a:ext cx="271360" cy="1496291"/>
            </a:xfrm>
            <a:custGeom>
              <a:avLst/>
              <a:gdLst>
                <a:gd name="connsiteX0" fmla="*/ 22671 w 189046"/>
                <a:gd name="connsiteY0" fmla="*/ 0 h 1496291"/>
                <a:gd name="connsiteX1" fmla="*/ 188925 w 189046"/>
                <a:gd name="connsiteY1" fmla="*/ 717917 h 1496291"/>
                <a:gd name="connsiteX2" fmla="*/ 0 w 189046"/>
                <a:gd name="connsiteY2" fmla="*/ 1496291 h 1496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9046" h="1496291">
                  <a:moveTo>
                    <a:pt x="22671" y="0"/>
                  </a:moveTo>
                  <a:cubicBezTo>
                    <a:pt x="107687" y="234267"/>
                    <a:pt x="192703" y="468535"/>
                    <a:pt x="188925" y="717917"/>
                  </a:cubicBezTo>
                  <a:cubicBezTo>
                    <a:pt x="185147" y="967299"/>
                    <a:pt x="92573" y="1231795"/>
                    <a:pt x="0" y="1496291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  <a:headEnd type="triangle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34AB921-8BB8-0BBD-F9A2-556A24ADC84D}"/>
                </a:ext>
              </a:extLst>
            </p:cNvPr>
            <p:cNvSpPr txBox="1"/>
            <p:nvPr/>
          </p:nvSpPr>
          <p:spPr>
            <a:xfrm>
              <a:off x="10704307" y="4556904"/>
              <a:ext cx="10342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Verdana"/>
                  <a:ea typeface="+mn-ea"/>
                  <a:cs typeface="+mn-cs"/>
                </a:rPr>
                <a:t>Matched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73767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5263-93CA-292E-ACA4-B4AA723BE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267" dirty="0">
                <a:latin typeface="Verdana Pro" panose="020B0604030504040204" pitchFamily="34" charset="0"/>
              </a:rPr>
              <a:t>UCIe Compliance Setup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ED0FE3-28ED-984C-2D5F-4808BAB7B5BC}"/>
              </a:ext>
            </a:extLst>
          </p:cNvPr>
          <p:cNvSpPr txBox="1"/>
          <p:nvPr/>
        </p:nvSpPr>
        <p:spPr>
          <a:xfrm>
            <a:off x="101601" y="1380192"/>
            <a:ext cx="361305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15" marR="0" lvl="0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Critical for any successful standards-based Interconnect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 Pro" panose="020B0604030504040204" pitchFamily="34" charset="0"/>
              <a:ea typeface="+mn-ea"/>
              <a:cs typeface="+mn-cs"/>
            </a:endParaRPr>
          </a:p>
          <a:p>
            <a:pPr marL="304815" marR="0" lvl="0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Compliance types</a:t>
            </a:r>
          </a:p>
          <a:p>
            <a:pPr marL="457200" marR="0" lvl="1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Electrical &amp; channel</a:t>
            </a:r>
          </a:p>
          <a:p>
            <a:pPr marL="457200" marR="0" lvl="1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Electrical + Protocol</a:t>
            </a:r>
          </a:p>
          <a:p>
            <a:pPr marL="304815" marR="0" lvl="0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 Pro" panose="020B0604030504040204" pitchFamily="34" charset="0"/>
              <a:ea typeface="+mn-ea"/>
              <a:cs typeface="+mn-cs"/>
            </a:endParaRPr>
          </a:p>
          <a:p>
            <a:pPr marL="304815" marR="0" lvl="0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Ingredients</a:t>
            </a:r>
          </a:p>
          <a:p>
            <a:pPr marL="457200" marR="0" lvl="1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Reference known good package</a:t>
            </a:r>
          </a:p>
          <a:p>
            <a:pPr marL="457200" marR="0" lvl="1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Reference Channels</a:t>
            </a:r>
          </a:p>
          <a:p>
            <a:pPr marL="457200" marR="0" lvl="1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Golden Die</a:t>
            </a:r>
          </a:p>
          <a:p>
            <a:pPr marL="457200" marR="0" lvl="1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Pro" panose="020B0604030504040204" pitchFamily="34" charset="0"/>
                <a:ea typeface="+mn-ea"/>
                <a:cs typeface="+mn-cs"/>
              </a:rPr>
              <a:t>DUT</a:t>
            </a:r>
          </a:p>
          <a:p>
            <a:pPr marL="457200" marR="0" lvl="1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 Pro" panose="020B0604030504040204" pitchFamily="34" charset="0"/>
              <a:ea typeface="+mn-ea"/>
              <a:cs typeface="+mn-cs"/>
            </a:endParaRPr>
          </a:p>
          <a:p>
            <a:pPr marL="304815" marR="0" lvl="0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 Pro" panose="020B0604030504040204" pitchFamily="34" charset="0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0FCF1B8-8AE2-EA87-3D81-731CBF037B17}"/>
              </a:ext>
            </a:extLst>
          </p:cNvPr>
          <p:cNvGrpSpPr/>
          <p:nvPr/>
        </p:nvGrpSpPr>
        <p:grpSpPr>
          <a:xfrm>
            <a:off x="3657600" y="939800"/>
            <a:ext cx="8331200" cy="5184848"/>
            <a:chOff x="3657600" y="939800"/>
            <a:chExt cx="8331200" cy="518484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7F732A5-996E-ACAE-157A-337AE5D55604}"/>
                </a:ext>
              </a:extLst>
            </p:cNvPr>
            <p:cNvGrpSpPr/>
            <p:nvPr/>
          </p:nvGrpSpPr>
          <p:grpSpPr>
            <a:xfrm>
              <a:off x="3657600" y="939800"/>
              <a:ext cx="8331200" cy="5184848"/>
              <a:chOff x="2286000" y="668676"/>
              <a:chExt cx="13446882" cy="8818057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C3711512-B925-E38C-2CA2-C935F6AC9A2B}"/>
                  </a:ext>
                </a:extLst>
              </p:cNvPr>
              <p:cNvGrpSpPr/>
              <p:nvPr/>
            </p:nvGrpSpPr>
            <p:grpSpPr>
              <a:xfrm>
                <a:off x="2286000" y="668676"/>
                <a:ext cx="13446882" cy="8818057"/>
                <a:chOff x="2209800" y="1206854"/>
                <a:chExt cx="13446882" cy="8818057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2993B688-A20A-0EF1-FC76-EE8E8F440F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14600" y="1739831"/>
                  <a:ext cx="6278814" cy="1289992"/>
                </a:xfrm>
                <a:prstGeom prst="rect">
                  <a:avLst/>
                </a:prstGeom>
              </p:spPr>
            </p:pic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781BB2A6-FED3-8A9B-B983-9E6DAED1D5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161023" y="1206854"/>
                  <a:ext cx="6495659" cy="1822969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9D90A3B6-3765-235B-F652-5C46A27DD0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209800" y="3112752"/>
                  <a:ext cx="13446882" cy="6912159"/>
                </a:xfrm>
                <a:prstGeom prst="rect">
                  <a:avLst/>
                </a:prstGeom>
              </p:spPr>
            </p:pic>
          </p:grp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AF1FC6F-EF8F-A171-7C89-646BB2FCEDFA}"/>
                  </a:ext>
                </a:extLst>
              </p:cNvPr>
              <p:cNvSpPr txBox="1"/>
              <p:nvPr/>
            </p:nvSpPr>
            <p:spPr>
              <a:xfrm>
                <a:off x="9696989" y="2048434"/>
                <a:ext cx="1759888" cy="401200"/>
              </a:xfrm>
              <a:prstGeom prst="rect">
                <a:avLst/>
              </a:prstGeom>
              <a:solidFill>
                <a:srgbClr val="ED7D31"/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33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Package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2067816-52DD-7CEA-B7FC-046BD3B2F3AD}"/>
                  </a:ext>
                </a:extLst>
              </p:cNvPr>
              <p:cNvSpPr txBox="1"/>
              <p:nvPr/>
            </p:nvSpPr>
            <p:spPr>
              <a:xfrm>
                <a:off x="2902540" y="2048434"/>
                <a:ext cx="1695206" cy="401200"/>
              </a:xfrm>
              <a:prstGeom prst="rect">
                <a:avLst/>
              </a:prstGeom>
              <a:solidFill>
                <a:srgbClr val="ED7D31"/>
              </a:solidFill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33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Standard Package</a:t>
                </a: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DF0078C-852B-BBB8-6982-922FFA6AB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467896" y="4125463"/>
              <a:ext cx="352504" cy="161144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5574D4D-F3F8-2929-B5B4-17E2CF19B7B9}"/>
                </a:ext>
              </a:extLst>
            </p:cNvPr>
            <p:cNvSpPr/>
            <p:nvPr/>
          </p:nvSpPr>
          <p:spPr>
            <a:xfrm>
              <a:off x="10644147" y="1388120"/>
              <a:ext cx="754441" cy="148841"/>
            </a:xfrm>
            <a:prstGeom prst="rect">
              <a:avLst/>
            </a:prstGeom>
            <a:solidFill>
              <a:srgbClr val="B7DD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07960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6262-0887-DABA-4E82-0D914977A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>
                <a:latin typeface="Verdana Pro" panose="020B0604030504040204" pitchFamily="34" charset="0"/>
              </a:rPr>
              <a:t>PHY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17F25-DD67-7704-304B-FFEEDE565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2" y="1119823"/>
            <a:ext cx="6409000" cy="4983913"/>
          </a:xfrm>
        </p:spPr>
        <p:txBody>
          <a:bodyPr>
            <a:normAutofit/>
          </a:bodyPr>
          <a:lstStyle/>
          <a:p>
            <a:r>
              <a:rPr lang="en-US" dirty="0"/>
              <a:t>Electrical Compliance Features:</a:t>
            </a:r>
          </a:p>
          <a:p>
            <a:pPr lvl="1"/>
            <a:r>
              <a:rPr lang="en-US" dirty="0"/>
              <a:t>Lane-to-Lane skew for a given module at both RX and TX</a:t>
            </a:r>
          </a:p>
          <a:p>
            <a:pPr lvl="1"/>
            <a:r>
              <a:rPr lang="en-US" dirty="0"/>
              <a:t>TX Equalization</a:t>
            </a:r>
          </a:p>
          <a:p>
            <a:pPr lvl="1"/>
            <a:r>
              <a:rPr lang="en-US" dirty="0"/>
              <a:t>Eye Margining</a:t>
            </a:r>
          </a:p>
          <a:p>
            <a:pPr lvl="2"/>
            <a:r>
              <a:rPr lang="en-US" dirty="0"/>
              <a:t>Horizontal Eye Margining - Timing</a:t>
            </a:r>
          </a:p>
          <a:p>
            <a:pPr lvl="2"/>
            <a:r>
              <a:rPr lang="en-US" dirty="0"/>
              <a:t>Vertical Eye Margining - Voltage (when supported)</a:t>
            </a:r>
          </a:p>
          <a:p>
            <a:pPr lvl="1"/>
            <a:r>
              <a:rPr lang="en-US" dirty="0"/>
              <a:t>BER measurement </a:t>
            </a:r>
          </a:p>
          <a:p>
            <a:pPr lvl="2"/>
            <a:r>
              <a:rPr lang="en-US" dirty="0"/>
              <a:t>Various power states/mode transitions (TBD)</a:t>
            </a:r>
          </a:p>
          <a:p>
            <a:pPr lvl="2"/>
            <a:r>
              <a:rPr lang="en-US" dirty="0"/>
              <a:t>Frequency and Vccio shmoo test (TBD)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B12436A-DF53-25C7-1B86-CC5E99854B70}"/>
              </a:ext>
            </a:extLst>
          </p:cNvPr>
          <p:cNvSpPr txBox="1">
            <a:spLocks/>
          </p:cNvSpPr>
          <p:nvPr/>
        </p:nvSpPr>
        <p:spPr>
          <a:xfrm>
            <a:off x="6898638" y="1092200"/>
            <a:ext cx="5181600" cy="4351338"/>
          </a:xfrm>
          <a:prstGeom prst="rect">
            <a:avLst/>
          </a:prstGeom>
        </p:spPr>
        <p:txBody>
          <a:bodyPr vert="horz" lIns="60960" tIns="30480" rIns="60960" bIns="3048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19" marR="0" lvl="0" indent="-38101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667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D2D Adapter Compliance</a:t>
            </a:r>
          </a:p>
          <a:p>
            <a:pPr marL="609630" marR="0" lvl="1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Register based injection of NOP/Test Flit, Replay</a:t>
            </a:r>
          </a:p>
          <a:p>
            <a:pPr marL="609630" marR="0" lvl="1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Golden Die: Support all formats, ability to inject the above, error in sideband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  <a:p>
            <a:pPr marL="381019" marR="0" lvl="0" indent="-38101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667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Protocol Compliance</a:t>
            </a:r>
            <a:r>
              <a:rPr kumimoji="0" lang="en-US" sz="26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:</a:t>
            </a:r>
          </a:p>
          <a:p>
            <a:pPr marL="609630" marR="0" lvl="1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Using FPGA through golden die</a:t>
            </a:r>
          </a:p>
          <a:p>
            <a:pPr marL="609630" marR="0" lvl="1" indent="-30481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/>
              <a:buChar char="•"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/>
              </a:rPr>
              <a:t>Leverage protocol compliance of PCIe/ CXL/ Streaming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667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6871399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BD4CE-DCB2-2CC4-3BAA-374DBFA21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8ACE9DA-D60C-97B7-9665-AE0AE0F1C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85" y="556996"/>
            <a:ext cx="8495215" cy="1940671"/>
          </a:xfrm>
        </p:spPr>
        <p:txBody>
          <a:bodyPr/>
          <a:lstStyle/>
          <a:p>
            <a:r>
              <a:rPr lang="en-US" dirty="0"/>
              <a:t>UCIe Manageability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045BC6-1560-6B88-34CC-ED9CB6508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85" y="2997200"/>
            <a:ext cx="8109798" cy="2302479"/>
          </a:xfrm>
        </p:spPr>
        <p:txBody>
          <a:bodyPr/>
          <a:lstStyle/>
          <a:p>
            <a:r>
              <a:rPr lang="en-US" sz="2000" dirty="0"/>
              <a:t>Peter Onufryk, Intel</a:t>
            </a:r>
          </a:p>
          <a:p>
            <a:r>
              <a:rPr lang="en-US" sz="2000" dirty="0"/>
              <a:t>UCIe Manageability and Security Workgroup Co-Chair</a:t>
            </a:r>
          </a:p>
          <a:p>
            <a:endParaRPr lang="en-US" sz="20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D9E8F0A-B52B-F063-CBB9-CFC7D28C4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91570" y="6527074"/>
            <a:ext cx="1286210" cy="327136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65010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D208-A834-EC30-5801-4DA7216FF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Monolithic SoCs to an Open Chiplet Ecosystem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4A81B3-A7F3-56EA-2A5C-B680DE493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02594BB-B6BF-696A-095D-18DB97B0B2A2}"/>
              </a:ext>
            </a:extLst>
          </p:cNvPr>
          <p:cNvSpPr/>
          <p:nvPr/>
        </p:nvSpPr>
        <p:spPr>
          <a:xfrm>
            <a:off x="658368" y="987289"/>
            <a:ext cx="2697480" cy="8706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Traditional SoC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Monolithic Die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Single Vendor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CBEF513-AF83-4AC3-293E-32CD95970E5B}"/>
              </a:ext>
            </a:extLst>
          </p:cNvPr>
          <p:cNvSpPr/>
          <p:nvPr/>
        </p:nvSpPr>
        <p:spPr>
          <a:xfrm>
            <a:off x="4754880" y="987289"/>
            <a:ext cx="2697480" cy="8706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Closed Single Vendor SiP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Multi Die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Single Vendor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737D6631-E668-BA99-5A13-2F6BFA8E874D}"/>
              </a:ext>
            </a:extLst>
          </p:cNvPr>
          <p:cNvSpPr/>
          <p:nvPr/>
        </p:nvSpPr>
        <p:spPr>
          <a:xfrm>
            <a:off x="8851392" y="987289"/>
            <a:ext cx="2697480" cy="8706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Open Chiplet Ecosystem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Multi Die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Multi Vendor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F45033B-0915-FC78-FB46-6176E9731F58}"/>
              </a:ext>
            </a:extLst>
          </p:cNvPr>
          <p:cNvGrpSpPr/>
          <p:nvPr/>
        </p:nvGrpSpPr>
        <p:grpSpPr>
          <a:xfrm>
            <a:off x="544982" y="1928193"/>
            <a:ext cx="2889504" cy="3313786"/>
            <a:chOff x="201168" y="1828800"/>
            <a:chExt cx="3611880" cy="4142232"/>
          </a:xfrm>
        </p:grpSpPr>
        <p:sp>
          <p:nvSpPr>
            <p:cNvPr id="12" name="Shape 4">
              <a:extLst>
                <a:ext uri="{FF2B5EF4-FFF2-40B4-BE49-F238E27FC236}">
                  <a16:creationId xmlns:a16="http://schemas.microsoft.com/office/drawing/2014/main" id="{9779FFF2-DD4F-1899-BD71-DD78D6D8FE60}"/>
                </a:ext>
              </a:extLst>
            </p:cNvPr>
            <p:cNvSpPr/>
            <p:nvPr/>
          </p:nvSpPr>
          <p:spPr>
            <a:xfrm>
              <a:off x="201168" y="1828800"/>
              <a:ext cx="3611880" cy="4142232"/>
            </a:xfrm>
            <a:prstGeom prst="roundRect">
              <a:avLst>
                <a:gd name="adj" fmla="val 2025"/>
              </a:avLst>
            </a:prstGeom>
            <a:solidFill>
              <a:srgbClr val="3F3F3F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4" name="Text 5">
              <a:extLst>
                <a:ext uri="{FF2B5EF4-FFF2-40B4-BE49-F238E27FC236}">
                  <a16:creationId xmlns:a16="http://schemas.microsoft.com/office/drawing/2014/main" id="{89F39911-32EC-EFF3-903E-4D108C6BA006}"/>
                </a:ext>
              </a:extLst>
            </p:cNvPr>
            <p:cNvSpPr/>
            <p:nvPr/>
          </p:nvSpPr>
          <p:spPr>
            <a:xfrm>
              <a:off x="201168" y="1874520"/>
              <a:ext cx="3611880" cy="32004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Package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6" name="Shape 6">
              <a:extLst>
                <a:ext uri="{FF2B5EF4-FFF2-40B4-BE49-F238E27FC236}">
                  <a16:creationId xmlns:a16="http://schemas.microsoft.com/office/drawing/2014/main" id="{371F370A-7AE3-CA78-CE25-02596060F27E}"/>
                </a:ext>
              </a:extLst>
            </p:cNvPr>
            <p:cNvSpPr/>
            <p:nvPr/>
          </p:nvSpPr>
          <p:spPr>
            <a:xfrm>
              <a:off x="420624" y="2194560"/>
              <a:ext cx="3172968" cy="3639312"/>
            </a:xfrm>
            <a:prstGeom prst="rect">
              <a:avLst/>
            </a:prstGeom>
            <a:solidFill>
              <a:srgbClr val="F4F4F4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F78C1B5F-106C-D97E-F951-22429345040B}"/>
                </a:ext>
              </a:extLst>
            </p:cNvPr>
            <p:cNvSpPr/>
            <p:nvPr/>
          </p:nvSpPr>
          <p:spPr>
            <a:xfrm>
              <a:off x="420624" y="2221992"/>
              <a:ext cx="3172968" cy="20116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DIE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0" name="Shape 8">
              <a:extLst>
                <a:ext uri="{FF2B5EF4-FFF2-40B4-BE49-F238E27FC236}">
                  <a16:creationId xmlns:a16="http://schemas.microsoft.com/office/drawing/2014/main" id="{7E52FF06-0D75-3482-EEDB-29C323ABADC7}"/>
                </a:ext>
              </a:extLst>
            </p:cNvPr>
            <p:cNvSpPr/>
            <p:nvPr/>
          </p:nvSpPr>
          <p:spPr>
            <a:xfrm>
              <a:off x="603504" y="2450592"/>
              <a:ext cx="1285738" cy="658368"/>
            </a:xfrm>
            <a:prstGeom prst="rect">
              <a:avLst/>
            </a:prstGeom>
            <a:solidFill>
              <a:srgbClr val="FBE4C6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2" name="Text 9">
              <a:extLst>
                <a:ext uri="{FF2B5EF4-FFF2-40B4-BE49-F238E27FC236}">
                  <a16:creationId xmlns:a16="http://schemas.microsoft.com/office/drawing/2014/main" id="{2DF74096-D239-B244-9827-10481D8D5A2F}"/>
                </a:ext>
              </a:extLst>
            </p:cNvPr>
            <p:cNvSpPr/>
            <p:nvPr/>
          </p:nvSpPr>
          <p:spPr>
            <a:xfrm>
              <a:off x="630936" y="2487168"/>
              <a:ext cx="1230874" cy="58521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Memory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Controller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4" name="Shape 10">
              <a:extLst>
                <a:ext uri="{FF2B5EF4-FFF2-40B4-BE49-F238E27FC236}">
                  <a16:creationId xmlns:a16="http://schemas.microsoft.com/office/drawing/2014/main" id="{63A08CE5-F02D-6326-8CAA-625E7390FBF6}"/>
                </a:ext>
              </a:extLst>
            </p:cNvPr>
            <p:cNvSpPr/>
            <p:nvPr/>
          </p:nvSpPr>
          <p:spPr>
            <a:xfrm>
              <a:off x="2194147" y="2450592"/>
              <a:ext cx="1285738" cy="658368"/>
            </a:xfrm>
            <a:prstGeom prst="rect">
              <a:avLst/>
            </a:prstGeom>
            <a:solidFill>
              <a:srgbClr val="DCD5EF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6" name="Text 11">
              <a:extLst>
                <a:ext uri="{FF2B5EF4-FFF2-40B4-BE49-F238E27FC236}">
                  <a16:creationId xmlns:a16="http://schemas.microsoft.com/office/drawing/2014/main" id="{90F011A9-9016-5FDB-9C71-BEC1D9CDE071}"/>
                </a:ext>
              </a:extLst>
            </p:cNvPr>
            <p:cNvSpPr/>
            <p:nvPr/>
          </p:nvSpPr>
          <p:spPr>
            <a:xfrm>
              <a:off x="2221579" y="2487168"/>
              <a:ext cx="1230874" cy="58521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I/O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(PCIe, USB, ...)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28" name="Shape 12">
              <a:extLst>
                <a:ext uri="{FF2B5EF4-FFF2-40B4-BE49-F238E27FC236}">
                  <a16:creationId xmlns:a16="http://schemas.microsoft.com/office/drawing/2014/main" id="{DC8EE18E-8D91-CE8B-94DF-43502F98F470}"/>
                </a:ext>
              </a:extLst>
            </p:cNvPr>
            <p:cNvSpPr/>
            <p:nvPr/>
          </p:nvSpPr>
          <p:spPr>
            <a:xfrm>
              <a:off x="512064" y="3337560"/>
              <a:ext cx="2990088" cy="1463040"/>
            </a:xfrm>
            <a:prstGeom prst="rect">
              <a:avLst/>
            </a:prstGeom>
            <a:solidFill>
              <a:srgbClr val="C7D9F5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0" name="Text 13">
              <a:extLst>
                <a:ext uri="{FF2B5EF4-FFF2-40B4-BE49-F238E27FC236}">
                  <a16:creationId xmlns:a16="http://schemas.microsoft.com/office/drawing/2014/main" id="{12E59698-577E-1BA1-0FA9-795DF27646FA}"/>
                </a:ext>
              </a:extLst>
            </p:cNvPr>
            <p:cNvSpPr/>
            <p:nvPr/>
          </p:nvSpPr>
          <p:spPr>
            <a:xfrm>
              <a:off x="539496" y="3374136"/>
              <a:ext cx="2935224" cy="1389888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CPU Complex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2" name="Shape 14">
              <a:extLst>
                <a:ext uri="{FF2B5EF4-FFF2-40B4-BE49-F238E27FC236}">
                  <a16:creationId xmlns:a16="http://schemas.microsoft.com/office/drawing/2014/main" id="{B28EC840-299B-0947-4AEA-7C509B95AD64}"/>
                </a:ext>
              </a:extLst>
            </p:cNvPr>
            <p:cNvSpPr/>
            <p:nvPr/>
          </p:nvSpPr>
          <p:spPr>
            <a:xfrm>
              <a:off x="512064" y="5047488"/>
              <a:ext cx="850392" cy="621792"/>
            </a:xfrm>
            <a:prstGeom prst="rect">
              <a:avLst/>
            </a:prstGeom>
            <a:solidFill>
              <a:srgbClr val="DDEED6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4" name="Text 15">
              <a:extLst>
                <a:ext uri="{FF2B5EF4-FFF2-40B4-BE49-F238E27FC236}">
                  <a16:creationId xmlns:a16="http://schemas.microsoft.com/office/drawing/2014/main" id="{472035C3-0529-49A6-6651-AB5CFA0C26E2}"/>
                </a:ext>
              </a:extLst>
            </p:cNvPr>
            <p:cNvSpPr/>
            <p:nvPr/>
          </p:nvSpPr>
          <p:spPr>
            <a:xfrm>
              <a:off x="539496" y="5084064"/>
              <a:ext cx="795528" cy="54864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Accel A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872A40A8-507C-D28F-E47B-8B6E18F01BDA}"/>
                </a:ext>
              </a:extLst>
            </p:cNvPr>
            <p:cNvSpPr/>
            <p:nvPr/>
          </p:nvSpPr>
          <p:spPr>
            <a:xfrm>
              <a:off x="1581912" y="5047488"/>
              <a:ext cx="850392" cy="621792"/>
            </a:xfrm>
            <a:prstGeom prst="rect">
              <a:avLst/>
            </a:prstGeom>
            <a:solidFill>
              <a:srgbClr val="EBD5E0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8" name="Text 17">
              <a:extLst>
                <a:ext uri="{FF2B5EF4-FFF2-40B4-BE49-F238E27FC236}">
                  <a16:creationId xmlns:a16="http://schemas.microsoft.com/office/drawing/2014/main" id="{3A8919DF-B913-1174-628A-33CB1E7C6B40}"/>
                </a:ext>
              </a:extLst>
            </p:cNvPr>
            <p:cNvSpPr/>
            <p:nvPr/>
          </p:nvSpPr>
          <p:spPr>
            <a:xfrm>
              <a:off x="1609344" y="5084064"/>
              <a:ext cx="795528" cy="54864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Accel B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40" name="Shape 18">
              <a:extLst>
                <a:ext uri="{FF2B5EF4-FFF2-40B4-BE49-F238E27FC236}">
                  <a16:creationId xmlns:a16="http://schemas.microsoft.com/office/drawing/2014/main" id="{E2AB9498-4E50-978D-4017-745B01F51E64}"/>
                </a:ext>
              </a:extLst>
            </p:cNvPr>
            <p:cNvSpPr/>
            <p:nvPr/>
          </p:nvSpPr>
          <p:spPr>
            <a:xfrm>
              <a:off x="2651760" y="5047488"/>
              <a:ext cx="850392" cy="621792"/>
            </a:xfrm>
            <a:prstGeom prst="rect">
              <a:avLst/>
            </a:prstGeom>
            <a:solidFill>
              <a:srgbClr val="F5CCCC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42" name="Text 19">
              <a:extLst>
                <a:ext uri="{FF2B5EF4-FFF2-40B4-BE49-F238E27FC236}">
                  <a16:creationId xmlns:a16="http://schemas.microsoft.com/office/drawing/2014/main" id="{A88BF564-654E-7844-7782-9BA8D02EF0BC}"/>
                </a:ext>
              </a:extLst>
            </p:cNvPr>
            <p:cNvSpPr/>
            <p:nvPr/>
          </p:nvSpPr>
          <p:spPr>
            <a:xfrm>
              <a:off x="2679192" y="5084064"/>
              <a:ext cx="795528" cy="54864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Accel C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F49D2FE4-546F-B1A6-1292-29C16E8A823A}"/>
              </a:ext>
            </a:extLst>
          </p:cNvPr>
          <p:cNvGrpSpPr/>
          <p:nvPr/>
        </p:nvGrpSpPr>
        <p:grpSpPr>
          <a:xfrm>
            <a:off x="4641494" y="1928193"/>
            <a:ext cx="2889504" cy="3313786"/>
            <a:chOff x="4297680" y="1828800"/>
            <a:chExt cx="3611880" cy="4142232"/>
          </a:xfrm>
        </p:grpSpPr>
        <p:sp>
          <p:nvSpPr>
            <p:cNvPr id="44" name="Shape 20">
              <a:extLst>
                <a:ext uri="{FF2B5EF4-FFF2-40B4-BE49-F238E27FC236}">
                  <a16:creationId xmlns:a16="http://schemas.microsoft.com/office/drawing/2014/main" id="{22C37E0D-3DFA-673E-7275-219DD81905A5}"/>
                </a:ext>
              </a:extLst>
            </p:cNvPr>
            <p:cNvSpPr/>
            <p:nvPr/>
          </p:nvSpPr>
          <p:spPr>
            <a:xfrm>
              <a:off x="4297680" y="1828800"/>
              <a:ext cx="3611880" cy="4142232"/>
            </a:xfrm>
            <a:prstGeom prst="roundRect">
              <a:avLst>
                <a:gd name="adj" fmla="val 2025"/>
              </a:avLst>
            </a:prstGeom>
            <a:solidFill>
              <a:srgbClr val="3F3F3F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46" name="Text 21">
              <a:extLst>
                <a:ext uri="{FF2B5EF4-FFF2-40B4-BE49-F238E27FC236}">
                  <a16:creationId xmlns:a16="http://schemas.microsoft.com/office/drawing/2014/main" id="{A20DF224-8C90-9644-0998-6122A5D2B141}"/>
                </a:ext>
              </a:extLst>
            </p:cNvPr>
            <p:cNvSpPr/>
            <p:nvPr/>
          </p:nvSpPr>
          <p:spPr>
            <a:xfrm>
              <a:off x="4297680" y="1874520"/>
              <a:ext cx="3611880" cy="32004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Package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48" name="Shape 22">
              <a:extLst>
                <a:ext uri="{FF2B5EF4-FFF2-40B4-BE49-F238E27FC236}">
                  <a16:creationId xmlns:a16="http://schemas.microsoft.com/office/drawing/2014/main" id="{29657083-B3CC-E1E6-81CA-9E1FD4B1F283}"/>
                </a:ext>
              </a:extLst>
            </p:cNvPr>
            <p:cNvSpPr/>
            <p:nvPr/>
          </p:nvSpPr>
          <p:spPr>
            <a:xfrm>
              <a:off x="4517136" y="2194560"/>
              <a:ext cx="3172968" cy="1097280"/>
            </a:xfrm>
            <a:prstGeom prst="rect">
              <a:avLst/>
            </a:prstGeom>
            <a:solidFill>
              <a:srgbClr val="F4F4F4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50" name="Text 23">
              <a:extLst>
                <a:ext uri="{FF2B5EF4-FFF2-40B4-BE49-F238E27FC236}">
                  <a16:creationId xmlns:a16="http://schemas.microsoft.com/office/drawing/2014/main" id="{82753F3D-8F8F-94E0-6EB4-B0D412A57864}"/>
                </a:ext>
              </a:extLst>
            </p:cNvPr>
            <p:cNvSpPr/>
            <p:nvPr/>
          </p:nvSpPr>
          <p:spPr>
            <a:xfrm>
              <a:off x="4517136" y="2221992"/>
              <a:ext cx="3172968" cy="20116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DIE 0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52" name="Shape 24">
              <a:extLst>
                <a:ext uri="{FF2B5EF4-FFF2-40B4-BE49-F238E27FC236}">
                  <a16:creationId xmlns:a16="http://schemas.microsoft.com/office/drawing/2014/main" id="{62D34DD0-478B-12C4-971B-79809E757102}"/>
                </a:ext>
              </a:extLst>
            </p:cNvPr>
            <p:cNvSpPr/>
            <p:nvPr/>
          </p:nvSpPr>
          <p:spPr>
            <a:xfrm>
              <a:off x="4700016" y="2450592"/>
              <a:ext cx="1285738" cy="658368"/>
            </a:xfrm>
            <a:prstGeom prst="rect">
              <a:avLst/>
            </a:prstGeom>
            <a:solidFill>
              <a:srgbClr val="FBE4C6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54" name="Text 25">
              <a:extLst>
                <a:ext uri="{FF2B5EF4-FFF2-40B4-BE49-F238E27FC236}">
                  <a16:creationId xmlns:a16="http://schemas.microsoft.com/office/drawing/2014/main" id="{E412902A-E4D6-B009-774C-2A783AA0D67A}"/>
                </a:ext>
              </a:extLst>
            </p:cNvPr>
            <p:cNvSpPr/>
            <p:nvPr/>
          </p:nvSpPr>
          <p:spPr>
            <a:xfrm>
              <a:off x="4727448" y="2487168"/>
              <a:ext cx="1230874" cy="58521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Memory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Controller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56" name="Shape 26">
              <a:extLst>
                <a:ext uri="{FF2B5EF4-FFF2-40B4-BE49-F238E27FC236}">
                  <a16:creationId xmlns:a16="http://schemas.microsoft.com/office/drawing/2014/main" id="{C581A00B-577F-7020-5834-5BC0E668FD4C}"/>
                </a:ext>
              </a:extLst>
            </p:cNvPr>
            <p:cNvSpPr/>
            <p:nvPr/>
          </p:nvSpPr>
          <p:spPr>
            <a:xfrm>
              <a:off x="6296885" y="2450592"/>
              <a:ext cx="1285738" cy="658368"/>
            </a:xfrm>
            <a:prstGeom prst="rect">
              <a:avLst/>
            </a:prstGeom>
            <a:solidFill>
              <a:srgbClr val="DCD5EF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58" name="Text 27">
              <a:extLst>
                <a:ext uri="{FF2B5EF4-FFF2-40B4-BE49-F238E27FC236}">
                  <a16:creationId xmlns:a16="http://schemas.microsoft.com/office/drawing/2014/main" id="{DD8C6D1A-7236-A5FA-FB2F-C7A0AA7E5D29}"/>
                </a:ext>
              </a:extLst>
            </p:cNvPr>
            <p:cNvSpPr/>
            <p:nvPr/>
          </p:nvSpPr>
          <p:spPr>
            <a:xfrm>
              <a:off x="6324317" y="2487168"/>
              <a:ext cx="1230874" cy="58521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I/O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(PCIe, USB, ...)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0" name="Shape 28">
              <a:extLst>
                <a:ext uri="{FF2B5EF4-FFF2-40B4-BE49-F238E27FC236}">
                  <a16:creationId xmlns:a16="http://schemas.microsoft.com/office/drawing/2014/main" id="{EEBB0D11-A34E-E267-8EE1-8249AFFDB20B}"/>
                </a:ext>
              </a:extLst>
            </p:cNvPr>
            <p:cNvSpPr/>
            <p:nvPr/>
          </p:nvSpPr>
          <p:spPr>
            <a:xfrm>
              <a:off x="4517136" y="3291840"/>
              <a:ext cx="3172968" cy="109728"/>
            </a:xfrm>
            <a:prstGeom prst="rect">
              <a:avLst/>
            </a:prstGeom>
            <a:solidFill>
              <a:srgbClr val="3F3F3F"/>
            </a:solidFill>
            <a:ln w="12700">
              <a:solidFill>
                <a:srgbClr val="3F3F3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2" name="Shape 29">
              <a:extLst>
                <a:ext uri="{FF2B5EF4-FFF2-40B4-BE49-F238E27FC236}">
                  <a16:creationId xmlns:a16="http://schemas.microsoft.com/office/drawing/2014/main" id="{6BD1C5E4-4676-D34F-7E31-C1A569B1715E}"/>
                </a:ext>
              </a:extLst>
            </p:cNvPr>
            <p:cNvSpPr/>
            <p:nvPr/>
          </p:nvSpPr>
          <p:spPr>
            <a:xfrm>
              <a:off x="4517136" y="3456432"/>
              <a:ext cx="3172968" cy="1225296"/>
            </a:xfrm>
            <a:prstGeom prst="rect">
              <a:avLst/>
            </a:prstGeom>
            <a:solidFill>
              <a:srgbClr val="F4F4F4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2B937A87-5CE6-933F-95D1-C97A6EB6B491}"/>
                </a:ext>
              </a:extLst>
            </p:cNvPr>
            <p:cNvSpPr/>
            <p:nvPr/>
          </p:nvSpPr>
          <p:spPr>
            <a:xfrm>
              <a:off x="4517136" y="3483864"/>
              <a:ext cx="3172968" cy="20116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DIE 1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6" name="Shape 31">
              <a:extLst>
                <a:ext uri="{FF2B5EF4-FFF2-40B4-BE49-F238E27FC236}">
                  <a16:creationId xmlns:a16="http://schemas.microsoft.com/office/drawing/2014/main" id="{F2959D95-199C-E66A-F2C2-C75C641D5B29}"/>
                </a:ext>
              </a:extLst>
            </p:cNvPr>
            <p:cNvSpPr/>
            <p:nvPr/>
          </p:nvSpPr>
          <p:spPr>
            <a:xfrm>
              <a:off x="4626864" y="3840480"/>
              <a:ext cx="2953512" cy="749808"/>
            </a:xfrm>
            <a:prstGeom prst="rect">
              <a:avLst/>
            </a:prstGeom>
            <a:solidFill>
              <a:srgbClr val="C7D9F5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68" name="Text 32">
              <a:extLst>
                <a:ext uri="{FF2B5EF4-FFF2-40B4-BE49-F238E27FC236}">
                  <a16:creationId xmlns:a16="http://schemas.microsoft.com/office/drawing/2014/main" id="{591955EE-4C98-0383-B1BA-8DC8A90E6245}"/>
                </a:ext>
              </a:extLst>
            </p:cNvPr>
            <p:cNvSpPr/>
            <p:nvPr/>
          </p:nvSpPr>
          <p:spPr>
            <a:xfrm>
              <a:off x="4654296" y="3877056"/>
              <a:ext cx="2898648" cy="67665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CPU Complex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0" name="Shape 33">
              <a:extLst>
                <a:ext uri="{FF2B5EF4-FFF2-40B4-BE49-F238E27FC236}">
                  <a16:creationId xmlns:a16="http://schemas.microsoft.com/office/drawing/2014/main" id="{D43640B5-9ABB-87ED-5C26-C8574A9F6127}"/>
                </a:ext>
              </a:extLst>
            </p:cNvPr>
            <p:cNvSpPr/>
            <p:nvPr/>
          </p:nvSpPr>
          <p:spPr>
            <a:xfrm>
              <a:off x="4517136" y="4681728"/>
              <a:ext cx="3172968" cy="109728"/>
            </a:xfrm>
            <a:prstGeom prst="rect">
              <a:avLst/>
            </a:prstGeom>
            <a:solidFill>
              <a:srgbClr val="3F3F3F"/>
            </a:solidFill>
            <a:ln w="12700">
              <a:solidFill>
                <a:srgbClr val="3F3F3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2" name="Shape 34">
              <a:extLst>
                <a:ext uri="{FF2B5EF4-FFF2-40B4-BE49-F238E27FC236}">
                  <a16:creationId xmlns:a16="http://schemas.microsoft.com/office/drawing/2014/main" id="{A5D41D0B-43F3-F75C-46A3-E58269F46128}"/>
                </a:ext>
              </a:extLst>
            </p:cNvPr>
            <p:cNvSpPr/>
            <p:nvPr/>
          </p:nvSpPr>
          <p:spPr>
            <a:xfrm>
              <a:off x="4517136" y="4773168"/>
              <a:ext cx="3172968" cy="1078992"/>
            </a:xfrm>
            <a:prstGeom prst="rect">
              <a:avLst/>
            </a:prstGeom>
            <a:solidFill>
              <a:srgbClr val="F4F4F4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4" name="Text 35">
              <a:extLst>
                <a:ext uri="{FF2B5EF4-FFF2-40B4-BE49-F238E27FC236}">
                  <a16:creationId xmlns:a16="http://schemas.microsoft.com/office/drawing/2014/main" id="{2B5DECD7-B87A-207E-B95B-8B4F66ABE187}"/>
                </a:ext>
              </a:extLst>
            </p:cNvPr>
            <p:cNvSpPr/>
            <p:nvPr/>
          </p:nvSpPr>
          <p:spPr>
            <a:xfrm>
              <a:off x="4517136" y="4800600"/>
              <a:ext cx="3172968" cy="20116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DIE 2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6" name="Shape 36">
              <a:extLst>
                <a:ext uri="{FF2B5EF4-FFF2-40B4-BE49-F238E27FC236}">
                  <a16:creationId xmlns:a16="http://schemas.microsoft.com/office/drawing/2014/main" id="{7959A74D-CCC9-42A2-1689-390DBF4F6272}"/>
                </a:ext>
              </a:extLst>
            </p:cNvPr>
            <p:cNvSpPr/>
            <p:nvPr/>
          </p:nvSpPr>
          <p:spPr>
            <a:xfrm>
              <a:off x="4626864" y="5157216"/>
              <a:ext cx="838200" cy="621792"/>
            </a:xfrm>
            <a:prstGeom prst="rect">
              <a:avLst/>
            </a:prstGeom>
            <a:solidFill>
              <a:srgbClr val="DDEED6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78" name="Text 37">
              <a:extLst>
                <a:ext uri="{FF2B5EF4-FFF2-40B4-BE49-F238E27FC236}">
                  <a16:creationId xmlns:a16="http://schemas.microsoft.com/office/drawing/2014/main" id="{067CDBC1-0887-E6BE-86B2-D4F7C6B9B718}"/>
                </a:ext>
              </a:extLst>
            </p:cNvPr>
            <p:cNvSpPr/>
            <p:nvPr/>
          </p:nvSpPr>
          <p:spPr>
            <a:xfrm>
              <a:off x="4654296" y="5193792"/>
              <a:ext cx="783336" cy="54864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Accel A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0" name="Shape 38">
              <a:extLst>
                <a:ext uri="{FF2B5EF4-FFF2-40B4-BE49-F238E27FC236}">
                  <a16:creationId xmlns:a16="http://schemas.microsoft.com/office/drawing/2014/main" id="{511536A5-5101-9D7D-1D7F-89EE45BAEBDA}"/>
                </a:ext>
              </a:extLst>
            </p:cNvPr>
            <p:cNvSpPr/>
            <p:nvPr/>
          </p:nvSpPr>
          <p:spPr>
            <a:xfrm>
              <a:off x="5684520" y="5157216"/>
              <a:ext cx="838200" cy="621792"/>
            </a:xfrm>
            <a:prstGeom prst="rect">
              <a:avLst/>
            </a:prstGeom>
            <a:solidFill>
              <a:srgbClr val="EBD5E0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2" name="Text 39">
              <a:extLst>
                <a:ext uri="{FF2B5EF4-FFF2-40B4-BE49-F238E27FC236}">
                  <a16:creationId xmlns:a16="http://schemas.microsoft.com/office/drawing/2014/main" id="{0BD66145-8070-51B2-E29C-529AE8DE0E10}"/>
                </a:ext>
              </a:extLst>
            </p:cNvPr>
            <p:cNvSpPr/>
            <p:nvPr/>
          </p:nvSpPr>
          <p:spPr>
            <a:xfrm>
              <a:off x="5711952" y="5193792"/>
              <a:ext cx="783336" cy="54864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Accel B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4" name="Shape 40">
              <a:extLst>
                <a:ext uri="{FF2B5EF4-FFF2-40B4-BE49-F238E27FC236}">
                  <a16:creationId xmlns:a16="http://schemas.microsoft.com/office/drawing/2014/main" id="{090F4550-4305-4070-6B8B-B062D450BB46}"/>
                </a:ext>
              </a:extLst>
            </p:cNvPr>
            <p:cNvSpPr/>
            <p:nvPr/>
          </p:nvSpPr>
          <p:spPr>
            <a:xfrm>
              <a:off x="6742176" y="5157216"/>
              <a:ext cx="838200" cy="621792"/>
            </a:xfrm>
            <a:prstGeom prst="rect">
              <a:avLst/>
            </a:prstGeom>
            <a:solidFill>
              <a:srgbClr val="F5CCCC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6" name="Text 41">
              <a:extLst>
                <a:ext uri="{FF2B5EF4-FFF2-40B4-BE49-F238E27FC236}">
                  <a16:creationId xmlns:a16="http://schemas.microsoft.com/office/drawing/2014/main" id="{F87EFFB2-4A81-8E79-6478-E6C5C827418F}"/>
                </a:ext>
              </a:extLst>
            </p:cNvPr>
            <p:cNvSpPr/>
            <p:nvPr/>
          </p:nvSpPr>
          <p:spPr>
            <a:xfrm>
              <a:off x="6769608" y="5193792"/>
              <a:ext cx="783336" cy="54864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Accel C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88" name="Shape 42">
              <a:extLst>
                <a:ext uri="{FF2B5EF4-FFF2-40B4-BE49-F238E27FC236}">
                  <a16:creationId xmlns:a16="http://schemas.microsoft.com/office/drawing/2014/main" id="{58A1C1FD-1712-6A8A-8814-E3309EA9F66F}"/>
                </a:ext>
              </a:extLst>
            </p:cNvPr>
            <p:cNvSpPr/>
            <p:nvPr/>
          </p:nvSpPr>
          <p:spPr>
            <a:xfrm>
              <a:off x="4974336" y="3090672"/>
              <a:ext cx="493776" cy="384048"/>
            </a:xfrm>
            <a:prstGeom prst="rect">
              <a:avLst/>
            </a:prstGeom>
            <a:solidFill>
              <a:srgbClr val="C47EB1"/>
            </a:solidFill>
            <a:ln w="1397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0" name="Text 43">
              <a:extLst>
                <a:ext uri="{FF2B5EF4-FFF2-40B4-BE49-F238E27FC236}">
                  <a16:creationId xmlns:a16="http://schemas.microsoft.com/office/drawing/2014/main" id="{B6662B1D-F568-B559-DD3B-06BA553B554F}"/>
                </a:ext>
              </a:extLst>
            </p:cNvPr>
            <p:cNvSpPr/>
            <p:nvPr/>
          </p:nvSpPr>
          <p:spPr>
            <a:xfrm>
              <a:off x="5001768" y="3127248"/>
              <a:ext cx="438912" cy="31089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DIE To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DIE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2" name="Shape 44">
              <a:extLst>
                <a:ext uri="{FF2B5EF4-FFF2-40B4-BE49-F238E27FC236}">
                  <a16:creationId xmlns:a16="http://schemas.microsoft.com/office/drawing/2014/main" id="{4B60C7C8-9A72-9E0F-6877-FB1F54D2A715}"/>
                </a:ext>
              </a:extLst>
            </p:cNvPr>
            <p:cNvSpPr/>
            <p:nvPr/>
          </p:nvSpPr>
          <p:spPr>
            <a:xfrm>
              <a:off x="4974336" y="4480560"/>
              <a:ext cx="493776" cy="384048"/>
            </a:xfrm>
            <a:prstGeom prst="rect">
              <a:avLst/>
            </a:prstGeom>
            <a:solidFill>
              <a:srgbClr val="C47EB1"/>
            </a:solidFill>
            <a:ln w="1397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4" name="Text 45">
              <a:extLst>
                <a:ext uri="{FF2B5EF4-FFF2-40B4-BE49-F238E27FC236}">
                  <a16:creationId xmlns:a16="http://schemas.microsoft.com/office/drawing/2014/main" id="{D5A8EC4F-2736-FCFD-7A4F-06195F885008}"/>
                </a:ext>
              </a:extLst>
            </p:cNvPr>
            <p:cNvSpPr/>
            <p:nvPr/>
          </p:nvSpPr>
          <p:spPr>
            <a:xfrm>
              <a:off x="5001768" y="4517136"/>
              <a:ext cx="438912" cy="31089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DIE To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DIE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C421A56-7284-7FAD-A4F4-6C6E3E6979E5}"/>
              </a:ext>
            </a:extLst>
          </p:cNvPr>
          <p:cNvGrpSpPr/>
          <p:nvPr/>
        </p:nvGrpSpPr>
        <p:grpSpPr>
          <a:xfrm>
            <a:off x="8738006" y="1928193"/>
            <a:ext cx="2889504" cy="3313786"/>
            <a:chOff x="8394192" y="1828800"/>
            <a:chExt cx="3611880" cy="4142232"/>
          </a:xfrm>
        </p:grpSpPr>
        <p:sp>
          <p:nvSpPr>
            <p:cNvPr id="96" name="Shape 46">
              <a:extLst>
                <a:ext uri="{FF2B5EF4-FFF2-40B4-BE49-F238E27FC236}">
                  <a16:creationId xmlns:a16="http://schemas.microsoft.com/office/drawing/2014/main" id="{1742F5C7-F80C-E33B-802D-3197108ECFD5}"/>
                </a:ext>
              </a:extLst>
            </p:cNvPr>
            <p:cNvSpPr/>
            <p:nvPr/>
          </p:nvSpPr>
          <p:spPr>
            <a:xfrm>
              <a:off x="8394192" y="1828800"/>
              <a:ext cx="3611880" cy="4142232"/>
            </a:xfrm>
            <a:prstGeom prst="roundRect">
              <a:avLst>
                <a:gd name="adj" fmla="val 2025"/>
              </a:avLst>
            </a:prstGeom>
            <a:solidFill>
              <a:srgbClr val="3F3F3F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98" name="Text 47">
              <a:extLst>
                <a:ext uri="{FF2B5EF4-FFF2-40B4-BE49-F238E27FC236}">
                  <a16:creationId xmlns:a16="http://schemas.microsoft.com/office/drawing/2014/main" id="{2DAEE66D-0565-FCDC-8B96-B0FAF7EB8DE5}"/>
                </a:ext>
              </a:extLst>
            </p:cNvPr>
            <p:cNvSpPr/>
            <p:nvPr/>
          </p:nvSpPr>
          <p:spPr>
            <a:xfrm>
              <a:off x="8394192" y="1874520"/>
              <a:ext cx="3611880" cy="32004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Package</a:t>
              </a: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0" name="Shape 48">
              <a:extLst>
                <a:ext uri="{FF2B5EF4-FFF2-40B4-BE49-F238E27FC236}">
                  <a16:creationId xmlns:a16="http://schemas.microsoft.com/office/drawing/2014/main" id="{C882049B-BA4D-9C50-1AD6-A950DE5286B3}"/>
                </a:ext>
              </a:extLst>
            </p:cNvPr>
            <p:cNvSpPr/>
            <p:nvPr/>
          </p:nvSpPr>
          <p:spPr>
            <a:xfrm>
              <a:off x="8613648" y="2194560"/>
              <a:ext cx="3172968" cy="1097280"/>
            </a:xfrm>
            <a:prstGeom prst="rect">
              <a:avLst/>
            </a:prstGeom>
            <a:solidFill>
              <a:srgbClr val="F4F4F4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2" name="Text 49">
              <a:extLst>
                <a:ext uri="{FF2B5EF4-FFF2-40B4-BE49-F238E27FC236}">
                  <a16:creationId xmlns:a16="http://schemas.microsoft.com/office/drawing/2014/main" id="{09493110-6441-AE36-DBD3-28F9D7D5BC8E}"/>
                </a:ext>
              </a:extLst>
            </p:cNvPr>
            <p:cNvSpPr/>
            <p:nvPr/>
          </p:nvSpPr>
          <p:spPr>
            <a:xfrm>
              <a:off x="8613648" y="2221992"/>
              <a:ext cx="3172968" cy="20116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DIE 0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4" name="Shape 50">
              <a:extLst>
                <a:ext uri="{FF2B5EF4-FFF2-40B4-BE49-F238E27FC236}">
                  <a16:creationId xmlns:a16="http://schemas.microsoft.com/office/drawing/2014/main" id="{AD6713BF-689A-F64D-F22C-0B362A6AE48E}"/>
                </a:ext>
              </a:extLst>
            </p:cNvPr>
            <p:cNvSpPr/>
            <p:nvPr/>
          </p:nvSpPr>
          <p:spPr>
            <a:xfrm>
              <a:off x="8796528" y="2450592"/>
              <a:ext cx="1285738" cy="658368"/>
            </a:xfrm>
            <a:prstGeom prst="rect">
              <a:avLst/>
            </a:prstGeom>
            <a:solidFill>
              <a:srgbClr val="FBE4C6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6" name="Text 51">
              <a:extLst>
                <a:ext uri="{FF2B5EF4-FFF2-40B4-BE49-F238E27FC236}">
                  <a16:creationId xmlns:a16="http://schemas.microsoft.com/office/drawing/2014/main" id="{D603F5CA-B596-0B3D-E3B2-4BA3A15872D8}"/>
                </a:ext>
              </a:extLst>
            </p:cNvPr>
            <p:cNvSpPr/>
            <p:nvPr/>
          </p:nvSpPr>
          <p:spPr>
            <a:xfrm>
              <a:off x="8823960" y="2487168"/>
              <a:ext cx="1230874" cy="58521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Memory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Controller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08" name="Shape 52">
              <a:extLst>
                <a:ext uri="{FF2B5EF4-FFF2-40B4-BE49-F238E27FC236}">
                  <a16:creationId xmlns:a16="http://schemas.microsoft.com/office/drawing/2014/main" id="{AC107474-13EF-C125-DA78-1FD84CD76CAA}"/>
                </a:ext>
              </a:extLst>
            </p:cNvPr>
            <p:cNvSpPr/>
            <p:nvPr/>
          </p:nvSpPr>
          <p:spPr>
            <a:xfrm>
              <a:off x="10405835" y="2450592"/>
              <a:ext cx="1285738" cy="658368"/>
            </a:xfrm>
            <a:prstGeom prst="rect">
              <a:avLst/>
            </a:prstGeom>
            <a:solidFill>
              <a:srgbClr val="DCD5EF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0" name="Text 53">
              <a:extLst>
                <a:ext uri="{FF2B5EF4-FFF2-40B4-BE49-F238E27FC236}">
                  <a16:creationId xmlns:a16="http://schemas.microsoft.com/office/drawing/2014/main" id="{16627CC6-7233-DF98-3E5E-EBD089B08353}"/>
                </a:ext>
              </a:extLst>
            </p:cNvPr>
            <p:cNvSpPr/>
            <p:nvPr/>
          </p:nvSpPr>
          <p:spPr>
            <a:xfrm>
              <a:off x="10433267" y="2487168"/>
              <a:ext cx="1230874" cy="58521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I/O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(PCIe, USB, ...)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2" name="Shape 54">
              <a:extLst>
                <a:ext uri="{FF2B5EF4-FFF2-40B4-BE49-F238E27FC236}">
                  <a16:creationId xmlns:a16="http://schemas.microsoft.com/office/drawing/2014/main" id="{BB6196CC-D5C6-DECE-BAD9-D54BC5FCD875}"/>
                </a:ext>
              </a:extLst>
            </p:cNvPr>
            <p:cNvSpPr/>
            <p:nvPr/>
          </p:nvSpPr>
          <p:spPr>
            <a:xfrm>
              <a:off x="8613648" y="3291840"/>
              <a:ext cx="3172968" cy="109728"/>
            </a:xfrm>
            <a:prstGeom prst="rect">
              <a:avLst/>
            </a:prstGeom>
            <a:solidFill>
              <a:srgbClr val="3F3F3F"/>
            </a:solidFill>
            <a:ln w="12700">
              <a:solidFill>
                <a:srgbClr val="3F3F3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4" name="Shape 55">
              <a:extLst>
                <a:ext uri="{FF2B5EF4-FFF2-40B4-BE49-F238E27FC236}">
                  <a16:creationId xmlns:a16="http://schemas.microsoft.com/office/drawing/2014/main" id="{09A543BE-62EA-C094-0020-C2C984791B6E}"/>
                </a:ext>
              </a:extLst>
            </p:cNvPr>
            <p:cNvSpPr/>
            <p:nvPr/>
          </p:nvSpPr>
          <p:spPr>
            <a:xfrm>
              <a:off x="8613648" y="3456432"/>
              <a:ext cx="3172968" cy="1225296"/>
            </a:xfrm>
            <a:prstGeom prst="rect">
              <a:avLst/>
            </a:prstGeom>
            <a:solidFill>
              <a:srgbClr val="F4F4F4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6" name="Text 56">
              <a:extLst>
                <a:ext uri="{FF2B5EF4-FFF2-40B4-BE49-F238E27FC236}">
                  <a16:creationId xmlns:a16="http://schemas.microsoft.com/office/drawing/2014/main" id="{59EE2F3C-D6C0-58AA-F053-00F12586F78E}"/>
                </a:ext>
              </a:extLst>
            </p:cNvPr>
            <p:cNvSpPr/>
            <p:nvPr/>
          </p:nvSpPr>
          <p:spPr>
            <a:xfrm>
              <a:off x="8613648" y="3483864"/>
              <a:ext cx="3172968" cy="20116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DIE 1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18" name="Shape 57">
              <a:extLst>
                <a:ext uri="{FF2B5EF4-FFF2-40B4-BE49-F238E27FC236}">
                  <a16:creationId xmlns:a16="http://schemas.microsoft.com/office/drawing/2014/main" id="{E511D392-E5AE-49C5-FF89-404F33D68D3C}"/>
                </a:ext>
              </a:extLst>
            </p:cNvPr>
            <p:cNvSpPr/>
            <p:nvPr/>
          </p:nvSpPr>
          <p:spPr>
            <a:xfrm>
              <a:off x="8723376" y="3840480"/>
              <a:ext cx="2953512" cy="749808"/>
            </a:xfrm>
            <a:prstGeom prst="rect">
              <a:avLst/>
            </a:prstGeom>
            <a:solidFill>
              <a:srgbClr val="C7D9F5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0" name="Text 58">
              <a:extLst>
                <a:ext uri="{FF2B5EF4-FFF2-40B4-BE49-F238E27FC236}">
                  <a16:creationId xmlns:a16="http://schemas.microsoft.com/office/drawing/2014/main" id="{31CA8352-676D-8047-55AD-5C1882C26613}"/>
                </a:ext>
              </a:extLst>
            </p:cNvPr>
            <p:cNvSpPr/>
            <p:nvPr/>
          </p:nvSpPr>
          <p:spPr>
            <a:xfrm>
              <a:off x="8750808" y="3877056"/>
              <a:ext cx="2898648" cy="67665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CPU Complex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2" name="Shape 59">
              <a:extLst>
                <a:ext uri="{FF2B5EF4-FFF2-40B4-BE49-F238E27FC236}">
                  <a16:creationId xmlns:a16="http://schemas.microsoft.com/office/drawing/2014/main" id="{6E40362F-F4A3-3471-2B71-CB3F883A191C}"/>
                </a:ext>
              </a:extLst>
            </p:cNvPr>
            <p:cNvSpPr/>
            <p:nvPr/>
          </p:nvSpPr>
          <p:spPr>
            <a:xfrm>
              <a:off x="8613648" y="4681728"/>
              <a:ext cx="3172968" cy="109728"/>
            </a:xfrm>
            <a:prstGeom prst="rect">
              <a:avLst/>
            </a:prstGeom>
            <a:solidFill>
              <a:srgbClr val="3F3F3F"/>
            </a:solidFill>
            <a:ln w="12700">
              <a:solidFill>
                <a:srgbClr val="3F3F3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4" name="Shape 60">
              <a:extLst>
                <a:ext uri="{FF2B5EF4-FFF2-40B4-BE49-F238E27FC236}">
                  <a16:creationId xmlns:a16="http://schemas.microsoft.com/office/drawing/2014/main" id="{C018E091-F4D6-ADF6-BFC1-79DA0120EEC4}"/>
                </a:ext>
              </a:extLst>
            </p:cNvPr>
            <p:cNvSpPr/>
            <p:nvPr/>
          </p:nvSpPr>
          <p:spPr>
            <a:xfrm>
              <a:off x="8613648" y="4773168"/>
              <a:ext cx="3172968" cy="1078992"/>
            </a:xfrm>
            <a:prstGeom prst="rect">
              <a:avLst/>
            </a:prstGeom>
            <a:solidFill>
              <a:srgbClr val="F4F4F4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6" name="Text 61">
              <a:extLst>
                <a:ext uri="{FF2B5EF4-FFF2-40B4-BE49-F238E27FC236}">
                  <a16:creationId xmlns:a16="http://schemas.microsoft.com/office/drawing/2014/main" id="{6DE6D0B0-2641-F343-4790-756E2462869A}"/>
                </a:ext>
              </a:extLst>
            </p:cNvPr>
            <p:cNvSpPr/>
            <p:nvPr/>
          </p:nvSpPr>
          <p:spPr>
            <a:xfrm>
              <a:off x="8613648" y="4800600"/>
              <a:ext cx="3172968" cy="201168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DIE 2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28" name="Shape 62">
              <a:extLst>
                <a:ext uri="{FF2B5EF4-FFF2-40B4-BE49-F238E27FC236}">
                  <a16:creationId xmlns:a16="http://schemas.microsoft.com/office/drawing/2014/main" id="{322180C8-26C1-18C4-5B1B-BC4C7E1E27DF}"/>
                </a:ext>
              </a:extLst>
            </p:cNvPr>
            <p:cNvSpPr/>
            <p:nvPr/>
          </p:nvSpPr>
          <p:spPr>
            <a:xfrm>
              <a:off x="8723376" y="5157216"/>
              <a:ext cx="838200" cy="621792"/>
            </a:xfrm>
            <a:prstGeom prst="rect">
              <a:avLst/>
            </a:prstGeom>
            <a:solidFill>
              <a:srgbClr val="DDEED6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0" name="Text 63">
              <a:extLst>
                <a:ext uri="{FF2B5EF4-FFF2-40B4-BE49-F238E27FC236}">
                  <a16:creationId xmlns:a16="http://schemas.microsoft.com/office/drawing/2014/main" id="{8B49C77B-A6DC-5157-6F84-31A5F9143245}"/>
                </a:ext>
              </a:extLst>
            </p:cNvPr>
            <p:cNvSpPr/>
            <p:nvPr/>
          </p:nvSpPr>
          <p:spPr>
            <a:xfrm>
              <a:off x="8750808" y="5193792"/>
              <a:ext cx="783336" cy="54864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Accel A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2" name="Shape 64">
              <a:extLst>
                <a:ext uri="{FF2B5EF4-FFF2-40B4-BE49-F238E27FC236}">
                  <a16:creationId xmlns:a16="http://schemas.microsoft.com/office/drawing/2014/main" id="{CCC01493-6DAE-73A0-F4E7-7F10D757B0DD}"/>
                </a:ext>
              </a:extLst>
            </p:cNvPr>
            <p:cNvSpPr/>
            <p:nvPr/>
          </p:nvSpPr>
          <p:spPr>
            <a:xfrm>
              <a:off x="9781032" y="5157216"/>
              <a:ext cx="838200" cy="621792"/>
            </a:xfrm>
            <a:prstGeom prst="rect">
              <a:avLst/>
            </a:prstGeom>
            <a:solidFill>
              <a:srgbClr val="EBD5E0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4" name="Text 65">
              <a:extLst>
                <a:ext uri="{FF2B5EF4-FFF2-40B4-BE49-F238E27FC236}">
                  <a16:creationId xmlns:a16="http://schemas.microsoft.com/office/drawing/2014/main" id="{D7AD50AA-F7AB-B4A3-5175-3B9895E3E206}"/>
                </a:ext>
              </a:extLst>
            </p:cNvPr>
            <p:cNvSpPr/>
            <p:nvPr/>
          </p:nvSpPr>
          <p:spPr>
            <a:xfrm>
              <a:off x="9808464" y="5193792"/>
              <a:ext cx="783336" cy="54864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Accel B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6" name="Shape 66">
              <a:extLst>
                <a:ext uri="{FF2B5EF4-FFF2-40B4-BE49-F238E27FC236}">
                  <a16:creationId xmlns:a16="http://schemas.microsoft.com/office/drawing/2014/main" id="{00EBC142-7C18-D3D7-7F1E-0BBF9F12AC29}"/>
                </a:ext>
              </a:extLst>
            </p:cNvPr>
            <p:cNvSpPr/>
            <p:nvPr/>
          </p:nvSpPr>
          <p:spPr>
            <a:xfrm>
              <a:off x="10838688" y="5157216"/>
              <a:ext cx="838200" cy="621792"/>
            </a:xfrm>
            <a:prstGeom prst="rect">
              <a:avLst/>
            </a:prstGeom>
            <a:solidFill>
              <a:srgbClr val="F5CCCC"/>
            </a:solidFill>
            <a:ln w="1524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38" name="Text 67">
              <a:extLst>
                <a:ext uri="{FF2B5EF4-FFF2-40B4-BE49-F238E27FC236}">
                  <a16:creationId xmlns:a16="http://schemas.microsoft.com/office/drawing/2014/main" id="{4BD356C3-A9AA-1EAE-20A9-86E6390C9561}"/>
                </a:ext>
              </a:extLst>
            </p:cNvPr>
            <p:cNvSpPr/>
            <p:nvPr/>
          </p:nvSpPr>
          <p:spPr>
            <a:xfrm>
              <a:off x="10866120" y="5193792"/>
              <a:ext cx="783336" cy="548640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Accel C</a:t>
              </a:r>
              <a:endPara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40" name="Shape 68">
              <a:extLst>
                <a:ext uri="{FF2B5EF4-FFF2-40B4-BE49-F238E27FC236}">
                  <a16:creationId xmlns:a16="http://schemas.microsoft.com/office/drawing/2014/main" id="{CFD7BF62-056E-3735-8B8D-FE427A6D4F31}"/>
                </a:ext>
              </a:extLst>
            </p:cNvPr>
            <p:cNvSpPr/>
            <p:nvPr/>
          </p:nvSpPr>
          <p:spPr>
            <a:xfrm>
              <a:off x="9070848" y="3090672"/>
              <a:ext cx="493776" cy="384048"/>
            </a:xfrm>
            <a:prstGeom prst="rect">
              <a:avLst/>
            </a:prstGeom>
            <a:solidFill>
              <a:srgbClr val="BEE0B5"/>
            </a:solidFill>
            <a:ln w="1397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42" name="Text 69">
              <a:extLst>
                <a:ext uri="{FF2B5EF4-FFF2-40B4-BE49-F238E27FC236}">
                  <a16:creationId xmlns:a16="http://schemas.microsoft.com/office/drawing/2014/main" id="{0CEF56A7-F224-B03D-C29B-AC4E76EDCCB3}"/>
                </a:ext>
              </a:extLst>
            </p:cNvPr>
            <p:cNvSpPr/>
            <p:nvPr/>
          </p:nvSpPr>
          <p:spPr>
            <a:xfrm>
              <a:off x="9098280" y="3127248"/>
              <a:ext cx="438912" cy="31089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UCIe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44" name="Shape 70">
              <a:extLst>
                <a:ext uri="{FF2B5EF4-FFF2-40B4-BE49-F238E27FC236}">
                  <a16:creationId xmlns:a16="http://schemas.microsoft.com/office/drawing/2014/main" id="{B8B86CBD-DFDE-2AF0-A8C5-86A8A72689BF}"/>
                </a:ext>
              </a:extLst>
            </p:cNvPr>
            <p:cNvSpPr/>
            <p:nvPr/>
          </p:nvSpPr>
          <p:spPr>
            <a:xfrm>
              <a:off x="9070848" y="4480560"/>
              <a:ext cx="493776" cy="384048"/>
            </a:xfrm>
            <a:prstGeom prst="rect">
              <a:avLst/>
            </a:prstGeom>
            <a:solidFill>
              <a:srgbClr val="BEE0B5"/>
            </a:solidFill>
            <a:ln w="13970">
              <a:solidFill>
                <a:srgbClr val="0A467A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146" name="Text 71">
              <a:extLst>
                <a:ext uri="{FF2B5EF4-FFF2-40B4-BE49-F238E27FC236}">
                  <a16:creationId xmlns:a16="http://schemas.microsoft.com/office/drawing/2014/main" id="{8A16CC08-17F0-3C9A-96D6-F1B1151CEA20}"/>
                </a:ext>
              </a:extLst>
            </p:cNvPr>
            <p:cNvSpPr/>
            <p:nvPr/>
          </p:nvSpPr>
          <p:spPr>
            <a:xfrm>
              <a:off x="9098280" y="4517136"/>
              <a:ext cx="438912" cy="310896"/>
            </a:xfrm>
            <a:prstGeom prst="rect">
              <a:avLst/>
            </a:prstGeom>
            <a:noFill/>
            <a:ln/>
          </p:spPr>
          <p:txBody>
            <a:bodyPr wrap="square" lIns="127" tIns="127" rIns="127" bIns="127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itchFamily="34" charset="0"/>
                  <a:ea typeface="Arial" pitchFamily="34" charset="-122"/>
                  <a:cs typeface="Arial" pitchFamily="34" charset="-120"/>
                </a:rPr>
                <a:t>UCIe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</p:grpSp>
      <p:sp>
        <p:nvSpPr>
          <p:cNvPr id="148" name="Text 72">
            <a:extLst>
              <a:ext uri="{FF2B5EF4-FFF2-40B4-BE49-F238E27FC236}">
                <a16:creationId xmlns:a16="http://schemas.microsoft.com/office/drawing/2014/main" id="{1641630D-0518-2EB4-7322-36A3AF200366}"/>
              </a:ext>
            </a:extLst>
          </p:cNvPr>
          <p:cNvSpPr/>
          <p:nvPr/>
        </p:nvSpPr>
        <p:spPr>
          <a:xfrm>
            <a:off x="102439" y="5260801"/>
            <a:ext cx="3703320" cy="558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Vendor Controls All Subsystems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Management &amp; Security is fully integrated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0" name="Text 73">
            <a:extLst>
              <a:ext uri="{FF2B5EF4-FFF2-40B4-BE49-F238E27FC236}">
                <a16:creationId xmlns:a16="http://schemas.microsoft.com/office/drawing/2014/main" id="{0AAEAA2C-B3DE-2E8B-652F-D13DA3F5C090}"/>
              </a:ext>
            </a:extLst>
          </p:cNvPr>
          <p:cNvSpPr/>
          <p:nvPr/>
        </p:nvSpPr>
        <p:spPr>
          <a:xfrm>
            <a:off x="4171519" y="5251390"/>
            <a:ext cx="3758184" cy="8247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Vendor Controls All Subsystems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Management &amp; Security is fully integrated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Mix Chiplet from Different Generations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52" name="Text 74">
            <a:extLst>
              <a:ext uri="{FF2B5EF4-FFF2-40B4-BE49-F238E27FC236}">
                <a16:creationId xmlns:a16="http://schemas.microsoft.com/office/drawing/2014/main" id="{AAB3B45C-84AE-BD5D-DBE5-54B28F455196}"/>
              </a:ext>
            </a:extLst>
          </p:cNvPr>
          <p:cNvSpPr/>
          <p:nvPr/>
        </p:nvSpPr>
        <p:spPr>
          <a:xfrm>
            <a:off x="8295463" y="5247237"/>
            <a:ext cx="3703320" cy="558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Multi Vendor Chiplets &amp; SiP Integrator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Management &amp; Security is distributed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80201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96905-4447-7084-C9F8-B68A32906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UCIe Manageability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130DD18-C89D-2A1E-AE78-BD6D5B30D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204" y="1359393"/>
            <a:ext cx="4701505" cy="49839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Mechanism to manage, test, and debug a UCIe-based System-in-Package (SiP) consisting of multiple chiplets independent of UCIe mainband protocol(s):</a:t>
            </a:r>
          </a:p>
          <a:p>
            <a:pPr marL="609585" lvl="1">
              <a:spcBef>
                <a:spcPts val="133"/>
              </a:spcBef>
              <a:buFont typeface="Wingdings" panose="05000000000000000000" pitchFamily="2" charset="2"/>
              <a:buChar char="§"/>
            </a:pPr>
            <a:r>
              <a:rPr lang="en-US" sz="1200" dirty="0"/>
              <a:t>Supported on UCIe Sideband</a:t>
            </a:r>
          </a:p>
          <a:p>
            <a:pPr marL="609585" lvl="1">
              <a:spcBef>
                <a:spcPts val="133"/>
              </a:spcBef>
              <a:buFont typeface="Wingdings" panose="05000000000000000000" pitchFamily="2" charset="2"/>
              <a:buChar char="§"/>
            </a:pPr>
            <a:r>
              <a:rPr lang="en-US" sz="1200" dirty="0"/>
              <a:t>Supported on UCIe Mainband</a:t>
            </a:r>
          </a:p>
          <a:p>
            <a:pPr marL="0" indent="0">
              <a:spcBef>
                <a:spcPts val="1067"/>
              </a:spcBef>
              <a:buNone/>
            </a:pPr>
            <a:r>
              <a:rPr lang="en-US" sz="1400" b="1" dirty="0"/>
              <a:t>Example Applications:</a:t>
            </a:r>
          </a:p>
          <a:p>
            <a:pPr marL="609585" lvl="1">
              <a:spcBef>
                <a:spcPts val="133"/>
              </a:spcBef>
              <a:buFont typeface="Wingdings" panose="05000000000000000000" pitchFamily="2" charset="2"/>
              <a:buChar char="§"/>
            </a:pPr>
            <a:r>
              <a:rPr lang="en-US" sz="1200" dirty="0"/>
              <a:t>Discovery of chiplets that make up a SiP and their configuration</a:t>
            </a:r>
          </a:p>
          <a:p>
            <a:pPr marL="609585" lvl="1">
              <a:spcBef>
                <a:spcPts val="133"/>
              </a:spcBef>
              <a:buFont typeface="Wingdings" panose="05000000000000000000" pitchFamily="2" charset="2"/>
              <a:buChar char="§"/>
            </a:pPr>
            <a:r>
              <a:rPr lang="en-US" sz="1200" dirty="0"/>
              <a:t>Initialization of chiplet structures, and parameters (i.e., serial EEPROM replacement)</a:t>
            </a:r>
          </a:p>
          <a:p>
            <a:pPr marL="609585" lvl="1">
              <a:spcBef>
                <a:spcPts val="133"/>
              </a:spcBef>
              <a:buFont typeface="Wingdings" panose="05000000000000000000" pitchFamily="2" charset="2"/>
              <a:buChar char="§"/>
            </a:pPr>
            <a:r>
              <a:rPr lang="en-US" sz="1200" dirty="0"/>
              <a:t>Firmware download</a:t>
            </a:r>
          </a:p>
          <a:p>
            <a:pPr marL="609585" lvl="1">
              <a:spcBef>
                <a:spcPts val="133"/>
              </a:spcBef>
              <a:buFont typeface="Wingdings" panose="05000000000000000000" pitchFamily="2" charset="2"/>
              <a:buChar char="§"/>
            </a:pPr>
            <a:r>
              <a:rPr lang="en-US" sz="1200" dirty="0"/>
              <a:t>Power and thermal management</a:t>
            </a:r>
          </a:p>
          <a:p>
            <a:pPr marL="609585" lvl="1">
              <a:spcBef>
                <a:spcPts val="133"/>
              </a:spcBef>
              <a:buFont typeface="Wingdings" panose="05000000000000000000" pitchFamily="2" charset="2"/>
              <a:buChar char="§"/>
            </a:pPr>
            <a:r>
              <a:rPr lang="en-US" sz="1200" dirty="0"/>
              <a:t>Error reporting</a:t>
            </a:r>
          </a:p>
          <a:p>
            <a:pPr marL="609585" lvl="1">
              <a:spcBef>
                <a:spcPts val="133"/>
              </a:spcBef>
              <a:buFont typeface="Wingdings" panose="05000000000000000000" pitchFamily="2" charset="2"/>
              <a:buChar char="§"/>
            </a:pPr>
            <a:r>
              <a:rPr lang="en-US" sz="1200" dirty="0"/>
              <a:t>Performance monitoring and telemetry</a:t>
            </a:r>
          </a:p>
          <a:p>
            <a:pPr marL="609585" lvl="1">
              <a:spcBef>
                <a:spcPts val="133"/>
              </a:spcBef>
              <a:buFont typeface="Wingdings" panose="05000000000000000000" pitchFamily="2" charset="2"/>
              <a:buChar char="§"/>
            </a:pPr>
            <a:r>
              <a:rPr lang="en-US" sz="1200" dirty="0"/>
              <a:t>Retrieval of log and crash dump information</a:t>
            </a:r>
          </a:p>
          <a:p>
            <a:pPr marL="609585" lvl="1">
              <a:spcBef>
                <a:spcPts val="133"/>
              </a:spcBef>
              <a:buFont typeface="Wingdings" panose="05000000000000000000" pitchFamily="2" charset="2"/>
              <a:buChar char="§"/>
            </a:pPr>
            <a:r>
              <a:rPr lang="en-US" sz="1200" dirty="0"/>
              <a:t>Initiation and reporting of self-test status</a:t>
            </a:r>
          </a:p>
          <a:p>
            <a:pPr marL="609585" lvl="1">
              <a:spcBef>
                <a:spcPts val="133"/>
              </a:spcBef>
              <a:buFont typeface="Wingdings" panose="05000000000000000000" pitchFamily="2" charset="2"/>
              <a:buChar char="§"/>
            </a:pPr>
            <a:r>
              <a:rPr lang="en-US" sz="1200" dirty="0"/>
              <a:t>Test and debug</a:t>
            </a:r>
          </a:p>
          <a:p>
            <a:pPr marL="609585" lvl="1">
              <a:spcBef>
                <a:spcPts val="133"/>
              </a:spcBef>
              <a:buFont typeface="Wingdings" panose="05000000000000000000" pitchFamily="2" charset="2"/>
              <a:buChar char="§"/>
            </a:pPr>
            <a:r>
              <a:rPr lang="en-US" sz="1200" dirty="0"/>
              <a:t>Various aspects of chiplet security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A32D93-AEA3-06E3-4416-1B73AE12B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748" y="1163451"/>
            <a:ext cx="5646965" cy="449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16877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BFCCD-073B-65DA-AD61-F9A87391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UCIe Management Entities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0603C-4EC8-BA22-0FF3-1F23BF294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CDA77FB-867B-80C9-1DAB-01D2EBBEE0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2434" y="1604243"/>
          <a:ext cx="6964623" cy="20823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9343949" imgH="2781148" progId="Visio.Drawing.15">
                  <p:embed/>
                </p:oleObj>
              </mc:Choice>
              <mc:Fallback>
                <p:oleObj name="Visio" r:id="rId2" imgW="9343949" imgH="2781148" progId="Visio.Drawing.15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3CDA77FB-867B-80C9-1DAB-01D2EBBEE0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434" y="1604243"/>
                        <a:ext cx="6964623" cy="20823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35E20D7-C7E1-F945-C956-F6EA56AD4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3054" y="188738"/>
            <a:ext cx="4203772" cy="3343235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FF4D61-AD81-BAE9-5C3F-66CC049BD329}"/>
              </a:ext>
            </a:extLst>
          </p:cNvPr>
          <p:cNvGraphicFramePr>
            <a:graphicFrameLocks noGrp="1"/>
          </p:cNvGraphicFramePr>
          <p:nvPr/>
        </p:nvGraphicFramePr>
        <p:xfrm>
          <a:off x="453006" y="4223615"/>
          <a:ext cx="7132320" cy="1859916"/>
        </p:xfrm>
        <a:graphic>
          <a:graphicData uri="http://schemas.openxmlformats.org/drawingml/2006/table">
            <a:tbl>
              <a:tblPr firstRow="1" firstCol="1" bandRow="1"/>
              <a:tblGrid>
                <a:gridCol w="1704980">
                  <a:extLst>
                    <a:ext uri="{9D8B030D-6E8A-4147-A177-3AD203B41FA5}">
                      <a16:colId xmlns:a16="http://schemas.microsoft.com/office/drawing/2014/main" val="505996783"/>
                    </a:ext>
                  </a:extLst>
                </a:gridCol>
                <a:gridCol w="5427340">
                  <a:extLst>
                    <a:ext uri="{9D8B030D-6E8A-4147-A177-3AD203B41FA5}">
                      <a16:colId xmlns:a16="http://schemas.microsoft.com/office/drawing/2014/main" val="4041957147"/>
                    </a:ext>
                  </a:extLst>
                </a:gridCol>
              </a:tblGrid>
              <a:tr h="2248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Term</a:t>
                      </a:r>
                      <a:endParaRPr lang="en-US" sz="900" dirty="0">
                        <a:effectLst/>
                        <a:latin typeface="Verdan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Definition</a:t>
                      </a:r>
                      <a:endParaRPr lang="en-US" sz="900" dirty="0">
                        <a:effectLst/>
                        <a:latin typeface="Verdana" panose="020B060403050404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326231"/>
                  </a:ext>
                </a:extLst>
              </a:tr>
              <a:tr h="31982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Management Entity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Management Entity is an addressable entity on the Management Network that can send and/or receiving UCIe Management Transport packets. A Management Element, a Management Port, and a Management Bridge are all a type of Management Entity.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210871"/>
                  </a:ext>
                </a:extLst>
              </a:tr>
              <a:tr h="2143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Management Element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Management Element is a type of Management Entity that can perform one or more management functions.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921949"/>
                  </a:ext>
                </a:extLst>
              </a:tr>
              <a:tr h="21437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Management Port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Management Port is a type of Management Entity that facilitates management communication between chiplets using a chiplet-to-chiplet management link.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56783"/>
                  </a:ext>
                </a:extLst>
              </a:tr>
              <a:tr h="31982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Management Bridge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900" dirty="0">
                          <a:effectLst/>
                          <a:latin typeface="Verdana" panose="020B060403050404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 Management Bridge is type of Management Entity that bridges a Management Network within a SiP to another network that may be internal or external to the SiP.</a:t>
                      </a:r>
                    </a:p>
                  </a:txBody>
                  <a:tcPr marL="45720" marR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6640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87974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730B-CCFC-2D40-AC28-FAD68C317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UCIe Management Protocol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71CAC-17DF-5381-E199-8F398E4AA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A851CCF-BC32-2D52-5737-3285E96E95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579415" y="2550575"/>
          <a:ext cx="5812805" cy="1933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724852" imgH="2895600" progId="Visio.Drawing.15">
                  <p:embed/>
                </p:oleObj>
              </mc:Choice>
              <mc:Fallback>
                <p:oleObj name="Visio" r:id="rId2" imgW="8724852" imgH="2895600" progId="Visio.Drawing.15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A851CCF-BC32-2D52-5737-3285E96E95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579415" y="2550575"/>
                        <a:ext cx="5812805" cy="19338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>
            <a:extLst>
              <a:ext uri="{FF2B5EF4-FFF2-40B4-BE49-F238E27FC236}">
                <a16:creationId xmlns:a16="http://schemas.microsoft.com/office/drawing/2014/main" id="{DB82B3DD-FBBD-3985-7A7E-9B51ABA24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0241" y="2402627"/>
            <a:ext cx="1032915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B490FFC-78BB-D477-EE84-B8CDFC2BF9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9239" y="2352523"/>
          <a:ext cx="5767149" cy="2855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9296400" imgH="4609948" progId="Visio.Drawing.15">
                  <p:embed/>
                </p:oleObj>
              </mc:Choice>
              <mc:Fallback>
                <p:oleObj name="Visio" r:id="rId4" imgW="9296400" imgH="4609948" progId="Visio.Drawing.15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B490FFC-78BB-D477-EE84-B8CDFC2BF9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239" y="2352523"/>
                        <a:ext cx="5767149" cy="28558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819E007-1D0D-17C5-41F0-D7DA6D7CD17C}"/>
              </a:ext>
            </a:extLst>
          </p:cNvPr>
          <p:cNvSpPr txBox="1"/>
          <p:nvPr/>
        </p:nvSpPr>
        <p:spPr>
          <a:xfrm>
            <a:off x="526093" y="2040203"/>
            <a:ext cx="344036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UCIe Management Protocol Hierarchy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F528B8-9DCD-484A-585A-43E0B477DCF5}"/>
              </a:ext>
            </a:extLst>
          </p:cNvPr>
          <p:cNvSpPr txBox="1"/>
          <p:nvPr/>
        </p:nvSpPr>
        <p:spPr>
          <a:xfrm>
            <a:off x="7361066" y="1878620"/>
            <a:ext cx="330956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UCIe Management Transport Packet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3D31DD3D-721F-BC33-F4D4-12455CB16261}"/>
              </a:ext>
            </a:extLst>
          </p:cNvPr>
          <p:cNvSpPr/>
          <p:nvPr/>
        </p:nvSpPr>
        <p:spPr>
          <a:xfrm>
            <a:off x="523568" y="5079929"/>
            <a:ext cx="3951961" cy="1126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UCIe Management Transport Protocols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‒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UCIe Memory Access Protocol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‒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UCIe Test and Debug Protocol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Tx/>
              <a:buChar char="‒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…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0889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628B0-3C00-7AEE-32BC-76D1AB8B0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UCIe Memory Access Protocol (UMAP)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81FB8-DACF-0CF8-4F77-03518260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B8BDD7A-E3F3-E7BB-1AD2-103BA2DD01D9}"/>
              </a:ext>
            </a:extLst>
          </p:cNvPr>
          <p:cNvSpPr/>
          <p:nvPr/>
        </p:nvSpPr>
        <p:spPr>
          <a:xfrm>
            <a:off x="7085364" y="128016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FFFF_FFFF_FFFF_FFFFh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B2014CD-B590-D78E-C5EB-E86DE89738B5}"/>
              </a:ext>
            </a:extLst>
          </p:cNvPr>
          <p:cNvSpPr/>
          <p:nvPr/>
        </p:nvSpPr>
        <p:spPr>
          <a:xfrm>
            <a:off x="8868444" y="1371600"/>
            <a:ext cx="1280160" cy="594360"/>
          </a:xfrm>
          <a:prstGeom prst="rect">
            <a:avLst/>
          </a:prstGeom>
          <a:solidFill>
            <a:srgbClr val="ECECEC"/>
          </a:solidFill>
          <a:ln w="12700">
            <a:solidFill>
              <a:srgbClr val="909090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4F52C10-C524-E78C-F41D-A0271651E1A0}"/>
              </a:ext>
            </a:extLst>
          </p:cNvPr>
          <p:cNvSpPr/>
          <p:nvPr/>
        </p:nvSpPr>
        <p:spPr>
          <a:xfrm>
            <a:off x="8868444" y="1965960"/>
            <a:ext cx="1280160" cy="457200"/>
          </a:xfrm>
          <a:prstGeom prst="rect">
            <a:avLst/>
          </a:prstGeom>
          <a:solidFill>
            <a:srgbClr val="DAE8C7"/>
          </a:solidFill>
          <a:ln w="12700">
            <a:solidFill>
              <a:srgbClr val="909090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Capability Structure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8BD5B347-50DA-3E16-1638-71B8631B3CCE}"/>
              </a:ext>
            </a:extLst>
          </p:cNvPr>
          <p:cNvSpPr/>
          <p:nvPr/>
        </p:nvSpPr>
        <p:spPr>
          <a:xfrm>
            <a:off x="8868444" y="2423160"/>
            <a:ext cx="1280160" cy="457200"/>
          </a:xfrm>
          <a:prstGeom prst="rect">
            <a:avLst/>
          </a:prstGeom>
          <a:solidFill>
            <a:srgbClr val="ECECEC"/>
          </a:solidFill>
          <a:ln w="12700">
            <a:solidFill>
              <a:srgbClr val="909090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18012BB7-7190-C673-C12F-FDAC6CDCE389}"/>
              </a:ext>
            </a:extLst>
          </p:cNvPr>
          <p:cNvSpPr/>
          <p:nvPr/>
        </p:nvSpPr>
        <p:spPr>
          <a:xfrm>
            <a:off x="8868444" y="2880360"/>
            <a:ext cx="1280160" cy="457200"/>
          </a:xfrm>
          <a:prstGeom prst="rect">
            <a:avLst/>
          </a:prstGeom>
          <a:solidFill>
            <a:srgbClr val="DAE8C7"/>
          </a:solidFill>
          <a:ln w="12700">
            <a:solidFill>
              <a:srgbClr val="909090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Capability Structure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DDD6A987-B20B-5FBC-1806-F49489F91D99}"/>
              </a:ext>
            </a:extLst>
          </p:cNvPr>
          <p:cNvSpPr/>
          <p:nvPr/>
        </p:nvSpPr>
        <p:spPr>
          <a:xfrm>
            <a:off x="8868444" y="3337560"/>
            <a:ext cx="1280160" cy="457200"/>
          </a:xfrm>
          <a:prstGeom prst="rect">
            <a:avLst/>
          </a:prstGeom>
          <a:solidFill>
            <a:srgbClr val="ECECEC"/>
          </a:solidFill>
          <a:ln w="12700">
            <a:solidFill>
              <a:srgbClr val="909090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FB3739EB-6133-10A4-B4DF-8E8AD7068EAA}"/>
              </a:ext>
            </a:extLst>
          </p:cNvPr>
          <p:cNvSpPr/>
          <p:nvPr/>
        </p:nvSpPr>
        <p:spPr>
          <a:xfrm>
            <a:off x="8868444" y="3794760"/>
            <a:ext cx="1280160" cy="548640"/>
          </a:xfrm>
          <a:prstGeom prst="rect">
            <a:avLst/>
          </a:prstGeom>
          <a:solidFill>
            <a:srgbClr val="E5DEEE"/>
          </a:solidFill>
          <a:ln w="12700">
            <a:solidFill>
              <a:srgbClr val="909090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Directory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6AC4EEDA-C812-0871-29FE-CB8F119859F6}"/>
              </a:ext>
            </a:extLst>
          </p:cNvPr>
          <p:cNvSpPr/>
          <p:nvPr/>
        </p:nvSpPr>
        <p:spPr>
          <a:xfrm>
            <a:off x="8868444" y="4343400"/>
            <a:ext cx="1280160" cy="457200"/>
          </a:xfrm>
          <a:prstGeom prst="rect">
            <a:avLst/>
          </a:prstGeom>
          <a:solidFill>
            <a:srgbClr val="ECECEC"/>
          </a:solidFill>
          <a:ln w="12700">
            <a:solidFill>
              <a:srgbClr val="909090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37C79788-872F-EB0D-632B-0CF193394E56}"/>
              </a:ext>
            </a:extLst>
          </p:cNvPr>
          <p:cNvSpPr/>
          <p:nvPr/>
        </p:nvSpPr>
        <p:spPr>
          <a:xfrm>
            <a:off x="8868444" y="4800600"/>
            <a:ext cx="1280160" cy="457200"/>
          </a:xfrm>
          <a:prstGeom prst="rect">
            <a:avLst/>
          </a:prstGeom>
          <a:solidFill>
            <a:srgbClr val="DAE8C7"/>
          </a:solidFill>
          <a:ln w="12700">
            <a:solidFill>
              <a:srgbClr val="909090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Capability Structure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4AD79669-53CC-0DA7-BBBD-202240C9A0B6}"/>
              </a:ext>
            </a:extLst>
          </p:cNvPr>
          <p:cNvSpPr/>
          <p:nvPr/>
        </p:nvSpPr>
        <p:spPr>
          <a:xfrm>
            <a:off x="8868444" y="5257800"/>
            <a:ext cx="1280160" cy="457200"/>
          </a:xfrm>
          <a:prstGeom prst="rect">
            <a:avLst/>
          </a:prstGeom>
          <a:solidFill>
            <a:srgbClr val="ECECEC"/>
          </a:solidFill>
          <a:ln w="12700">
            <a:solidFill>
              <a:srgbClr val="909090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2D6ACBFB-A3FB-2649-8F81-37C9073BAD0A}"/>
              </a:ext>
            </a:extLst>
          </p:cNvPr>
          <p:cNvSpPr/>
          <p:nvPr/>
        </p:nvSpPr>
        <p:spPr>
          <a:xfrm>
            <a:off x="8868444" y="5715000"/>
            <a:ext cx="1280160" cy="411480"/>
          </a:xfrm>
          <a:prstGeom prst="rect">
            <a:avLst/>
          </a:prstGeom>
          <a:solidFill>
            <a:srgbClr val="C7D6EE"/>
          </a:solidFill>
          <a:ln w="12700">
            <a:solidFill>
              <a:srgbClr val="909090"/>
            </a:solidFill>
            <a:prstDash val="solid"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Capability Directory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Pointer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9BC7707A-8380-DD26-80B1-ECA6BBEE2935}"/>
              </a:ext>
            </a:extLst>
          </p:cNvPr>
          <p:cNvSpPr/>
          <p:nvPr/>
        </p:nvSpPr>
        <p:spPr>
          <a:xfrm>
            <a:off x="7085364" y="5897880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0000_0000_0000_0000h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7070A729-3CFE-25CE-2F25-AA42079FDBB1}"/>
              </a:ext>
            </a:extLst>
          </p:cNvPr>
          <p:cNvSpPr/>
          <p:nvPr/>
        </p:nvSpPr>
        <p:spPr>
          <a:xfrm>
            <a:off x="741405" y="1280160"/>
            <a:ext cx="603504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Memory Access Protocol: read and write access to memory mapped structures and memory of a Management Element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64-bit address space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Address space associated with a Management Element: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355600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Local to that Management Element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355600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Shared across one or more Management Elements from a single chiplet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Management Entity may have some addresses that are local and some that are shared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Used for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Configuring UCIe management network (routing)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Configuring UCIe Access Control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Pct val="100000"/>
              <a:buFontTx/>
              <a:buChar char="▪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Downloading firmware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More features can be added to UCIe Memory Access Protocol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968186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48F5-4708-5945-47EC-EEDCF988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UCIe Test and Debug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FB935-B835-26B9-1A93-B7A2D5F69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706E99-936B-D60F-12F0-8FD4AD5AD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705" y="973392"/>
            <a:ext cx="5590243" cy="471068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A44556C-6B0B-5ED5-95BB-626E2C564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383" y="1756954"/>
            <a:ext cx="4669971" cy="1864975"/>
          </a:xfrm>
        </p:spPr>
        <p:txBody>
          <a:bodyPr>
            <a:noAutofit/>
          </a:bodyPr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/>
              <a:t>DFx Management Hub</a:t>
            </a:r>
          </a:p>
          <a:p>
            <a:pPr marL="182563" lvl="1" indent="-1333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150" dirty="0"/>
              <a:t>UCIe Management Element that interfaces one or more DFx Management Spokes to management fabric</a:t>
            </a:r>
          </a:p>
          <a:p>
            <a:pPr marL="0" indent="0">
              <a:lnSpc>
                <a:spcPts val="1700"/>
              </a:lnSpc>
              <a:spcBef>
                <a:spcPts val="600"/>
              </a:spcBef>
              <a:buNone/>
            </a:pPr>
            <a:r>
              <a:rPr lang="en-US" sz="1400" b="1" dirty="0"/>
              <a:t>DFx Management Spoke</a:t>
            </a:r>
          </a:p>
          <a:p>
            <a:pPr marL="182563" lvl="1" indent="-133350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sz="1150" dirty="0"/>
              <a:t>Implements chiplet test/debug functionality (e.g., Core debug, SoC debug/test, UCIe link debug)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3DC74E-4948-1005-2968-63080D392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681" y="4584749"/>
            <a:ext cx="3337148" cy="16312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196E27-543B-60D4-AD0E-88A38B15D158}"/>
              </a:ext>
            </a:extLst>
          </p:cNvPr>
          <p:cNvSpPr txBox="1"/>
          <p:nvPr/>
        </p:nvSpPr>
        <p:spPr>
          <a:xfrm>
            <a:off x="363654" y="4233599"/>
            <a:ext cx="4080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DAE2B">
                    <a:lumMod val="75000"/>
                  </a:srgb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UCIe Management Protocol Hierarchy</a:t>
            </a:r>
          </a:p>
        </p:txBody>
      </p:sp>
    </p:spTree>
    <p:extLst>
      <p:ext uri="{BB962C8B-B14F-4D97-AF65-F5344CB8AC3E}">
        <p14:creationId xmlns:p14="http://schemas.microsoft.com/office/powerpoint/2010/main" val="336318640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96005-78AC-7936-3CD9-1BD83D15F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568" y="355291"/>
            <a:ext cx="11058832" cy="618101"/>
          </a:xfrm>
        </p:spPr>
        <p:txBody>
          <a:bodyPr/>
          <a:lstStyle/>
          <a:p>
            <a:r>
              <a:rPr lang="en-US" dirty="0"/>
              <a:t>Fast Throttle and Emergency Shutdown</a:t>
            </a:r>
          </a:p>
        </p:txBody>
      </p:sp>
      <p:sp>
        <p:nvSpPr>
          <p:cNvPr id="5" name="Content Placeholder 100">
            <a:extLst>
              <a:ext uri="{FF2B5EF4-FFF2-40B4-BE49-F238E27FC236}">
                <a16:creationId xmlns:a16="http://schemas.microsoft.com/office/drawing/2014/main" id="{6E2A7A3A-FC54-56DB-20AE-729909E29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3848" y="1434285"/>
            <a:ext cx="6948616" cy="498475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Fast throttle</a:t>
            </a:r>
          </a:p>
          <a:p>
            <a:pPr lvl="1">
              <a:buFont typeface="Verdana" panose="020B0604030504040204" pitchFamily="34" charset="0"/>
              <a:buChar char="‒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Standardizes a common dedicated open drain bidirectional pin on chiplets </a:t>
            </a:r>
          </a:p>
          <a:p>
            <a:pPr lvl="1">
              <a:buFont typeface="Verdana" panose="020B0604030504040204" pitchFamily="34" charset="0"/>
              <a:buChar char="‒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Wires from all chiplets participating in a thermal zone are tied together</a:t>
            </a:r>
          </a:p>
          <a:p>
            <a:pPr lvl="1">
              <a:buFont typeface="Verdana" panose="020B0604030504040204" pitchFamily="34" charset="0"/>
              <a:buChar char="‒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Chiplet(s) assert the pin when the respective internal fail-safe temperature limit is hit</a:t>
            </a:r>
          </a:p>
          <a:p>
            <a:pPr lvl="1">
              <a:buFont typeface="Verdana" panose="020B0604030504040204" pitchFamily="34" charset="0"/>
              <a:buChar char="‒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When asserted, all participating chiplets throttle to the pre-negotiated level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Emergency Shutdown</a:t>
            </a:r>
          </a:p>
          <a:p>
            <a:pPr lvl="1">
              <a:buFont typeface="Verdana" panose="020B0604030504040204" pitchFamily="34" charset="0"/>
              <a:buChar char="‒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Standardizes a dedicated open drain bidirectional pin on chiplets and an off-package driver</a:t>
            </a:r>
          </a:p>
          <a:p>
            <a:pPr lvl="1">
              <a:buFont typeface="Verdana" panose="020B0604030504040204" pitchFamily="34" charset="0"/>
              <a:buChar char="‒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Wires from all chiplets participating in a thermal zone are tied together</a:t>
            </a:r>
          </a:p>
          <a:p>
            <a:pPr lvl="1">
              <a:buFont typeface="Verdana" panose="020B0604030504040204" pitchFamily="34" charset="0"/>
              <a:buChar char="‒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Chiplet(s) assert the pin when their max temp limit is hit.</a:t>
            </a:r>
          </a:p>
          <a:p>
            <a:pPr lvl="1">
              <a:buFont typeface="Verdana" panose="020B0604030504040204" pitchFamily="34" charset="0"/>
              <a:buChar char="‒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SiP exposes the shutdown to internal and external power source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DAE89-D611-BF77-A9F5-42126E157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3514" y="6527074"/>
            <a:ext cx="1286210" cy="327136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5CF23B8-18BE-485D-BC2C-61110F510EA1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6FB25CA-A591-0BA9-37F8-CED2A7157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08" y="1226683"/>
            <a:ext cx="4054678" cy="4636599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4B0C9218-4288-A8FD-7442-6E47A3972FC8}"/>
              </a:ext>
            </a:extLst>
          </p:cNvPr>
          <p:cNvSpPr txBox="1"/>
          <p:nvPr/>
        </p:nvSpPr>
        <p:spPr>
          <a:xfrm>
            <a:off x="523875" y="6137914"/>
            <a:ext cx="101353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A standard approach across chiplet vendors is necessary to ensure interoperability</a:t>
            </a:r>
          </a:p>
        </p:txBody>
      </p:sp>
    </p:spTree>
    <p:extLst>
      <p:ext uri="{BB962C8B-B14F-4D97-AF65-F5344CB8AC3E}">
        <p14:creationId xmlns:p14="http://schemas.microsoft.com/office/powerpoint/2010/main" val="1724836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UALink</a:t>
            </a:r>
            <a:r>
              <a:rPr lang="en-US" baseline="30000" dirty="0"/>
              <a:t>™</a:t>
            </a:r>
            <a:r>
              <a:rPr dirty="0"/>
              <a:t> Chiplet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Hot Interconnects Symposium  |  Rob Pelt, AMD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August 2026</a:t>
            </a:r>
            <a:endParaRPr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853BE-38A0-5358-30EA-98F11A2B0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DDDFE3"/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Introduction to UALink</a:t>
            </a:r>
          </a:p>
          <a:p>
            <a:r>
              <a:rPr dirty="0"/>
              <a:t>Architecture: splitting the UALink stack </a:t>
            </a:r>
            <a:r>
              <a:rPr lang="en-US" dirty="0"/>
              <a:t>across the chiplet boundary</a:t>
            </a:r>
            <a:endParaRPr dirty="0"/>
          </a:p>
          <a:p>
            <a:r>
              <a:rPr dirty="0"/>
              <a:t>Using UCIe</a:t>
            </a:r>
            <a:r>
              <a:rPr lang="en-US" baseline="30000" dirty="0"/>
              <a:t>®</a:t>
            </a:r>
            <a:r>
              <a:rPr dirty="0"/>
              <a:t> as the UALink transport</a:t>
            </a:r>
          </a:p>
          <a:p>
            <a:r>
              <a:rPr dirty="0"/>
              <a:t>Credit loops &amp; flow control</a:t>
            </a:r>
          </a:p>
          <a:p>
            <a:r>
              <a:rPr dirty="0"/>
              <a:t>Form factors, management, RAS</a:t>
            </a:r>
          </a:p>
          <a:p>
            <a:r>
              <a:rPr dirty="0"/>
              <a:t>Interop, roadmap, and how to engage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&amp; Objectives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A10232BB-5F25-CAD3-4E5B-993E09F3F7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14C4AC24-F729-D0F0-1FEA-77A0978F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5719AD7-92FB-9F1A-98C7-5D5CA2D69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Open industry standard for accelerator-to-accelerator interconnect</a:t>
            </a:r>
          </a:p>
          <a:p>
            <a:r>
              <a:rPr dirty="0"/>
              <a:t>Memory-semantic: load/store and memory operations, not just messaging</a:t>
            </a:r>
          </a:p>
          <a:p>
            <a:r>
              <a:rPr dirty="0"/>
              <a:t>High bandwidth, low latency - built for AI/HPC scale-up</a:t>
            </a:r>
          </a:p>
          <a:p>
            <a:r>
              <a:rPr dirty="0"/>
              <a:t>Governed by the UALink Consortium</a:t>
            </a:r>
            <a:r>
              <a:rPr lang="en-US" dirty="0"/>
              <a:t>: </a:t>
            </a:r>
            <a:r>
              <a:rPr lang="en-US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ualinkconsortium.org</a:t>
            </a:r>
            <a:endParaRPr u="sng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</a:t>
            </a:r>
            <a:r>
              <a:rPr lang="en-US" dirty="0"/>
              <a:t>i</a:t>
            </a:r>
            <a:r>
              <a:rPr dirty="0"/>
              <a:t>s UALink?</a:t>
            </a: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10276689-9F67-0589-9E77-BF39EC3E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2AEA9FE-CF98-9F94-9737-575E7121D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DDA50C08-81C4-0014-2E47-F9930C8C8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Scale-up: a tightly-coupled pod of accelerators sharing memory semantics</a:t>
            </a:r>
          </a:p>
          <a:p>
            <a:pPr lvl="1"/>
            <a:r>
              <a:t>This is UALink's domain</a:t>
            </a:r>
          </a:p>
          <a:p>
            <a:r>
              <a:t>Scale-out: many nodes connected over a network (Ethernet / UEC)</a:t>
            </a:r>
          </a:p>
          <a:p>
            <a:r>
              <a:t>UALink complements scale-out - it doesn't replace it</a:t>
            </a:r>
          </a:p>
          <a:p>
            <a:r>
              <a:t>An open alternative to proprietary scale-up links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Scale-Up vs. Scale-Out</a:t>
            </a: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D7D57742-1E75-3B4C-337F-EE4CBCC0AF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58C5067F-4C22-C490-62D5-73B764E2A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AA74AB5E-27D9-AC4F-EBB3-BB99C291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2034" y="1327210"/>
            <a:ext cx="4832302" cy="4679923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sz="2400" b="1" dirty="0"/>
              <a:t>Accelerators</a:t>
            </a:r>
            <a:r>
              <a:rPr sz="2400" dirty="0"/>
              <a:t> interconnect through UALink </a:t>
            </a:r>
            <a:r>
              <a:rPr sz="2400" b="1" dirty="0"/>
              <a:t>switches</a:t>
            </a:r>
          </a:p>
          <a:p>
            <a:pPr marL="0" indent="0">
              <a:buNone/>
            </a:pPr>
            <a:r>
              <a:rPr sz="2400" b="1" dirty="0"/>
              <a:t>Pod</a:t>
            </a:r>
            <a:r>
              <a:rPr sz="2400" dirty="0"/>
              <a:t> topology: </a:t>
            </a:r>
            <a:r>
              <a:rPr lang="en-US" sz="2400" dirty="0"/>
              <a:t>up to 1024 </a:t>
            </a:r>
            <a:r>
              <a:rPr sz="2400" dirty="0"/>
              <a:t> accelerators in one scale-up domain</a:t>
            </a:r>
          </a:p>
          <a:p>
            <a:pPr marL="0" indent="0">
              <a:buNone/>
            </a:pPr>
            <a:r>
              <a:rPr lang="en-US" sz="2400" b="1" dirty="0"/>
              <a:t>Station: </a:t>
            </a:r>
            <a:r>
              <a:rPr lang="en-US" sz="2400" dirty="0"/>
              <a:t>Up to 800Gbps per accelerate interface (multiple stations per accelerator possible)</a:t>
            </a:r>
          </a:p>
          <a:p>
            <a:pPr marL="0" indent="0">
              <a:buNone/>
            </a:pPr>
            <a:r>
              <a:rPr lang="en-US" sz="2400" b="1" dirty="0"/>
              <a:t>P</a:t>
            </a:r>
            <a:r>
              <a:rPr sz="2400" b="1" dirty="0"/>
              <a:t>ort</a:t>
            </a:r>
            <a:r>
              <a:rPr lang="en-US" sz="2400" b="1" dirty="0"/>
              <a:t>: </a:t>
            </a:r>
            <a:r>
              <a:rPr lang="en-US" sz="2400" dirty="0"/>
              <a:t>Links between accelerators and switches.</a:t>
            </a:r>
          </a:p>
          <a:p>
            <a:pPr marL="0" indent="0">
              <a:buNone/>
            </a:pPr>
            <a:r>
              <a:rPr lang="en-US" sz="2400" b="1" dirty="0"/>
              <a:t>Lane: </a:t>
            </a:r>
            <a:r>
              <a:rPr lang="en-US" sz="2400" dirty="0"/>
              <a:t>200G SERDES connection, up to 4 per </a:t>
            </a:r>
            <a:r>
              <a:rPr lang="en-US" sz="2400" b="1" dirty="0"/>
              <a:t>Port </a:t>
            </a:r>
            <a:endParaRPr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74632" y="358658"/>
            <a:ext cx="9574039" cy="781423"/>
          </a:xfrm>
        </p:spPr>
        <p:txBody>
          <a:bodyPr/>
          <a:lstStyle/>
          <a:p>
            <a:r>
              <a:rPr sz="3600" dirty="0"/>
              <a:t>System View: Accelerators + UALink Switches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8A582-A4E9-CE6B-75F5-5521E9526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716" y="1715357"/>
            <a:ext cx="7048419" cy="3617773"/>
          </a:xfrm>
          <a:prstGeom prst="rect">
            <a:avLst/>
          </a:prstGeom>
        </p:spPr>
      </p:pic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F29E4E0D-312A-1C62-CA1C-EEC3B8311A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6DAA1BC5-335B-04EB-4B31-89A78A86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E4621243-009C-9406-9AD6-3018A39E6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UALink Protocol Stack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1D6DF9-4C4D-385D-663A-8976CAF6B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90" y="1335593"/>
            <a:ext cx="10268883" cy="50389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C493FD-AF69-3FAA-F57A-83C6D1EF85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6136BD07-EBD6-634E-5622-5685D5E1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20414688-83CF-DB57-7033-4833EEB55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lang="en-US" b="1" u="sng" dirty="0">
                <a:hlinkClick r:id="rId3"/>
              </a:rPr>
              <a:t>Ultra Accelerator Link™ (UALink™) Common 2.0 Specification </a:t>
            </a:r>
            <a:endParaRPr lang="en-US" b="1" dirty="0"/>
          </a:p>
          <a:p>
            <a:r>
              <a:rPr lang="en-US" b="1" u="sng" dirty="0">
                <a:hlinkClick r:id="rId4"/>
              </a:rPr>
              <a:t>Ultra Accelerator Link™ (UALink™) 200G Data Link and Physical Layers 2.0 Specification</a:t>
            </a:r>
            <a:endParaRPr lang="en-US" b="1" u="sng" dirty="0"/>
          </a:p>
          <a:p>
            <a:r>
              <a:rPr lang="en-US" b="1" u="sng" dirty="0">
                <a:hlinkClick r:id="rId5"/>
              </a:rPr>
              <a:t>Ultra Accelerator Link™ (UALink™) 128G Data Link and Physical Layers 1.0 Specification</a:t>
            </a:r>
            <a:endParaRPr lang="en-US" b="1" dirty="0"/>
          </a:p>
          <a:p>
            <a:r>
              <a:rPr lang="en-US" b="1" dirty="0">
                <a:hlinkClick r:id="rId6"/>
              </a:rPr>
              <a:t>Ultra Accelerator Link™ (UALink™) Manageability 1.0 Specification</a:t>
            </a:r>
          </a:p>
          <a:p>
            <a:r>
              <a:rPr lang="en-US" b="1" u="sng" dirty="0">
                <a:solidFill>
                  <a:srgbClr val="00B05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Ultra Accelerator Link™ (UALink™) Chiplet 1.01 Specification </a:t>
            </a:r>
            <a:endParaRPr lang="en-US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74633" y="358658"/>
            <a:ext cx="9399682" cy="781423"/>
          </a:xfrm>
        </p:spPr>
        <p:txBody>
          <a:bodyPr/>
          <a:lstStyle/>
          <a:p>
            <a:r>
              <a:rPr lang="en-US" dirty="0"/>
              <a:t>UALink Specification Status</a:t>
            </a:r>
            <a:endParaRPr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F9271D0F-764B-B562-BAD4-A0800DCA1D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559E383-659E-AECD-2E78-211E4AF29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3F554EE9-8F35-67BA-36AE-0E40AA63F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Franklin Gothic Medium Cond" panose="020B0606030402020204" pitchFamily="34" charset="0"/>
              </a:rPr>
              <a:t>UALink Chiplet</a:t>
            </a:r>
            <a:endParaRPr b="0" dirty="0">
              <a:latin typeface="Franklin Gothic Medium Cond" panose="020B06060304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E95E3829-15D3-D090-FC7C-B52BD679DF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DE3F099F-4B10-7834-70D2-A43D5F1BB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24A79DCA-3B58-8F7A-4BEC-E2E7F399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6CC058-916F-7101-905A-BB756E90A19A}"/>
              </a:ext>
            </a:extLst>
          </p:cNvPr>
          <p:cNvSpPr/>
          <p:nvPr/>
        </p:nvSpPr>
        <p:spPr>
          <a:xfrm>
            <a:off x="1141171" y="3350362"/>
            <a:ext cx="2779776" cy="1375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4633" y="1357099"/>
            <a:ext cx="11259113" cy="1896901"/>
          </a:xfrm>
        </p:spPr>
        <p:txBody>
          <a:bodyPr wrap="square">
            <a:normAutofit/>
          </a:bodyPr>
          <a:lstStyle/>
          <a:p>
            <a:r>
              <a:rPr dirty="0"/>
              <a:t>Reuse one chiplet across many products</a:t>
            </a:r>
          </a:p>
          <a:p>
            <a:r>
              <a:rPr dirty="0"/>
              <a:t>Multi-vendor interoperability: mix a</a:t>
            </a:r>
            <a:r>
              <a:rPr lang="en-US" dirty="0"/>
              <a:t>n accelerator </a:t>
            </a:r>
            <a:r>
              <a:rPr dirty="0"/>
              <a:t>die with a chiplet from another vendor</a:t>
            </a:r>
          </a:p>
          <a:p>
            <a:r>
              <a:rPr dirty="0"/>
              <a:t>Faster integration; shared ecosystem investment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Value of a Standardized Chiplet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E21A5A-23FC-5421-EB1B-4BD746887EFD}"/>
              </a:ext>
            </a:extLst>
          </p:cNvPr>
          <p:cNvSpPr/>
          <p:nvPr/>
        </p:nvSpPr>
        <p:spPr>
          <a:xfrm>
            <a:off x="1207008" y="3429000"/>
            <a:ext cx="1587398" cy="1208837"/>
          </a:xfrm>
          <a:prstGeom prst="roundRect">
            <a:avLst/>
          </a:prstGeom>
          <a:gradFill>
            <a:gsLst>
              <a:gs pos="0">
                <a:schemeClr val="accent1"/>
              </a:gs>
              <a:gs pos="100000">
                <a:srgbClr val="14867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Accelerator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C48648-8E77-1FE2-BE57-2C3E907BF80A}"/>
              </a:ext>
            </a:extLst>
          </p:cNvPr>
          <p:cNvSpPr/>
          <p:nvPr/>
        </p:nvSpPr>
        <p:spPr>
          <a:xfrm>
            <a:off x="2794406" y="3616734"/>
            <a:ext cx="1031444" cy="74615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163672-D216-86B7-DB9A-E86B811E5079}"/>
              </a:ext>
            </a:extLst>
          </p:cNvPr>
          <p:cNvSpPr/>
          <p:nvPr/>
        </p:nvSpPr>
        <p:spPr>
          <a:xfrm>
            <a:off x="1141171" y="4942637"/>
            <a:ext cx="2779776" cy="1375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F324F4-56CB-2CE3-AA4D-F8FF8B909B2B}"/>
              </a:ext>
            </a:extLst>
          </p:cNvPr>
          <p:cNvSpPr/>
          <p:nvPr/>
        </p:nvSpPr>
        <p:spPr>
          <a:xfrm>
            <a:off x="1207008" y="5021275"/>
            <a:ext cx="1587398" cy="1208837"/>
          </a:xfrm>
          <a:prstGeom prst="roundRect">
            <a:avLst/>
          </a:prstGeom>
          <a:gradFill>
            <a:gsLst>
              <a:gs pos="0">
                <a:schemeClr val="accent1"/>
              </a:gs>
              <a:gs pos="100000">
                <a:srgbClr val="14867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Accelerator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F90BC54-D295-B700-C3AE-8690FF2E5698}"/>
              </a:ext>
            </a:extLst>
          </p:cNvPr>
          <p:cNvSpPr/>
          <p:nvPr/>
        </p:nvSpPr>
        <p:spPr>
          <a:xfrm>
            <a:off x="2794406" y="5209009"/>
            <a:ext cx="1031444" cy="74615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F6D295-300C-A1F6-898E-E0281B1E89BD}"/>
              </a:ext>
            </a:extLst>
          </p:cNvPr>
          <p:cNvSpPr/>
          <p:nvPr/>
        </p:nvSpPr>
        <p:spPr>
          <a:xfrm>
            <a:off x="5652212" y="3729230"/>
            <a:ext cx="3616145" cy="1375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66B651C-A763-3DA4-FFC0-936AA9AEC408}"/>
              </a:ext>
            </a:extLst>
          </p:cNvPr>
          <p:cNvSpPr/>
          <p:nvPr/>
        </p:nvSpPr>
        <p:spPr>
          <a:xfrm>
            <a:off x="6683657" y="3812438"/>
            <a:ext cx="1587398" cy="1208837"/>
          </a:xfrm>
          <a:prstGeom prst="roundRect">
            <a:avLst/>
          </a:prstGeom>
          <a:gradFill>
            <a:gsLst>
              <a:gs pos="0">
                <a:schemeClr val="accent1"/>
              </a:gs>
              <a:gs pos="100000">
                <a:srgbClr val="14867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Switch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EAA3B76-A0FA-7838-A20B-EC9AD056E0A3}"/>
              </a:ext>
            </a:extLst>
          </p:cNvPr>
          <p:cNvSpPr/>
          <p:nvPr/>
        </p:nvSpPr>
        <p:spPr>
          <a:xfrm>
            <a:off x="5652213" y="4043782"/>
            <a:ext cx="1031444" cy="74615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95D9E61-A262-A9AA-63C6-DB2533909D70}"/>
              </a:ext>
            </a:extLst>
          </p:cNvPr>
          <p:cNvCxnSpPr>
            <a:stCxn id="9" idx="3"/>
            <a:endCxn id="15" idx="1"/>
          </p:cNvCxnSpPr>
          <p:nvPr/>
        </p:nvCxnSpPr>
        <p:spPr>
          <a:xfrm>
            <a:off x="3920947" y="4037991"/>
            <a:ext cx="1731266" cy="378867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60D2ACF-0085-F4FC-9569-92D045A3106F}"/>
              </a:ext>
            </a:extLst>
          </p:cNvPr>
          <p:cNvCxnSpPr>
            <a:stCxn id="10" idx="3"/>
          </p:cNvCxnSpPr>
          <p:nvPr/>
        </p:nvCxnSpPr>
        <p:spPr>
          <a:xfrm flipV="1">
            <a:off x="3920947" y="4586630"/>
            <a:ext cx="1731266" cy="1043636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13ED75F-74D2-1382-67E5-F430F3CAA972}"/>
              </a:ext>
            </a:extLst>
          </p:cNvPr>
          <p:cNvSpPr/>
          <p:nvPr/>
        </p:nvSpPr>
        <p:spPr>
          <a:xfrm>
            <a:off x="8253984" y="4043780"/>
            <a:ext cx="1031444" cy="74615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8D1773A-F821-E6D3-B05F-88566B9A5C2D}"/>
              </a:ext>
            </a:extLst>
          </p:cNvPr>
          <p:cNvCxnSpPr/>
          <p:nvPr/>
        </p:nvCxnSpPr>
        <p:spPr>
          <a:xfrm flipH="1">
            <a:off x="9285428" y="3547872"/>
            <a:ext cx="890015" cy="679552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B0940CA-BEA9-EAAF-DAEF-21E5E1A7C2D0}"/>
              </a:ext>
            </a:extLst>
          </p:cNvPr>
          <p:cNvCxnSpPr/>
          <p:nvPr/>
        </p:nvCxnSpPr>
        <p:spPr>
          <a:xfrm flipH="1" flipV="1">
            <a:off x="9285428" y="4586630"/>
            <a:ext cx="1285036" cy="356007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845BB513-B718-8918-A35A-DDB4BCE7DC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4B413ACB-8FBB-5008-984A-3E1E8269D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CD5CD70-E179-3A5F-E795-968591128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203E698-8CFC-CB63-78A2-68CC6DAA8A01}"/>
              </a:ext>
            </a:extLst>
          </p:cNvPr>
          <p:cNvSpPr/>
          <p:nvPr/>
        </p:nvSpPr>
        <p:spPr>
          <a:xfrm>
            <a:off x="797356" y="4966355"/>
            <a:ext cx="4345232" cy="11741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9486" y="1371599"/>
            <a:ext cx="11259113" cy="1496543"/>
          </a:xfrm>
        </p:spPr>
        <p:txBody>
          <a:bodyPr wrap="square">
            <a:normAutofit lnSpcReduction="10000"/>
          </a:bodyPr>
          <a:lstStyle/>
          <a:p>
            <a:r>
              <a:rPr dirty="0"/>
              <a:t>Put DL/PL + SerDes on a process node optimized for I/O</a:t>
            </a:r>
          </a:p>
          <a:p>
            <a:r>
              <a:rPr lang="en-US" dirty="0"/>
              <a:t>Same I/O die for multiple accelerator generations</a:t>
            </a:r>
            <a:endParaRPr dirty="0"/>
          </a:p>
          <a:p>
            <a:r>
              <a:rPr dirty="0"/>
              <a:t>Improve yield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74632" y="358658"/>
            <a:ext cx="9632561" cy="781423"/>
          </a:xfrm>
        </p:spPr>
        <p:txBody>
          <a:bodyPr/>
          <a:lstStyle/>
          <a:p>
            <a:r>
              <a:rPr dirty="0"/>
              <a:t>Why Disaggregate UALink onto a Chiplet?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BF14ED-750A-A46B-2E33-3C4CE31C6CE6}"/>
              </a:ext>
            </a:extLst>
          </p:cNvPr>
          <p:cNvSpPr/>
          <p:nvPr/>
        </p:nvSpPr>
        <p:spPr>
          <a:xfrm>
            <a:off x="797356" y="2933979"/>
            <a:ext cx="4345232" cy="19920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196E41-883B-1E61-CE18-8C3F72DD4B75}"/>
              </a:ext>
            </a:extLst>
          </p:cNvPr>
          <p:cNvSpPr/>
          <p:nvPr/>
        </p:nvSpPr>
        <p:spPr>
          <a:xfrm>
            <a:off x="2333547" y="3119673"/>
            <a:ext cx="2648103" cy="746151"/>
          </a:xfrm>
          <a:prstGeom prst="roundRect">
            <a:avLst/>
          </a:prstGeom>
          <a:gradFill>
            <a:gsLst>
              <a:gs pos="0">
                <a:schemeClr val="accent1"/>
              </a:gs>
              <a:gs pos="100000">
                <a:srgbClr val="14867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Accelerator Compute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D80741C-C4E2-859D-5E47-2988F6628732}"/>
              </a:ext>
            </a:extLst>
          </p:cNvPr>
          <p:cNvSpPr/>
          <p:nvPr/>
        </p:nvSpPr>
        <p:spPr>
          <a:xfrm>
            <a:off x="2378754" y="3890516"/>
            <a:ext cx="2602895" cy="36456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UPLI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D2F700-71F4-460A-F79C-E115766F8F2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05" b="12463"/>
          <a:stretch>
            <a:fillRect/>
          </a:stretch>
        </p:blipFill>
        <p:spPr>
          <a:xfrm>
            <a:off x="6029042" y="3184740"/>
            <a:ext cx="5876393" cy="290150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64AA13A-C008-42FE-9F04-3538C7CC0DA8}"/>
              </a:ext>
            </a:extLst>
          </p:cNvPr>
          <p:cNvSpPr/>
          <p:nvPr/>
        </p:nvSpPr>
        <p:spPr>
          <a:xfrm>
            <a:off x="2378754" y="4295290"/>
            <a:ext cx="2602895" cy="36456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TL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C7B62E-3DBB-6949-EBA5-A89642E8EFE7}"/>
              </a:ext>
            </a:extLst>
          </p:cNvPr>
          <p:cNvSpPr/>
          <p:nvPr/>
        </p:nvSpPr>
        <p:spPr>
          <a:xfrm>
            <a:off x="2378754" y="4721954"/>
            <a:ext cx="2602895" cy="36456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UCIe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AAD691-2CD2-FDDA-827C-AB7E0AF6FD75}"/>
              </a:ext>
            </a:extLst>
          </p:cNvPr>
          <p:cNvSpPr/>
          <p:nvPr/>
        </p:nvSpPr>
        <p:spPr>
          <a:xfrm>
            <a:off x="2378753" y="5194273"/>
            <a:ext cx="2602895" cy="36456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DL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1092C3-B0DA-58EE-F2B7-C6A35258E739}"/>
              </a:ext>
            </a:extLst>
          </p:cNvPr>
          <p:cNvSpPr/>
          <p:nvPr/>
        </p:nvSpPr>
        <p:spPr>
          <a:xfrm>
            <a:off x="2378753" y="5599145"/>
            <a:ext cx="2602895" cy="36456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PL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BFD02E-7235-93CD-8F7D-8122B45FCD5A}"/>
              </a:ext>
            </a:extLst>
          </p:cNvPr>
          <p:cNvSpPr txBox="1"/>
          <p:nvPr/>
        </p:nvSpPr>
        <p:spPr>
          <a:xfrm>
            <a:off x="797356" y="3755322"/>
            <a:ext cx="1522853" cy="301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Accelerator Die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E9AE53-7C39-A4E0-F6F2-4F56E9BA9530}"/>
              </a:ext>
            </a:extLst>
          </p:cNvPr>
          <p:cNvSpPr txBox="1"/>
          <p:nvPr/>
        </p:nvSpPr>
        <p:spPr>
          <a:xfrm>
            <a:off x="797356" y="5376554"/>
            <a:ext cx="1460721" cy="301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F5C6E4-A988-5174-7A63-2A4760473818}"/>
              </a:ext>
            </a:extLst>
          </p:cNvPr>
          <p:cNvCxnSpPr>
            <a:cxnSpLocks/>
          </p:cNvCxnSpPr>
          <p:nvPr/>
        </p:nvCxnSpPr>
        <p:spPr>
          <a:xfrm>
            <a:off x="5325466" y="4842041"/>
            <a:ext cx="6686092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Arrow: Left 21">
            <a:extLst>
              <a:ext uri="{FF2B5EF4-FFF2-40B4-BE49-F238E27FC236}">
                <a16:creationId xmlns:a16="http://schemas.microsoft.com/office/drawing/2014/main" id="{9AAC4359-037B-A560-9F4D-49D0E192447D}"/>
              </a:ext>
            </a:extLst>
          </p:cNvPr>
          <p:cNvSpPr/>
          <p:nvPr/>
        </p:nvSpPr>
        <p:spPr>
          <a:xfrm>
            <a:off x="5259629" y="4056943"/>
            <a:ext cx="658368" cy="238347"/>
          </a:xfrm>
          <a:prstGeom prst="leftArrow">
            <a:avLst/>
          </a:prstGeom>
          <a:gradFill>
            <a:gsLst>
              <a:gs pos="0">
                <a:schemeClr val="accent1"/>
              </a:gs>
              <a:gs pos="100000">
                <a:srgbClr val="14867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8BE9055A-AD52-4C84-EAEB-FBBCFDF48598}"/>
              </a:ext>
            </a:extLst>
          </p:cNvPr>
          <p:cNvSpPr/>
          <p:nvPr/>
        </p:nvSpPr>
        <p:spPr>
          <a:xfrm>
            <a:off x="5263264" y="5289017"/>
            <a:ext cx="658368" cy="238347"/>
          </a:xfrm>
          <a:prstGeom prst="leftArrow">
            <a:avLst/>
          </a:prstGeom>
          <a:gradFill>
            <a:gsLst>
              <a:gs pos="0">
                <a:schemeClr val="accent1"/>
              </a:gs>
              <a:gs pos="100000">
                <a:srgbClr val="14867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60DA1906-EDF0-64D5-FB52-D263DA5EFC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4309B77C-AFA9-C8F4-3B2B-E884406D0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22FE6181-C304-31C7-A59D-16EF2A09E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9486" y="1371599"/>
            <a:ext cx="11259113" cy="1078401"/>
          </a:xfrm>
        </p:spPr>
        <p:txBody>
          <a:bodyPr wrap="square"/>
          <a:lstStyle/>
          <a:p>
            <a:r>
              <a:rPr lang="en-US" dirty="0"/>
              <a:t>Chiplets add power, area, and latency to a UALink implementation</a:t>
            </a:r>
          </a:p>
          <a:p>
            <a:r>
              <a:rPr lang="en-US" dirty="0"/>
              <a:t>UALink chiplet is 2.5D integration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</a:t>
            </a:r>
            <a:r>
              <a:rPr lang="en-US" dirty="0"/>
              <a:t>Chiplet </a:t>
            </a:r>
            <a:r>
              <a:rPr dirty="0"/>
              <a:t>Trade-Off</a:t>
            </a:r>
          </a:p>
        </p:txBody>
      </p:sp>
      <p:graphicFrame>
        <p:nvGraphicFramePr>
          <p:cNvPr id="4" name="Chiplet Trade-Off Table"/>
          <p:cNvGraphicFramePr>
            <a:graphicFrameLocks noGrp="1"/>
          </p:cNvGraphicFramePr>
          <p:nvPr/>
        </p:nvGraphicFramePr>
        <p:xfrm>
          <a:off x="2411269" y="2793062"/>
          <a:ext cx="6770053" cy="25600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83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000">
                <a:tc>
                  <a:txBody>
                    <a:bodyPr/>
                    <a:lstStyle/>
                    <a:p>
                      <a:r>
                        <a:rPr lang="en-US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UCIe Targets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Additional for UALink Chiplet*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lang="en-US" b="1"/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0.3 – 0.75 </a:t>
                      </a:r>
                      <a:r>
                        <a:rPr lang="en-US" err="1"/>
                        <a:t>pJ</a:t>
                      </a:r>
                      <a:r>
                        <a:rPr lang="en-US"/>
                        <a:t>/b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 – 15W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lang="en-US" b="1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145 – 950 GB/s/mm</a:t>
                      </a:r>
                      <a:r>
                        <a:rPr lang="en-US" baseline="30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 – 15 mm</a:t>
                      </a:r>
                      <a:r>
                        <a:rPr lang="en-US" baseline="3000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00">
                <a:tc>
                  <a:txBody>
                    <a:bodyPr/>
                    <a:lstStyle/>
                    <a:p>
                      <a:r>
                        <a:rPr lang="en-US" b="1"/>
                        <a:t>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2ns (does not include protocol adapter)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~12 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3887272-4AA3-C4D0-BB8E-113849AE295B}"/>
              </a:ext>
            </a:extLst>
          </p:cNvPr>
          <p:cNvSpPr txBox="1"/>
          <p:nvPr/>
        </p:nvSpPr>
        <p:spPr>
          <a:xfrm>
            <a:off x="7566166" y="5486401"/>
            <a:ext cx="3609386" cy="301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*Includes ranges for UCIe-S and UCIe-A</a:t>
            </a: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2175B3E9-735D-DA6C-40FC-CE986E3FFE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8E97731A-3E07-EFA7-56A8-BEDF1AF7E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4BD60F18-90F5-97D3-C05D-8F5C5DE6A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8765" y="1449055"/>
            <a:ext cx="11259113" cy="1787961"/>
          </a:xfrm>
        </p:spPr>
        <p:txBody>
          <a:bodyPr wrap="square">
            <a:normAutofit/>
          </a:bodyPr>
          <a:lstStyle/>
          <a:p>
            <a:r>
              <a:rPr lang="en-US" dirty="0"/>
              <a:t>Stack layers each have optimizations and bandwidth constraints</a:t>
            </a:r>
          </a:p>
          <a:p>
            <a:r>
              <a:rPr lang="en-US" dirty="0"/>
              <a:t>UPLI is a bus protocol</a:t>
            </a:r>
          </a:p>
          <a:p>
            <a:r>
              <a:rPr lang="en-US" dirty="0"/>
              <a:t>TL and DL are flit-based protocols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74633" y="358658"/>
            <a:ext cx="9366896" cy="781423"/>
          </a:xfrm>
        </p:spPr>
        <p:txBody>
          <a:bodyPr/>
          <a:lstStyle/>
          <a:p>
            <a:r>
              <a:rPr dirty="0"/>
              <a:t>Splitting the </a:t>
            </a:r>
            <a:r>
              <a:rPr lang="en-US" dirty="0"/>
              <a:t>UALink </a:t>
            </a:r>
            <a:r>
              <a:rPr dirty="0"/>
              <a:t>Stack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F01EA7-497E-4F6E-A081-13B22BE4FC63}"/>
              </a:ext>
            </a:extLst>
          </p:cNvPr>
          <p:cNvSpPr/>
          <p:nvPr/>
        </p:nvSpPr>
        <p:spPr>
          <a:xfrm>
            <a:off x="3623774" y="3430490"/>
            <a:ext cx="2648103" cy="458750"/>
          </a:xfrm>
          <a:prstGeom prst="roundRect">
            <a:avLst/>
          </a:prstGeom>
          <a:gradFill>
            <a:gsLst>
              <a:gs pos="0">
                <a:schemeClr val="accent1"/>
              </a:gs>
              <a:gs pos="100000">
                <a:srgbClr val="14867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Accelerator Compute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819BD5-65D6-0702-3A97-A6C4DC148290}"/>
              </a:ext>
            </a:extLst>
          </p:cNvPr>
          <p:cNvSpPr/>
          <p:nvPr/>
        </p:nvSpPr>
        <p:spPr>
          <a:xfrm>
            <a:off x="3654416" y="3970277"/>
            <a:ext cx="2602895" cy="36456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UPLI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5F570E-353C-6CD3-8178-FC20BE317A72}"/>
              </a:ext>
            </a:extLst>
          </p:cNvPr>
          <p:cNvSpPr/>
          <p:nvPr/>
        </p:nvSpPr>
        <p:spPr>
          <a:xfrm>
            <a:off x="3668982" y="4390469"/>
            <a:ext cx="2602895" cy="36456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TL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E666AB0-D7A9-0FF2-1721-F2B3A8BFF00E}"/>
              </a:ext>
            </a:extLst>
          </p:cNvPr>
          <p:cNvSpPr/>
          <p:nvPr/>
        </p:nvSpPr>
        <p:spPr>
          <a:xfrm>
            <a:off x="3668982" y="4821093"/>
            <a:ext cx="2602895" cy="36456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DL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FC6EBAA-F449-846D-B080-A0AB05330F24}"/>
              </a:ext>
            </a:extLst>
          </p:cNvPr>
          <p:cNvSpPr/>
          <p:nvPr/>
        </p:nvSpPr>
        <p:spPr>
          <a:xfrm>
            <a:off x="3668982" y="5225965"/>
            <a:ext cx="2602895" cy="36456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PL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8B341D-9654-CA5F-EFA5-B5C559628316}"/>
              </a:ext>
            </a:extLst>
          </p:cNvPr>
          <p:cNvSpPr txBox="1"/>
          <p:nvPr/>
        </p:nvSpPr>
        <p:spPr>
          <a:xfrm>
            <a:off x="6357053" y="3888503"/>
            <a:ext cx="366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2.6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Tbps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(1650 signals per clock)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88FD5E-F925-CA40-2A38-D969DCD7B092}"/>
              </a:ext>
            </a:extLst>
          </p:cNvPr>
          <p:cNvSpPr txBox="1"/>
          <p:nvPr/>
        </p:nvSpPr>
        <p:spPr>
          <a:xfrm>
            <a:off x="6317087" y="4394564"/>
            <a:ext cx="2152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800Gbps (64B flits)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42C078-C634-C95F-9DDE-1CC3A5731398}"/>
              </a:ext>
            </a:extLst>
          </p:cNvPr>
          <p:cNvSpPr txBox="1"/>
          <p:nvPr/>
        </p:nvSpPr>
        <p:spPr>
          <a:xfrm>
            <a:off x="6357053" y="5000990"/>
            <a:ext cx="2297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800Gbps (640B flits)</a:t>
            </a:r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57DDF814-C083-F533-CAB4-8EC668E3FD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47C533DA-E659-601D-045D-6767B40A1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657797C4-8B8E-03D8-7B35-B3D824734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2D6B5-73DB-AD72-B31C-028BD90E7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E0F511-C579-A352-0A86-F6E5C3A32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594" y="1267473"/>
            <a:ext cx="11259113" cy="1250064"/>
          </a:xfrm>
        </p:spPr>
        <p:txBody>
          <a:bodyPr wrap="square">
            <a:normAutofit lnSpcReduction="10000"/>
          </a:bodyPr>
          <a:lstStyle/>
          <a:p>
            <a:r>
              <a:rPr lang="en-US" dirty="0"/>
              <a:t>TL Layer creates flits that reduces UPLI data bandwidth by 2x</a:t>
            </a:r>
          </a:p>
          <a:p>
            <a:pPr lvl="1"/>
            <a:r>
              <a:rPr lang="en-US" dirty="0"/>
              <a:t>4x reduction in actual signal bandwidth </a:t>
            </a:r>
          </a:p>
          <a:p>
            <a:pPr lvl="1"/>
            <a:r>
              <a:rPr lang="en-US" dirty="0"/>
              <a:t>~3300 signals -&gt; 64B flits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97B6E-27E6-76F4-70A0-71D932341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33" y="358658"/>
            <a:ext cx="9366896" cy="781423"/>
          </a:xfrm>
        </p:spPr>
        <p:txBody>
          <a:bodyPr/>
          <a:lstStyle/>
          <a:p>
            <a:r>
              <a:rPr dirty="0"/>
              <a:t>Splitting the </a:t>
            </a:r>
            <a:r>
              <a:rPr lang="en-US" dirty="0"/>
              <a:t>UALink </a:t>
            </a:r>
            <a:r>
              <a:rPr dirty="0"/>
              <a:t>Stack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DE3163E-402F-B86C-5BE8-682CFD570DE7}"/>
              </a:ext>
            </a:extLst>
          </p:cNvPr>
          <p:cNvSpPr/>
          <p:nvPr/>
        </p:nvSpPr>
        <p:spPr bwMode="auto">
          <a:xfrm>
            <a:off x="3249172" y="2569576"/>
            <a:ext cx="2101304" cy="34517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B0503020102020204"/>
                <a:ea typeface="Segoe UI" pitchFamily="34" charset="0"/>
                <a:cs typeface="Segoe UI" pitchFamily="34" charset="0"/>
              </a:rPr>
              <a:t>UPLI Completer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1DE5FBC-5C9A-8F01-0478-EC26332907D9}"/>
              </a:ext>
            </a:extLst>
          </p:cNvPr>
          <p:cNvSpPr/>
          <p:nvPr/>
        </p:nvSpPr>
        <p:spPr bwMode="auto">
          <a:xfrm>
            <a:off x="5593709" y="2569576"/>
            <a:ext cx="2101304" cy="34517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B0503020102020204"/>
                <a:ea typeface="Segoe UI" pitchFamily="34" charset="0"/>
                <a:cs typeface="Segoe UI" pitchFamily="34" charset="0"/>
              </a:rPr>
              <a:t>UPLI Originator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96DD2A0-1CA0-60F2-8DC0-C8C62DDFE1F1}"/>
              </a:ext>
            </a:extLst>
          </p:cNvPr>
          <p:cNvSpPr/>
          <p:nvPr/>
        </p:nvSpPr>
        <p:spPr bwMode="auto">
          <a:xfrm>
            <a:off x="3249172" y="4297646"/>
            <a:ext cx="4445840" cy="3451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B0503020102020204"/>
                <a:ea typeface="Segoe UI" pitchFamily="34" charset="0"/>
                <a:cs typeface="Segoe UI" pitchFamily="34" charset="0"/>
              </a:rPr>
              <a:t>TL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FB8C914-FB2B-60F8-E187-BA4DC66A7FC3}"/>
              </a:ext>
            </a:extLst>
          </p:cNvPr>
          <p:cNvSpPr/>
          <p:nvPr/>
        </p:nvSpPr>
        <p:spPr bwMode="auto">
          <a:xfrm>
            <a:off x="3249173" y="5431367"/>
            <a:ext cx="4445840" cy="3451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B0503020102020204"/>
                <a:ea typeface="Segoe UI" pitchFamily="34" charset="0"/>
                <a:cs typeface="Segoe UI" pitchFamily="34" charset="0"/>
              </a:rPr>
              <a:t>DL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F769167-4A48-986E-9C7E-E06BCF2FBA56}"/>
              </a:ext>
            </a:extLst>
          </p:cNvPr>
          <p:cNvSpPr/>
          <p:nvPr/>
        </p:nvSpPr>
        <p:spPr bwMode="auto">
          <a:xfrm>
            <a:off x="3249173" y="5917388"/>
            <a:ext cx="4445840" cy="34517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B0503020102020204"/>
                <a:ea typeface="Segoe UI" pitchFamily="34" charset="0"/>
                <a:cs typeface="Segoe UI" pitchFamily="34" charset="0"/>
              </a:rPr>
              <a:t>PHY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664A79-59B1-412D-7732-B958775DA00F}"/>
              </a:ext>
            </a:extLst>
          </p:cNvPr>
          <p:cNvCxnSpPr/>
          <p:nvPr/>
        </p:nvCxnSpPr>
        <p:spPr>
          <a:xfrm>
            <a:off x="4304096" y="2950790"/>
            <a:ext cx="0" cy="1346856"/>
          </a:xfrm>
          <a:prstGeom prst="straightConnector1">
            <a:avLst/>
          </a:prstGeom>
          <a:ln>
            <a:solidFill>
              <a:srgbClr val="00B0F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0BF1C8E-4C29-BBC2-BA4C-03C687BE9454}"/>
              </a:ext>
            </a:extLst>
          </p:cNvPr>
          <p:cNvCxnSpPr/>
          <p:nvPr/>
        </p:nvCxnSpPr>
        <p:spPr>
          <a:xfrm>
            <a:off x="6808536" y="2947922"/>
            <a:ext cx="0" cy="1346856"/>
          </a:xfrm>
          <a:prstGeom prst="straightConnector1">
            <a:avLst/>
          </a:prstGeom>
          <a:ln>
            <a:solidFill>
              <a:srgbClr val="00B0F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8BD11B7-AB1F-AB20-7BB3-C5CB2285C996}"/>
              </a:ext>
            </a:extLst>
          </p:cNvPr>
          <p:cNvSpPr txBox="1"/>
          <p:nvPr/>
        </p:nvSpPr>
        <p:spPr>
          <a:xfrm>
            <a:off x="4121216" y="3733110"/>
            <a:ext cx="41036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FE3"/>
              </a:buClr>
              <a:buSzPct val="6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64B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51A52C-E765-5C23-6070-DFB8A867A867}"/>
              </a:ext>
            </a:extLst>
          </p:cNvPr>
          <p:cNvSpPr txBox="1"/>
          <p:nvPr/>
        </p:nvSpPr>
        <p:spPr>
          <a:xfrm>
            <a:off x="6603351" y="3734827"/>
            <a:ext cx="41036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FE3"/>
              </a:buClr>
              <a:buSzPct val="6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64B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8BD2D2-F2FE-1B4A-C18C-B4931F6E2412}"/>
              </a:ext>
            </a:extLst>
          </p:cNvPr>
          <p:cNvCxnSpPr>
            <a:cxnSpLocks/>
          </p:cNvCxnSpPr>
          <p:nvPr/>
        </p:nvCxnSpPr>
        <p:spPr>
          <a:xfrm flipV="1">
            <a:off x="3734362" y="2944075"/>
            <a:ext cx="0" cy="1325221"/>
          </a:xfrm>
          <a:prstGeom prst="straightConnector1">
            <a:avLst/>
          </a:prstGeom>
          <a:ln>
            <a:solidFill>
              <a:srgbClr val="FF00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6FC3383-A484-6450-C9C4-2DD5F3F7B36F}"/>
              </a:ext>
            </a:extLst>
          </p:cNvPr>
          <p:cNvCxnSpPr>
            <a:cxnSpLocks/>
          </p:cNvCxnSpPr>
          <p:nvPr/>
        </p:nvCxnSpPr>
        <p:spPr>
          <a:xfrm flipV="1">
            <a:off x="6327189" y="2955871"/>
            <a:ext cx="0" cy="1325221"/>
          </a:xfrm>
          <a:prstGeom prst="straightConnector1">
            <a:avLst/>
          </a:prstGeom>
          <a:ln>
            <a:solidFill>
              <a:srgbClr val="FF00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03B26B0-F40F-A316-4760-86D8E1EF441D}"/>
              </a:ext>
            </a:extLst>
          </p:cNvPr>
          <p:cNvSpPr txBox="1"/>
          <p:nvPr/>
        </p:nvSpPr>
        <p:spPr>
          <a:xfrm>
            <a:off x="3529177" y="3139140"/>
            <a:ext cx="41036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FE3"/>
              </a:buClr>
              <a:buSzPct val="6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64B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587064-B51F-0AD0-64ED-137ABB707B86}"/>
              </a:ext>
            </a:extLst>
          </p:cNvPr>
          <p:cNvSpPr txBox="1"/>
          <p:nvPr/>
        </p:nvSpPr>
        <p:spPr>
          <a:xfrm>
            <a:off x="6141355" y="3118326"/>
            <a:ext cx="41036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FE3"/>
              </a:buClr>
              <a:buSzPct val="6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64B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7291345-20C9-1495-7F2B-27CD63726ECC}"/>
              </a:ext>
            </a:extLst>
          </p:cNvPr>
          <p:cNvSpPr/>
          <p:nvPr/>
        </p:nvSpPr>
        <p:spPr bwMode="auto">
          <a:xfrm>
            <a:off x="3249172" y="3073266"/>
            <a:ext cx="3556000" cy="388629"/>
          </a:xfrm>
          <a:prstGeom prst="ellipse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Franklin Gothic Book" panose="020B0503020102020204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AB50FB0-F7BD-AFE9-DBAE-7F9D96506DA6}"/>
              </a:ext>
            </a:extLst>
          </p:cNvPr>
          <p:cNvSpPr/>
          <p:nvPr/>
        </p:nvSpPr>
        <p:spPr bwMode="auto">
          <a:xfrm>
            <a:off x="3828607" y="3688358"/>
            <a:ext cx="3406649" cy="400352"/>
          </a:xfrm>
          <a:prstGeom prst="ellipse">
            <a:avLst/>
          </a:prstGeom>
          <a:noFill/>
          <a:ln>
            <a:solidFill>
              <a:srgbClr val="00B0F0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Franklin Gothic Book" panose="020B0503020102020204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069DC8F-D332-4359-D1F0-E4494C4DD9AB}"/>
              </a:ext>
            </a:extLst>
          </p:cNvPr>
          <p:cNvCxnSpPr>
            <a:cxnSpLocks/>
          </p:cNvCxnSpPr>
          <p:nvPr/>
        </p:nvCxnSpPr>
        <p:spPr>
          <a:xfrm flipV="1">
            <a:off x="4452106" y="4642816"/>
            <a:ext cx="0" cy="788551"/>
          </a:xfrm>
          <a:prstGeom prst="straightConnector1">
            <a:avLst/>
          </a:prstGeom>
          <a:ln>
            <a:solidFill>
              <a:srgbClr val="FF000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A5E62AC-81AE-3661-5726-06DFC68D44D3}"/>
              </a:ext>
            </a:extLst>
          </p:cNvPr>
          <p:cNvSpPr txBox="1"/>
          <p:nvPr/>
        </p:nvSpPr>
        <p:spPr>
          <a:xfrm>
            <a:off x="4246921" y="4883153"/>
            <a:ext cx="41036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FE3"/>
              </a:buClr>
              <a:buSzPct val="6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64B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1C02F6F-943C-6949-2282-15C52B650299}"/>
              </a:ext>
            </a:extLst>
          </p:cNvPr>
          <p:cNvCxnSpPr>
            <a:cxnSpLocks/>
          </p:cNvCxnSpPr>
          <p:nvPr/>
        </p:nvCxnSpPr>
        <p:spPr>
          <a:xfrm>
            <a:off x="6176633" y="4642816"/>
            <a:ext cx="0" cy="788551"/>
          </a:xfrm>
          <a:prstGeom prst="straightConnector1">
            <a:avLst/>
          </a:prstGeom>
          <a:ln>
            <a:solidFill>
              <a:srgbClr val="00B0F0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0694F1-2E1A-9B23-FF9D-71661284401B}"/>
              </a:ext>
            </a:extLst>
          </p:cNvPr>
          <p:cNvSpPr txBox="1"/>
          <p:nvPr/>
        </p:nvSpPr>
        <p:spPr>
          <a:xfrm>
            <a:off x="5971448" y="4842638"/>
            <a:ext cx="41036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FE3"/>
              </a:buClr>
              <a:buSzPct val="60000"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64B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7A93F2-BBBA-AD2C-C0F4-89BE8DAD31AE}"/>
              </a:ext>
            </a:extLst>
          </p:cNvPr>
          <p:cNvSpPr txBox="1"/>
          <p:nvPr/>
        </p:nvSpPr>
        <p:spPr>
          <a:xfrm>
            <a:off x="7139808" y="3098463"/>
            <a:ext cx="223533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FE3"/>
              </a:buClr>
              <a:buSzPct val="60000"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UPLI is 128B/clock in each direction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993C92-3502-4B90-1A84-AFEACC75A1EF}"/>
              </a:ext>
            </a:extLst>
          </p:cNvPr>
          <p:cNvSpPr txBox="1"/>
          <p:nvPr/>
        </p:nvSpPr>
        <p:spPr>
          <a:xfrm>
            <a:off x="6922397" y="4860086"/>
            <a:ext cx="300820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FE3"/>
              </a:buClr>
              <a:buSzPct val="60000"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TL is 64B/clock in each direction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D4C324-01E9-1DA8-87B5-29456DD09C18}"/>
              </a:ext>
            </a:extLst>
          </p:cNvPr>
          <p:cNvSpPr txBox="1"/>
          <p:nvPr/>
        </p:nvSpPr>
        <p:spPr>
          <a:xfrm rot="16200000">
            <a:off x="2738098" y="3617958"/>
            <a:ext cx="8530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FE3"/>
              </a:buClr>
              <a:buSzPct val="6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1600 Gbps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C0A7AF-9459-0CFF-9DC2-1867CD946812}"/>
              </a:ext>
            </a:extLst>
          </p:cNvPr>
          <p:cNvSpPr txBox="1"/>
          <p:nvPr/>
        </p:nvSpPr>
        <p:spPr>
          <a:xfrm rot="16200000">
            <a:off x="2680198" y="4998584"/>
            <a:ext cx="75341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DDFE3"/>
              </a:buClr>
              <a:buSzPct val="60000"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800 Gbps</a:t>
            </a: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7E5D2360-A087-0D82-E734-4CC96C6033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379973C-3DA8-B113-CAD3-55E9BDCF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CAF4DF6-C2DC-95B2-0D86-70369C944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  <p:extLst>
      <p:ext uri="{BB962C8B-B14F-4D97-AF65-F5344CB8AC3E}">
        <p14:creationId xmlns:p14="http://schemas.microsoft.com/office/powerpoint/2010/main" val="269223426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AAE1C-AF14-A084-F581-45D8A5DB0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68C6625-329B-E56B-AC51-060FEE895CCA}"/>
              </a:ext>
            </a:extLst>
          </p:cNvPr>
          <p:cNvSpPr/>
          <p:nvPr/>
        </p:nvSpPr>
        <p:spPr>
          <a:xfrm>
            <a:off x="1677176" y="4753151"/>
            <a:ext cx="4193560" cy="11691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7FC50C-38A4-2181-09CA-ED63406D550B}"/>
              </a:ext>
            </a:extLst>
          </p:cNvPr>
          <p:cNvSpPr/>
          <p:nvPr/>
        </p:nvSpPr>
        <p:spPr>
          <a:xfrm>
            <a:off x="1677174" y="2881959"/>
            <a:ext cx="4198059" cy="18170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D638DD-43FE-8DFA-A862-27EDD46F8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008" y="1408975"/>
            <a:ext cx="11259113" cy="1250064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en-US" dirty="0"/>
              <a:t>Keeping TL layer on Accelerator reduces UCIe bandwidth</a:t>
            </a:r>
          </a:p>
          <a:p>
            <a:pPr lvl="1"/>
            <a:r>
              <a:rPr lang="en-US" dirty="0"/>
              <a:t>Reduces power and area requirements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514154-59FF-8D21-21CF-DB6DF6F71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33" y="358658"/>
            <a:ext cx="9366896" cy="781423"/>
          </a:xfrm>
        </p:spPr>
        <p:txBody>
          <a:bodyPr/>
          <a:lstStyle/>
          <a:p>
            <a:r>
              <a:rPr dirty="0"/>
              <a:t>Splitting the </a:t>
            </a:r>
            <a:r>
              <a:rPr lang="en-US" dirty="0"/>
              <a:t>UALink </a:t>
            </a:r>
            <a:r>
              <a:rPr dirty="0"/>
              <a:t>Stack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BB8DCA-2190-E7B9-E527-E47D95AFC4EE}"/>
              </a:ext>
            </a:extLst>
          </p:cNvPr>
          <p:cNvSpPr/>
          <p:nvPr/>
        </p:nvSpPr>
        <p:spPr>
          <a:xfrm>
            <a:off x="3200028" y="2991377"/>
            <a:ext cx="2648103" cy="458750"/>
          </a:xfrm>
          <a:prstGeom prst="roundRect">
            <a:avLst/>
          </a:prstGeom>
          <a:gradFill>
            <a:gsLst>
              <a:gs pos="0">
                <a:schemeClr val="accent1"/>
              </a:gs>
              <a:gs pos="100000">
                <a:srgbClr val="14867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Accelerator Compute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E6A9BA-0CD6-D621-FE61-BACCDE228570}"/>
              </a:ext>
            </a:extLst>
          </p:cNvPr>
          <p:cNvSpPr/>
          <p:nvPr/>
        </p:nvSpPr>
        <p:spPr>
          <a:xfrm>
            <a:off x="3230670" y="3531164"/>
            <a:ext cx="2602895" cy="36456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UPLI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8EB992-4459-E1E7-CD46-EB2A894894DF}"/>
              </a:ext>
            </a:extLst>
          </p:cNvPr>
          <p:cNvSpPr/>
          <p:nvPr/>
        </p:nvSpPr>
        <p:spPr>
          <a:xfrm>
            <a:off x="3245236" y="4033130"/>
            <a:ext cx="2602895" cy="36456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TL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17A81BF-4FB3-AD8D-CA20-72C119B7F01C}"/>
              </a:ext>
            </a:extLst>
          </p:cNvPr>
          <p:cNvSpPr/>
          <p:nvPr/>
        </p:nvSpPr>
        <p:spPr>
          <a:xfrm>
            <a:off x="3245238" y="4551687"/>
            <a:ext cx="2602895" cy="364563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UCIe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2CD3CC-97FF-64A1-5863-506F3B4A88F7}"/>
              </a:ext>
            </a:extLst>
          </p:cNvPr>
          <p:cNvSpPr/>
          <p:nvPr/>
        </p:nvSpPr>
        <p:spPr>
          <a:xfrm>
            <a:off x="3245237" y="5024006"/>
            <a:ext cx="2602895" cy="36456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DL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889E22-3669-BA44-A34A-C228ED79098B}"/>
              </a:ext>
            </a:extLst>
          </p:cNvPr>
          <p:cNvSpPr/>
          <p:nvPr/>
        </p:nvSpPr>
        <p:spPr>
          <a:xfrm>
            <a:off x="3245237" y="5428878"/>
            <a:ext cx="2602895" cy="36456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PL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670399-7C97-1175-566A-F5E7126D7147}"/>
              </a:ext>
            </a:extLst>
          </p:cNvPr>
          <p:cNvSpPr txBox="1"/>
          <p:nvPr/>
        </p:nvSpPr>
        <p:spPr>
          <a:xfrm>
            <a:off x="5933306" y="3531164"/>
            <a:ext cx="3998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2.6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Tbps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(2x 1650 signals per clock)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FFDE29-4776-2150-470A-1FCE2727D466}"/>
              </a:ext>
            </a:extLst>
          </p:cNvPr>
          <p:cNvSpPr txBox="1"/>
          <p:nvPr/>
        </p:nvSpPr>
        <p:spPr>
          <a:xfrm>
            <a:off x="5893341" y="4037225"/>
            <a:ext cx="2152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800Gbps (64B flits)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C23815-C235-ED49-8387-0BBB0AF91D80}"/>
              </a:ext>
            </a:extLst>
          </p:cNvPr>
          <p:cNvSpPr txBox="1"/>
          <p:nvPr/>
        </p:nvSpPr>
        <p:spPr>
          <a:xfrm>
            <a:off x="5893339" y="5468360"/>
            <a:ext cx="2297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800Gbps (640B flits)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B11045-4205-C2CA-19C6-3223E7C6BB36}"/>
              </a:ext>
            </a:extLst>
          </p:cNvPr>
          <p:cNvSpPr txBox="1"/>
          <p:nvPr/>
        </p:nvSpPr>
        <p:spPr>
          <a:xfrm>
            <a:off x="1677175" y="3594106"/>
            <a:ext cx="1522853" cy="301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Accelerator Die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453ED9-36FB-C561-5E00-E8DF551CCEF9}"/>
              </a:ext>
            </a:extLst>
          </p:cNvPr>
          <p:cNvSpPr txBox="1"/>
          <p:nvPr/>
        </p:nvSpPr>
        <p:spPr>
          <a:xfrm>
            <a:off x="1677175" y="5215338"/>
            <a:ext cx="1460721" cy="301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FF18290-CCD2-32AD-D7E5-C68979462454}"/>
              </a:ext>
            </a:extLst>
          </p:cNvPr>
          <p:cNvSpPr txBox="1"/>
          <p:nvPr/>
        </p:nvSpPr>
        <p:spPr>
          <a:xfrm>
            <a:off x="5893339" y="4604841"/>
            <a:ext cx="2385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800Gbps (256B flits)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E2835BC3-0E38-9469-AA8E-6D0B24E4C6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01005452-DF12-56CB-9BD4-86097C003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1076CB26-6D9B-03F4-E510-BC25E7B8F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  <p:extLst>
      <p:ext uri="{BB962C8B-B14F-4D97-AF65-F5344CB8AC3E}">
        <p14:creationId xmlns:p14="http://schemas.microsoft.com/office/powerpoint/2010/main" val="162664463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 the UALink Chiplet . . .</a:t>
            </a:r>
            <a:endParaRPr dirty="0"/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5824" y="1151614"/>
            <a:ext cx="5499012" cy="498348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3251E6C-B274-367A-D50B-4EDEA3CFF63F}"/>
              </a:ext>
            </a:extLst>
          </p:cNvPr>
          <p:cNvCxnSpPr/>
          <p:nvPr/>
        </p:nvCxnSpPr>
        <p:spPr>
          <a:xfrm>
            <a:off x="2163337" y="1769327"/>
            <a:ext cx="1241502" cy="0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43C8F7-BC66-57E7-17B0-366C25F99AAF}"/>
              </a:ext>
            </a:extLst>
          </p:cNvPr>
          <p:cNvSpPr txBox="1"/>
          <p:nvPr/>
        </p:nvSpPr>
        <p:spPr>
          <a:xfrm>
            <a:off x="150530" y="1460771"/>
            <a:ext cx="2079713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Accelerator Native bus to UPLI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922D74-88FA-F15E-9FB9-0BD5156B2E38}"/>
              </a:ext>
            </a:extLst>
          </p:cNvPr>
          <p:cNvCxnSpPr>
            <a:cxnSpLocks/>
          </p:cNvCxnSpPr>
          <p:nvPr/>
        </p:nvCxnSpPr>
        <p:spPr>
          <a:xfrm>
            <a:off x="2981093" y="2345473"/>
            <a:ext cx="423746" cy="0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C134D21-E443-4482-B9A5-637089A83955}"/>
              </a:ext>
            </a:extLst>
          </p:cNvPr>
          <p:cNvSpPr txBox="1"/>
          <p:nvPr/>
        </p:nvSpPr>
        <p:spPr>
          <a:xfrm>
            <a:off x="986674" y="2207861"/>
            <a:ext cx="207971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Standard UALink TL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C8D6468-4FBF-7083-CFF3-410F720885F7}"/>
              </a:ext>
            </a:extLst>
          </p:cNvPr>
          <p:cNvCxnSpPr/>
          <p:nvPr/>
        </p:nvCxnSpPr>
        <p:spPr>
          <a:xfrm>
            <a:off x="2163337" y="2869580"/>
            <a:ext cx="1241502" cy="0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6CBC4D9-AD0E-106E-1330-2D2414F9F9E3}"/>
              </a:ext>
            </a:extLst>
          </p:cNvPr>
          <p:cNvSpPr txBox="1"/>
          <p:nvPr/>
        </p:nvSpPr>
        <p:spPr>
          <a:xfrm>
            <a:off x="150529" y="2673523"/>
            <a:ext cx="2079713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TL flits packing into UCIe format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67669A-C629-3599-53FE-D6FFA0BEDFEE}"/>
              </a:ext>
            </a:extLst>
          </p:cNvPr>
          <p:cNvCxnSpPr>
            <a:cxnSpLocks/>
          </p:cNvCxnSpPr>
          <p:nvPr/>
        </p:nvCxnSpPr>
        <p:spPr>
          <a:xfrm>
            <a:off x="2784088" y="3429000"/>
            <a:ext cx="620751" cy="0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E4FE9AD-40AB-CB17-C94B-50D4CA4D9BC3}"/>
              </a:ext>
            </a:extLst>
          </p:cNvPr>
          <p:cNvSpPr txBox="1"/>
          <p:nvPr/>
        </p:nvSpPr>
        <p:spPr>
          <a:xfrm>
            <a:off x="748524" y="3278189"/>
            <a:ext cx="2079713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UCIe Stack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8ADDE26-9D4D-734D-74A7-82CBE1468862}"/>
              </a:ext>
            </a:extLst>
          </p:cNvPr>
          <p:cNvCxnSpPr>
            <a:cxnSpLocks/>
          </p:cNvCxnSpPr>
          <p:nvPr/>
        </p:nvCxnSpPr>
        <p:spPr>
          <a:xfrm flipH="1">
            <a:off x="7597698" y="5120268"/>
            <a:ext cx="1650380" cy="0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22B21C9-DD0E-455C-D5DD-920D702267E5}"/>
              </a:ext>
            </a:extLst>
          </p:cNvPr>
          <p:cNvSpPr txBox="1"/>
          <p:nvPr/>
        </p:nvSpPr>
        <p:spPr>
          <a:xfrm>
            <a:off x="9121700" y="4969458"/>
            <a:ext cx="1471961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DL/PL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021954B-F00E-D62D-3294-E56C7466672D}"/>
              </a:ext>
            </a:extLst>
          </p:cNvPr>
          <p:cNvCxnSpPr>
            <a:cxnSpLocks/>
          </p:cNvCxnSpPr>
          <p:nvPr/>
        </p:nvCxnSpPr>
        <p:spPr>
          <a:xfrm flipH="1">
            <a:off x="7426716" y="4098073"/>
            <a:ext cx="1650380" cy="0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65554CA-15E6-F646-C0D1-A6E1ACB16240}"/>
              </a:ext>
            </a:extLst>
          </p:cNvPr>
          <p:cNvSpPr txBox="1"/>
          <p:nvPr/>
        </p:nvSpPr>
        <p:spPr>
          <a:xfrm>
            <a:off x="9026177" y="3960590"/>
            <a:ext cx="231832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Chiplet Management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2364378-6E6C-81AB-0CE6-9A9329B8D643}"/>
              </a:ext>
            </a:extLst>
          </p:cNvPr>
          <p:cNvSpPr/>
          <p:nvPr/>
        </p:nvSpPr>
        <p:spPr>
          <a:xfrm>
            <a:off x="6675864" y="2061052"/>
            <a:ext cx="2060125" cy="10337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9D1B39C-48F2-CD5F-BB71-1F397D1C0B2A}"/>
              </a:ext>
            </a:extLst>
          </p:cNvPr>
          <p:cNvCxnSpPr>
            <a:cxnSpLocks/>
          </p:cNvCxnSpPr>
          <p:nvPr/>
        </p:nvCxnSpPr>
        <p:spPr>
          <a:xfrm flipH="1">
            <a:off x="8735989" y="2578737"/>
            <a:ext cx="694754" cy="0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DA406BD-9706-9451-FCE4-9C5BA6937B57}"/>
              </a:ext>
            </a:extLst>
          </p:cNvPr>
          <p:cNvSpPr txBox="1"/>
          <p:nvPr/>
        </p:nvSpPr>
        <p:spPr>
          <a:xfrm>
            <a:off x="9430743" y="2427104"/>
            <a:ext cx="2318329" cy="301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SoC Management</a:t>
            </a: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1EF5ADEB-2067-1CCC-4E98-EFB6514B45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47C2515-DE55-9ABB-4C68-19BA7323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FA67AC0-A9AC-0E84-88D3-9B0D4724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9486" y="1371599"/>
            <a:ext cx="7748338" cy="4679923"/>
          </a:xfrm>
        </p:spPr>
        <p:txBody>
          <a:bodyPr wrap="square">
            <a:normAutofit/>
          </a:bodyPr>
          <a:lstStyle/>
          <a:p>
            <a:r>
              <a:rPr lang="en-US" dirty="0"/>
              <a:t>Two </a:t>
            </a:r>
            <a:r>
              <a:rPr lang="en-US" dirty="0" err="1"/>
              <a:t>UALlink</a:t>
            </a:r>
            <a:r>
              <a:rPr lang="en-US" dirty="0"/>
              <a:t> stations per UCIe x64 macro</a:t>
            </a:r>
          </a:p>
          <a:p>
            <a:r>
              <a:rPr lang="en-US" dirty="0"/>
              <a:t>Standard UALink TL creates 64B flits from UPLI</a:t>
            </a:r>
          </a:p>
          <a:p>
            <a:r>
              <a:rPr lang="en-US" dirty="0"/>
              <a:t>TL-&gt;UCIe ‘</a:t>
            </a:r>
            <a:r>
              <a:rPr lang="en-US" dirty="0" err="1"/>
              <a:t>flitererizer</a:t>
            </a:r>
            <a:r>
              <a:rPr lang="en-US" dirty="0"/>
              <a:t>’ packs TL flits into UCIe flits</a:t>
            </a:r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Data Path</a:t>
            </a:r>
            <a:r>
              <a:rPr lang="en-US" dirty="0"/>
              <a:t>s: Accelerator-&gt;UCIe</a:t>
            </a:r>
            <a:endParaRPr dirty="0"/>
          </a:p>
        </p:txBody>
      </p:sp>
      <p:pic>
        <p:nvPicPr>
          <p:cNvPr id="4" name="Picture 3" descr="architecture.png">
            <a:extLst>
              <a:ext uri="{FF2B5EF4-FFF2-40B4-BE49-F238E27FC236}">
                <a16:creationId xmlns:a16="http://schemas.microsoft.com/office/drawing/2014/main" id="{EF07AE86-AEE7-6B57-049A-78CF2A79F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034" y="3080393"/>
            <a:ext cx="3754243" cy="340228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00B53DF3-1D65-BA77-9047-B02B6A03E2CB}"/>
              </a:ext>
            </a:extLst>
          </p:cNvPr>
          <p:cNvSpPr/>
          <p:nvPr/>
        </p:nvSpPr>
        <p:spPr>
          <a:xfrm>
            <a:off x="3731942" y="3080394"/>
            <a:ext cx="1093680" cy="16692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F7FAAEDE-DBED-B6AB-91BD-74A72CD09C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7AA2B6FF-9025-9E7C-1FA5-69AEC9A3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D4686C5-18C3-D5C6-5790-6D629915C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3912A-3872-D174-D4A1-B5318B3C8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8A85A2-2A8B-A4F2-2B8A-4F15499D7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86" y="1371599"/>
            <a:ext cx="7748338" cy="4679923"/>
          </a:xfrm>
        </p:spPr>
        <p:txBody>
          <a:bodyPr wrap="square">
            <a:normAutofit/>
          </a:bodyPr>
          <a:lstStyle/>
          <a:p>
            <a:r>
              <a:rPr lang="en-US" dirty="0"/>
              <a:t>10 or 20 UALink stations per chiplet</a:t>
            </a:r>
          </a:p>
          <a:p>
            <a:pPr lvl="1"/>
            <a:r>
              <a:rPr lang="en-US" dirty="0"/>
              <a:t>8 or 16 </a:t>
            </a:r>
            <a:r>
              <a:rPr lang="en-US" dirty="0" err="1"/>
              <a:t>Tbps</a:t>
            </a:r>
            <a:r>
              <a:rPr lang="en-US" dirty="0"/>
              <a:t> per chiplet</a:t>
            </a:r>
          </a:p>
          <a:p>
            <a:r>
              <a:rPr lang="en-US" dirty="0"/>
              <a:t>5 or 10 UCIe x64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DC6883-FAAB-978D-0FA6-A838CAC0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Data Path</a:t>
            </a:r>
            <a:r>
              <a:rPr lang="en-US" dirty="0"/>
              <a:t>s: Scaling</a:t>
            </a:r>
            <a:endParaRPr dirty="0"/>
          </a:p>
        </p:txBody>
      </p:sp>
      <p:pic>
        <p:nvPicPr>
          <p:cNvPr id="4" name="Picture 3" descr="architecture.png">
            <a:extLst>
              <a:ext uri="{FF2B5EF4-FFF2-40B4-BE49-F238E27FC236}">
                <a16:creationId xmlns:a16="http://schemas.microsoft.com/office/drawing/2014/main" id="{9C28CA9B-4660-43AA-6F06-208EA9CB9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141" y="2649239"/>
            <a:ext cx="3754243" cy="340228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1FE1559-F124-06C7-4DB5-8AACAB69F673}"/>
              </a:ext>
            </a:extLst>
          </p:cNvPr>
          <p:cNvSpPr/>
          <p:nvPr/>
        </p:nvSpPr>
        <p:spPr>
          <a:xfrm>
            <a:off x="3070302" y="2780396"/>
            <a:ext cx="2981093" cy="16875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896B3C1-BBAF-B884-8C8B-6565DCAFB5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04C7709-F751-D86E-4F0C-C390207C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8A5EA6D-D78A-16F6-1B66-3C71730E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  <p:extLst>
      <p:ext uri="{BB962C8B-B14F-4D97-AF65-F5344CB8AC3E}">
        <p14:creationId xmlns:p14="http://schemas.microsoft.com/office/powerpoint/2010/main" val="5399888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3C65B-057B-F5CF-10AE-2CACD5021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57BDCA-627E-3E4E-FA99-328F8A99F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33" y="1298536"/>
            <a:ext cx="7748338" cy="1550021"/>
          </a:xfrm>
        </p:spPr>
        <p:txBody>
          <a:bodyPr wrap="square">
            <a:normAutofit/>
          </a:bodyPr>
          <a:lstStyle/>
          <a:p>
            <a:r>
              <a:rPr lang="en-US" dirty="0"/>
              <a:t>1:1 TL-&gt; DL</a:t>
            </a:r>
          </a:p>
          <a:p>
            <a:r>
              <a:rPr lang="en-US" dirty="0"/>
              <a:t>PL is 200G SERDES</a:t>
            </a:r>
          </a:p>
          <a:p>
            <a:r>
              <a:rPr lang="en-US" dirty="0"/>
              <a:t>40 or 80 SERDES per chiplet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51555AA-B1EF-731D-48D2-9A78CAE45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The Data Path</a:t>
            </a:r>
            <a:r>
              <a:rPr lang="en-US" dirty="0"/>
              <a:t>s: DL/PL</a:t>
            </a:r>
            <a:endParaRPr dirty="0"/>
          </a:p>
        </p:txBody>
      </p:sp>
      <p:pic>
        <p:nvPicPr>
          <p:cNvPr id="4" name="Picture 3" descr="architecture.png">
            <a:extLst>
              <a:ext uri="{FF2B5EF4-FFF2-40B4-BE49-F238E27FC236}">
                <a16:creationId xmlns:a16="http://schemas.microsoft.com/office/drawing/2014/main" id="{00704992-096B-AE15-88B6-43BD51A98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697" y="2862147"/>
            <a:ext cx="3754243" cy="340228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2E33690-26C3-2C6F-C05A-36F957CF52AC}"/>
              </a:ext>
            </a:extLst>
          </p:cNvPr>
          <p:cNvSpPr/>
          <p:nvPr/>
        </p:nvSpPr>
        <p:spPr>
          <a:xfrm>
            <a:off x="5991923" y="5084956"/>
            <a:ext cx="1791628" cy="11658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15188432-22F8-8F5F-1928-8F6440F61D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E5616BBB-8320-C42D-B5EC-82F588DE4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E109943-2346-FBEF-E89F-1904E2BBE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  <p:extLst>
      <p:ext uri="{BB962C8B-B14F-4D97-AF65-F5344CB8AC3E}">
        <p14:creationId xmlns:p14="http://schemas.microsoft.com/office/powerpoint/2010/main" val="70235152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D10752-225E-4196-379C-098F81999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774" y="4505417"/>
            <a:ext cx="11259113" cy="1478133"/>
          </a:xfrm>
        </p:spPr>
        <p:txBody>
          <a:bodyPr/>
          <a:lstStyle/>
          <a:p>
            <a:r>
              <a:rPr lang="en-US" dirty="0"/>
              <a:t>More information about form factors in later slides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F75833-2D77-607B-E28D-6ABD3A536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 Path: Summary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2F8C921-ED53-85A8-19F4-B58C39BFF27A}"/>
              </a:ext>
            </a:extLst>
          </p:cNvPr>
          <p:cNvGraphicFramePr>
            <a:graphicFrameLocks noGrp="1"/>
          </p:cNvGraphicFramePr>
          <p:nvPr/>
        </p:nvGraphicFramePr>
        <p:xfrm>
          <a:off x="1479783" y="1915565"/>
          <a:ext cx="7238437" cy="1584960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3408299">
                  <a:extLst>
                    <a:ext uri="{9D8B030D-6E8A-4147-A177-3AD203B41FA5}">
                      <a16:colId xmlns:a16="http://schemas.microsoft.com/office/drawing/2014/main" val="2574551801"/>
                    </a:ext>
                  </a:extLst>
                </a:gridCol>
                <a:gridCol w="1955181">
                  <a:extLst>
                    <a:ext uri="{9D8B030D-6E8A-4147-A177-3AD203B41FA5}">
                      <a16:colId xmlns:a16="http://schemas.microsoft.com/office/drawing/2014/main" val="2047626621"/>
                    </a:ext>
                  </a:extLst>
                </a:gridCol>
                <a:gridCol w="1874957">
                  <a:extLst>
                    <a:ext uri="{9D8B030D-6E8A-4147-A177-3AD203B41FA5}">
                      <a16:colId xmlns:a16="http://schemas.microsoft.com/office/drawing/2014/main" val="3982714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 </a:t>
                      </a:r>
                      <a:r>
                        <a:rPr lang="en-US" sz="2000" dirty="0" err="1"/>
                        <a:t>Tbps</a:t>
                      </a:r>
                      <a:r>
                        <a:rPr lang="en-US" sz="2000" dirty="0"/>
                        <a:t> Chiplet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16 </a:t>
                      </a:r>
                      <a:r>
                        <a:rPr lang="en-US" sz="2000" dirty="0" err="1"/>
                        <a:t>Tbps</a:t>
                      </a:r>
                      <a:r>
                        <a:rPr lang="en-US" sz="2000" dirty="0"/>
                        <a:t> Chiplet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43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Max UALink Stations (800G)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20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9950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UCIe x64 Macros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5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10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988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SERDES lanes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40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80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8430569"/>
                  </a:ext>
                </a:extLst>
              </a:tr>
            </a:tbl>
          </a:graphicData>
        </a:graphic>
      </p:graphicFrame>
      <p:sp>
        <p:nvSpPr>
          <p:cNvPr id="11" name="Date Placeholder 1">
            <a:extLst>
              <a:ext uri="{FF2B5EF4-FFF2-40B4-BE49-F238E27FC236}">
                <a16:creationId xmlns:a16="http://schemas.microsoft.com/office/drawing/2014/main" id="{28340347-9F16-697F-8D5D-AA6047648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C0BC5CB0-F4B3-C646-05F8-722153098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F86EDCCC-3276-B441-41A9-CC8CAB9A6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  <p:extLst>
      <p:ext uri="{BB962C8B-B14F-4D97-AF65-F5344CB8AC3E}">
        <p14:creationId xmlns:p14="http://schemas.microsoft.com/office/powerpoint/2010/main" val="13782418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B5BCF-931B-6F4B-46BD-2F027085A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584E3-87E1-9C8C-B3CD-4FE1F3E0B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Franklin Gothic Medium" panose="020B0603020102020204" pitchFamily="34" charset="0"/>
              </a:rPr>
              <a:t>UCIe for UALink Chiplet</a:t>
            </a:r>
            <a:endParaRPr b="0" dirty="0">
              <a:latin typeface="Franklin Gothic Medium" panose="020B0603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30F32-62E6-BE17-DD5B-AD9FF821C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525DA632-2F1D-1610-E1D2-2859839A5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3780B45-97D5-CC65-2D0B-FEFB2B1ED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43F6AC8-A300-CA2C-D649-FC84819F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  <p:extLst>
      <p:ext uri="{BB962C8B-B14F-4D97-AF65-F5344CB8AC3E}">
        <p14:creationId xmlns:p14="http://schemas.microsoft.com/office/powerpoint/2010/main" val="299595733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9486" y="1371599"/>
            <a:ext cx="5086914" cy="4679923"/>
          </a:xfrm>
        </p:spPr>
        <p:txBody>
          <a:bodyPr wrap="square">
            <a:normAutofit/>
          </a:bodyPr>
          <a:lstStyle/>
          <a:p>
            <a:r>
              <a:rPr lang="en-US" dirty="0"/>
              <a:t>UCIe Format 6 (latency optimize) flit chosen</a:t>
            </a:r>
          </a:p>
          <a:p>
            <a:pPr lvl="1"/>
            <a:r>
              <a:rPr lang="en-US" dirty="0"/>
              <a:t>Least overhead</a:t>
            </a:r>
          </a:p>
          <a:p>
            <a:pPr lvl="1"/>
            <a:r>
              <a:rPr lang="en-US" dirty="0"/>
              <a:t>Used by many other protocols</a:t>
            </a:r>
          </a:p>
          <a:p>
            <a:r>
              <a:rPr lang="en-US" dirty="0"/>
              <a:t>UALink UCIe flit format</a:t>
            </a:r>
          </a:p>
          <a:p>
            <a:pPr lvl="1"/>
            <a:r>
              <a:rPr lang="en-US" dirty="0"/>
              <a:t>4 Data slots</a:t>
            </a:r>
          </a:p>
          <a:p>
            <a:pPr lvl="1"/>
            <a:r>
              <a:rPr lang="en-US" dirty="0"/>
              <a:t>4B additional for out of band information</a:t>
            </a:r>
          </a:p>
          <a:p>
            <a:r>
              <a:rPr lang="en-US" dirty="0"/>
              <a:t>93% Efficiency for TL transport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0818" y="341971"/>
            <a:ext cx="9431006" cy="619690"/>
          </a:xfrm>
        </p:spPr>
        <p:txBody>
          <a:bodyPr/>
          <a:lstStyle/>
          <a:p>
            <a:r>
              <a:rPr sz="3200" dirty="0"/>
              <a:t>The Design Choice: UALink TL over UCIe Format 6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30D511-3838-3038-D835-D737B0F01163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4241903"/>
          <a:ext cx="5831560" cy="1092075"/>
        </p:xfrm>
        <a:graphic>
          <a:graphicData uri="http://schemas.openxmlformats.org/drawingml/2006/table">
            <a:tbl>
              <a:tblPr firstRow="1" firstCol="1" bandRow="1">
                <a:tableStyleId>{21E4AEA4-8DFA-4A89-87EB-49C32662AFE0}</a:tableStyleId>
              </a:tblPr>
              <a:tblGrid>
                <a:gridCol w="802887">
                  <a:extLst>
                    <a:ext uri="{9D8B030D-6E8A-4147-A177-3AD203B41FA5}">
                      <a16:colId xmlns:a16="http://schemas.microsoft.com/office/drawing/2014/main" val="666445756"/>
                    </a:ext>
                  </a:extLst>
                </a:gridCol>
                <a:gridCol w="399098">
                  <a:extLst>
                    <a:ext uri="{9D8B030D-6E8A-4147-A177-3AD203B41FA5}">
                      <a16:colId xmlns:a16="http://schemas.microsoft.com/office/drawing/2014/main" val="2310694139"/>
                    </a:ext>
                  </a:extLst>
                </a:gridCol>
                <a:gridCol w="445310">
                  <a:extLst>
                    <a:ext uri="{9D8B030D-6E8A-4147-A177-3AD203B41FA5}">
                      <a16:colId xmlns:a16="http://schemas.microsoft.com/office/drawing/2014/main" val="1794760007"/>
                    </a:ext>
                  </a:extLst>
                </a:gridCol>
                <a:gridCol w="432117">
                  <a:extLst>
                    <a:ext uri="{9D8B030D-6E8A-4147-A177-3AD203B41FA5}">
                      <a16:colId xmlns:a16="http://schemas.microsoft.com/office/drawing/2014/main" val="4245574663"/>
                    </a:ext>
                  </a:extLst>
                </a:gridCol>
                <a:gridCol w="368123">
                  <a:extLst>
                    <a:ext uri="{9D8B030D-6E8A-4147-A177-3AD203B41FA5}">
                      <a16:colId xmlns:a16="http://schemas.microsoft.com/office/drawing/2014/main" val="949600440"/>
                    </a:ext>
                  </a:extLst>
                </a:gridCol>
                <a:gridCol w="2027783">
                  <a:extLst>
                    <a:ext uri="{9D8B030D-6E8A-4147-A177-3AD203B41FA5}">
                      <a16:colId xmlns:a16="http://schemas.microsoft.com/office/drawing/2014/main" val="3388366"/>
                    </a:ext>
                  </a:extLst>
                </a:gridCol>
                <a:gridCol w="706244">
                  <a:extLst>
                    <a:ext uri="{9D8B030D-6E8A-4147-A177-3AD203B41FA5}">
                      <a16:colId xmlns:a16="http://schemas.microsoft.com/office/drawing/2014/main" val="1352612160"/>
                    </a:ext>
                  </a:extLst>
                </a:gridCol>
                <a:gridCol w="649998">
                  <a:extLst>
                    <a:ext uri="{9D8B030D-6E8A-4147-A177-3AD203B41FA5}">
                      <a16:colId xmlns:a16="http://schemas.microsoft.com/office/drawing/2014/main" val="3743240736"/>
                    </a:ext>
                  </a:extLst>
                </a:gridCol>
              </a:tblGrid>
              <a:tr h="8929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+0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+1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+2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+3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+62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+63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50519550"/>
                  </a:ext>
                </a:extLst>
              </a:tr>
              <a:tr h="1287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Byte 0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UH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UH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TL Data (60B)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LD B0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LD B1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8543087"/>
                  </a:ext>
                </a:extLst>
              </a:tr>
              <a:tr h="9353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Byte 64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TL Data (62B)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UCRC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>
                          <a:effectLst/>
                        </a:rPr>
                        <a:t>UCRC</a:t>
                      </a:r>
                      <a:endParaRPr lang="en-US" sz="14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9144131"/>
                  </a:ext>
                </a:extLst>
              </a:tr>
              <a:tr h="1741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Byte 128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TL Data (62B)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LD B2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LD B3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9977141"/>
                  </a:ext>
                </a:extLst>
              </a:tr>
              <a:tr h="20122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Byte 192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TL Data (62B)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UCRC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UCRC</a:t>
                      </a:r>
                      <a:endParaRPr lang="en-US" sz="14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072950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F31CB95-B8EA-696F-B65B-C80E83621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564" y="1263293"/>
            <a:ext cx="6451695" cy="2101503"/>
          </a:xfrm>
          <a:prstGeom prst="rect">
            <a:avLst/>
          </a:prstGeom>
        </p:spPr>
      </p:pic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5EFF8BF4-29EC-D954-3630-3ADC2256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0E52D08-A9CA-B6F2-F4EF-3A66B195D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72C4C7B-7529-4EE0-8FB1-260DA52E9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TL Flits carried by UCIe</a:t>
            </a:r>
            <a:endParaRPr dirty="0"/>
          </a:p>
        </p:txBody>
      </p:sp>
      <p:pic>
        <p:nvPicPr>
          <p:cNvPr id="3" name="Picture 2" descr="rota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066" y="1220868"/>
            <a:ext cx="4365119" cy="51342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0893" y="5933655"/>
            <a:ext cx="640511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Five successive 256B UCIe flits; colors = the 32B TL half-flits (TL0P0..TL1P3). H = header/overhead, U = unused.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61C173D-1497-9313-39A8-0A8B3E642BD5}"/>
              </a:ext>
            </a:extLst>
          </p:cNvPr>
          <p:cNvSpPr txBox="1">
            <a:spLocks/>
          </p:cNvSpPr>
          <p:nvPr/>
        </p:nvSpPr>
        <p:spPr>
          <a:xfrm>
            <a:off x="384917" y="1407619"/>
            <a:ext cx="5539790" cy="467992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4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0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3.7 TL flits per UCIe flit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Creates a rotating pattern of TL flit delivery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Pattern is fixed and known at any time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1684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1684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6450E9-311A-395F-724B-2C42FC524FFC}"/>
              </a:ext>
            </a:extLst>
          </p:cNvPr>
          <p:cNvSpPr/>
          <p:nvPr/>
        </p:nvSpPr>
        <p:spPr>
          <a:xfrm>
            <a:off x="7023684" y="1590907"/>
            <a:ext cx="5086914" cy="9813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C93B2-A113-6344-41E5-93427916C5D3}"/>
              </a:ext>
            </a:extLst>
          </p:cNvPr>
          <p:cNvSpPr txBox="1"/>
          <p:nvPr/>
        </p:nvSpPr>
        <p:spPr>
          <a:xfrm>
            <a:off x="11357369" y="1794724"/>
            <a:ext cx="888020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UCIe 256B Flit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25980B8-0447-367D-B865-B88B044CD4E9}"/>
              </a:ext>
            </a:extLst>
          </p:cNvPr>
          <p:cNvCxnSpPr>
            <a:cxnSpLocks/>
          </p:cNvCxnSpPr>
          <p:nvPr/>
        </p:nvCxnSpPr>
        <p:spPr>
          <a:xfrm flipV="1">
            <a:off x="6886006" y="2425805"/>
            <a:ext cx="1547631" cy="5164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0473EA-6E0C-9D58-7CFA-1D747D311481}"/>
              </a:ext>
            </a:extLst>
          </p:cNvPr>
          <p:cNvCxnSpPr>
            <a:cxnSpLocks/>
          </p:cNvCxnSpPr>
          <p:nvPr/>
        </p:nvCxnSpPr>
        <p:spPr>
          <a:xfrm flipV="1">
            <a:off x="6874904" y="2839753"/>
            <a:ext cx="933257" cy="1025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4A0AD4F-2E4C-9E40-A5CA-7335A51825A9}"/>
              </a:ext>
            </a:extLst>
          </p:cNvPr>
          <p:cNvSpPr txBox="1"/>
          <p:nvPr/>
        </p:nvSpPr>
        <p:spPr>
          <a:xfrm>
            <a:off x="5863195" y="2566771"/>
            <a:ext cx="1198080" cy="92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Carry-over of TL flit into next UCIe flit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F64C1FD4-37C8-3440-D3C2-08A35F4BE5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69B819D8-A875-963C-FE7E-F24AF2D2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B7CF2873-CBF2-BEA8-E35E-CDBB364E1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10000"/>
          </a:bodyPr>
          <a:lstStyle/>
          <a:p>
            <a:r>
              <a:rPr dirty="0"/>
              <a:t>238 usable TL bytes / 256 total = 92.97%</a:t>
            </a:r>
          </a:p>
          <a:p>
            <a:r>
              <a:rPr dirty="0"/>
              <a:t>The ~7% goes to: </a:t>
            </a:r>
            <a:r>
              <a:rPr lang="en-US" dirty="0"/>
              <a:t>UCIe</a:t>
            </a:r>
            <a:r>
              <a:rPr dirty="0"/>
              <a:t> header</a:t>
            </a:r>
            <a:r>
              <a:rPr lang="en-US" dirty="0"/>
              <a:t>s/CRC</a:t>
            </a:r>
            <a:r>
              <a:rPr dirty="0"/>
              <a:t>, </a:t>
            </a:r>
            <a:r>
              <a:rPr lang="en-US" dirty="0"/>
              <a:t>Per TL/Link info</a:t>
            </a:r>
          </a:p>
          <a:p>
            <a:r>
              <a:rPr lang="en-US" dirty="0"/>
              <a:t>UCIe speed requirement: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800G station, 10 stations</a:t>
            </a:r>
          </a:p>
          <a:p>
            <a:pPr lvl="1"/>
            <a:r>
              <a:rPr lang="en-US" dirty="0"/>
              <a:t>5 UCIe x64</a:t>
            </a:r>
          </a:p>
          <a:p>
            <a:pPr lvl="1"/>
            <a:r>
              <a:rPr lang="en-US" dirty="0"/>
              <a:t>93% efficiency</a:t>
            </a:r>
          </a:p>
          <a:p>
            <a:r>
              <a:rPr lang="en-US" dirty="0"/>
              <a:t>UCIe speed must be &gt; 26.9 GT/s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Efficiency: ~93%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26398B-8723-BFAD-CBAE-741CB5A26C6C}"/>
                  </a:ext>
                </a:extLst>
              </p:cNvPr>
              <p:cNvSpPr txBox="1"/>
              <p:nvPr/>
            </p:nvSpPr>
            <p:spPr>
              <a:xfrm>
                <a:off x="936702" y="2946573"/>
                <a:ext cx="7608849" cy="6674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𝑈𝐶𝐼𝑒</m:t>
                      </m:r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𝑆𝑝𝑒𝑒𝑑</m:t>
                      </m:r>
                      <m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𝑈𝑃𝐿𝐼</m:t>
                          </m:r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𝑠𝑡𝑎𝑡𝑖𝑜𝑛</m:t>
                          </m:r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𝑡𝑦𝑝𝑒</m:t>
                          </m:r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∗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𝑁𝑢𝑚𝑏𝑒𝑟</m:t>
                          </m:r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𝑜𝑓</m:t>
                          </m:r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𝑈𝑃𝐿𝐼</m:t>
                          </m:r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𝑠𝑡𝑎𝑡𝑖𝑜𝑛𝑠</m:t>
                          </m:r>
                        </m:num>
                        <m:den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64∗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𝑛𝑢𝑚𝑏𝑒𝑟</m:t>
                          </m:r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𝑜𝑓</m:t>
                          </m:r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𝑈𝐶𝐼𝑒</m:t>
                          </m:r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</m:t>
                          </m:r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64∗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𝑈𝐶𝐼𝑒</m:t>
                          </m:r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𝑓𝑙𝑖𝑡</m:t>
                          </m:r>
                          <m:r>
                            <a:rPr kumimoji="0" lang="en-US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𝑒𝑓𝑓𝑖𝑐𝑖𝑒𝑛𝑐𝑦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ranklin Gothic Book" panose="020B05030201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26398B-8723-BFAD-CBAE-741CB5A26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702" y="2946573"/>
                <a:ext cx="7608849" cy="6674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E1F23A12-73C8-8335-9EF5-B995D8A631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D90B68C1-7202-F6E5-EAF8-6323B9F3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15221A2C-69D7-7EE3-CC8E-6AEFFBA0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6443" y="1191997"/>
            <a:ext cx="11259113" cy="1616928"/>
          </a:xfrm>
        </p:spPr>
        <p:txBody>
          <a:bodyPr wrap="square"/>
          <a:lstStyle/>
          <a:p>
            <a:r>
              <a:rPr lang="en-US" dirty="0"/>
              <a:t>Adding UCIe into UALink path</a:t>
            </a:r>
          </a:p>
          <a:p>
            <a:pPr lvl="1"/>
            <a:r>
              <a:rPr lang="en-US" dirty="0"/>
              <a:t>UCIe replay for error mitigation</a:t>
            </a:r>
          </a:p>
          <a:p>
            <a:pPr lvl="1"/>
            <a:r>
              <a:rPr lang="en-US" dirty="0"/>
              <a:t>UCIe retrain to mitigate high error rates</a:t>
            </a:r>
          </a:p>
          <a:p>
            <a:endParaRPr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UCIe effects in the System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C41906-B621-E0FD-8DEB-C5B289EE76ED}"/>
              </a:ext>
            </a:extLst>
          </p:cNvPr>
          <p:cNvSpPr/>
          <p:nvPr/>
        </p:nvSpPr>
        <p:spPr>
          <a:xfrm>
            <a:off x="607692" y="3707620"/>
            <a:ext cx="3128317" cy="1375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087A55-8B74-7FA6-2F60-D4BA6C3BEF86}"/>
              </a:ext>
            </a:extLst>
          </p:cNvPr>
          <p:cNvSpPr/>
          <p:nvPr/>
        </p:nvSpPr>
        <p:spPr>
          <a:xfrm>
            <a:off x="806506" y="3801192"/>
            <a:ext cx="1587398" cy="1208837"/>
          </a:xfrm>
          <a:prstGeom prst="roundRect">
            <a:avLst/>
          </a:prstGeom>
          <a:gradFill>
            <a:gsLst>
              <a:gs pos="0">
                <a:schemeClr val="accent1"/>
              </a:gs>
              <a:gs pos="100000">
                <a:srgbClr val="14867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Accelerator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9BC0B46-DE42-E7D2-E636-51DFEFFEC8E3}"/>
              </a:ext>
            </a:extLst>
          </p:cNvPr>
          <p:cNvSpPr/>
          <p:nvPr/>
        </p:nvSpPr>
        <p:spPr>
          <a:xfrm>
            <a:off x="2636019" y="3978565"/>
            <a:ext cx="1031444" cy="74615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A073A3-74C5-6307-BFC0-0CED74D094DA}"/>
              </a:ext>
            </a:extLst>
          </p:cNvPr>
          <p:cNvSpPr/>
          <p:nvPr/>
        </p:nvSpPr>
        <p:spPr>
          <a:xfrm>
            <a:off x="5421688" y="4037087"/>
            <a:ext cx="3616145" cy="13752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06D3F93-D700-C3D1-86AC-30D0CD94385F}"/>
              </a:ext>
            </a:extLst>
          </p:cNvPr>
          <p:cNvSpPr/>
          <p:nvPr/>
        </p:nvSpPr>
        <p:spPr>
          <a:xfrm>
            <a:off x="6436062" y="4174269"/>
            <a:ext cx="1587398" cy="1208837"/>
          </a:xfrm>
          <a:prstGeom prst="roundRect">
            <a:avLst/>
          </a:prstGeom>
          <a:gradFill>
            <a:gsLst>
              <a:gs pos="0">
                <a:schemeClr val="accent1"/>
              </a:gs>
              <a:gs pos="100000">
                <a:srgbClr val="14867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Switch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C46B7A6-BADB-D2A9-4D06-8A84EF93CC54}"/>
              </a:ext>
            </a:extLst>
          </p:cNvPr>
          <p:cNvSpPr/>
          <p:nvPr/>
        </p:nvSpPr>
        <p:spPr>
          <a:xfrm>
            <a:off x="5404618" y="4405613"/>
            <a:ext cx="1031444" cy="74615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154B6F0-802A-9819-95C1-CE339F77B27B}"/>
              </a:ext>
            </a:extLst>
          </p:cNvPr>
          <p:cNvSpPr/>
          <p:nvPr/>
        </p:nvSpPr>
        <p:spPr>
          <a:xfrm>
            <a:off x="8006389" y="4405611"/>
            <a:ext cx="1031444" cy="74615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78FCD65-45C9-7E84-2B2E-D7A8F56815B1}"/>
              </a:ext>
            </a:extLst>
          </p:cNvPr>
          <p:cNvCxnSpPr/>
          <p:nvPr/>
        </p:nvCxnSpPr>
        <p:spPr>
          <a:xfrm flipH="1">
            <a:off x="9037833" y="3909703"/>
            <a:ext cx="890015" cy="679552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C8FCEA-95B8-9460-57DD-4A47D8C40DB0}"/>
              </a:ext>
            </a:extLst>
          </p:cNvPr>
          <p:cNvCxnSpPr/>
          <p:nvPr/>
        </p:nvCxnSpPr>
        <p:spPr>
          <a:xfrm flipH="1" flipV="1">
            <a:off x="9037833" y="4948461"/>
            <a:ext cx="1285036" cy="356007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D9EDE8A-647C-05EE-A9A6-6BE1333D6021}"/>
              </a:ext>
            </a:extLst>
          </p:cNvPr>
          <p:cNvSpPr/>
          <p:nvPr/>
        </p:nvSpPr>
        <p:spPr>
          <a:xfrm rot="16200000">
            <a:off x="2131252" y="4173395"/>
            <a:ext cx="796975" cy="382183"/>
          </a:xfrm>
          <a:prstGeom prst="rect">
            <a:avLst/>
          </a:prstGeom>
          <a:solidFill>
            <a:srgbClr val="FFD200"/>
          </a:solidFill>
          <a:ln>
            <a:solidFill>
              <a:srgbClr val="FFF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UCIe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B59D5C-003B-38BC-9568-2D25CE8BD357}"/>
              </a:ext>
            </a:extLst>
          </p:cNvPr>
          <p:cNvSpPr/>
          <p:nvPr/>
        </p:nvSpPr>
        <p:spPr>
          <a:xfrm rot="16200000">
            <a:off x="6131774" y="4594115"/>
            <a:ext cx="796975" cy="382183"/>
          </a:xfrm>
          <a:prstGeom prst="rect">
            <a:avLst/>
          </a:prstGeom>
          <a:solidFill>
            <a:srgbClr val="FFD200"/>
          </a:solidFill>
          <a:ln>
            <a:solidFill>
              <a:srgbClr val="FFF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UCIe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B64872-C8EE-816D-B643-97864838C40A}"/>
              </a:ext>
            </a:extLst>
          </p:cNvPr>
          <p:cNvSpPr/>
          <p:nvPr/>
        </p:nvSpPr>
        <p:spPr>
          <a:xfrm rot="16200000">
            <a:off x="7530773" y="4571882"/>
            <a:ext cx="796975" cy="382183"/>
          </a:xfrm>
          <a:prstGeom prst="rect">
            <a:avLst/>
          </a:prstGeom>
          <a:solidFill>
            <a:srgbClr val="FFD200"/>
          </a:solidFill>
          <a:ln>
            <a:solidFill>
              <a:srgbClr val="FFF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UCIe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A7035D2-CF1A-D7F1-53B0-5CE7A5CA3CC9}"/>
              </a:ext>
            </a:extLst>
          </p:cNvPr>
          <p:cNvCxnSpPr>
            <a:cxnSpLocks/>
            <a:endCxn id="22" idx="3"/>
          </p:cNvCxnSpPr>
          <p:nvPr/>
        </p:nvCxnSpPr>
        <p:spPr>
          <a:xfrm>
            <a:off x="2529740" y="3483398"/>
            <a:ext cx="0" cy="482601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26106E6-F62F-4405-EAB3-B0BB86061E6A}"/>
              </a:ext>
            </a:extLst>
          </p:cNvPr>
          <p:cNvSpPr txBox="1"/>
          <p:nvPr/>
        </p:nvSpPr>
        <p:spPr>
          <a:xfrm>
            <a:off x="1832757" y="2808925"/>
            <a:ext cx="1776147" cy="72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Replay causes backpressure to accelerator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B8815D3-2992-0859-9FBA-B233A367DFF4}"/>
              </a:ext>
            </a:extLst>
          </p:cNvPr>
          <p:cNvCxnSpPr>
            <a:cxnSpLocks/>
          </p:cNvCxnSpPr>
          <p:nvPr/>
        </p:nvCxnSpPr>
        <p:spPr>
          <a:xfrm>
            <a:off x="6530261" y="3529122"/>
            <a:ext cx="0" cy="822518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0C27CE0-77B2-321A-174B-3EB1801CD7A9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6530261" y="5183694"/>
            <a:ext cx="1" cy="511377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480FFED-AC43-CB8E-B6EE-9613B2DE4150}"/>
              </a:ext>
            </a:extLst>
          </p:cNvPr>
          <p:cNvSpPr txBox="1"/>
          <p:nvPr/>
        </p:nvSpPr>
        <p:spPr>
          <a:xfrm>
            <a:off x="5342006" y="3052022"/>
            <a:ext cx="3963457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No backpressure for UALink across cable. Must buffer for UCIe replay events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D72622-F590-E37A-EE64-1FBF0AED4797}"/>
              </a:ext>
            </a:extLst>
          </p:cNvPr>
          <p:cNvSpPr txBox="1"/>
          <p:nvPr/>
        </p:nvSpPr>
        <p:spPr>
          <a:xfrm>
            <a:off x="4200293" y="5010029"/>
            <a:ext cx="840295" cy="301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Cabling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CE87055-FF66-A670-8940-95AA9859E56E}"/>
              </a:ext>
            </a:extLst>
          </p:cNvPr>
          <p:cNvSpPr/>
          <p:nvPr/>
        </p:nvSpPr>
        <p:spPr>
          <a:xfrm>
            <a:off x="3665034" y="4251434"/>
            <a:ext cx="1754459" cy="624468"/>
          </a:xfrm>
          <a:custGeom>
            <a:avLst/>
            <a:gdLst>
              <a:gd name="csX0" fmla="*/ 0 w 1754459"/>
              <a:gd name="csY0" fmla="*/ 89209 h 624468"/>
              <a:gd name="csX1" fmla="*/ 156117 w 1754459"/>
              <a:gd name="csY1" fmla="*/ 37170 h 624468"/>
              <a:gd name="csX2" fmla="*/ 223025 w 1754459"/>
              <a:gd name="csY2" fmla="*/ 29736 h 624468"/>
              <a:gd name="csX3" fmla="*/ 371708 w 1754459"/>
              <a:gd name="csY3" fmla="*/ 44605 h 624468"/>
              <a:gd name="csX4" fmla="*/ 438615 w 1754459"/>
              <a:gd name="csY4" fmla="*/ 74341 h 624468"/>
              <a:gd name="csX5" fmla="*/ 587298 w 1754459"/>
              <a:gd name="csY5" fmla="*/ 170985 h 624468"/>
              <a:gd name="csX6" fmla="*/ 602166 w 1754459"/>
              <a:gd name="csY6" fmla="*/ 200722 h 624468"/>
              <a:gd name="csX7" fmla="*/ 617035 w 1754459"/>
              <a:gd name="csY7" fmla="*/ 223024 h 624468"/>
              <a:gd name="csX8" fmla="*/ 594732 w 1754459"/>
              <a:gd name="csY8" fmla="*/ 349405 h 624468"/>
              <a:gd name="csX9" fmla="*/ 572430 w 1754459"/>
              <a:gd name="csY9" fmla="*/ 379141 h 624468"/>
              <a:gd name="csX10" fmla="*/ 475786 w 1754459"/>
              <a:gd name="csY10" fmla="*/ 446048 h 624468"/>
              <a:gd name="csX11" fmla="*/ 416313 w 1754459"/>
              <a:gd name="csY11" fmla="*/ 460917 h 624468"/>
              <a:gd name="csX12" fmla="*/ 349405 w 1754459"/>
              <a:gd name="csY12" fmla="*/ 431180 h 624468"/>
              <a:gd name="csX13" fmla="*/ 327103 w 1754459"/>
              <a:gd name="csY13" fmla="*/ 401444 h 624468"/>
              <a:gd name="csX14" fmla="*/ 289932 w 1754459"/>
              <a:gd name="csY14" fmla="*/ 267629 h 624468"/>
              <a:gd name="csX15" fmla="*/ 312235 w 1754459"/>
              <a:gd name="csY15" fmla="*/ 170985 h 624468"/>
              <a:gd name="csX16" fmla="*/ 341971 w 1754459"/>
              <a:gd name="csY16" fmla="*/ 126380 h 624468"/>
              <a:gd name="csX17" fmla="*/ 416313 w 1754459"/>
              <a:gd name="csY17" fmla="*/ 52039 h 624468"/>
              <a:gd name="csX18" fmla="*/ 602166 w 1754459"/>
              <a:gd name="csY18" fmla="*/ 14868 h 624468"/>
              <a:gd name="csX19" fmla="*/ 669074 w 1754459"/>
              <a:gd name="csY19" fmla="*/ 0 h 624468"/>
              <a:gd name="csX20" fmla="*/ 713678 w 1754459"/>
              <a:gd name="csY20" fmla="*/ 14868 h 624468"/>
              <a:gd name="csX21" fmla="*/ 788020 w 1754459"/>
              <a:gd name="csY21" fmla="*/ 29736 h 624468"/>
              <a:gd name="csX22" fmla="*/ 869795 w 1754459"/>
              <a:gd name="csY22" fmla="*/ 111512 h 624468"/>
              <a:gd name="csX23" fmla="*/ 921835 w 1754459"/>
              <a:gd name="csY23" fmla="*/ 141248 h 624468"/>
              <a:gd name="csX24" fmla="*/ 966439 w 1754459"/>
              <a:gd name="csY24" fmla="*/ 170985 h 624468"/>
              <a:gd name="csX25" fmla="*/ 1040781 w 1754459"/>
              <a:gd name="csY25" fmla="*/ 297366 h 624468"/>
              <a:gd name="csX26" fmla="*/ 1077952 w 1754459"/>
              <a:gd name="csY26" fmla="*/ 379141 h 624468"/>
              <a:gd name="csX27" fmla="*/ 1085386 w 1754459"/>
              <a:gd name="csY27" fmla="*/ 408878 h 624468"/>
              <a:gd name="csX28" fmla="*/ 1033347 w 1754459"/>
              <a:gd name="csY28" fmla="*/ 535258 h 624468"/>
              <a:gd name="csX29" fmla="*/ 981308 w 1754459"/>
              <a:gd name="csY29" fmla="*/ 572429 h 624468"/>
              <a:gd name="csX30" fmla="*/ 869795 w 1754459"/>
              <a:gd name="csY30" fmla="*/ 624468 h 624468"/>
              <a:gd name="csX31" fmla="*/ 817756 w 1754459"/>
              <a:gd name="csY31" fmla="*/ 594731 h 624468"/>
              <a:gd name="csX32" fmla="*/ 802888 w 1754459"/>
              <a:gd name="csY32" fmla="*/ 535258 h 624468"/>
              <a:gd name="csX33" fmla="*/ 765717 w 1754459"/>
              <a:gd name="csY33" fmla="*/ 408878 h 624468"/>
              <a:gd name="csX34" fmla="*/ 773152 w 1754459"/>
              <a:gd name="csY34" fmla="*/ 319668 h 624468"/>
              <a:gd name="csX35" fmla="*/ 854927 w 1754459"/>
              <a:gd name="csY35" fmla="*/ 223024 h 624468"/>
              <a:gd name="csX36" fmla="*/ 914400 w 1754459"/>
              <a:gd name="csY36" fmla="*/ 200722 h 624468"/>
              <a:gd name="csX37" fmla="*/ 966439 w 1754459"/>
              <a:gd name="csY37" fmla="*/ 170985 h 624468"/>
              <a:gd name="csX38" fmla="*/ 1048215 w 1754459"/>
              <a:gd name="csY38" fmla="*/ 156117 h 624468"/>
              <a:gd name="csX39" fmla="*/ 1226635 w 1754459"/>
              <a:gd name="csY39" fmla="*/ 163551 h 624468"/>
              <a:gd name="csX40" fmla="*/ 1271239 w 1754459"/>
              <a:gd name="csY40" fmla="*/ 193287 h 624468"/>
              <a:gd name="csX41" fmla="*/ 1345581 w 1754459"/>
              <a:gd name="csY41" fmla="*/ 237892 h 624468"/>
              <a:gd name="csX42" fmla="*/ 1434791 w 1754459"/>
              <a:gd name="csY42" fmla="*/ 341970 h 624468"/>
              <a:gd name="csX43" fmla="*/ 1516566 w 1754459"/>
              <a:gd name="csY43" fmla="*/ 408878 h 624468"/>
              <a:gd name="csX44" fmla="*/ 1605776 w 1754459"/>
              <a:gd name="csY44" fmla="*/ 438614 h 624468"/>
              <a:gd name="csX45" fmla="*/ 1709854 w 1754459"/>
              <a:gd name="csY45" fmla="*/ 460917 h 624468"/>
              <a:gd name="csX46" fmla="*/ 1754459 w 1754459"/>
              <a:gd name="csY46" fmla="*/ 468351 h 624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</a:cxnLst>
            <a:rect l="l" t="t" r="r" b="b"/>
            <a:pathLst>
              <a:path w="1754459" h="624468">
                <a:moveTo>
                  <a:pt x="0" y="89209"/>
                </a:moveTo>
                <a:cubicBezTo>
                  <a:pt x="39174" y="74964"/>
                  <a:pt x="113681" y="46104"/>
                  <a:pt x="156117" y="37170"/>
                </a:cubicBezTo>
                <a:cubicBezTo>
                  <a:pt x="178076" y="32547"/>
                  <a:pt x="200722" y="32214"/>
                  <a:pt x="223025" y="29736"/>
                </a:cubicBezTo>
                <a:cubicBezTo>
                  <a:pt x="272586" y="34692"/>
                  <a:pt x="322933" y="34514"/>
                  <a:pt x="371708" y="44605"/>
                </a:cubicBezTo>
                <a:cubicBezTo>
                  <a:pt x="395608" y="49550"/>
                  <a:pt x="417155" y="62717"/>
                  <a:pt x="438615" y="74341"/>
                </a:cubicBezTo>
                <a:cubicBezTo>
                  <a:pt x="535481" y="126810"/>
                  <a:pt x="526620" y="122442"/>
                  <a:pt x="587298" y="170985"/>
                </a:cubicBezTo>
                <a:cubicBezTo>
                  <a:pt x="592254" y="180897"/>
                  <a:pt x="596668" y="191100"/>
                  <a:pt x="602166" y="200722"/>
                </a:cubicBezTo>
                <a:cubicBezTo>
                  <a:pt x="606599" y="208480"/>
                  <a:pt x="617481" y="214100"/>
                  <a:pt x="617035" y="223024"/>
                </a:cubicBezTo>
                <a:cubicBezTo>
                  <a:pt x="614899" y="265749"/>
                  <a:pt x="606484" y="308273"/>
                  <a:pt x="594732" y="349405"/>
                </a:cubicBezTo>
                <a:cubicBezTo>
                  <a:pt x="591328" y="361318"/>
                  <a:pt x="581598" y="370807"/>
                  <a:pt x="572430" y="379141"/>
                </a:cubicBezTo>
                <a:cubicBezTo>
                  <a:pt x="564089" y="386723"/>
                  <a:pt x="497651" y="437638"/>
                  <a:pt x="475786" y="446048"/>
                </a:cubicBezTo>
                <a:cubicBezTo>
                  <a:pt x="456714" y="453384"/>
                  <a:pt x="436137" y="455961"/>
                  <a:pt x="416313" y="460917"/>
                </a:cubicBezTo>
                <a:cubicBezTo>
                  <a:pt x="394010" y="451005"/>
                  <a:pt x="369712" y="444718"/>
                  <a:pt x="349405" y="431180"/>
                </a:cubicBezTo>
                <a:cubicBezTo>
                  <a:pt x="339096" y="424307"/>
                  <a:pt x="331594" y="412992"/>
                  <a:pt x="327103" y="401444"/>
                </a:cubicBezTo>
                <a:cubicBezTo>
                  <a:pt x="315710" y="372147"/>
                  <a:pt x="300127" y="308411"/>
                  <a:pt x="289932" y="267629"/>
                </a:cubicBezTo>
                <a:cubicBezTo>
                  <a:pt x="297366" y="235414"/>
                  <a:pt x="300806" y="202008"/>
                  <a:pt x="312235" y="170985"/>
                </a:cubicBezTo>
                <a:cubicBezTo>
                  <a:pt x="318413" y="154217"/>
                  <a:pt x="330204" y="139828"/>
                  <a:pt x="341971" y="126380"/>
                </a:cubicBezTo>
                <a:cubicBezTo>
                  <a:pt x="365048" y="100006"/>
                  <a:pt x="382451" y="61069"/>
                  <a:pt x="416313" y="52039"/>
                </a:cubicBezTo>
                <a:cubicBezTo>
                  <a:pt x="551888" y="15885"/>
                  <a:pt x="489546" y="26130"/>
                  <a:pt x="602166" y="14868"/>
                </a:cubicBezTo>
                <a:cubicBezTo>
                  <a:pt x="624469" y="9912"/>
                  <a:pt x="646227" y="0"/>
                  <a:pt x="669074" y="0"/>
                </a:cubicBezTo>
                <a:cubicBezTo>
                  <a:pt x="684746" y="0"/>
                  <a:pt x="698474" y="11067"/>
                  <a:pt x="713678" y="14868"/>
                </a:cubicBezTo>
                <a:cubicBezTo>
                  <a:pt x="738195" y="20997"/>
                  <a:pt x="763239" y="24780"/>
                  <a:pt x="788020" y="29736"/>
                </a:cubicBezTo>
                <a:cubicBezTo>
                  <a:pt x="892774" y="82114"/>
                  <a:pt x="768632" y="10351"/>
                  <a:pt x="869795" y="111512"/>
                </a:cubicBezTo>
                <a:cubicBezTo>
                  <a:pt x="883922" y="125639"/>
                  <a:pt x="904820" y="130777"/>
                  <a:pt x="921835" y="141248"/>
                </a:cubicBezTo>
                <a:cubicBezTo>
                  <a:pt x="937054" y="150613"/>
                  <a:pt x="951571" y="161073"/>
                  <a:pt x="966439" y="170985"/>
                </a:cubicBezTo>
                <a:cubicBezTo>
                  <a:pt x="991220" y="213112"/>
                  <a:pt x="1018923" y="253651"/>
                  <a:pt x="1040781" y="297366"/>
                </a:cubicBezTo>
                <a:cubicBezTo>
                  <a:pt x="1100162" y="416129"/>
                  <a:pt x="1016590" y="297329"/>
                  <a:pt x="1077952" y="379141"/>
                </a:cubicBezTo>
                <a:cubicBezTo>
                  <a:pt x="1080430" y="389053"/>
                  <a:pt x="1086831" y="398763"/>
                  <a:pt x="1085386" y="408878"/>
                </a:cubicBezTo>
                <a:cubicBezTo>
                  <a:pt x="1080893" y="440326"/>
                  <a:pt x="1057732" y="508656"/>
                  <a:pt x="1033347" y="535258"/>
                </a:cubicBezTo>
                <a:cubicBezTo>
                  <a:pt x="1018943" y="550972"/>
                  <a:pt x="999682" y="561621"/>
                  <a:pt x="981308" y="572429"/>
                </a:cubicBezTo>
                <a:cubicBezTo>
                  <a:pt x="935471" y="599392"/>
                  <a:pt x="913211" y="607102"/>
                  <a:pt x="869795" y="624468"/>
                </a:cubicBezTo>
                <a:cubicBezTo>
                  <a:pt x="852449" y="614556"/>
                  <a:pt x="829743" y="610714"/>
                  <a:pt x="817756" y="594731"/>
                </a:cubicBezTo>
                <a:cubicBezTo>
                  <a:pt x="805495" y="578383"/>
                  <a:pt x="807568" y="555149"/>
                  <a:pt x="802888" y="535258"/>
                </a:cubicBezTo>
                <a:cubicBezTo>
                  <a:pt x="780355" y="439490"/>
                  <a:pt x="798889" y="497335"/>
                  <a:pt x="765717" y="408878"/>
                </a:cubicBezTo>
                <a:cubicBezTo>
                  <a:pt x="768195" y="379141"/>
                  <a:pt x="765558" y="348525"/>
                  <a:pt x="773152" y="319668"/>
                </a:cubicBezTo>
                <a:cubicBezTo>
                  <a:pt x="783190" y="281525"/>
                  <a:pt x="823207" y="242056"/>
                  <a:pt x="854927" y="223024"/>
                </a:cubicBezTo>
                <a:cubicBezTo>
                  <a:pt x="873082" y="212131"/>
                  <a:pt x="895214" y="209675"/>
                  <a:pt x="914400" y="200722"/>
                </a:cubicBezTo>
                <a:cubicBezTo>
                  <a:pt x="932504" y="192273"/>
                  <a:pt x="947997" y="178669"/>
                  <a:pt x="966439" y="170985"/>
                </a:cubicBezTo>
                <a:cubicBezTo>
                  <a:pt x="973365" y="168099"/>
                  <a:pt x="1044858" y="156676"/>
                  <a:pt x="1048215" y="156117"/>
                </a:cubicBezTo>
                <a:cubicBezTo>
                  <a:pt x="1107688" y="158595"/>
                  <a:pt x="1167920" y="153765"/>
                  <a:pt x="1226635" y="163551"/>
                </a:cubicBezTo>
                <a:cubicBezTo>
                  <a:pt x="1244261" y="166489"/>
                  <a:pt x="1255552" y="184730"/>
                  <a:pt x="1271239" y="193287"/>
                </a:cubicBezTo>
                <a:cubicBezTo>
                  <a:pt x="1352802" y="237776"/>
                  <a:pt x="1262723" y="171608"/>
                  <a:pt x="1345581" y="237892"/>
                </a:cubicBezTo>
                <a:cubicBezTo>
                  <a:pt x="1384111" y="302110"/>
                  <a:pt x="1357664" y="264843"/>
                  <a:pt x="1434791" y="341970"/>
                </a:cubicBezTo>
                <a:cubicBezTo>
                  <a:pt x="1452356" y="359535"/>
                  <a:pt x="1490261" y="402302"/>
                  <a:pt x="1516566" y="408878"/>
                </a:cubicBezTo>
                <a:cubicBezTo>
                  <a:pt x="1600149" y="429773"/>
                  <a:pt x="1467720" y="395471"/>
                  <a:pt x="1605776" y="438614"/>
                </a:cubicBezTo>
                <a:cubicBezTo>
                  <a:pt x="1648123" y="451848"/>
                  <a:pt x="1668512" y="454027"/>
                  <a:pt x="1709854" y="460917"/>
                </a:cubicBezTo>
                <a:cubicBezTo>
                  <a:pt x="1739209" y="470702"/>
                  <a:pt x="1724320" y="468351"/>
                  <a:pt x="1754459" y="468351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E52013-E335-4D43-46CD-7BFAF9B0332C}"/>
              </a:ext>
            </a:extLst>
          </p:cNvPr>
          <p:cNvSpPr txBox="1"/>
          <p:nvPr/>
        </p:nvSpPr>
        <p:spPr>
          <a:xfrm>
            <a:off x="5248031" y="5688237"/>
            <a:ext cx="3963457" cy="51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UCIe Retrain is milliseconds. Must be able to stop UALink during UCIe Retrain</a:t>
            </a: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B20B3DE4-66AD-F0D5-A84B-CFC992A84D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BADBB64-8035-D02B-8ED0-AAC2B390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425871C-109E-C835-633B-167F54066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Credit Loop</a:t>
            </a:r>
            <a:r>
              <a:rPr lang="en-US" dirty="0"/>
              <a:t>s</a:t>
            </a:r>
            <a:endParaRPr dirty="0"/>
          </a:p>
        </p:txBody>
      </p:sp>
      <p:pic>
        <p:nvPicPr>
          <p:cNvPr id="3" name="Picture 2" descr="creditlo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039" y="2944478"/>
            <a:ext cx="8503102" cy="3621772"/>
          </a:xfrm>
          <a:prstGeom prst="rect">
            <a:avLst/>
          </a:prstGeom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A65E355E-5426-203A-BF7B-8C59644A3032}"/>
              </a:ext>
            </a:extLst>
          </p:cNvPr>
          <p:cNvSpPr txBox="1">
            <a:spLocks/>
          </p:cNvSpPr>
          <p:nvPr/>
        </p:nvSpPr>
        <p:spPr>
          <a:xfrm>
            <a:off x="466443" y="1230352"/>
            <a:ext cx="11259113" cy="1401338"/>
          </a:xfrm>
          <a:prstGeom prst="rect">
            <a:avLst/>
          </a:prstGeom>
        </p:spPr>
        <p:txBody>
          <a:bodyPr wrap="square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4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0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End-to-end: standard UALink TL credits (die to die)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Accel/switch &lt;-&gt; chiplet: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filiterizer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 credits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DL loop: DL credits and DL replay on the chiplet</a:t>
            </a: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D24B90F5-CF90-A78A-ABA8-DA4656B9D7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50D6A108-6270-37BF-8811-9676225BE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930E2512-F1E9-1841-562E-8E18C3905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-267629" y="1882468"/>
            <a:ext cx="5590479" cy="2908611"/>
          </a:xfrm>
        </p:spPr>
        <p:txBody>
          <a:bodyPr wrap="square">
            <a:normAutofit lnSpcReduction="10000"/>
          </a:bodyPr>
          <a:lstStyle/>
          <a:p>
            <a:pPr marL="514350" indent="-182880" fontAlgn="t"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400" dirty="0"/>
              <a:t>Switch SiP UCIe link 1 enters retrain</a:t>
            </a:r>
          </a:p>
          <a:p>
            <a:pPr marL="514350" indent="-182880" fontAlgn="t"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400" dirty="0"/>
              <a:t>Switch SiP TX UCIe backpressures RX DL (UCIe ready is de-asserted)</a:t>
            </a:r>
          </a:p>
          <a:p>
            <a:pPr marL="514350" indent="-182880" fontAlgn="t"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400" dirty="0"/>
              <a:t>RX DL drops incoming DL flits; UCIe retrain occurs.</a:t>
            </a:r>
          </a:p>
          <a:p>
            <a:pPr marL="514350" indent="-182880" fontAlgn="t"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400" dirty="0"/>
              <a:t>DL marks incoming flits as bad CRC</a:t>
            </a:r>
          </a:p>
          <a:p>
            <a:pPr marL="514350" indent="-182880" fontAlgn="t"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400" dirty="0"/>
              <a:t>Switch SiP UCIe link retrain completes (UCIe ready is asserted)</a:t>
            </a:r>
          </a:p>
          <a:p>
            <a:pPr marL="514350" indent="-182880" fontAlgn="t"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400" dirty="0"/>
              <a:t>RX DL can begin processing incoming flits from the Accelerator </a:t>
            </a:r>
            <a:r>
              <a:rPr lang="en-US" sz="1400" dirty="0" err="1"/>
              <a:t>SiP’s</a:t>
            </a:r>
            <a:r>
              <a:rPr lang="en-US" sz="1400" dirty="0"/>
              <a:t> TX DL</a:t>
            </a:r>
          </a:p>
          <a:p>
            <a:pPr marL="514350" indent="-182880" fontAlgn="t"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400" dirty="0"/>
              <a:t>Accelerator SiP begins TX DL replays</a:t>
            </a:r>
          </a:p>
          <a:p>
            <a:pPr marL="514350" indent="-182880" fontAlgn="t">
              <a:spcBef>
                <a:spcPts val="0"/>
              </a:spcBef>
              <a:spcAft>
                <a:spcPts val="600"/>
              </a:spcAft>
              <a:buFont typeface="+mj-lt"/>
              <a:buAutoNum type="arabicParenR"/>
            </a:pPr>
            <a:r>
              <a:rPr lang="en-US" sz="1400" dirty="0"/>
              <a:t>During replay, TX DL backpressures the </a:t>
            </a:r>
            <a:r>
              <a:rPr lang="en-US" sz="1400" dirty="0" err="1"/>
              <a:t>Fliterizer</a:t>
            </a:r>
            <a:r>
              <a:rPr lang="en-US" sz="1400" dirty="0"/>
              <a:t> which uses ready/credit signaling to backpressure the associated Accelerator die’s </a:t>
            </a:r>
            <a:r>
              <a:rPr lang="en-US" sz="1400" dirty="0" err="1"/>
              <a:t>fliterizers</a:t>
            </a:r>
            <a:endParaRPr lang="en-US" sz="1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UCIe Retrain Example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9E9FE8-33C7-648D-B736-4E1062B48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850" y="1789167"/>
            <a:ext cx="6854525" cy="4762777"/>
          </a:xfrm>
          <a:prstGeom prst="rect">
            <a:avLst/>
          </a:prstGeom>
        </p:spPr>
      </p:pic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CEBFFE5-9132-E6FE-2875-9C06093D7F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D245F56-BC13-142E-FBCE-46B4D391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6529481-626D-03B9-70E3-5070C8587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44B32-6A87-AFE7-1933-50B43B9AD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89E94-4E81-D9B7-A72B-42AF5364F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Franklin Gothic Medium" panose="020B0603020102020204" pitchFamily="34" charset="0"/>
              </a:rPr>
              <a:t>Form Factors</a:t>
            </a:r>
            <a:endParaRPr b="0" dirty="0">
              <a:latin typeface="Franklin Gothic Medium" panose="020B0603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C518F-3C62-3BEA-C6ED-B6E7579F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0CD54C25-5D58-CBD4-1F42-6ECA2BE8444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DE001E2-B9AA-04FC-1E32-1437D9C5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983A14CC-3A84-64F3-62EE-1D213324D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  <p:extLst>
      <p:ext uri="{BB962C8B-B14F-4D97-AF65-F5344CB8AC3E}">
        <p14:creationId xmlns:p14="http://schemas.microsoft.com/office/powerpoint/2010/main" val="359048279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79F4B-C038-A301-4695-3DDB370E1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54FCC-E59B-B6E1-0424-368651D58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Shoreline Considerations </a:t>
            </a:r>
            <a:endParaRPr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FAB2AAF8-E3AA-BA83-6EB7-0C83E20EFB9C}"/>
              </a:ext>
            </a:extLst>
          </p:cNvPr>
          <p:cNvSpPr txBox="1">
            <a:spLocks/>
          </p:cNvSpPr>
          <p:nvPr/>
        </p:nvSpPr>
        <p:spPr>
          <a:xfrm>
            <a:off x="466443" y="1230351"/>
            <a:ext cx="11259113" cy="1966331"/>
          </a:xfrm>
          <a:prstGeom prst="rect">
            <a:avLst/>
          </a:prstGeom>
        </p:spPr>
        <p:txBody>
          <a:bodyPr wrap="square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4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0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UCIe shorelines (from UCIe 3.0)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UCIe-A: 389 µm per </a:t>
            </a: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x64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UCIe-S: 571.5 µm per </a:t>
            </a: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x16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SERDES shoreline: ~300 µm per lane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sng" strike="noStrike" kern="1200" cap="none" spc="0" normalizeH="0" baseline="0" noProof="0" dirty="0">
              <a:ln>
                <a:noFill/>
              </a:ln>
              <a:solidFill>
                <a:srgbClr val="001684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1684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6ABCBA-7FD3-67E7-C881-30D252765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3791" y="3346658"/>
            <a:ext cx="6027718" cy="2150146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C54486-9129-56D5-D819-9140871987C3}"/>
              </a:ext>
            </a:extLst>
          </p:cNvPr>
          <p:cNvSpPr txBox="1"/>
          <p:nvPr/>
        </p:nvSpPr>
        <p:spPr>
          <a:xfrm>
            <a:off x="4334060" y="5371610"/>
            <a:ext cx="4640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Example 10x 800G Station, 8Tbps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A5F302EF-FC25-2C04-F58E-175CC70671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9BCDEB03-B2E9-ED73-375E-28C0C7DAE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0C3AACC3-A25C-385D-B734-A629E0F99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  <p:extLst>
      <p:ext uri="{BB962C8B-B14F-4D97-AF65-F5344CB8AC3E}">
        <p14:creationId xmlns:p14="http://schemas.microsoft.com/office/powerpoint/2010/main" val="220643521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42270-F4C7-0E86-7CEC-193CF949B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83E54-7CBE-273A-B1F1-A52457A34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Chiplet Area Estimates </a:t>
            </a:r>
            <a:endParaRPr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44B5A40C-B785-2E8C-1DF8-19A090AA8185}"/>
              </a:ext>
            </a:extLst>
          </p:cNvPr>
          <p:cNvSpPr txBox="1">
            <a:spLocks/>
          </p:cNvSpPr>
          <p:nvPr/>
        </p:nvSpPr>
        <p:spPr>
          <a:xfrm>
            <a:off x="466443" y="1230351"/>
            <a:ext cx="5547781" cy="1966331"/>
          </a:xfrm>
          <a:prstGeom prst="rect">
            <a:avLst/>
          </a:prstGeom>
        </p:spPr>
        <p:txBody>
          <a:bodyPr wrap="square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4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0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UCIe area (from UCIe 3.0)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UCIe-S: 0.75 mm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2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 per x16</a:t>
            </a:r>
            <a:endParaRPr kumimoji="0" lang="en-US" sz="2400" b="0" i="0" u="sng" strike="noStrike" kern="1200" cap="none" spc="0" normalizeH="0" baseline="0" noProof="0" dirty="0">
              <a:ln>
                <a:noFill/>
              </a:ln>
              <a:solidFill>
                <a:srgbClr val="001684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SERDES area: ~0.9 mm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 per lane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sng" strike="noStrike" kern="1200" cap="none" spc="0" normalizeH="0" baseline="0" noProof="0" dirty="0">
              <a:ln>
                <a:noFill/>
              </a:ln>
              <a:solidFill>
                <a:srgbClr val="001684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1684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CEA006-A4C7-36FD-A3C0-1B48E62AFFFE}"/>
              </a:ext>
            </a:extLst>
          </p:cNvPr>
          <p:cNvSpPr txBox="1"/>
          <p:nvPr/>
        </p:nvSpPr>
        <p:spPr>
          <a:xfrm>
            <a:off x="7738899" y="1297697"/>
            <a:ext cx="4640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Example 10x 800G Station, 8Tbps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E25954-C2A3-4CFE-643E-9ED2485BC199}"/>
              </a:ext>
            </a:extLst>
          </p:cNvPr>
          <p:cNvSpPr/>
          <p:nvPr/>
        </p:nvSpPr>
        <p:spPr bwMode="auto">
          <a:xfrm>
            <a:off x="6841152" y="1730110"/>
            <a:ext cx="5272392" cy="496111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Franklin Gothic Book" panose="020B0503020102020204"/>
                <a:ea typeface="Segoe UI" pitchFamily="34" charset="0"/>
                <a:cs typeface="Segoe UI" pitchFamily="34" charset="0"/>
              </a:rPr>
              <a:t>5x UCIe-S x64 (11.4 x 1.3)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45C79C-62BD-7599-FC5F-00D9C8B01D43}"/>
              </a:ext>
            </a:extLst>
          </p:cNvPr>
          <p:cNvSpPr/>
          <p:nvPr/>
        </p:nvSpPr>
        <p:spPr bwMode="auto">
          <a:xfrm>
            <a:off x="6841152" y="2948626"/>
            <a:ext cx="5272392" cy="496111"/>
          </a:xfrm>
          <a:prstGeom prst="rect">
            <a:avLst/>
          </a:prstGeom>
          <a:solidFill>
            <a:schemeClr val="accent1"/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effectLst/>
                <a:uLnTx/>
                <a:uFillTx/>
                <a:latin typeface="Franklin Gothic Book" panose="020B0503020102020204"/>
                <a:ea typeface="Segoe UI" pitchFamily="34" charset="0"/>
                <a:cs typeface="Segoe UI" pitchFamily="34" charset="0"/>
              </a:rPr>
              <a:t>40x SERDES (11.8 x 3.0)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EA289A-9722-B9EF-60EA-86E2DD807808}"/>
              </a:ext>
            </a:extLst>
          </p:cNvPr>
          <p:cNvSpPr/>
          <p:nvPr/>
        </p:nvSpPr>
        <p:spPr bwMode="auto">
          <a:xfrm>
            <a:off x="6841152" y="2226221"/>
            <a:ext cx="5272392" cy="72240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2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B0503020102020204"/>
                <a:ea typeface="Segoe UI" pitchFamily="34" charset="0"/>
                <a:cs typeface="Segoe UI" pitchFamily="34" charset="0"/>
              </a:rPr>
              <a:t>DL/PL Area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30DB812-AE56-657D-14CA-AD186F1294E5}"/>
              </a:ext>
            </a:extLst>
          </p:cNvPr>
          <p:cNvGraphicFramePr>
            <a:graphicFrameLocks noGrp="1"/>
          </p:cNvGraphicFramePr>
          <p:nvPr/>
        </p:nvGraphicFramePr>
        <p:xfrm>
          <a:off x="644504" y="4059847"/>
          <a:ext cx="6954530" cy="1381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80280">
                  <a:extLst>
                    <a:ext uri="{9D8B030D-6E8A-4147-A177-3AD203B41FA5}">
                      <a16:colId xmlns:a16="http://schemas.microsoft.com/office/drawing/2014/main" val="1531376304"/>
                    </a:ext>
                  </a:extLst>
                </a:gridCol>
                <a:gridCol w="1480280">
                  <a:extLst>
                    <a:ext uri="{9D8B030D-6E8A-4147-A177-3AD203B41FA5}">
                      <a16:colId xmlns:a16="http://schemas.microsoft.com/office/drawing/2014/main" val="1035077810"/>
                    </a:ext>
                  </a:extLst>
                </a:gridCol>
                <a:gridCol w="1567180">
                  <a:extLst>
                    <a:ext uri="{9D8B030D-6E8A-4147-A177-3AD203B41FA5}">
                      <a16:colId xmlns:a16="http://schemas.microsoft.com/office/drawing/2014/main" val="3722861420"/>
                    </a:ext>
                  </a:extLst>
                </a:gridCol>
                <a:gridCol w="2426790">
                  <a:extLst>
                    <a:ext uri="{9D8B030D-6E8A-4147-A177-3AD203B41FA5}">
                      <a16:colId xmlns:a16="http://schemas.microsoft.com/office/drawing/2014/main" val="321052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Chiplet Area (mm2)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DL/PL Area</a:t>
                      </a:r>
                    </a:p>
                    <a:p>
                      <a:r>
                        <a:rPr lang="en-US" dirty="0"/>
                        <a:t> (mm2)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Aspect ratio</a:t>
                      </a:r>
                    </a:p>
                    <a:p>
                      <a:r>
                        <a:rPr lang="en-US" dirty="0"/>
                        <a:t> (x/y)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MFU </a:t>
                      </a:r>
                    </a:p>
                    <a:p>
                      <a:r>
                        <a:rPr lang="en-US" dirty="0"/>
                        <a:t>(26x33mm reticle)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418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1.6:1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448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1.3:1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744681"/>
                  </a:ext>
                </a:extLst>
              </a:tr>
            </a:tbl>
          </a:graphicData>
        </a:graphic>
      </p:graphicFrame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05F57170-0C92-CF78-6274-3E5E4696D6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B6ABD028-ED8E-D310-7E3D-1A90EEC83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79619ED-A791-477E-B0EB-166A7EF8B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  <p:extLst>
      <p:ext uri="{BB962C8B-B14F-4D97-AF65-F5344CB8AC3E}">
        <p14:creationId xmlns:p14="http://schemas.microsoft.com/office/powerpoint/2010/main" val="403539930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Across the Two Form Factors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49191" y="2057400"/>
          <a:ext cx="6024945" cy="2743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5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33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18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1800"/>
                        <a:t>8 Tbps chiplet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rPr sz="1800"/>
                        <a:t>16 Tbps chiplet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rPr sz="1800"/>
                        <a:t>UCIe x64 instances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sz="18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sz="180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rPr sz="1800" dirty="0"/>
                        <a:t>Max UPLI stations (800G</a:t>
                      </a:r>
                      <a:r>
                        <a:rPr lang="en-US" sz="1800" dirty="0"/>
                        <a:t>)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sz="18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sz="180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rPr sz="1800"/>
                        <a:t>SERDES lanes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sz="180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sz="180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rPr sz="1800"/>
                        <a:t>Target chiplet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sz="1800"/>
                        <a:t>~100 mm2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sz="1800" dirty="0"/>
                        <a:t>~200 mm2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807AD463-3BC0-D244-E074-0CED3A69A4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BA49F4F-3981-5FEB-E6C9-0EF5F4619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FEE95712-190E-D145-D6FC-0AD593C78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80FEC-4D7A-1D31-5435-E751CC887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B773-A4F4-E77F-F79E-F17D035DA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53" y="1575634"/>
            <a:ext cx="4256658" cy="3103039"/>
          </a:xfrm>
        </p:spPr>
        <p:txBody>
          <a:bodyPr/>
          <a:lstStyle/>
          <a:p>
            <a:r>
              <a:rPr lang="en-US" b="0" dirty="0">
                <a:latin typeface="Franklin Gothic Medium" panose="020B0603020102020204" pitchFamily="34" charset="0"/>
              </a:rPr>
              <a:t>So Much More</a:t>
            </a:r>
            <a:endParaRPr b="0" dirty="0">
              <a:latin typeface="Franklin Gothic Medium" panose="020B0603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0FBF7-004E-D65F-E4F8-D7A936827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1053" y="4678673"/>
            <a:ext cx="4256658" cy="1500187"/>
          </a:xfrm>
        </p:spPr>
        <p:txBody>
          <a:bodyPr/>
          <a:lstStyle/>
          <a:p>
            <a:endParaRPr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FC5B00A0-3452-77F6-190D-32A2ABB904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34E7370-5EC9-01FD-23F8-5A726F80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52B2450-D8FD-E95C-73DF-EC553FA7F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  <p:extLst>
      <p:ext uri="{BB962C8B-B14F-4D97-AF65-F5344CB8AC3E}">
        <p14:creationId xmlns:p14="http://schemas.microsoft.com/office/powerpoint/2010/main" val="1915985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BEA4C-9A71-5DA7-FEE8-B47DCE14E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74417-E2EC-B013-600A-636CEFC4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Items in UALink Chiplet Spec</a:t>
            </a:r>
            <a:endParaRPr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F0CDF57-3FFF-DA70-261B-11EF7325413D}"/>
              </a:ext>
            </a:extLst>
          </p:cNvPr>
          <p:cNvSpPr txBox="1">
            <a:spLocks/>
          </p:cNvSpPr>
          <p:nvPr/>
        </p:nvSpPr>
        <p:spPr>
          <a:xfrm>
            <a:off x="466443" y="1230351"/>
            <a:ext cx="11259113" cy="4367562"/>
          </a:xfrm>
          <a:prstGeom prst="rect">
            <a:avLst/>
          </a:prstGeom>
        </p:spPr>
        <p:txBody>
          <a:bodyPr wrap="square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4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20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70C0"/>
              </a:buClr>
              <a:buFont typeface="Arial" panose="020B0604020202020204" pitchFamily="34" charset="0"/>
              <a:buChar char="•"/>
              <a:defRPr sz="1800" b="1" i="0" kern="1200">
                <a:solidFill>
                  <a:schemeClr val="bg2">
                    <a:lumMod val="10000"/>
                  </a:schemeClr>
                </a:solidFill>
                <a:latin typeface="Franklin Gothic Demi Cond" panose="020B06030201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Other topics covered in UALink Chiplet Specification v1.0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Power/Thermal Alerts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RAS framework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Debug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Clocks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Resets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Coming in v2.0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Power measurements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Enhanced RAS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DFx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1684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1684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Compliance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sng" strike="noStrike" kern="1200" cap="none" spc="0" normalizeH="0" baseline="0" noProof="0" dirty="0">
              <a:ln>
                <a:noFill/>
              </a:ln>
              <a:solidFill>
                <a:srgbClr val="001684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1684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49933E12-C7CF-76B4-7510-4BE7A6B729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B95E589A-6A4A-66E3-C491-6E07D58F1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DDF1EF2-7D0F-6FC2-5466-9F0686043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  <p:extLst>
      <p:ext uri="{BB962C8B-B14F-4D97-AF65-F5344CB8AC3E}">
        <p14:creationId xmlns:p14="http://schemas.microsoft.com/office/powerpoint/2010/main" val="111701743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461BE-02D9-BF11-6E75-30EF5EECA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530A0-E77C-56BC-EEC4-0F5600862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53" y="1575634"/>
            <a:ext cx="4256658" cy="3103039"/>
          </a:xfrm>
        </p:spPr>
        <p:txBody>
          <a:bodyPr/>
          <a:lstStyle/>
          <a:p>
            <a:r>
              <a:rPr lang="en-US" b="0" dirty="0">
                <a:latin typeface="Franklin Gothic Medium" panose="020B0603020102020204" pitchFamily="34" charset="0"/>
              </a:rPr>
              <a:t>Wrap-up</a:t>
            </a:r>
            <a:endParaRPr b="0" dirty="0">
              <a:latin typeface="Franklin Gothic Medium" panose="020B06030201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EFB03-D789-10C7-642F-AC1EF01BD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1053" y="4678673"/>
            <a:ext cx="4256658" cy="1500187"/>
          </a:xfrm>
        </p:spPr>
        <p:txBody>
          <a:bodyPr/>
          <a:lstStyle/>
          <a:p>
            <a:endParaRPr dirty="0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5EFE3353-DCC1-9A38-1302-2C35AC1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7D8185B-4195-48AC-63C0-BBFE4F661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E591D9A-2F77-B46F-00CA-215CBF99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  <p:extLst>
      <p:ext uri="{BB962C8B-B14F-4D97-AF65-F5344CB8AC3E}">
        <p14:creationId xmlns:p14="http://schemas.microsoft.com/office/powerpoint/2010/main" val="114632912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Wrap-up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BC021-2B85-43E8-BE1C-4E89FB1839F0}"/>
              </a:ext>
            </a:extLst>
          </p:cNvPr>
          <p:cNvSpPr/>
          <p:nvPr/>
        </p:nvSpPr>
        <p:spPr>
          <a:xfrm>
            <a:off x="838107" y="1488098"/>
            <a:ext cx="2779776" cy="30985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062465D-5EDA-7C8C-17C8-55387C544BB7}"/>
              </a:ext>
            </a:extLst>
          </p:cNvPr>
          <p:cNvSpPr/>
          <p:nvPr/>
        </p:nvSpPr>
        <p:spPr>
          <a:xfrm>
            <a:off x="879906" y="1566736"/>
            <a:ext cx="1587398" cy="2826844"/>
          </a:xfrm>
          <a:prstGeom prst="roundRect">
            <a:avLst/>
          </a:prstGeom>
          <a:gradFill>
            <a:gsLst>
              <a:gs pos="0">
                <a:schemeClr val="accent1"/>
              </a:gs>
              <a:gs pos="100000">
                <a:srgbClr val="14867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Accelerator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C26A97-9DC4-A5F4-10B5-7FBB17DBA4D6}"/>
              </a:ext>
            </a:extLst>
          </p:cNvPr>
          <p:cNvSpPr/>
          <p:nvPr/>
        </p:nvSpPr>
        <p:spPr>
          <a:xfrm>
            <a:off x="2467304" y="1754470"/>
            <a:ext cx="1031444" cy="74615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08E44-F087-25F5-80AE-8BAFA705FE3F}"/>
              </a:ext>
            </a:extLst>
          </p:cNvPr>
          <p:cNvSpPr/>
          <p:nvPr/>
        </p:nvSpPr>
        <p:spPr>
          <a:xfrm>
            <a:off x="5652212" y="1843668"/>
            <a:ext cx="3616145" cy="32608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Medium" panose="020B060302010202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72AF357-0457-7EE2-C5C0-7CC7A7C9AB01}"/>
              </a:ext>
            </a:extLst>
          </p:cNvPr>
          <p:cNvSpPr/>
          <p:nvPr/>
        </p:nvSpPr>
        <p:spPr>
          <a:xfrm>
            <a:off x="6683657" y="2267416"/>
            <a:ext cx="1587398" cy="2753860"/>
          </a:xfrm>
          <a:prstGeom prst="roundRect">
            <a:avLst/>
          </a:prstGeom>
          <a:gradFill>
            <a:gsLst>
              <a:gs pos="0">
                <a:schemeClr val="accent1"/>
              </a:gs>
              <a:gs pos="100000">
                <a:srgbClr val="14867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Switch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D98AA5-B240-2BB7-6345-E2FCC9F30172}"/>
              </a:ext>
            </a:extLst>
          </p:cNvPr>
          <p:cNvSpPr/>
          <p:nvPr/>
        </p:nvSpPr>
        <p:spPr>
          <a:xfrm>
            <a:off x="5652213" y="4043782"/>
            <a:ext cx="1031444" cy="74615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B559D0-C1AF-96B6-D9EF-A58E25552FB6}"/>
              </a:ext>
            </a:extLst>
          </p:cNvPr>
          <p:cNvCxnSpPr>
            <a:cxnSpLocks/>
            <a:stCxn id="6" idx="3"/>
            <a:endCxn id="26" idx="1"/>
          </p:cNvCxnSpPr>
          <p:nvPr/>
        </p:nvCxnSpPr>
        <p:spPr>
          <a:xfrm>
            <a:off x="3498748" y="2127546"/>
            <a:ext cx="2170536" cy="451713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68D5C2-F37D-D5A8-9E88-F114BCCEEE7A}"/>
              </a:ext>
            </a:extLst>
          </p:cNvPr>
          <p:cNvCxnSpPr>
            <a:cxnSpLocks/>
          </p:cNvCxnSpPr>
          <p:nvPr/>
        </p:nvCxnSpPr>
        <p:spPr>
          <a:xfrm flipV="1">
            <a:off x="3740365" y="3686153"/>
            <a:ext cx="1970297" cy="1418334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1565520-9603-0EC2-D134-09CB6888B1DF}"/>
              </a:ext>
            </a:extLst>
          </p:cNvPr>
          <p:cNvSpPr/>
          <p:nvPr/>
        </p:nvSpPr>
        <p:spPr>
          <a:xfrm>
            <a:off x="8253984" y="4043780"/>
            <a:ext cx="1031444" cy="74615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FBA9CC-2672-D4AB-6673-626C05BA6689}"/>
              </a:ext>
            </a:extLst>
          </p:cNvPr>
          <p:cNvCxnSpPr>
            <a:cxnSpLocks/>
          </p:cNvCxnSpPr>
          <p:nvPr/>
        </p:nvCxnSpPr>
        <p:spPr>
          <a:xfrm flipH="1" flipV="1">
            <a:off x="9285428" y="2621619"/>
            <a:ext cx="1107509" cy="67292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02216C-7AEB-8BD8-91F8-11950D50BE24}"/>
              </a:ext>
            </a:extLst>
          </p:cNvPr>
          <p:cNvCxnSpPr/>
          <p:nvPr/>
        </p:nvCxnSpPr>
        <p:spPr>
          <a:xfrm flipH="1" flipV="1">
            <a:off x="9285428" y="4586630"/>
            <a:ext cx="1285036" cy="356007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508AD1A-CC25-F3A2-A66B-9E9F076D4C9F}"/>
              </a:ext>
            </a:extLst>
          </p:cNvPr>
          <p:cNvSpPr/>
          <p:nvPr/>
        </p:nvSpPr>
        <p:spPr>
          <a:xfrm>
            <a:off x="2465043" y="2579259"/>
            <a:ext cx="1031444" cy="74615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6C49553-25FB-68E9-F711-F9498C46154B}"/>
              </a:ext>
            </a:extLst>
          </p:cNvPr>
          <p:cNvSpPr/>
          <p:nvPr/>
        </p:nvSpPr>
        <p:spPr>
          <a:xfrm>
            <a:off x="2465043" y="3465781"/>
            <a:ext cx="1031444" cy="74615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AD14376-F190-5506-5EBE-A88229C71CF6}"/>
              </a:ext>
            </a:extLst>
          </p:cNvPr>
          <p:cNvSpPr/>
          <p:nvPr/>
        </p:nvSpPr>
        <p:spPr>
          <a:xfrm>
            <a:off x="5686355" y="3167260"/>
            <a:ext cx="1031444" cy="74615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B576C32-7CAA-48F3-A9A9-13A21ABBA6AF}"/>
              </a:ext>
            </a:extLst>
          </p:cNvPr>
          <p:cNvSpPr/>
          <p:nvPr/>
        </p:nvSpPr>
        <p:spPr>
          <a:xfrm>
            <a:off x="5669284" y="2206183"/>
            <a:ext cx="1031444" cy="74615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23BF70-8DD8-D94B-3F2E-1706D02FAEC2}"/>
              </a:ext>
            </a:extLst>
          </p:cNvPr>
          <p:cNvSpPr/>
          <p:nvPr/>
        </p:nvSpPr>
        <p:spPr>
          <a:xfrm>
            <a:off x="8245449" y="3124981"/>
            <a:ext cx="1031444" cy="74615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ABDF6CE-E8E7-82BC-37F5-A1C0832200E3}"/>
              </a:ext>
            </a:extLst>
          </p:cNvPr>
          <p:cNvSpPr/>
          <p:nvPr/>
        </p:nvSpPr>
        <p:spPr>
          <a:xfrm>
            <a:off x="8271055" y="2206183"/>
            <a:ext cx="1031444" cy="746151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Medium" panose="020B0603020102020204"/>
                <a:ea typeface="+mn-ea"/>
                <a:cs typeface="+mn-cs"/>
              </a:rPr>
              <a:t>UALink Chiplet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DE860C8-20CF-A2AB-0F3C-3CC58D7E9F4B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473140" y="2940002"/>
            <a:ext cx="2213215" cy="600334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5873F3B6-B2A5-CD2E-1280-5DBF22D3C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715" y="4798760"/>
            <a:ext cx="1390650" cy="1550670"/>
          </a:xfrm>
          <a:prstGeom prst="rect">
            <a:avLst/>
          </a:prstGeom>
        </p:spPr>
      </p:pic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88C4C8E-F06C-E68A-02A5-613C83D6DE3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3740365" y="4539397"/>
            <a:ext cx="1898480" cy="1034698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Picture 54">
            <a:extLst>
              <a:ext uri="{FF2B5EF4-FFF2-40B4-BE49-F238E27FC236}">
                <a16:creationId xmlns:a16="http://schemas.microsoft.com/office/drawing/2014/main" id="{4AA0894A-8F78-D478-5BCE-464DC71C14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3302" y="1907076"/>
            <a:ext cx="1393803" cy="1418334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F1960F6-C864-9834-489E-E6D6A2565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7535" y="4586630"/>
            <a:ext cx="1393803" cy="1418334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2E31D22-9623-E5DD-1214-FEEF56F41890}"/>
              </a:ext>
            </a:extLst>
          </p:cNvPr>
          <p:cNvCxnSpPr>
            <a:cxnSpLocks/>
          </p:cNvCxnSpPr>
          <p:nvPr/>
        </p:nvCxnSpPr>
        <p:spPr>
          <a:xfrm flipH="1" flipV="1">
            <a:off x="9244950" y="3570478"/>
            <a:ext cx="783713" cy="33646"/>
          </a:xfrm>
          <a:prstGeom prst="straightConnector1">
            <a:avLst/>
          </a:prstGeom>
          <a:ln w="25400">
            <a:solidFill>
              <a:srgbClr val="6F3B6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02E359-36BE-EF2F-B66B-C4BFC561BC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BAF35833-631D-79A8-B0FF-945ED6831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97424239-2F51-2B61-55C6-9319E4C89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3772D-4358-B898-D271-6563F382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4E5127-FF24-D919-FEB1-AE20B8316C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UALink is the open, memory-semantic scale-up interconnect</a:t>
            </a:r>
          </a:p>
          <a:p>
            <a:r>
              <a:rPr dirty="0"/>
              <a:t>Disaggregating DL+PL onto a chiplet: I/O node, area, yield, reuse, interop</a:t>
            </a:r>
          </a:p>
          <a:p>
            <a:r>
              <a:rPr lang="en-US" dirty="0"/>
              <a:t>93% Efficiency allows more power efficient UCIe (&lt;32 GT/s) </a:t>
            </a:r>
            <a:endParaRPr dirty="0"/>
          </a:p>
          <a:p>
            <a:r>
              <a:rPr lang="en-US" dirty="0"/>
              <a:t>UCIe replay and retry supported end-to-end</a:t>
            </a:r>
            <a:endParaRPr dirty="0"/>
          </a:p>
          <a:p>
            <a:r>
              <a:rPr dirty="0"/>
              <a:t>Two form factors (8/16 </a:t>
            </a:r>
            <a:r>
              <a:rPr dirty="0" err="1"/>
              <a:t>Tbps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210014-51D9-0BBB-436B-49166F76C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8746603A-7C8C-E8E0-3F1E-694F8C6F72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1895" y="6547696"/>
            <a:ext cx="2155776" cy="230668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35DC23E-E709-3BD6-3CE7-396A84FAD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4835" y="6551637"/>
            <a:ext cx="614105" cy="23648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51C7C4AA-3DFD-B755-5D98-84E9CFEC8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2435" y="6541879"/>
            <a:ext cx="6926556" cy="236484"/>
          </a:xfrm>
        </p:spPr>
        <p:txBody>
          <a:bodyPr/>
          <a:lstStyle/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</a:p>
        </p:txBody>
      </p:sp>
    </p:spTree>
    <p:extLst>
      <p:ext uri="{BB962C8B-B14F-4D97-AF65-F5344CB8AC3E}">
        <p14:creationId xmlns:p14="http://schemas.microsoft.com/office/powerpoint/2010/main" val="384272085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4800600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Questions?    |    Rob Pelt, AMD  -  UALink Chiplet Workgroup</a:t>
            </a:r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99DE6EA9-1081-2003-B938-F444FA527442}"/>
              </a:ext>
            </a:extLst>
          </p:cNvPr>
          <p:cNvSpPr txBox="1">
            <a:spLocks/>
          </p:cNvSpPr>
          <p:nvPr/>
        </p:nvSpPr>
        <p:spPr>
          <a:xfrm>
            <a:off x="401895" y="6547696"/>
            <a:ext cx="2155776" cy="23066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8FC9FDA-6F98-418B-9080-9D69614A1AAE}" type="datetime1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8/6/2026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1790B8B2-91D3-4570-04EA-1F95450C5971}"/>
              </a:ext>
            </a:extLst>
          </p:cNvPr>
          <p:cNvSpPr txBox="1">
            <a:spLocks/>
          </p:cNvSpPr>
          <p:nvPr/>
        </p:nvSpPr>
        <p:spPr>
          <a:xfrm>
            <a:off x="11184835" y="6551637"/>
            <a:ext cx="614105" cy="23648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D6CF2F-E99A-4DCF-AFBF-E997E4DEA0F8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E9E9EC">
                    <a:lumMod val="1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E9E9EC">
                  <a:lumMod val="1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C47C585-BA11-7A0E-39F7-B5A3884E714F}"/>
              </a:ext>
            </a:extLst>
          </p:cNvPr>
          <p:cNvSpPr txBox="1">
            <a:spLocks/>
          </p:cNvSpPr>
          <p:nvPr/>
        </p:nvSpPr>
        <p:spPr>
          <a:xfrm>
            <a:off x="2562435" y="6541879"/>
            <a:ext cx="6926556" cy="23648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5888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E9E9EC">
                    <a:lumMod val="50000"/>
                  </a:srgbClr>
                </a:solidFill>
                <a:effectLst/>
                <a:uLnTx/>
                <a:uFillTx/>
                <a:latin typeface="Franklin Gothic Medium" panose="020B0603020102020204" pitchFamily="34" charset="0"/>
                <a:ea typeface="+mn-ea"/>
                <a:cs typeface="+mn-cs"/>
              </a:rPr>
              <a:t>Ultra Accelerator Link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E9E9EC">
                  <a:lumMod val="50000"/>
                </a:srgbClr>
              </a:solidFill>
              <a:effectLst/>
              <a:uLnTx/>
              <a:uFillTx/>
              <a:latin typeface="Franklin Gothic Medium" panose="020B06030201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3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333964-0565-265D-E3D7-7EE24F5BB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253A0F-F0EC-D198-95ED-EAD5A0A0C7FA}"/>
              </a:ext>
            </a:extLst>
          </p:cNvPr>
          <p:cNvSpPr/>
          <p:nvPr/>
        </p:nvSpPr>
        <p:spPr>
          <a:xfrm>
            <a:off x="594360" y="49377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400" normalizeH="0" baseline="0" noProof="0" dirty="0">
                <a:ln>
                  <a:noFill/>
                </a:ln>
                <a:solidFill>
                  <a:srgbClr val="8DC63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JOINT TUTORIAL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1" descr="assets/ualink.png">
            <a:extLst>
              <a:ext uri="{FF2B5EF4-FFF2-40B4-BE49-F238E27FC236}">
                <a16:creationId xmlns:a16="http://schemas.microsoft.com/office/drawing/2014/main" id="{8DA03247-3D1B-6652-90C1-BB715B2A2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307" y="2471015"/>
            <a:ext cx="4995432" cy="1766677"/>
          </a:xfrm>
          <a:prstGeom prst="rect">
            <a:avLst/>
          </a:prstGeom>
        </p:spPr>
      </p:pic>
      <p:sp>
        <p:nvSpPr>
          <p:cNvPr id="6" name="Shape 2">
            <a:extLst>
              <a:ext uri="{FF2B5EF4-FFF2-40B4-BE49-F238E27FC236}">
                <a16:creationId xmlns:a16="http://schemas.microsoft.com/office/drawing/2014/main" id="{A9DEF303-37CE-BFFC-D009-28B764F9BE28}"/>
              </a:ext>
            </a:extLst>
          </p:cNvPr>
          <p:cNvSpPr/>
          <p:nvPr/>
        </p:nvSpPr>
        <p:spPr>
          <a:xfrm>
            <a:off x="594360" y="5797296"/>
            <a:ext cx="2322576" cy="45720"/>
          </a:xfrm>
          <a:prstGeom prst="rect">
            <a:avLst/>
          </a:prstGeom>
          <a:solidFill>
            <a:srgbClr val="3A567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24B8D83-85B5-4CF7-C75F-8F53700BA44F}"/>
              </a:ext>
            </a:extLst>
          </p:cNvPr>
          <p:cNvSpPr/>
          <p:nvPr/>
        </p:nvSpPr>
        <p:spPr>
          <a:xfrm>
            <a:off x="594360" y="5907024"/>
            <a:ext cx="364845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2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Hot Interconnects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9FB2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August 21, 2026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0F1252-297F-C0D3-0ABE-E01491DAD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1759" y="2471015"/>
            <a:ext cx="3174627" cy="176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953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UCLe Colors I">
      <a:dk1>
        <a:sysClr val="windowText" lastClr="000000"/>
      </a:dk1>
      <a:lt1>
        <a:sysClr val="window" lastClr="FFFFFF"/>
      </a:lt1>
      <a:dk2>
        <a:srgbClr val="202945"/>
      </a:dk2>
      <a:lt2>
        <a:srgbClr val="E8E8E8"/>
      </a:lt2>
      <a:accent1>
        <a:srgbClr val="3DAE2B"/>
      </a:accent1>
      <a:accent2>
        <a:srgbClr val="385CAD"/>
      </a:accent2>
      <a:accent3>
        <a:srgbClr val="6485D0"/>
      </a:accent3>
      <a:accent4>
        <a:srgbClr val="289316"/>
      </a:accent4>
      <a:accent5>
        <a:srgbClr val="EAE321"/>
      </a:accent5>
      <a:accent6>
        <a:srgbClr val="D71616"/>
      </a:accent6>
      <a:hlink>
        <a:srgbClr val="289316"/>
      </a:hlink>
      <a:folHlink>
        <a:srgbClr val="385CAD"/>
      </a:folHlink>
    </a:clrScheme>
    <a:fontScheme name="UCIe Font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5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cie_template_2025_06_FINAL.pptx" id="{895A0A60-FC3C-4C63-A70F-1C3FA34EE678}" vid="{34124CB6-71A2-45B8-81D8-89000F0F990C}"/>
    </a:ext>
  </a:extLst>
</a:theme>
</file>

<file path=ppt/theme/theme3.xml><?xml version="1.0" encoding="utf-8"?>
<a:theme xmlns:a="http://schemas.openxmlformats.org/drawingml/2006/main" name="2_Office Theme">
  <a:themeElements>
    <a:clrScheme name="Custom 2">
      <a:dk1>
        <a:srgbClr val="000000"/>
      </a:dk1>
      <a:lt1>
        <a:srgbClr val="FFFFFF"/>
      </a:lt1>
      <a:dk2>
        <a:srgbClr val="15326D"/>
      </a:dk2>
      <a:lt2>
        <a:srgbClr val="001684"/>
      </a:lt2>
      <a:accent1>
        <a:srgbClr val="DDDFE3"/>
      </a:accent1>
      <a:accent2>
        <a:srgbClr val="5385C8"/>
      </a:accent2>
      <a:accent3>
        <a:srgbClr val="F4C400"/>
      </a:accent3>
      <a:accent4>
        <a:srgbClr val="D00000"/>
      </a:accent4>
      <a:accent5>
        <a:srgbClr val="3A3B3B"/>
      </a:accent5>
      <a:accent6>
        <a:srgbClr val="3B3B3B"/>
      </a:accent6>
      <a:hlink>
        <a:srgbClr val="003CD2"/>
      </a:hlink>
      <a:folHlink>
        <a:srgbClr val="C2C4C4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1"/>
            </a:gs>
            <a:gs pos="100000">
              <a:srgbClr val="14867B"/>
            </a:gs>
          </a:gsLst>
          <a:lin ang="5400000" scaled="0"/>
        </a:gradFill>
        <a:ln>
          <a:noFill/>
        </a:ln>
      </a:spPr>
      <a:bodyPr rtlCol="0" anchor="ctr"/>
      <a:lstStyle>
        <a:defPPr algn="ctr">
          <a:defRPr dirty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rgbClr val="6F3B6D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85000"/>
          </a:lnSpc>
          <a:defRPr sz="1600" dirty="0" err="1" smtClean="0"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10601</Words>
  <Application>Microsoft Office PowerPoint</Application>
  <PresentationFormat>Widescreen</PresentationFormat>
  <Paragraphs>1390</Paragraphs>
  <Slides>104</Slides>
  <Notes>50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104</vt:i4>
      </vt:variant>
    </vt:vector>
  </HeadingPairs>
  <TitlesOfParts>
    <vt:vector size="127" baseType="lpstr">
      <vt:lpstr>Aptos</vt:lpstr>
      <vt:lpstr>Arial</vt:lpstr>
      <vt:lpstr>Calibri</vt:lpstr>
      <vt:lpstr>Cambria</vt:lpstr>
      <vt:lpstr>Cambria Math</vt:lpstr>
      <vt:lpstr>Franklin Gothic Book</vt:lpstr>
      <vt:lpstr>Franklin Gothic Demi</vt:lpstr>
      <vt:lpstr>Franklin Gothic Demi Cond</vt:lpstr>
      <vt:lpstr>Franklin Gothic Medium</vt:lpstr>
      <vt:lpstr>Franklin Gothic Medium Cond</vt:lpstr>
      <vt:lpstr>Helvetica Neue Medium</vt:lpstr>
      <vt:lpstr>Intel Clear</vt:lpstr>
      <vt:lpstr>Intel Clear Light</vt:lpstr>
      <vt:lpstr>IntelOne Display Medium</vt:lpstr>
      <vt:lpstr>Trebuchet MS</vt:lpstr>
      <vt:lpstr>Verdana</vt:lpstr>
      <vt:lpstr>Verdana Pro</vt:lpstr>
      <vt:lpstr>Wingdings</vt:lpstr>
      <vt:lpstr>Office Theme</vt:lpstr>
      <vt:lpstr>1_Office Theme</vt:lpstr>
      <vt:lpstr>2_Office Theme</vt:lpstr>
      <vt:lpstr>Worksheet</vt:lpstr>
      <vt:lpstr>Visio</vt:lpstr>
      <vt:lpstr>PowerPoint Presentation</vt:lpstr>
      <vt:lpstr>PowerPoint Presentation</vt:lpstr>
      <vt:lpstr>PowerPoint Presentation</vt:lpstr>
      <vt:lpstr>UCIe Introduction</vt:lpstr>
      <vt:lpstr>Benefits of Chiplets</vt:lpstr>
      <vt:lpstr>Open Chiplet Ecosystem</vt:lpstr>
      <vt:lpstr>UCIe Consortium Announced (March 2nd 2022)</vt:lpstr>
      <vt:lpstr>Member Driven Evolution with Open Access and Open Governance</vt:lpstr>
      <vt:lpstr>UCIe 2D and 2.5D Technology</vt:lpstr>
      <vt:lpstr>UCIe Key Characteristics and Metrics</vt:lpstr>
      <vt:lpstr>UCIe Workgroups</vt:lpstr>
      <vt:lpstr>UCIe Electrical &amp; Physical Layer</vt:lpstr>
      <vt:lpstr>Signaling Method for Power Limited System</vt:lpstr>
      <vt:lpstr>Data Rate and Channel Reach: UCIe 3.0 Example</vt:lpstr>
      <vt:lpstr>Termination Power</vt:lpstr>
      <vt:lpstr>UCIe PHY Architecture and Features</vt:lpstr>
      <vt:lpstr>D2D PHY Clocking</vt:lpstr>
      <vt:lpstr>Forwarded Clock Frequency and Phase</vt:lpstr>
      <vt:lpstr>Driver and Input Buffer</vt:lpstr>
      <vt:lpstr>Enhanced Equalization for 48-64 Gb/s</vt:lpstr>
      <vt:lpstr>Pad Capacitance and ESD</vt:lpstr>
      <vt:lpstr>High-Speed Distributed Effect</vt:lpstr>
      <vt:lpstr>Cpad/ESD Mitigation</vt:lpstr>
      <vt:lpstr>Interconnect Channel Specification</vt:lpstr>
      <vt:lpstr>Voltage Transfer Function (VTF) Based Metrics</vt:lpstr>
      <vt:lpstr>Specify Insertion Loss, Crosstalk &amp; Tradeoff</vt:lpstr>
      <vt:lpstr>Eye Mask for 48 and 64 Gb/s</vt:lpstr>
      <vt:lpstr>Statistical Method Example</vt:lpstr>
      <vt:lpstr>On Process Scaling</vt:lpstr>
      <vt:lpstr>Failure-In-Time</vt:lpstr>
      <vt:lpstr>Example CRC Computation</vt:lpstr>
      <vt:lpstr>In-Field Repair Strategy – A case study</vt:lpstr>
      <vt:lpstr>Module Failure Probability</vt:lpstr>
      <vt:lpstr>Module Failure Probability Plot</vt:lpstr>
      <vt:lpstr>UCIe Protocol &amp; Logical Layer</vt:lpstr>
      <vt:lpstr>UCIe Protocols</vt:lpstr>
      <vt:lpstr>Functionality Partitioning</vt:lpstr>
      <vt:lpstr>Example Configurations</vt:lpstr>
      <vt:lpstr>Supported Flit Format example – PCIe Flit Mode</vt:lpstr>
      <vt:lpstr>Flit Format example – CXL 256B Flit Mode</vt:lpstr>
      <vt:lpstr>Flit Format example – Latency optimized CXL with optional bytes</vt:lpstr>
      <vt:lpstr>Flit Format example - Streaming</vt:lpstr>
      <vt:lpstr>Continuous Transmission Protocols (Raw Mode Example)</vt:lpstr>
      <vt:lpstr>Off-package connectivity w/ Retimers to other media (e.g. Optics)</vt:lpstr>
      <vt:lpstr>Logical Physical Layer</vt:lpstr>
      <vt:lpstr>Functionality</vt:lpstr>
      <vt:lpstr>Link Training State Machine</vt:lpstr>
      <vt:lpstr>Software view of UCIe</vt:lpstr>
      <vt:lpstr>Software view of integrated device </vt:lpstr>
      <vt:lpstr>UCIe Link DVSEC – For basic Link Functionality</vt:lpstr>
      <vt:lpstr>UCIe Form Factor &amp; Compliance</vt:lpstr>
      <vt:lpstr>Outline</vt:lpstr>
      <vt:lpstr>UCIe-S (2D): Standard Package Bump Maps</vt:lpstr>
      <vt:lpstr>UCIe-S: Arrangement &amp; Channel Characteristics</vt:lpstr>
      <vt:lpstr>UCIe-A (2.5D): Advanced package Bump Maps</vt:lpstr>
      <vt:lpstr>UCIe-A: Arrangement &amp; Channel Characteristics</vt:lpstr>
      <vt:lpstr>UCIe-3D Menu / Options</vt:lpstr>
      <vt:lpstr>UCIe Compliance Setup</vt:lpstr>
      <vt:lpstr>PHY Compliance</vt:lpstr>
      <vt:lpstr>UCIe Manageability</vt:lpstr>
      <vt:lpstr>From Monolithic SoCs to an Open Chiplet Ecosystem</vt:lpstr>
      <vt:lpstr>UCIe Manageability</vt:lpstr>
      <vt:lpstr>UCIe Management Entities</vt:lpstr>
      <vt:lpstr>UCIe Management Protocol</vt:lpstr>
      <vt:lpstr>UCIe Memory Access Protocol (UMAP)</vt:lpstr>
      <vt:lpstr>UCIe Test and Debug</vt:lpstr>
      <vt:lpstr>Fast Throttle and Emergency Shutdown</vt:lpstr>
      <vt:lpstr>UALink™ Chiplet</vt:lpstr>
      <vt:lpstr>Agenda &amp; Objectives</vt:lpstr>
      <vt:lpstr>What is UALink?</vt:lpstr>
      <vt:lpstr>Scale-Up vs. Scale-Out</vt:lpstr>
      <vt:lpstr>System View: Accelerators + UALink Switches</vt:lpstr>
      <vt:lpstr>The UALink Protocol Stack</vt:lpstr>
      <vt:lpstr>UALink Specification Status</vt:lpstr>
      <vt:lpstr>UALink Chiplet</vt:lpstr>
      <vt:lpstr>The Value of a Standardized Chiplet</vt:lpstr>
      <vt:lpstr>Why Disaggregate UALink onto a Chiplet?</vt:lpstr>
      <vt:lpstr>The Chiplet Trade-Off</vt:lpstr>
      <vt:lpstr>Splitting the UALink Stack</vt:lpstr>
      <vt:lpstr>Splitting the UALink Stack</vt:lpstr>
      <vt:lpstr>Splitting the UALink Stack</vt:lpstr>
      <vt:lpstr>Finally the UALink Chiplet . . .</vt:lpstr>
      <vt:lpstr>The Data Paths: Accelerator-&gt;UCIe</vt:lpstr>
      <vt:lpstr>The Data Paths: Scaling</vt:lpstr>
      <vt:lpstr>The Data Paths: DL/PL</vt:lpstr>
      <vt:lpstr>The Data Path: Summary</vt:lpstr>
      <vt:lpstr>UCIe for UALink Chiplet</vt:lpstr>
      <vt:lpstr>The Design Choice: UALink TL over UCIe Format 6</vt:lpstr>
      <vt:lpstr>TL Flits carried by UCIe</vt:lpstr>
      <vt:lpstr>Efficiency: ~93%</vt:lpstr>
      <vt:lpstr>UCIe effects in the System</vt:lpstr>
      <vt:lpstr>Credit Loops</vt:lpstr>
      <vt:lpstr>UCIe Retrain Example</vt:lpstr>
      <vt:lpstr>Form Factors</vt:lpstr>
      <vt:lpstr>Shoreline Considerations </vt:lpstr>
      <vt:lpstr>Chiplet Area Estimates </vt:lpstr>
      <vt:lpstr>Scaling Across the Two Form Factors</vt:lpstr>
      <vt:lpstr>So Much More</vt:lpstr>
      <vt:lpstr>Other Items in UALink Chiplet Spec</vt:lpstr>
      <vt:lpstr>Wrap-up</vt:lpstr>
      <vt:lpstr>Wrap-up</vt:lpstr>
      <vt:lpstr>Key Takeaways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subject>PptxGenJS Presentation</dc:subject>
  <dc:creator>Onufryk, Peter</dc:creator>
  <cp:lastModifiedBy>Wong, Stephen1</cp:lastModifiedBy>
  <cp:revision>3</cp:revision>
  <dcterms:created xsi:type="dcterms:W3CDTF">2026-08-02T03:08:31Z</dcterms:created>
  <dcterms:modified xsi:type="dcterms:W3CDTF">2026-08-07T02:54:38Z</dcterms:modified>
</cp:coreProperties>
</file>